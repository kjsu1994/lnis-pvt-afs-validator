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18"/>
  </p:notesMasterIdLst>
  <p:handoutMasterIdLst>
    <p:handoutMasterId r:id="rId19"/>
  </p:handoutMasterIdLst>
  <p:sldIdLst>
    <p:sldId id="998" r:id="rId2"/>
    <p:sldId id="999" r:id="rId3"/>
    <p:sldId id="1000" r:id="rId4"/>
    <p:sldId id="1001" r:id="rId5"/>
    <p:sldId id="1002" r:id="rId6"/>
    <p:sldId id="1003" r:id="rId7"/>
    <p:sldId id="1004" r:id="rId8"/>
    <p:sldId id="1057" r:id="rId9"/>
    <p:sldId id="1005" r:id="rId10"/>
    <p:sldId id="1006" r:id="rId11"/>
    <p:sldId id="1007" r:id="rId12"/>
    <p:sldId id="1008" r:id="rId13"/>
    <p:sldId id="1009" r:id="rId14"/>
    <p:sldId id="1058" r:id="rId15"/>
    <p:sldId id="1011" r:id="rId16"/>
    <p:sldId id="1056" r:id="rId17"/>
  </p:sldIdLst>
  <p:sldSz cx="9144000" cy="6858000" type="screen4x3"/>
  <p:notesSz cx="7104063" cy="10234613"/>
  <p:embeddedFontLst>
    <p:embeddedFont>
      <p:font typeface="MigMix 1M" panose="020B0509020204020204" pitchFamily="49" charset="-128"/>
      <p:regular r:id="rId20"/>
      <p:bold r:id="rId21"/>
    </p:embeddedFont>
  </p:embeddedFontLst>
  <p:defaultTex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050"/>
    <a:srgbClr val="FF9900"/>
    <a:srgbClr val="0000FF"/>
    <a:srgbClr val="FF00FF"/>
    <a:srgbClr val="008000"/>
    <a:srgbClr val="0000CC"/>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A111915-BE36-4E01-A7E5-04B1672EAD32}" styleName="淡色スタイル 2 - アクセント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E25E649-3F16-4E02-A733-19D2CDBF48F0}" styleName="中間スタイル 3 - アクセント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D7AC3CCA-C797-4891-BE02-D94E43425B78}" styleName="スタイル (中間)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202B0CA-FC54-4496-8BCA-5EF66A818D29}" styleName="スタイル (濃色)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スタイル (濃色)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462" autoAdjust="0"/>
    <p:restoredTop sz="94688" autoAdjust="0"/>
  </p:normalViewPr>
  <p:slideViewPr>
    <p:cSldViewPr>
      <p:cViewPr varScale="1">
        <p:scale>
          <a:sx n="210" d="100"/>
          <a:sy n="210" d="100"/>
        </p:scale>
        <p:origin x="558" y="180"/>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0"/>
    </p:cViewPr>
  </p:sorter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1" y="2"/>
            <a:ext cx="3078639" cy="511175"/>
          </a:xfrm>
          <a:prstGeom prst="rect">
            <a:avLst/>
          </a:prstGeom>
        </p:spPr>
        <p:txBody>
          <a:bodyPr vert="horz" lIns="98976" tIns="49488" rIns="98976" bIns="49488" rtlCol="0"/>
          <a:lstStyle>
            <a:lvl1pPr algn="l">
              <a:defRPr sz="1300">
                <a:latin typeface="Arial" charset="0"/>
                <a:ea typeface="ＭＳ Ｐゴシック" charset="-128"/>
              </a:defRPr>
            </a:lvl1pPr>
          </a:lstStyle>
          <a:p>
            <a:pPr>
              <a:defRPr/>
            </a:pPr>
            <a:endParaRPr lang="ja-JP" altLang="en-US"/>
          </a:p>
        </p:txBody>
      </p:sp>
      <p:sp>
        <p:nvSpPr>
          <p:cNvPr id="3" name="日付プレースホルダ 2"/>
          <p:cNvSpPr>
            <a:spLocks noGrp="1"/>
          </p:cNvSpPr>
          <p:nvPr>
            <p:ph type="dt" sz="quarter" idx="1"/>
          </p:nvPr>
        </p:nvSpPr>
        <p:spPr>
          <a:xfrm>
            <a:off x="4023837" y="2"/>
            <a:ext cx="3078639" cy="511175"/>
          </a:xfrm>
          <a:prstGeom prst="rect">
            <a:avLst/>
          </a:prstGeom>
        </p:spPr>
        <p:txBody>
          <a:bodyPr vert="horz" lIns="98976" tIns="49488" rIns="98976" bIns="49488" rtlCol="0"/>
          <a:lstStyle>
            <a:lvl1pPr algn="r">
              <a:defRPr sz="1300">
                <a:latin typeface="Arial" charset="0"/>
                <a:ea typeface="ＭＳ Ｐゴシック" charset="-128"/>
              </a:defRPr>
            </a:lvl1pPr>
          </a:lstStyle>
          <a:p>
            <a:pPr>
              <a:defRPr/>
            </a:pPr>
            <a:fld id="{A10B1079-7959-4CC7-AA46-C73571C2E0EB}" type="datetimeFigureOut">
              <a:rPr lang="ja-JP" altLang="en-US"/>
              <a:pPr>
                <a:defRPr/>
              </a:pPr>
              <a:t>2026/7/24</a:t>
            </a:fld>
            <a:endParaRPr lang="ja-JP" altLang="en-US"/>
          </a:p>
        </p:txBody>
      </p:sp>
      <p:sp>
        <p:nvSpPr>
          <p:cNvPr id="4" name="フッター プレースホルダ 3"/>
          <p:cNvSpPr>
            <a:spLocks noGrp="1"/>
          </p:cNvSpPr>
          <p:nvPr>
            <p:ph type="ftr" sz="quarter" idx="2"/>
          </p:nvPr>
        </p:nvSpPr>
        <p:spPr>
          <a:xfrm>
            <a:off x="1" y="9721852"/>
            <a:ext cx="3078639" cy="511175"/>
          </a:xfrm>
          <a:prstGeom prst="rect">
            <a:avLst/>
          </a:prstGeom>
        </p:spPr>
        <p:txBody>
          <a:bodyPr vert="horz" lIns="98976" tIns="49488" rIns="98976" bIns="49488" rtlCol="0" anchor="b"/>
          <a:lstStyle>
            <a:lvl1pPr algn="l">
              <a:defRPr sz="1300">
                <a:latin typeface="Arial" charset="0"/>
                <a:ea typeface="ＭＳ Ｐゴシック" charset="-128"/>
              </a:defRPr>
            </a:lvl1pPr>
          </a:lstStyle>
          <a:p>
            <a:pPr>
              <a:defRPr/>
            </a:pPr>
            <a:endParaRPr lang="ja-JP" altLang="en-US"/>
          </a:p>
        </p:txBody>
      </p:sp>
      <p:sp>
        <p:nvSpPr>
          <p:cNvPr id="5" name="スライド番号プレースホルダ 4"/>
          <p:cNvSpPr>
            <a:spLocks noGrp="1"/>
          </p:cNvSpPr>
          <p:nvPr>
            <p:ph type="sldNum" sz="quarter" idx="3"/>
          </p:nvPr>
        </p:nvSpPr>
        <p:spPr>
          <a:xfrm>
            <a:off x="4023837" y="9721852"/>
            <a:ext cx="3078639" cy="511175"/>
          </a:xfrm>
          <a:prstGeom prst="rect">
            <a:avLst/>
          </a:prstGeom>
        </p:spPr>
        <p:txBody>
          <a:bodyPr vert="horz" lIns="98976" tIns="49488" rIns="98976" bIns="49488" rtlCol="0" anchor="b"/>
          <a:lstStyle>
            <a:lvl1pPr algn="r">
              <a:defRPr sz="1300">
                <a:latin typeface="Arial" charset="0"/>
                <a:ea typeface="ＭＳ Ｐゴシック" charset="-128"/>
              </a:defRPr>
            </a:lvl1pPr>
          </a:lstStyle>
          <a:p>
            <a:pPr>
              <a:defRPr/>
            </a:pPr>
            <a:fld id="{97833689-FF5B-43EB-A7F6-A74CFE6918D0}" type="slidenum">
              <a:rPr lang="ja-JP" altLang="en-US"/>
              <a:pPr>
                <a:defRPr/>
              </a:pPr>
              <a:t>‹#›</a:t>
            </a:fld>
            <a:endParaRPr lang="ja-JP" altLang="en-US"/>
          </a:p>
        </p:txBody>
      </p:sp>
    </p:spTree>
    <p:extLst>
      <p:ext uri="{BB962C8B-B14F-4D97-AF65-F5344CB8AC3E}">
        <p14:creationId xmlns:p14="http://schemas.microsoft.com/office/powerpoint/2010/main" val="6187103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1" y="2"/>
            <a:ext cx="3078639" cy="511175"/>
          </a:xfrm>
          <a:prstGeom prst="rect">
            <a:avLst/>
          </a:prstGeom>
        </p:spPr>
        <p:txBody>
          <a:bodyPr vert="horz" lIns="98976" tIns="49488" rIns="98976" bIns="49488" rtlCol="0"/>
          <a:lstStyle>
            <a:lvl1pPr algn="l">
              <a:defRPr sz="1300">
                <a:latin typeface="Arial" charset="0"/>
                <a:ea typeface="ＭＳ Ｐゴシック" charset="-128"/>
              </a:defRPr>
            </a:lvl1pPr>
          </a:lstStyle>
          <a:p>
            <a:pPr>
              <a:defRPr/>
            </a:pPr>
            <a:endParaRPr lang="ja-JP" altLang="en-US"/>
          </a:p>
        </p:txBody>
      </p:sp>
      <p:sp>
        <p:nvSpPr>
          <p:cNvPr id="3" name="日付プレースホルダ 2"/>
          <p:cNvSpPr>
            <a:spLocks noGrp="1"/>
          </p:cNvSpPr>
          <p:nvPr>
            <p:ph type="dt" idx="1"/>
          </p:nvPr>
        </p:nvSpPr>
        <p:spPr>
          <a:xfrm>
            <a:off x="4023837" y="2"/>
            <a:ext cx="3078639" cy="511175"/>
          </a:xfrm>
          <a:prstGeom prst="rect">
            <a:avLst/>
          </a:prstGeom>
        </p:spPr>
        <p:txBody>
          <a:bodyPr vert="horz" lIns="98976" tIns="49488" rIns="98976" bIns="49488" rtlCol="0"/>
          <a:lstStyle>
            <a:lvl1pPr algn="r">
              <a:defRPr sz="1300">
                <a:latin typeface="Arial" charset="0"/>
                <a:ea typeface="ＭＳ Ｐゴシック" charset="-128"/>
              </a:defRPr>
            </a:lvl1pPr>
          </a:lstStyle>
          <a:p>
            <a:pPr>
              <a:defRPr/>
            </a:pPr>
            <a:fld id="{5678308E-3543-40B8-A3BE-FD592413CEF9}" type="datetimeFigureOut">
              <a:rPr lang="ja-JP" altLang="en-US"/>
              <a:pPr>
                <a:defRPr/>
              </a:pPr>
              <a:t>2026/7/24</a:t>
            </a:fld>
            <a:endParaRPr lang="ja-JP" altLang="en-US" dirty="0"/>
          </a:p>
        </p:txBody>
      </p:sp>
      <p:sp>
        <p:nvSpPr>
          <p:cNvPr id="4" name="スライド イメージ プレースホルダ 3"/>
          <p:cNvSpPr>
            <a:spLocks noGrp="1" noRot="1" noChangeAspect="1"/>
          </p:cNvSpPr>
          <p:nvPr>
            <p:ph type="sldImg" idx="2"/>
          </p:nvPr>
        </p:nvSpPr>
        <p:spPr>
          <a:xfrm>
            <a:off x="993775" y="768350"/>
            <a:ext cx="5116513" cy="3836988"/>
          </a:xfrm>
          <a:prstGeom prst="rect">
            <a:avLst/>
          </a:prstGeom>
          <a:noFill/>
          <a:ln w="12700">
            <a:solidFill>
              <a:prstClr val="black"/>
            </a:solidFill>
          </a:ln>
        </p:spPr>
        <p:txBody>
          <a:bodyPr vert="horz" lIns="98976" tIns="49488" rIns="98976" bIns="49488" rtlCol="0" anchor="ctr"/>
          <a:lstStyle/>
          <a:p>
            <a:pPr lvl="0"/>
            <a:endParaRPr lang="ja-JP" altLang="en-US" noProof="0" dirty="0"/>
          </a:p>
        </p:txBody>
      </p:sp>
      <p:sp>
        <p:nvSpPr>
          <p:cNvPr id="5" name="ノート プレースホルダ 4"/>
          <p:cNvSpPr>
            <a:spLocks noGrp="1"/>
          </p:cNvSpPr>
          <p:nvPr>
            <p:ph type="body" sz="quarter" idx="3"/>
          </p:nvPr>
        </p:nvSpPr>
        <p:spPr>
          <a:xfrm>
            <a:off x="710090" y="4860925"/>
            <a:ext cx="5683886" cy="4605338"/>
          </a:xfrm>
          <a:prstGeom prst="rect">
            <a:avLst/>
          </a:prstGeom>
        </p:spPr>
        <p:txBody>
          <a:bodyPr vert="horz" lIns="98976" tIns="49488" rIns="98976" bIns="49488" rtlCol="0">
            <a:normAutofit/>
          </a:bodyPr>
          <a:lstStyle/>
          <a:p>
            <a:pPr lvl="0"/>
            <a:r>
              <a:rPr lang="ja-JP" altLang="en-US" noProof="0"/>
              <a:t>マスタ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6" name="フッター プレースホルダ 5"/>
          <p:cNvSpPr>
            <a:spLocks noGrp="1"/>
          </p:cNvSpPr>
          <p:nvPr>
            <p:ph type="ftr" sz="quarter" idx="4"/>
          </p:nvPr>
        </p:nvSpPr>
        <p:spPr>
          <a:xfrm>
            <a:off x="1" y="9721852"/>
            <a:ext cx="3078639" cy="511175"/>
          </a:xfrm>
          <a:prstGeom prst="rect">
            <a:avLst/>
          </a:prstGeom>
        </p:spPr>
        <p:txBody>
          <a:bodyPr vert="horz" lIns="98976" tIns="49488" rIns="98976" bIns="49488" rtlCol="0" anchor="b"/>
          <a:lstStyle>
            <a:lvl1pPr algn="l">
              <a:defRPr sz="1300">
                <a:latin typeface="Arial" charset="0"/>
                <a:ea typeface="ＭＳ Ｐゴシック" charset="-128"/>
              </a:defRPr>
            </a:lvl1pPr>
          </a:lstStyle>
          <a:p>
            <a:pPr>
              <a:defRPr/>
            </a:pPr>
            <a:endParaRPr lang="ja-JP" altLang="en-US"/>
          </a:p>
        </p:txBody>
      </p:sp>
      <p:sp>
        <p:nvSpPr>
          <p:cNvPr id="7" name="スライド番号プレースホルダ 6"/>
          <p:cNvSpPr>
            <a:spLocks noGrp="1"/>
          </p:cNvSpPr>
          <p:nvPr>
            <p:ph type="sldNum" sz="quarter" idx="5"/>
          </p:nvPr>
        </p:nvSpPr>
        <p:spPr>
          <a:xfrm>
            <a:off x="4023837" y="9721852"/>
            <a:ext cx="3078639" cy="511175"/>
          </a:xfrm>
          <a:prstGeom prst="rect">
            <a:avLst/>
          </a:prstGeom>
        </p:spPr>
        <p:txBody>
          <a:bodyPr vert="horz" lIns="98976" tIns="49488" rIns="98976" bIns="49488" rtlCol="0" anchor="b"/>
          <a:lstStyle>
            <a:lvl1pPr algn="r">
              <a:defRPr sz="1300">
                <a:latin typeface="Arial" charset="0"/>
                <a:ea typeface="ＭＳ Ｐゴシック" charset="-128"/>
              </a:defRPr>
            </a:lvl1pPr>
          </a:lstStyle>
          <a:p>
            <a:pPr>
              <a:defRPr/>
            </a:pPr>
            <a:fld id="{570545AC-6B8C-487A-BA25-F91F0128AC21}" type="slidenum">
              <a:rPr lang="ja-JP" altLang="en-US"/>
              <a:pPr>
                <a:defRPr/>
              </a:pPr>
              <a:t>‹#›</a:t>
            </a:fld>
            <a:endParaRPr lang="ja-JP" altLang="en-US" dirty="0"/>
          </a:p>
        </p:txBody>
      </p:sp>
    </p:spTree>
    <p:extLst>
      <p:ext uri="{BB962C8B-B14F-4D97-AF65-F5344CB8AC3E}">
        <p14:creationId xmlns:p14="http://schemas.microsoft.com/office/powerpoint/2010/main" val="349000462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mn-lt"/>
        <a:ea typeface="+mn-ea"/>
        <a:cs typeface="+mn-cs"/>
      </a:defRPr>
    </a:lvl1pPr>
    <a:lvl2pPr marL="457200" algn="l" rtl="0" eaLnBrk="0" fontAlgn="base" hangingPunct="0">
      <a:spcBef>
        <a:spcPct val="30000"/>
      </a:spcBef>
      <a:spcAft>
        <a:spcPct val="0"/>
      </a:spcAft>
      <a:defRPr kumimoji="1" sz="1200" kern="1200">
        <a:solidFill>
          <a:schemeClr val="tx1"/>
        </a:solidFill>
        <a:latin typeface="+mn-lt"/>
        <a:ea typeface="+mn-ea"/>
        <a:cs typeface="+mn-cs"/>
      </a:defRPr>
    </a:lvl2pPr>
    <a:lvl3pPr marL="914400" algn="l" rtl="0" eaLnBrk="0" fontAlgn="base" hangingPunct="0">
      <a:spcBef>
        <a:spcPct val="30000"/>
      </a:spcBef>
      <a:spcAft>
        <a:spcPct val="0"/>
      </a:spcAft>
      <a:defRPr kumimoji="1" sz="1200" kern="1200">
        <a:solidFill>
          <a:schemeClr val="tx1"/>
        </a:solidFill>
        <a:latin typeface="+mn-lt"/>
        <a:ea typeface="+mn-ea"/>
        <a:cs typeface="+mn-cs"/>
      </a:defRPr>
    </a:lvl3pPr>
    <a:lvl4pPr marL="1371600" algn="l" rtl="0" eaLnBrk="0" fontAlgn="base" hangingPunct="0">
      <a:spcBef>
        <a:spcPct val="30000"/>
      </a:spcBef>
      <a:spcAft>
        <a:spcPct val="0"/>
      </a:spcAft>
      <a:defRPr kumimoji="1" sz="1200" kern="1200">
        <a:solidFill>
          <a:schemeClr val="tx1"/>
        </a:solidFill>
        <a:latin typeface="+mn-lt"/>
        <a:ea typeface="+mn-ea"/>
        <a:cs typeface="+mn-cs"/>
      </a:defRPr>
    </a:lvl4pPr>
    <a:lvl5pPr marL="1828800" algn="l" rtl="0" eaLnBrk="0" fontAlgn="base" hangingPunct="0">
      <a:spcBef>
        <a:spcPct val="30000"/>
      </a:spcBef>
      <a:spcAft>
        <a:spcPct val="0"/>
      </a:spcAft>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lang="ja-JP" altLang="en-US"/>
              <a:t>マスタ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a:t>マスタ サブタイトルの書式設定</a:t>
            </a:r>
          </a:p>
        </p:txBody>
      </p:sp>
      <p:sp>
        <p:nvSpPr>
          <p:cNvPr id="4" name="日付プレースホルダ 3"/>
          <p:cNvSpPr>
            <a:spLocks noGrp="1"/>
          </p:cNvSpPr>
          <p:nvPr>
            <p:ph type="dt" sz="half" idx="10"/>
          </p:nvPr>
        </p:nvSpPr>
        <p:spPr/>
        <p:txBody>
          <a:bodyPr/>
          <a:lstStyle>
            <a:lvl1pPr>
              <a:defRPr/>
            </a:lvl1pPr>
          </a:lstStyle>
          <a:p>
            <a:pPr>
              <a:defRPr/>
            </a:pPr>
            <a:fld id="{E21FE1D1-75D6-4B85-83EF-A07E3E2AE536}" type="datetime1">
              <a:rPr lang="ja-JP" altLang="en-US"/>
              <a:pPr>
                <a:defRPr/>
              </a:pPr>
              <a:t>2026/7/24</a:t>
            </a:fld>
            <a:endParaRPr lang="ja-JP" altLang="en-US" dirty="0"/>
          </a:p>
        </p:txBody>
      </p:sp>
      <p:sp>
        <p:nvSpPr>
          <p:cNvPr id="5"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6" name="スライド番号プレースホルダ 5"/>
          <p:cNvSpPr>
            <a:spLocks noGrp="1"/>
          </p:cNvSpPr>
          <p:nvPr>
            <p:ph type="sldNum" sz="quarter" idx="12"/>
          </p:nvPr>
        </p:nvSpPr>
        <p:spPr/>
        <p:txBody>
          <a:bodyPr/>
          <a:lstStyle>
            <a:lvl1pPr>
              <a:defRPr/>
            </a:lvl1pPr>
          </a:lstStyle>
          <a:p>
            <a:pPr>
              <a:defRPr/>
            </a:pPr>
            <a:fld id="{E1D48979-7B57-48E3-8507-FC4D290E7866}" type="slidenum">
              <a:rPr lang="ja-JP" altLang="en-US"/>
              <a:pPr>
                <a:defRPr/>
              </a:pPr>
              <a:t>‹#›</a:t>
            </a:fld>
            <a:endParaRPr lang="ja-JP"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512676"/>
            <a:ext cx="8229600" cy="598078"/>
          </a:xfrm>
        </p:spPr>
        <p:txBody>
          <a:bodyPr/>
          <a:lstStyle>
            <a:lvl1pPr algn="l">
              <a:defRPr b="1" baseline="0">
                <a:solidFill>
                  <a:schemeClr val="accent1"/>
                </a:solidFill>
                <a:latin typeface="Calibri" pitchFamily="34" charset="0"/>
                <a:ea typeface="メイリオ" pitchFamily="50" charset="-128"/>
              </a:defRPr>
            </a:lvl1pPr>
          </a:lstStyle>
          <a:p>
            <a:r>
              <a:rPr lang="ja-JP" altLang="en-US" dirty="0"/>
              <a:t>マスタ タイトルの書式設定</a:t>
            </a:r>
          </a:p>
        </p:txBody>
      </p:sp>
      <p:sp>
        <p:nvSpPr>
          <p:cNvPr id="3" name="コンテンツ プレースホルダ 2"/>
          <p:cNvSpPr>
            <a:spLocks noGrp="1"/>
          </p:cNvSpPr>
          <p:nvPr>
            <p:ph idx="1"/>
          </p:nvPr>
        </p:nvSpPr>
        <p:spPr/>
        <p:txBody>
          <a:bodyPr/>
          <a:lstStyle>
            <a:lvl1pPr>
              <a:defRPr baseline="0">
                <a:latin typeface="Calibri" pitchFamily="34" charset="0"/>
                <a:ea typeface="メイリオ" pitchFamily="50" charset="-128"/>
              </a:defRPr>
            </a:lvl1pPr>
            <a:lvl2pPr>
              <a:defRPr baseline="0">
                <a:latin typeface="Calibri" pitchFamily="34" charset="0"/>
                <a:ea typeface="メイリオ" pitchFamily="50" charset="-128"/>
              </a:defRPr>
            </a:lvl2pPr>
            <a:lvl3pPr>
              <a:defRPr baseline="0">
                <a:latin typeface="Calibri" pitchFamily="34" charset="0"/>
                <a:ea typeface="メイリオ" pitchFamily="50" charset="-128"/>
              </a:defRPr>
            </a:lvl3pPr>
            <a:lvl4pPr>
              <a:defRPr baseline="0">
                <a:latin typeface="Calibri" pitchFamily="34" charset="0"/>
                <a:ea typeface="メイリオ" pitchFamily="50" charset="-128"/>
              </a:defRPr>
            </a:lvl4pPr>
            <a:lvl5pPr>
              <a:defRPr baseline="0">
                <a:latin typeface="Calibri" pitchFamily="34" charset="0"/>
                <a:ea typeface="メイリオ" pitchFamily="50" charset="-128"/>
              </a:defRPr>
            </a:lvl5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日付プレースホルダ 3"/>
          <p:cNvSpPr>
            <a:spLocks noGrp="1"/>
          </p:cNvSpPr>
          <p:nvPr>
            <p:ph type="dt" sz="half" idx="10"/>
          </p:nvPr>
        </p:nvSpPr>
        <p:spPr/>
        <p:txBody>
          <a:bodyPr/>
          <a:lstStyle>
            <a:lvl1pPr>
              <a:defRPr/>
            </a:lvl1pPr>
          </a:lstStyle>
          <a:p>
            <a:pPr>
              <a:defRPr/>
            </a:pPr>
            <a:fld id="{50D3121A-FC5B-4871-93B8-D1D93EC1C5E7}" type="datetime1">
              <a:rPr lang="ja-JP" altLang="en-US"/>
              <a:pPr>
                <a:defRPr/>
              </a:pPr>
              <a:t>2026/7/24</a:t>
            </a:fld>
            <a:endParaRPr lang="ja-JP" altLang="en-US" dirty="0"/>
          </a:p>
        </p:txBody>
      </p:sp>
      <p:sp>
        <p:nvSpPr>
          <p:cNvPr id="6" name="スライド番号プレースホルダ 5"/>
          <p:cNvSpPr>
            <a:spLocks noGrp="1"/>
          </p:cNvSpPr>
          <p:nvPr>
            <p:ph type="sldNum" sz="quarter" idx="11"/>
          </p:nvPr>
        </p:nvSpPr>
        <p:spPr/>
        <p:txBody>
          <a:bodyPr/>
          <a:lstStyle>
            <a:lvl1pPr>
              <a:defRPr sz="1600">
                <a:solidFill>
                  <a:schemeClr val="tx1"/>
                </a:solidFill>
                <a:latin typeface="+mn-lt"/>
              </a:defRPr>
            </a:lvl1pPr>
          </a:lstStyle>
          <a:p>
            <a:pPr>
              <a:defRPr/>
            </a:pPr>
            <a:fld id="{76B10B91-6492-4C08-AE87-F344306858DA}" type="slidenum">
              <a:rPr lang="ja-JP" altLang="en-US"/>
              <a:pPr>
                <a:defRPr/>
              </a:pPr>
              <a:t>‹#›</a:t>
            </a:fld>
            <a:endParaRPr lang="ja-JP" altLang="en-US" dirty="0"/>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lang="ja-JP" altLang="en-US"/>
              <a:t>マスタ タイトルの書式設定</a:t>
            </a:r>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 テキストの書式設定</a:t>
            </a:r>
          </a:p>
        </p:txBody>
      </p:sp>
      <p:sp>
        <p:nvSpPr>
          <p:cNvPr id="4" name="日付プレースホルダ 3"/>
          <p:cNvSpPr>
            <a:spLocks noGrp="1"/>
          </p:cNvSpPr>
          <p:nvPr>
            <p:ph type="dt" sz="half" idx="10"/>
          </p:nvPr>
        </p:nvSpPr>
        <p:spPr/>
        <p:txBody>
          <a:bodyPr/>
          <a:lstStyle>
            <a:lvl1pPr>
              <a:defRPr/>
            </a:lvl1pPr>
          </a:lstStyle>
          <a:p>
            <a:pPr>
              <a:defRPr/>
            </a:pPr>
            <a:fld id="{2246DB63-FF8F-4A28-8238-4365B834152E}" type="datetime1">
              <a:rPr lang="ja-JP" altLang="en-US"/>
              <a:pPr>
                <a:defRPr/>
              </a:pPr>
              <a:t>2026/7/24</a:t>
            </a:fld>
            <a:endParaRPr lang="ja-JP" altLang="en-US" dirty="0"/>
          </a:p>
        </p:txBody>
      </p:sp>
      <p:sp>
        <p:nvSpPr>
          <p:cNvPr id="5"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6" name="スライド番号プレースホルダ 5"/>
          <p:cNvSpPr>
            <a:spLocks noGrp="1"/>
          </p:cNvSpPr>
          <p:nvPr>
            <p:ph type="sldNum" sz="quarter" idx="12"/>
          </p:nvPr>
        </p:nvSpPr>
        <p:spPr/>
        <p:txBody>
          <a:bodyPr/>
          <a:lstStyle>
            <a:lvl1pPr>
              <a:defRPr/>
            </a:lvl1pPr>
          </a:lstStyle>
          <a:p>
            <a:pPr>
              <a:defRPr/>
            </a:pPr>
            <a:fld id="{B10523AC-D566-40B6-8146-ABB0CA7E2E1E}" type="slidenum">
              <a:rPr lang="ja-JP" altLang="en-US"/>
              <a:pPr>
                <a:defRPr/>
              </a:pPr>
              <a:t>‹#›</a:t>
            </a:fld>
            <a:endParaRPr lang="ja-JP"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日付プレースホルダ 3"/>
          <p:cNvSpPr>
            <a:spLocks noGrp="1"/>
          </p:cNvSpPr>
          <p:nvPr>
            <p:ph type="dt" sz="half" idx="10"/>
          </p:nvPr>
        </p:nvSpPr>
        <p:spPr/>
        <p:txBody>
          <a:bodyPr/>
          <a:lstStyle>
            <a:lvl1pPr>
              <a:defRPr/>
            </a:lvl1pPr>
          </a:lstStyle>
          <a:p>
            <a:pPr>
              <a:defRPr/>
            </a:pPr>
            <a:fld id="{F5838A13-944A-457B-A400-922A20F91880}" type="datetime1">
              <a:rPr lang="ja-JP" altLang="en-US"/>
              <a:pPr>
                <a:defRPr/>
              </a:pPr>
              <a:t>2026/7/24</a:t>
            </a:fld>
            <a:endParaRPr lang="ja-JP" altLang="en-US" dirty="0"/>
          </a:p>
        </p:txBody>
      </p:sp>
      <p:sp>
        <p:nvSpPr>
          <p:cNvPr id="6"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7" name="スライド番号プレースホルダ 5"/>
          <p:cNvSpPr>
            <a:spLocks noGrp="1"/>
          </p:cNvSpPr>
          <p:nvPr>
            <p:ph type="sldNum" sz="quarter" idx="12"/>
          </p:nvPr>
        </p:nvSpPr>
        <p:spPr/>
        <p:txBody>
          <a:bodyPr/>
          <a:lstStyle>
            <a:lvl1pPr>
              <a:defRPr/>
            </a:lvl1pPr>
          </a:lstStyle>
          <a:p>
            <a:pPr>
              <a:defRPr/>
            </a:pPr>
            <a:fld id="{272D053A-E38C-49D7-8BD8-B94CAEB5D6FB}" type="slidenum">
              <a:rPr lang="ja-JP" altLang="en-US"/>
              <a:pPr>
                <a:defRPr/>
              </a:pPr>
              <a:t>‹#›</a:t>
            </a:fld>
            <a:endParaRPr lang="ja-JP"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lang="ja-JP" altLang="en-US"/>
              <a:t>マスタ タイトルの書式設定</a:t>
            </a:r>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日付プレースホルダ 3"/>
          <p:cNvSpPr>
            <a:spLocks noGrp="1"/>
          </p:cNvSpPr>
          <p:nvPr>
            <p:ph type="dt" sz="half" idx="10"/>
          </p:nvPr>
        </p:nvSpPr>
        <p:spPr/>
        <p:txBody>
          <a:bodyPr/>
          <a:lstStyle>
            <a:lvl1pPr>
              <a:defRPr/>
            </a:lvl1pPr>
          </a:lstStyle>
          <a:p>
            <a:pPr>
              <a:defRPr/>
            </a:pPr>
            <a:fld id="{FE1D3EF6-DEC3-41D9-9D28-D0207AAE0E6F}" type="datetime1">
              <a:rPr lang="ja-JP" altLang="en-US"/>
              <a:pPr>
                <a:defRPr/>
              </a:pPr>
              <a:t>2026/7/24</a:t>
            </a:fld>
            <a:endParaRPr lang="ja-JP" altLang="en-US" dirty="0"/>
          </a:p>
        </p:txBody>
      </p:sp>
      <p:sp>
        <p:nvSpPr>
          <p:cNvPr id="8"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9" name="スライド番号プレースホルダ 5"/>
          <p:cNvSpPr>
            <a:spLocks noGrp="1"/>
          </p:cNvSpPr>
          <p:nvPr>
            <p:ph type="sldNum" sz="quarter" idx="12"/>
          </p:nvPr>
        </p:nvSpPr>
        <p:spPr/>
        <p:txBody>
          <a:bodyPr/>
          <a:lstStyle>
            <a:lvl1pPr>
              <a:defRPr/>
            </a:lvl1pPr>
          </a:lstStyle>
          <a:p>
            <a:pPr>
              <a:defRPr/>
            </a:pPr>
            <a:fld id="{E3996C4F-6BF4-4E36-AAD9-453014EDC804}" type="slidenum">
              <a:rPr lang="ja-JP" altLang="en-US"/>
              <a:pPr>
                <a:defRPr/>
              </a:pPr>
              <a:t>‹#›</a:t>
            </a:fld>
            <a:endParaRPr lang="ja-JP"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日付プレースホルダ 3"/>
          <p:cNvSpPr>
            <a:spLocks noGrp="1"/>
          </p:cNvSpPr>
          <p:nvPr>
            <p:ph type="dt" sz="half" idx="10"/>
          </p:nvPr>
        </p:nvSpPr>
        <p:spPr/>
        <p:txBody>
          <a:bodyPr/>
          <a:lstStyle>
            <a:lvl1pPr>
              <a:defRPr/>
            </a:lvl1pPr>
          </a:lstStyle>
          <a:p>
            <a:pPr>
              <a:defRPr/>
            </a:pPr>
            <a:fld id="{4732FE9F-71D3-4952-BCA4-A9B007BB1D19}" type="datetime1">
              <a:rPr lang="ja-JP" altLang="en-US"/>
              <a:pPr>
                <a:defRPr/>
              </a:pPr>
              <a:t>2026/7/24</a:t>
            </a:fld>
            <a:endParaRPr lang="ja-JP" altLang="en-US" dirty="0"/>
          </a:p>
        </p:txBody>
      </p:sp>
      <p:sp>
        <p:nvSpPr>
          <p:cNvPr id="4"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5" name="スライド番号プレースホルダ 5"/>
          <p:cNvSpPr>
            <a:spLocks noGrp="1"/>
          </p:cNvSpPr>
          <p:nvPr>
            <p:ph type="sldNum" sz="quarter" idx="12"/>
          </p:nvPr>
        </p:nvSpPr>
        <p:spPr/>
        <p:txBody>
          <a:bodyPr/>
          <a:lstStyle>
            <a:lvl1pPr>
              <a:defRPr/>
            </a:lvl1pPr>
          </a:lstStyle>
          <a:p>
            <a:pPr>
              <a:defRPr/>
            </a:pPr>
            <a:fld id="{DB59F8DE-F93F-41DF-ADE9-B54E1483393B}" type="slidenum">
              <a:rPr lang="ja-JP" altLang="en-US"/>
              <a:pPr>
                <a:defRPr/>
              </a:pPr>
              <a:t>‹#›</a:t>
            </a:fld>
            <a:endParaRPr lang="ja-JP"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3"/>
          <p:cNvSpPr>
            <a:spLocks noGrp="1"/>
          </p:cNvSpPr>
          <p:nvPr>
            <p:ph type="dt" sz="half" idx="10"/>
          </p:nvPr>
        </p:nvSpPr>
        <p:spPr/>
        <p:txBody>
          <a:bodyPr/>
          <a:lstStyle>
            <a:lvl1pPr>
              <a:defRPr/>
            </a:lvl1pPr>
          </a:lstStyle>
          <a:p>
            <a:pPr>
              <a:defRPr/>
            </a:pPr>
            <a:fld id="{99D06603-A469-4074-926B-731E7222CB81}" type="datetime1">
              <a:rPr lang="ja-JP" altLang="en-US"/>
              <a:pPr>
                <a:defRPr/>
              </a:pPr>
              <a:t>2026/7/24</a:t>
            </a:fld>
            <a:endParaRPr lang="ja-JP" altLang="en-US" dirty="0"/>
          </a:p>
        </p:txBody>
      </p:sp>
      <p:sp>
        <p:nvSpPr>
          <p:cNvPr id="3"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4" name="スライド番号プレースホルダ 5"/>
          <p:cNvSpPr>
            <a:spLocks noGrp="1"/>
          </p:cNvSpPr>
          <p:nvPr>
            <p:ph type="sldNum" sz="quarter" idx="12"/>
          </p:nvPr>
        </p:nvSpPr>
        <p:spPr/>
        <p:txBody>
          <a:bodyPr/>
          <a:lstStyle>
            <a:lvl1pPr>
              <a:defRPr/>
            </a:lvl1pPr>
          </a:lstStyle>
          <a:p>
            <a:pPr>
              <a:defRPr/>
            </a:pPr>
            <a:fld id="{7F3A6F3B-530C-4CB8-BA9D-C6FC8F3177DF}" type="slidenum">
              <a:rPr lang="ja-JP" altLang="en-US"/>
              <a:pPr>
                <a:defRPr/>
              </a:pPr>
              <a:t>‹#›</a:t>
            </a:fld>
            <a:endParaRPr lang="ja-JP"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lang="ja-JP" altLang="en-US"/>
              <a:t>マスタ タイトルの書式設定</a:t>
            </a:r>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日付プレースホルダ 3"/>
          <p:cNvSpPr>
            <a:spLocks noGrp="1"/>
          </p:cNvSpPr>
          <p:nvPr>
            <p:ph type="dt" sz="half" idx="10"/>
          </p:nvPr>
        </p:nvSpPr>
        <p:spPr/>
        <p:txBody>
          <a:bodyPr/>
          <a:lstStyle>
            <a:lvl1pPr>
              <a:defRPr/>
            </a:lvl1pPr>
          </a:lstStyle>
          <a:p>
            <a:pPr>
              <a:defRPr/>
            </a:pPr>
            <a:fld id="{08E0AF40-00C7-4ABF-ACE6-5DB820DEFF8C}" type="datetime1">
              <a:rPr lang="ja-JP" altLang="en-US"/>
              <a:pPr>
                <a:defRPr/>
              </a:pPr>
              <a:t>2026/7/24</a:t>
            </a:fld>
            <a:endParaRPr lang="ja-JP" altLang="en-US" dirty="0"/>
          </a:p>
        </p:txBody>
      </p:sp>
      <p:sp>
        <p:nvSpPr>
          <p:cNvPr id="6"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7" name="スライド番号プレースホルダ 5"/>
          <p:cNvSpPr>
            <a:spLocks noGrp="1"/>
          </p:cNvSpPr>
          <p:nvPr>
            <p:ph type="sldNum" sz="quarter" idx="12"/>
          </p:nvPr>
        </p:nvSpPr>
        <p:spPr/>
        <p:txBody>
          <a:bodyPr/>
          <a:lstStyle>
            <a:lvl1pPr>
              <a:defRPr/>
            </a:lvl1pPr>
          </a:lstStyle>
          <a:p>
            <a:pPr>
              <a:defRPr/>
            </a:pPr>
            <a:fld id="{43AA8C6F-74A6-4E9C-B547-B2C7ACFCDE17}" type="slidenum">
              <a:rPr lang="ja-JP" altLang="en-US"/>
              <a:pPr>
                <a:defRPr/>
              </a:pPr>
              <a:t>‹#›</a:t>
            </a:fld>
            <a:endParaRPr lang="ja-JP"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lang="ja-JP" altLang="en-US"/>
              <a:t>マスタ タイトルの書式設定</a:t>
            </a:r>
          </a:p>
        </p:txBody>
      </p:sp>
      <p:sp>
        <p:nvSpPr>
          <p:cNvPr id="3" name="図プレースホルダ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dirty="0"/>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日付プレースホルダ 3"/>
          <p:cNvSpPr>
            <a:spLocks noGrp="1"/>
          </p:cNvSpPr>
          <p:nvPr>
            <p:ph type="dt" sz="half" idx="10"/>
          </p:nvPr>
        </p:nvSpPr>
        <p:spPr/>
        <p:txBody>
          <a:bodyPr/>
          <a:lstStyle>
            <a:lvl1pPr>
              <a:defRPr/>
            </a:lvl1pPr>
          </a:lstStyle>
          <a:p>
            <a:pPr>
              <a:defRPr/>
            </a:pPr>
            <a:fld id="{050E4E17-FA68-4152-A16A-F66521E853C3}" type="datetime1">
              <a:rPr lang="ja-JP" altLang="en-US"/>
              <a:pPr>
                <a:defRPr/>
              </a:pPr>
              <a:t>2026/7/24</a:t>
            </a:fld>
            <a:endParaRPr lang="ja-JP" altLang="en-US" dirty="0"/>
          </a:p>
        </p:txBody>
      </p:sp>
      <p:sp>
        <p:nvSpPr>
          <p:cNvPr id="6"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7" name="スライド番号プレースホルダ 5"/>
          <p:cNvSpPr>
            <a:spLocks noGrp="1"/>
          </p:cNvSpPr>
          <p:nvPr>
            <p:ph type="sldNum" sz="quarter" idx="12"/>
          </p:nvPr>
        </p:nvSpPr>
        <p:spPr/>
        <p:txBody>
          <a:bodyPr/>
          <a:lstStyle>
            <a:lvl1pPr>
              <a:defRPr/>
            </a:lvl1pPr>
          </a:lstStyle>
          <a:p>
            <a:pPr>
              <a:defRPr/>
            </a:pPr>
            <a:fld id="{53133B9C-AEB3-46DC-B7F4-2F90819FF849}" type="slidenum">
              <a:rPr lang="ja-JP" altLang="en-US"/>
              <a:pPr>
                <a:defRPr/>
              </a:pPr>
              <a:t>‹#›</a:t>
            </a:fld>
            <a:endParaRPr lang="ja-JP"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 3"/>
          <p:cNvSpPr>
            <a:spLocks noGrp="1"/>
          </p:cNvSpPr>
          <p:nvPr>
            <p:ph type="dt" sz="half" idx="10"/>
          </p:nvPr>
        </p:nvSpPr>
        <p:spPr/>
        <p:txBody>
          <a:bodyPr/>
          <a:lstStyle>
            <a:lvl1pPr>
              <a:defRPr/>
            </a:lvl1pPr>
          </a:lstStyle>
          <a:p>
            <a:pPr>
              <a:defRPr/>
            </a:pPr>
            <a:fld id="{1720C36B-F82F-4396-ADE4-838E5331836C}" type="datetime1">
              <a:rPr lang="ja-JP" altLang="en-US"/>
              <a:pPr>
                <a:defRPr/>
              </a:pPr>
              <a:t>2026/7/24</a:t>
            </a:fld>
            <a:endParaRPr lang="ja-JP" altLang="en-US" dirty="0"/>
          </a:p>
        </p:txBody>
      </p:sp>
      <p:sp>
        <p:nvSpPr>
          <p:cNvPr id="5"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6" name="スライド番号プレースホルダ 5"/>
          <p:cNvSpPr>
            <a:spLocks noGrp="1"/>
          </p:cNvSpPr>
          <p:nvPr>
            <p:ph type="sldNum" sz="quarter" idx="12"/>
          </p:nvPr>
        </p:nvSpPr>
        <p:spPr/>
        <p:txBody>
          <a:bodyPr/>
          <a:lstStyle>
            <a:lvl1pPr>
              <a:defRPr/>
            </a:lvl1pPr>
          </a:lstStyle>
          <a:p>
            <a:pPr>
              <a:defRPr/>
            </a:pPr>
            <a:fld id="{3A0501B8-080B-4842-9CE0-5FCDF03C0C73}" type="slidenum">
              <a:rPr lang="ja-JP" altLang="en-US"/>
              <a:pPr>
                <a:defRPr/>
              </a:pPr>
              <a:t>‹#›</a:t>
            </a:fld>
            <a:endParaRPr lang="ja-JP"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lang="ja-JP" altLang="en-US"/>
              <a:t>マスタ タイトルの書式設定</a:t>
            </a:r>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 3"/>
          <p:cNvSpPr>
            <a:spLocks noGrp="1"/>
          </p:cNvSpPr>
          <p:nvPr>
            <p:ph type="dt" sz="half" idx="10"/>
          </p:nvPr>
        </p:nvSpPr>
        <p:spPr/>
        <p:txBody>
          <a:bodyPr/>
          <a:lstStyle>
            <a:lvl1pPr>
              <a:defRPr/>
            </a:lvl1pPr>
          </a:lstStyle>
          <a:p>
            <a:pPr>
              <a:defRPr/>
            </a:pPr>
            <a:fld id="{632683D8-B353-4A4C-80C4-153EEDD17C12}" type="datetime1">
              <a:rPr lang="ja-JP" altLang="en-US"/>
              <a:pPr>
                <a:defRPr/>
              </a:pPr>
              <a:t>2026/7/24</a:t>
            </a:fld>
            <a:endParaRPr lang="ja-JP" altLang="en-US" dirty="0"/>
          </a:p>
        </p:txBody>
      </p:sp>
      <p:sp>
        <p:nvSpPr>
          <p:cNvPr id="5"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6" name="スライド番号プレースホルダ 5"/>
          <p:cNvSpPr>
            <a:spLocks noGrp="1"/>
          </p:cNvSpPr>
          <p:nvPr>
            <p:ph type="sldNum" sz="quarter" idx="12"/>
          </p:nvPr>
        </p:nvSpPr>
        <p:spPr/>
        <p:txBody>
          <a:bodyPr/>
          <a:lstStyle>
            <a:lvl1pPr>
              <a:defRPr/>
            </a:lvl1pPr>
          </a:lstStyle>
          <a:p>
            <a:pPr>
              <a:defRPr/>
            </a:pPr>
            <a:fld id="{4A2E4A17-2AC4-42B8-BB4D-92282BFFFB1B}" type="slidenum">
              <a:rPr lang="ja-JP" altLang="en-US"/>
              <a:pPr>
                <a:defRPr/>
              </a:pPr>
              <a:t>‹#›</a:t>
            </a:fld>
            <a:endParaRPr lang="ja-JP"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482" name="タイトル プレースホルダ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ja-JP" altLang="en-US"/>
              <a:t>マスタ タイトルの書式設定</a:t>
            </a:r>
          </a:p>
        </p:txBody>
      </p:sp>
      <p:sp>
        <p:nvSpPr>
          <p:cNvPr id="20483" name="テキスト プレースホルダ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7268845D-EB91-4C3E-BFC3-8EF8B6EBCB5E}" type="datetime1">
              <a:rPr lang="ja-JP" altLang="en-US"/>
              <a:pPr>
                <a:defRPr/>
              </a:pPr>
              <a:t>2026/7/24</a:t>
            </a:fld>
            <a:endParaRPr lang="ja-JP" altLang="en-US" dirty="0"/>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defRPr>
            </a:lvl1pPr>
          </a:lstStyle>
          <a:p>
            <a:pPr>
              <a:defRPr/>
            </a:pPr>
            <a:fld id="{172580C4-A24A-4BC6-BBA3-32888201015C}" type="slidenum">
              <a:rPr lang="ja-JP" altLang="en-US"/>
              <a:pPr>
                <a:defRPr/>
              </a:pPr>
              <a:t>‹#›</a:t>
            </a:fld>
            <a:endParaRPr lang="ja-JP" altLang="en-US" dirty="0"/>
          </a:p>
        </p:txBody>
      </p:sp>
    </p:spTree>
  </p:cSld>
  <p:clrMap bg1="lt1" tx1="dk1" bg2="lt2" tx2="dk2" accent1="accent1" accent2="accent2" accent3="accent3" accent4="accent4" accent5="accent5" accent6="accent6" hlink="hlink" folHlink="folHlink"/>
  <p:sldLayoutIdLst>
    <p:sldLayoutId id="2147483877" r:id="rId1"/>
    <p:sldLayoutId id="2147483887" r:id="rId2"/>
    <p:sldLayoutId id="2147483878" r:id="rId3"/>
    <p:sldLayoutId id="2147483879" r:id="rId4"/>
    <p:sldLayoutId id="2147483880" r:id="rId5"/>
    <p:sldLayoutId id="2147483881" r:id="rId6"/>
    <p:sldLayoutId id="2147483882" r:id="rId7"/>
    <p:sldLayoutId id="2147483883" r:id="rId8"/>
    <p:sldLayoutId id="2147483884" r:id="rId9"/>
    <p:sldLayoutId id="2147483885" r:id="rId10"/>
    <p:sldLayoutId id="2147483886" r:id="rId11"/>
  </p:sldLayoutIdLst>
  <p:hf hdr="0" ftr="0" dt="0"/>
  <p:txStyles>
    <p:titleStyle>
      <a:lvl1pPr algn="ctr" rtl="0" eaLnBrk="0" fontAlgn="base" hangingPunct="0">
        <a:spcBef>
          <a:spcPct val="0"/>
        </a:spcBef>
        <a:spcAft>
          <a:spcPct val="0"/>
        </a:spcAft>
        <a:defRPr kumimoji="1" sz="4400" kern="1200">
          <a:solidFill>
            <a:schemeClr val="tx1"/>
          </a:solidFill>
          <a:latin typeface="+mj-lt"/>
          <a:ea typeface="+mj-ea"/>
          <a:cs typeface="+mj-cs"/>
        </a:defRPr>
      </a:lvl1pPr>
      <a:lvl2pPr algn="ctr" rtl="0" eaLnBrk="0" fontAlgn="base" hangingPunct="0">
        <a:spcBef>
          <a:spcPct val="0"/>
        </a:spcBef>
        <a:spcAft>
          <a:spcPct val="0"/>
        </a:spcAft>
        <a:defRPr kumimoji="1" sz="4400">
          <a:solidFill>
            <a:schemeClr val="tx1"/>
          </a:solidFill>
          <a:latin typeface="Calibri" pitchFamily="34" charset="0"/>
          <a:ea typeface="ＭＳ Ｐゴシック" charset="-128"/>
        </a:defRPr>
      </a:lvl2pPr>
      <a:lvl3pPr algn="ctr" rtl="0" eaLnBrk="0" fontAlgn="base" hangingPunct="0">
        <a:spcBef>
          <a:spcPct val="0"/>
        </a:spcBef>
        <a:spcAft>
          <a:spcPct val="0"/>
        </a:spcAft>
        <a:defRPr kumimoji="1" sz="4400">
          <a:solidFill>
            <a:schemeClr val="tx1"/>
          </a:solidFill>
          <a:latin typeface="Calibri" pitchFamily="34" charset="0"/>
          <a:ea typeface="ＭＳ Ｐゴシック" charset="-128"/>
        </a:defRPr>
      </a:lvl3pPr>
      <a:lvl4pPr algn="ctr" rtl="0" eaLnBrk="0" fontAlgn="base" hangingPunct="0">
        <a:spcBef>
          <a:spcPct val="0"/>
        </a:spcBef>
        <a:spcAft>
          <a:spcPct val="0"/>
        </a:spcAft>
        <a:defRPr kumimoji="1" sz="4400">
          <a:solidFill>
            <a:schemeClr val="tx1"/>
          </a:solidFill>
          <a:latin typeface="Calibri" pitchFamily="34" charset="0"/>
          <a:ea typeface="ＭＳ Ｐゴシック" charset="-128"/>
        </a:defRPr>
      </a:lvl4pPr>
      <a:lvl5pPr algn="ctr" rtl="0" eaLnBrk="0" fontAlgn="base" hangingPunct="0">
        <a:spcBef>
          <a:spcPct val="0"/>
        </a:spcBef>
        <a:spcAft>
          <a:spcPct val="0"/>
        </a:spcAft>
        <a:defRPr kumimoji="1" sz="4400">
          <a:solidFill>
            <a:schemeClr val="tx1"/>
          </a:solidFill>
          <a:latin typeface="Calibri" pitchFamily="34" charset="0"/>
          <a:ea typeface="ＭＳ Ｐゴシック" charset="-128"/>
        </a:defRPr>
      </a:lvl5pPr>
      <a:lvl6pPr marL="457200" algn="ctr" rtl="0" fontAlgn="base">
        <a:spcBef>
          <a:spcPct val="0"/>
        </a:spcBef>
        <a:spcAft>
          <a:spcPct val="0"/>
        </a:spcAft>
        <a:defRPr kumimoji="1" sz="4400">
          <a:solidFill>
            <a:schemeClr val="tx1"/>
          </a:solidFill>
          <a:latin typeface="Calibri" pitchFamily="34" charset="0"/>
          <a:ea typeface="ＭＳ Ｐゴシック" charset="-128"/>
        </a:defRPr>
      </a:lvl6pPr>
      <a:lvl7pPr marL="914400" algn="ctr" rtl="0" fontAlgn="base">
        <a:spcBef>
          <a:spcPct val="0"/>
        </a:spcBef>
        <a:spcAft>
          <a:spcPct val="0"/>
        </a:spcAft>
        <a:defRPr kumimoji="1" sz="4400">
          <a:solidFill>
            <a:schemeClr val="tx1"/>
          </a:solidFill>
          <a:latin typeface="Calibri" pitchFamily="34" charset="0"/>
          <a:ea typeface="ＭＳ Ｐゴシック" charset="-128"/>
        </a:defRPr>
      </a:lvl7pPr>
      <a:lvl8pPr marL="1371600" algn="ctr" rtl="0" fontAlgn="base">
        <a:spcBef>
          <a:spcPct val="0"/>
        </a:spcBef>
        <a:spcAft>
          <a:spcPct val="0"/>
        </a:spcAft>
        <a:defRPr kumimoji="1" sz="4400">
          <a:solidFill>
            <a:schemeClr val="tx1"/>
          </a:solidFill>
          <a:latin typeface="Calibri" pitchFamily="34" charset="0"/>
          <a:ea typeface="ＭＳ Ｐゴシック" charset="-128"/>
        </a:defRPr>
      </a:lvl8pPr>
      <a:lvl9pPr marL="1828800" algn="ctr" rtl="0" fontAlgn="base">
        <a:spcBef>
          <a:spcPct val="0"/>
        </a:spcBef>
        <a:spcAft>
          <a:spcPct val="0"/>
        </a:spcAft>
        <a:defRPr kumimoji="1" sz="4400">
          <a:solidFill>
            <a:schemeClr val="tx1"/>
          </a:solidFill>
          <a:latin typeface="Calibri" pitchFamily="34" charset="0"/>
          <a:ea typeface="ＭＳ Ｐゴシック" charset="-128"/>
        </a:defRPr>
      </a:lvl9pPr>
    </p:titleStyle>
    <p:bodyStyle>
      <a:lvl1pPr marL="342900" indent="-342900" algn="l" rtl="0" eaLnBrk="0" fontAlgn="base" hangingPunct="0">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9192F92D-BFE4-E657-6BFC-F6A9E334AAE5}"/>
              </a:ext>
            </a:extLst>
          </p:cNvPr>
          <p:cNvPicPr>
            <a:picLocks noChangeAspect="1"/>
          </p:cNvPicPr>
          <p:nvPr/>
        </p:nvPicPr>
        <p:blipFill>
          <a:blip r:embed="rId2"/>
          <a:stretch>
            <a:fillRect/>
          </a:stretch>
        </p:blipFill>
        <p:spPr>
          <a:xfrm>
            <a:off x="2580892" y="2107599"/>
            <a:ext cx="3972306" cy="3130296"/>
          </a:xfrm>
          <a:prstGeom prst="rect">
            <a:avLst/>
          </a:prstGeom>
        </p:spPr>
      </p:pic>
      <p:sp>
        <p:nvSpPr>
          <p:cNvPr id="2" name="タイトル 1">
            <a:extLst>
              <a:ext uri="{FF2B5EF4-FFF2-40B4-BE49-F238E27FC236}">
                <a16:creationId xmlns:a16="http://schemas.microsoft.com/office/drawing/2014/main" id="{309CA96A-BEC5-1C26-31EA-29BE3091305D}"/>
              </a:ext>
            </a:extLst>
          </p:cNvPr>
          <p:cNvSpPr>
            <a:spLocks noGrp="1"/>
          </p:cNvSpPr>
          <p:nvPr>
            <p:ph type="title"/>
          </p:nvPr>
        </p:nvSpPr>
        <p:spPr/>
        <p:txBody>
          <a:bodyPr/>
          <a:lstStyle/>
          <a:p>
            <a:r>
              <a:rPr kumimoji="1" lang="en-US" altLang="ja-JP" sz="2800" dirty="0">
                <a:solidFill>
                  <a:schemeClr val="tx1"/>
                </a:solidFill>
              </a:rPr>
              <a:t>pocket_sdr.py</a:t>
            </a:r>
            <a:r>
              <a:rPr lang="ja-JP" altLang="en-US" sz="2800" dirty="0">
                <a:solidFill>
                  <a:schemeClr val="tx1"/>
                </a:solidFill>
              </a:rPr>
              <a:t> </a:t>
            </a:r>
            <a:r>
              <a:rPr lang="en-US" altLang="ja-JP" sz="2800" dirty="0">
                <a:solidFill>
                  <a:schemeClr val="tx1"/>
                </a:solidFill>
              </a:rPr>
              <a:t>help</a:t>
            </a:r>
            <a:endParaRPr kumimoji="1" lang="ja-JP" altLang="en-US" sz="2800" dirty="0">
              <a:solidFill>
                <a:schemeClr val="tx1"/>
              </a:solidFill>
            </a:endParaRPr>
          </a:p>
        </p:txBody>
      </p:sp>
      <p:sp>
        <p:nvSpPr>
          <p:cNvPr id="4" name="スライド番号プレースホルダー 3">
            <a:extLst>
              <a:ext uri="{FF2B5EF4-FFF2-40B4-BE49-F238E27FC236}">
                <a16:creationId xmlns:a16="http://schemas.microsoft.com/office/drawing/2014/main" id="{5A055CF0-25E7-1F72-1281-0BA42FC92E08}"/>
              </a:ext>
            </a:extLst>
          </p:cNvPr>
          <p:cNvSpPr>
            <a:spLocks noGrp="1"/>
          </p:cNvSpPr>
          <p:nvPr>
            <p:ph type="sldNum" sz="quarter" idx="11"/>
          </p:nvPr>
        </p:nvSpPr>
        <p:spPr/>
        <p:txBody>
          <a:bodyPr/>
          <a:lstStyle/>
          <a:p>
            <a:pPr>
              <a:defRPr/>
            </a:pPr>
            <a:fld id="{76B10B91-6492-4C08-AE87-F344306858DA}" type="slidenum">
              <a:rPr lang="ja-JP" altLang="en-US" smtClean="0">
                <a:latin typeface="+mj-lt"/>
              </a:rPr>
              <a:pPr>
                <a:defRPr/>
              </a:pPr>
              <a:t>1</a:t>
            </a:fld>
            <a:endParaRPr lang="ja-JP" altLang="en-US" dirty="0">
              <a:latin typeface="+mj-lt"/>
            </a:endParaRPr>
          </a:p>
        </p:txBody>
      </p:sp>
      <p:sp>
        <p:nvSpPr>
          <p:cNvPr id="41" name="テキスト ボックス 40">
            <a:extLst>
              <a:ext uri="{FF2B5EF4-FFF2-40B4-BE49-F238E27FC236}">
                <a16:creationId xmlns:a16="http://schemas.microsoft.com/office/drawing/2014/main" id="{302566BC-D410-4245-CDAB-93A9DC435086}"/>
              </a:ext>
            </a:extLst>
          </p:cNvPr>
          <p:cNvSpPr txBox="1"/>
          <p:nvPr/>
        </p:nvSpPr>
        <p:spPr>
          <a:xfrm>
            <a:off x="6876256" y="1994561"/>
            <a:ext cx="1388506" cy="184666"/>
          </a:xfrm>
          <a:prstGeom prst="rect">
            <a:avLst/>
          </a:prstGeom>
          <a:noFill/>
        </p:spPr>
        <p:txBody>
          <a:bodyPr wrap="square" lIns="0" tIns="0" rIns="0" bIns="0" rtlCol="0">
            <a:spAutoFit/>
          </a:bodyPr>
          <a:lstStyle/>
          <a:p>
            <a:pPr algn="ctr"/>
            <a:r>
              <a:rPr kumimoji="1" lang="en-US" altLang="ja-JP" sz="1200" dirty="0">
                <a:latin typeface="+mj-lt"/>
              </a:rPr>
              <a:t>Command</a:t>
            </a:r>
            <a:r>
              <a:rPr kumimoji="1" lang="ja-JP" altLang="en-US" sz="1200" dirty="0">
                <a:latin typeface="+mj-lt"/>
              </a:rPr>
              <a:t> </a:t>
            </a:r>
            <a:r>
              <a:rPr kumimoji="1" lang="en-US" altLang="ja-JP" sz="1200" dirty="0">
                <a:latin typeface="+mj-lt"/>
              </a:rPr>
              <a:t>Buttons</a:t>
            </a:r>
            <a:endParaRPr kumimoji="1" lang="ja-JP" altLang="en-US" sz="1200" dirty="0">
              <a:latin typeface="+mj-lt"/>
            </a:endParaRPr>
          </a:p>
        </p:txBody>
      </p:sp>
      <p:sp>
        <p:nvSpPr>
          <p:cNvPr id="130" name="正方形/長方形 129">
            <a:extLst>
              <a:ext uri="{FF2B5EF4-FFF2-40B4-BE49-F238E27FC236}">
                <a16:creationId xmlns:a16="http://schemas.microsoft.com/office/drawing/2014/main" id="{4119CF75-A9A9-9BE0-4851-7AA21482F777}"/>
              </a:ext>
            </a:extLst>
          </p:cNvPr>
          <p:cNvSpPr/>
          <p:nvPr/>
        </p:nvSpPr>
        <p:spPr>
          <a:xfrm>
            <a:off x="2585847" y="2247153"/>
            <a:ext cx="3967353"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39" name="直線コネクタ 138">
            <a:extLst>
              <a:ext uri="{FF2B5EF4-FFF2-40B4-BE49-F238E27FC236}">
                <a16:creationId xmlns:a16="http://schemas.microsoft.com/office/drawing/2014/main" id="{31BFB0DA-8129-0FAD-F75D-D5C580D1E98C}"/>
              </a:ext>
            </a:extLst>
          </p:cNvPr>
          <p:cNvCxnSpPr>
            <a:cxnSpLocks/>
            <a:stCxn id="130" idx="3"/>
            <a:endCxn id="41" idx="1"/>
          </p:cNvCxnSpPr>
          <p:nvPr/>
        </p:nvCxnSpPr>
        <p:spPr>
          <a:xfrm flipV="1">
            <a:off x="6553200" y="2086894"/>
            <a:ext cx="323056" cy="232267"/>
          </a:xfrm>
          <a:prstGeom prst="line">
            <a:avLst/>
          </a:prstGeom>
        </p:spPr>
        <p:style>
          <a:lnRef idx="1">
            <a:schemeClr val="accent1"/>
          </a:lnRef>
          <a:fillRef idx="0">
            <a:schemeClr val="accent1"/>
          </a:fillRef>
          <a:effectRef idx="0">
            <a:schemeClr val="accent1"/>
          </a:effectRef>
          <a:fontRef idx="minor">
            <a:schemeClr val="tx1"/>
          </a:fontRef>
        </p:style>
      </p:cxnSp>
      <p:sp>
        <p:nvSpPr>
          <p:cNvPr id="179" name="正方形/長方形 178">
            <a:extLst>
              <a:ext uri="{FF2B5EF4-FFF2-40B4-BE49-F238E27FC236}">
                <a16:creationId xmlns:a16="http://schemas.microsoft.com/office/drawing/2014/main" id="{C16EF594-1431-2994-1F0C-BDBAE8894216}"/>
              </a:ext>
            </a:extLst>
          </p:cNvPr>
          <p:cNvSpPr/>
          <p:nvPr/>
        </p:nvSpPr>
        <p:spPr>
          <a:xfrm>
            <a:off x="2585847" y="5086971"/>
            <a:ext cx="3967352" cy="141964"/>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3" name="正方形/長方形 182">
            <a:extLst>
              <a:ext uri="{FF2B5EF4-FFF2-40B4-BE49-F238E27FC236}">
                <a16:creationId xmlns:a16="http://schemas.microsoft.com/office/drawing/2014/main" id="{F533FF24-09B6-6967-F99C-0472767EE713}"/>
              </a:ext>
            </a:extLst>
          </p:cNvPr>
          <p:cNvSpPr/>
          <p:nvPr/>
        </p:nvSpPr>
        <p:spPr>
          <a:xfrm>
            <a:off x="2585847" y="2391169"/>
            <a:ext cx="3967353" cy="130114"/>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1" name="テキスト ボックス 190">
            <a:extLst>
              <a:ext uri="{FF2B5EF4-FFF2-40B4-BE49-F238E27FC236}">
                <a16:creationId xmlns:a16="http://schemas.microsoft.com/office/drawing/2014/main" id="{2FE2F400-71A2-C64A-49A4-6E16E7337EED}"/>
              </a:ext>
            </a:extLst>
          </p:cNvPr>
          <p:cNvSpPr txBox="1"/>
          <p:nvPr/>
        </p:nvSpPr>
        <p:spPr>
          <a:xfrm>
            <a:off x="1076606" y="1994561"/>
            <a:ext cx="1000365" cy="461665"/>
          </a:xfrm>
          <a:prstGeom prst="rect">
            <a:avLst/>
          </a:prstGeom>
          <a:noFill/>
        </p:spPr>
        <p:txBody>
          <a:bodyPr wrap="square" lIns="0" tIns="0" rIns="0" bIns="0" rtlCol="0">
            <a:spAutoFit/>
          </a:bodyPr>
          <a:lstStyle/>
          <a:p>
            <a:pPr algn="ctr"/>
            <a:r>
              <a:rPr kumimoji="1" lang="en-US" altLang="ja-JP" sz="1200" dirty="0">
                <a:latin typeface="+mj-lt"/>
              </a:rPr>
              <a:t>Page</a:t>
            </a:r>
            <a:r>
              <a:rPr kumimoji="1" lang="ja-JP" altLang="en-US" sz="1200" dirty="0">
                <a:latin typeface="+mj-lt"/>
              </a:rPr>
              <a:t> </a:t>
            </a:r>
            <a:r>
              <a:rPr kumimoji="1" lang="en-US" altLang="ja-JP" sz="1200" dirty="0">
                <a:latin typeface="+mj-lt"/>
              </a:rPr>
              <a:t>Tabs:</a:t>
            </a:r>
          </a:p>
          <a:p>
            <a:pPr algn="ctr"/>
            <a:r>
              <a:rPr lang="en-US" altLang="ja-JP" sz="900" dirty="0">
                <a:latin typeface="+mj-lt"/>
              </a:rPr>
              <a:t>Tabs</a:t>
            </a:r>
            <a:r>
              <a:rPr lang="ja-JP" altLang="en-US" sz="900" dirty="0">
                <a:latin typeface="+mj-lt"/>
              </a:rPr>
              <a:t> </a:t>
            </a:r>
            <a:r>
              <a:rPr lang="en-US" altLang="ja-JP" sz="900" dirty="0">
                <a:latin typeface="+mj-lt"/>
              </a:rPr>
              <a:t>to</a:t>
            </a:r>
            <a:r>
              <a:rPr lang="ja-JP" altLang="en-US" sz="900" dirty="0">
                <a:latin typeface="+mj-lt"/>
              </a:rPr>
              <a:t> </a:t>
            </a:r>
            <a:r>
              <a:rPr lang="en-US" altLang="ja-JP" sz="900" dirty="0">
                <a:latin typeface="+mj-lt"/>
              </a:rPr>
              <a:t>switch</a:t>
            </a:r>
            <a:r>
              <a:rPr lang="ja-JP" altLang="en-US" sz="900" dirty="0">
                <a:latin typeface="+mj-lt"/>
              </a:rPr>
              <a:t> </a:t>
            </a:r>
            <a:r>
              <a:rPr lang="en-US" altLang="ja-JP" sz="900" dirty="0">
                <a:latin typeface="+mj-lt"/>
              </a:rPr>
              <a:t>current</a:t>
            </a:r>
            <a:r>
              <a:rPr lang="ja-JP" altLang="en-US" sz="900" dirty="0">
                <a:latin typeface="+mj-lt"/>
              </a:rPr>
              <a:t> </a:t>
            </a:r>
            <a:r>
              <a:rPr lang="en-US" altLang="ja-JP" sz="900" dirty="0">
                <a:latin typeface="+mj-lt"/>
              </a:rPr>
              <a:t>page</a:t>
            </a:r>
            <a:endParaRPr kumimoji="1" lang="ja-JP" altLang="en-US" sz="900" dirty="0">
              <a:latin typeface="+mj-lt"/>
            </a:endParaRPr>
          </a:p>
        </p:txBody>
      </p:sp>
      <p:cxnSp>
        <p:nvCxnSpPr>
          <p:cNvPr id="192" name="直線コネクタ 191">
            <a:extLst>
              <a:ext uri="{FF2B5EF4-FFF2-40B4-BE49-F238E27FC236}">
                <a16:creationId xmlns:a16="http://schemas.microsoft.com/office/drawing/2014/main" id="{A2C7E6ED-AE52-5889-BE88-4FD54A05E724}"/>
              </a:ext>
            </a:extLst>
          </p:cNvPr>
          <p:cNvCxnSpPr>
            <a:cxnSpLocks/>
            <a:stCxn id="183" idx="1"/>
            <a:endCxn id="191" idx="3"/>
          </p:cNvCxnSpPr>
          <p:nvPr/>
        </p:nvCxnSpPr>
        <p:spPr>
          <a:xfrm flipH="1" flipV="1">
            <a:off x="2076971" y="2225394"/>
            <a:ext cx="508876" cy="230832"/>
          </a:xfrm>
          <a:prstGeom prst="line">
            <a:avLst/>
          </a:prstGeom>
        </p:spPr>
        <p:style>
          <a:lnRef idx="1">
            <a:schemeClr val="accent1"/>
          </a:lnRef>
          <a:fillRef idx="0">
            <a:schemeClr val="accent1"/>
          </a:fillRef>
          <a:effectRef idx="0">
            <a:schemeClr val="accent1"/>
          </a:effectRef>
          <a:fontRef idx="minor">
            <a:schemeClr val="tx1"/>
          </a:fontRef>
        </p:style>
      </p:cxnSp>
      <p:sp>
        <p:nvSpPr>
          <p:cNvPr id="199" name="テキスト ボックス 198">
            <a:extLst>
              <a:ext uri="{FF2B5EF4-FFF2-40B4-BE49-F238E27FC236}">
                <a16:creationId xmlns:a16="http://schemas.microsoft.com/office/drawing/2014/main" id="{B3AAFC3C-5BE1-B5AB-B170-F3025243D508}"/>
              </a:ext>
            </a:extLst>
          </p:cNvPr>
          <p:cNvSpPr txBox="1"/>
          <p:nvPr/>
        </p:nvSpPr>
        <p:spPr>
          <a:xfrm>
            <a:off x="1043608" y="4987595"/>
            <a:ext cx="1033363" cy="600164"/>
          </a:xfrm>
          <a:prstGeom prst="rect">
            <a:avLst/>
          </a:prstGeom>
          <a:noFill/>
        </p:spPr>
        <p:txBody>
          <a:bodyPr wrap="square" lIns="0" tIns="0" rIns="0" bIns="0" rtlCol="0">
            <a:spAutoFit/>
          </a:bodyPr>
          <a:lstStyle/>
          <a:p>
            <a:pPr algn="ctr"/>
            <a:r>
              <a:rPr kumimoji="1" lang="en-US" altLang="ja-JP" sz="1200" dirty="0">
                <a:latin typeface="+mj-lt"/>
              </a:rPr>
              <a:t>Status</a:t>
            </a:r>
            <a:r>
              <a:rPr kumimoji="1" lang="ja-JP" altLang="en-US" sz="1200" dirty="0">
                <a:latin typeface="+mj-lt"/>
              </a:rPr>
              <a:t> </a:t>
            </a:r>
            <a:r>
              <a:rPr kumimoji="1" lang="en-US" altLang="ja-JP" sz="1200" dirty="0">
                <a:latin typeface="+mj-lt"/>
              </a:rPr>
              <a:t>Bar:</a:t>
            </a:r>
          </a:p>
          <a:p>
            <a:pPr algn="ctr"/>
            <a:r>
              <a:rPr lang="en-US" altLang="ja-JP" sz="900" dirty="0">
                <a:latin typeface="+mj-lt"/>
              </a:rPr>
              <a:t>Status</a:t>
            </a:r>
            <a:r>
              <a:rPr lang="ja-JP" altLang="en-US" sz="900" dirty="0">
                <a:latin typeface="+mj-lt"/>
              </a:rPr>
              <a:t> </a:t>
            </a:r>
            <a:r>
              <a:rPr lang="en-US" altLang="ja-JP" sz="900" dirty="0">
                <a:latin typeface="+mj-lt"/>
              </a:rPr>
              <a:t>info</a:t>
            </a:r>
            <a:r>
              <a:rPr lang="ja-JP" altLang="en-US" sz="900" dirty="0">
                <a:latin typeface="+mj-lt"/>
              </a:rPr>
              <a:t> </a:t>
            </a:r>
            <a:r>
              <a:rPr lang="en-US" altLang="ja-JP" sz="900" dirty="0">
                <a:latin typeface="+mj-lt"/>
              </a:rPr>
              <a:t>or</a:t>
            </a:r>
            <a:r>
              <a:rPr lang="ja-JP" altLang="en-US" sz="900" dirty="0">
                <a:latin typeface="+mj-lt"/>
              </a:rPr>
              <a:t> </a:t>
            </a:r>
            <a:r>
              <a:rPr lang="en-US" altLang="ja-JP" sz="900" dirty="0">
                <a:latin typeface="+mj-lt"/>
              </a:rPr>
              <a:t>error</a:t>
            </a:r>
            <a:r>
              <a:rPr lang="ja-JP" altLang="en-US" sz="900" dirty="0">
                <a:latin typeface="+mj-lt"/>
              </a:rPr>
              <a:t> </a:t>
            </a:r>
            <a:r>
              <a:rPr lang="en-US" altLang="ja-JP" sz="900" dirty="0">
                <a:latin typeface="+mj-lt"/>
              </a:rPr>
              <a:t>message</a:t>
            </a:r>
            <a:r>
              <a:rPr lang="ja-JP" altLang="en-US" sz="900" dirty="0">
                <a:latin typeface="+mj-lt"/>
              </a:rPr>
              <a:t> </a:t>
            </a:r>
            <a:r>
              <a:rPr lang="en-US" altLang="ja-JP" sz="900" dirty="0">
                <a:latin typeface="+mj-lt"/>
              </a:rPr>
              <a:t>for</a:t>
            </a:r>
            <a:r>
              <a:rPr lang="ja-JP" altLang="en-US" sz="900" dirty="0">
                <a:latin typeface="+mj-lt"/>
              </a:rPr>
              <a:t> </a:t>
            </a:r>
            <a:r>
              <a:rPr lang="en-US" altLang="ja-JP" sz="900" dirty="0">
                <a:latin typeface="+mj-lt"/>
              </a:rPr>
              <a:t>the</a:t>
            </a:r>
            <a:r>
              <a:rPr lang="ja-JP" altLang="en-US" sz="900" dirty="0">
                <a:latin typeface="+mj-lt"/>
              </a:rPr>
              <a:t> </a:t>
            </a:r>
            <a:r>
              <a:rPr lang="en-US" altLang="ja-JP" sz="900" dirty="0">
                <a:latin typeface="+mj-lt"/>
              </a:rPr>
              <a:t>receiver</a:t>
            </a:r>
            <a:r>
              <a:rPr lang="ja-JP" altLang="en-US" sz="900" dirty="0">
                <a:latin typeface="+mj-lt"/>
              </a:rPr>
              <a:t>  </a:t>
            </a:r>
            <a:endParaRPr kumimoji="1" lang="ja-JP" altLang="en-US" sz="900" dirty="0">
              <a:latin typeface="+mj-lt"/>
            </a:endParaRPr>
          </a:p>
        </p:txBody>
      </p:sp>
      <p:cxnSp>
        <p:nvCxnSpPr>
          <p:cNvPr id="201" name="直線コネクタ 200">
            <a:extLst>
              <a:ext uri="{FF2B5EF4-FFF2-40B4-BE49-F238E27FC236}">
                <a16:creationId xmlns:a16="http://schemas.microsoft.com/office/drawing/2014/main" id="{A7F0BA01-86D0-6618-8E13-B1BE25746820}"/>
              </a:ext>
            </a:extLst>
          </p:cNvPr>
          <p:cNvCxnSpPr>
            <a:cxnSpLocks/>
            <a:stCxn id="179" idx="1"/>
            <a:endCxn id="199" idx="3"/>
          </p:cNvCxnSpPr>
          <p:nvPr/>
        </p:nvCxnSpPr>
        <p:spPr>
          <a:xfrm flipH="1">
            <a:off x="2076971" y="5157953"/>
            <a:ext cx="508876" cy="129724"/>
          </a:xfrm>
          <a:prstGeom prst="line">
            <a:avLst/>
          </a:prstGeom>
        </p:spPr>
        <p:style>
          <a:lnRef idx="1">
            <a:schemeClr val="accent1"/>
          </a:lnRef>
          <a:fillRef idx="0">
            <a:schemeClr val="accent1"/>
          </a:fillRef>
          <a:effectRef idx="0">
            <a:schemeClr val="accent1"/>
          </a:effectRef>
          <a:fontRef idx="minor">
            <a:schemeClr val="tx1"/>
          </a:fontRef>
        </p:style>
      </p:cxnSp>
      <p:sp>
        <p:nvSpPr>
          <p:cNvPr id="232" name="テキスト ボックス 231">
            <a:extLst>
              <a:ext uri="{FF2B5EF4-FFF2-40B4-BE49-F238E27FC236}">
                <a16:creationId xmlns:a16="http://schemas.microsoft.com/office/drawing/2014/main" id="{EAFE7F95-866B-F186-1DAB-295391B4C29A}"/>
              </a:ext>
            </a:extLst>
          </p:cNvPr>
          <p:cNvSpPr txBox="1"/>
          <p:nvPr/>
        </p:nvSpPr>
        <p:spPr>
          <a:xfrm>
            <a:off x="7248086" y="2308236"/>
            <a:ext cx="1608390" cy="1246495"/>
          </a:xfrm>
          <a:prstGeom prst="rect">
            <a:avLst/>
          </a:prstGeom>
          <a:noFill/>
        </p:spPr>
        <p:txBody>
          <a:bodyPr wrap="square" lIns="0" tIns="0" rIns="0" bIns="0" rtlCol="0">
            <a:spAutoFit/>
          </a:bodyPr>
          <a:lstStyle/>
          <a:p>
            <a:r>
              <a:rPr kumimoji="1" lang="en-US" altLang="ja-JP" sz="900" dirty="0">
                <a:latin typeface="+mj-lt"/>
              </a:rPr>
              <a:t>:</a:t>
            </a:r>
            <a:r>
              <a:rPr kumimoji="1" lang="ja-JP" altLang="en-US" sz="900" dirty="0">
                <a:latin typeface="+mj-lt"/>
              </a:rPr>
              <a:t> </a:t>
            </a:r>
            <a:r>
              <a:rPr kumimoji="1" lang="en-US" altLang="ja-JP" sz="900" dirty="0">
                <a:latin typeface="+mj-lt"/>
              </a:rPr>
              <a:t>Start</a:t>
            </a:r>
            <a:r>
              <a:rPr kumimoji="1" lang="ja-JP" altLang="en-US" sz="900" dirty="0">
                <a:latin typeface="+mj-lt"/>
              </a:rPr>
              <a:t> </a:t>
            </a:r>
            <a:r>
              <a:rPr kumimoji="1" lang="en-US" altLang="ja-JP" sz="900" dirty="0">
                <a:latin typeface="+mj-lt"/>
              </a:rPr>
              <a:t>the</a:t>
            </a:r>
            <a:r>
              <a:rPr kumimoji="1" lang="ja-JP" altLang="en-US" sz="900" dirty="0">
                <a:latin typeface="+mj-lt"/>
              </a:rPr>
              <a:t> </a:t>
            </a:r>
            <a:r>
              <a:rPr kumimoji="1" lang="en-US" altLang="ja-JP" sz="900" dirty="0">
                <a:latin typeface="+mj-lt"/>
              </a:rPr>
              <a:t>receiver</a:t>
            </a:r>
          </a:p>
          <a:p>
            <a:r>
              <a:rPr lang="en-US" altLang="ja-JP" sz="900" dirty="0">
                <a:latin typeface="+mj-lt"/>
              </a:rPr>
              <a:t>:</a:t>
            </a:r>
            <a:r>
              <a:rPr lang="ja-JP" altLang="en-US" sz="900" dirty="0">
                <a:latin typeface="+mj-lt"/>
              </a:rPr>
              <a:t> </a:t>
            </a:r>
            <a:r>
              <a:rPr lang="en-US" altLang="ja-JP" sz="900" dirty="0">
                <a:latin typeface="+mj-lt"/>
              </a:rPr>
              <a:t>Stop</a:t>
            </a:r>
            <a:r>
              <a:rPr lang="ja-JP" altLang="en-US" sz="900" dirty="0">
                <a:latin typeface="+mj-lt"/>
              </a:rPr>
              <a:t> </a:t>
            </a:r>
            <a:r>
              <a:rPr lang="en-US" altLang="ja-JP" sz="900" dirty="0">
                <a:latin typeface="+mj-lt"/>
              </a:rPr>
              <a:t>the</a:t>
            </a:r>
            <a:r>
              <a:rPr lang="ja-JP" altLang="en-US" sz="900" dirty="0">
                <a:latin typeface="+mj-lt"/>
              </a:rPr>
              <a:t> </a:t>
            </a:r>
            <a:r>
              <a:rPr lang="en-US" altLang="ja-JP" sz="900" dirty="0">
                <a:latin typeface="+mj-lt"/>
              </a:rPr>
              <a:t>receiver</a:t>
            </a:r>
          </a:p>
          <a:p>
            <a:r>
              <a:rPr kumimoji="1" lang="en-US" altLang="ja-JP" sz="900" dirty="0">
                <a:latin typeface="+mj-lt"/>
              </a:rPr>
              <a:t>:</a:t>
            </a:r>
            <a:r>
              <a:rPr kumimoji="1" lang="ja-JP" altLang="en-US" sz="900" dirty="0">
                <a:latin typeface="+mj-lt"/>
              </a:rPr>
              <a:t> </a:t>
            </a:r>
            <a:r>
              <a:rPr kumimoji="1" lang="en-US" altLang="ja-JP" sz="900" dirty="0">
                <a:latin typeface="+mj-lt"/>
              </a:rPr>
              <a:t>Show</a:t>
            </a:r>
            <a:r>
              <a:rPr kumimoji="1" lang="ja-JP" altLang="en-US" sz="900" dirty="0">
                <a:latin typeface="+mj-lt"/>
              </a:rPr>
              <a:t> </a:t>
            </a:r>
            <a:r>
              <a:rPr kumimoji="1" lang="en-US" altLang="ja-JP" sz="900" dirty="0">
                <a:latin typeface="+mj-lt"/>
              </a:rPr>
              <a:t>Input</a:t>
            </a:r>
            <a:r>
              <a:rPr kumimoji="1" lang="ja-JP" altLang="en-US" sz="900" dirty="0">
                <a:latin typeface="+mj-lt"/>
              </a:rPr>
              <a:t> </a:t>
            </a:r>
            <a:r>
              <a:rPr kumimoji="1" lang="en-US" altLang="ja-JP" sz="900" dirty="0">
                <a:latin typeface="+mj-lt"/>
              </a:rPr>
              <a:t>Options</a:t>
            </a:r>
            <a:r>
              <a:rPr kumimoji="1" lang="ja-JP" altLang="en-US" sz="900" dirty="0">
                <a:latin typeface="+mj-lt"/>
              </a:rPr>
              <a:t> </a:t>
            </a:r>
            <a:r>
              <a:rPr kumimoji="1" lang="en-US" altLang="ja-JP" sz="900" dirty="0">
                <a:latin typeface="+mj-lt"/>
              </a:rPr>
              <a:t>dialog</a:t>
            </a:r>
          </a:p>
          <a:p>
            <a:r>
              <a:rPr lang="en-US" altLang="ja-JP" sz="900" dirty="0">
                <a:latin typeface="+mj-lt"/>
              </a:rPr>
              <a:t>:</a:t>
            </a:r>
            <a:r>
              <a:rPr lang="ja-JP" altLang="en-US" sz="900" dirty="0">
                <a:latin typeface="+mj-lt"/>
              </a:rPr>
              <a:t> </a:t>
            </a:r>
            <a:r>
              <a:rPr lang="en-US" altLang="ja-JP" sz="900" dirty="0">
                <a:latin typeface="+mj-lt"/>
              </a:rPr>
              <a:t>Show</a:t>
            </a:r>
            <a:r>
              <a:rPr lang="ja-JP" altLang="en-US" sz="900" dirty="0">
                <a:latin typeface="+mj-lt"/>
              </a:rPr>
              <a:t> </a:t>
            </a:r>
            <a:r>
              <a:rPr lang="en-US" altLang="ja-JP" sz="900" dirty="0">
                <a:latin typeface="+mj-lt"/>
              </a:rPr>
              <a:t>Output</a:t>
            </a:r>
            <a:r>
              <a:rPr lang="ja-JP" altLang="en-US" sz="900" dirty="0">
                <a:latin typeface="+mj-lt"/>
              </a:rPr>
              <a:t> </a:t>
            </a:r>
            <a:r>
              <a:rPr lang="en-US" altLang="ja-JP" sz="900" dirty="0">
                <a:latin typeface="+mj-lt"/>
              </a:rPr>
              <a:t>Options</a:t>
            </a:r>
            <a:r>
              <a:rPr lang="ja-JP" altLang="en-US" sz="900" dirty="0">
                <a:latin typeface="+mj-lt"/>
              </a:rPr>
              <a:t> </a:t>
            </a:r>
            <a:r>
              <a:rPr lang="en-US" altLang="ja-JP" sz="900" dirty="0">
                <a:latin typeface="+mj-lt"/>
              </a:rPr>
              <a:t>dialog</a:t>
            </a:r>
          </a:p>
          <a:p>
            <a:r>
              <a:rPr kumimoji="1" lang="en-US" altLang="ja-JP" sz="900" dirty="0">
                <a:latin typeface="+mj-lt"/>
              </a:rPr>
              <a:t>:</a:t>
            </a:r>
            <a:r>
              <a:rPr kumimoji="1" lang="ja-JP" altLang="en-US" sz="900" dirty="0">
                <a:latin typeface="+mj-lt"/>
              </a:rPr>
              <a:t> </a:t>
            </a:r>
            <a:r>
              <a:rPr kumimoji="1" lang="en-US" altLang="ja-JP" sz="900" dirty="0">
                <a:latin typeface="+mj-lt"/>
              </a:rPr>
              <a:t>Show</a:t>
            </a:r>
            <a:r>
              <a:rPr kumimoji="1" lang="ja-JP" altLang="en-US" sz="900" dirty="0">
                <a:latin typeface="+mj-lt"/>
              </a:rPr>
              <a:t> </a:t>
            </a:r>
            <a:r>
              <a:rPr kumimoji="1" lang="en-US" altLang="ja-JP" sz="900" dirty="0">
                <a:latin typeface="+mj-lt"/>
              </a:rPr>
              <a:t>Signal</a:t>
            </a:r>
            <a:r>
              <a:rPr kumimoji="1" lang="ja-JP" altLang="en-US" sz="900" dirty="0">
                <a:latin typeface="+mj-lt"/>
              </a:rPr>
              <a:t> </a:t>
            </a:r>
            <a:r>
              <a:rPr kumimoji="1" lang="en-US" altLang="ja-JP" sz="900" dirty="0">
                <a:latin typeface="+mj-lt"/>
              </a:rPr>
              <a:t>Options</a:t>
            </a:r>
            <a:r>
              <a:rPr kumimoji="1" lang="ja-JP" altLang="en-US" sz="900" dirty="0">
                <a:latin typeface="+mj-lt"/>
              </a:rPr>
              <a:t> </a:t>
            </a:r>
            <a:r>
              <a:rPr kumimoji="1" lang="en-US" altLang="ja-JP" sz="900" dirty="0">
                <a:latin typeface="+mj-lt"/>
              </a:rPr>
              <a:t>dialog</a:t>
            </a:r>
          </a:p>
          <a:p>
            <a:r>
              <a:rPr lang="en-US" altLang="ja-JP" sz="900" dirty="0">
                <a:latin typeface="+mj-lt"/>
              </a:rPr>
              <a:t>:</a:t>
            </a:r>
            <a:r>
              <a:rPr lang="ja-JP" altLang="en-US" sz="900" dirty="0">
                <a:latin typeface="+mj-lt"/>
              </a:rPr>
              <a:t> </a:t>
            </a:r>
            <a:r>
              <a:rPr lang="en-US" altLang="ja-JP" sz="900" dirty="0">
                <a:latin typeface="+mj-lt"/>
              </a:rPr>
              <a:t>Show</a:t>
            </a:r>
            <a:r>
              <a:rPr lang="ja-JP" altLang="en-US" sz="900" dirty="0">
                <a:latin typeface="+mj-lt"/>
              </a:rPr>
              <a:t> </a:t>
            </a:r>
            <a:r>
              <a:rPr lang="en-US" altLang="ja-JP" sz="900" dirty="0">
                <a:latin typeface="+mj-lt"/>
              </a:rPr>
              <a:t>System</a:t>
            </a:r>
            <a:r>
              <a:rPr lang="ja-JP" altLang="en-US" sz="900" dirty="0">
                <a:latin typeface="+mj-lt"/>
              </a:rPr>
              <a:t> </a:t>
            </a:r>
            <a:r>
              <a:rPr lang="en-US" altLang="ja-JP" sz="900" dirty="0">
                <a:latin typeface="+mj-lt"/>
              </a:rPr>
              <a:t>Options</a:t>
            </a:r>
            <a:r>
              <a:rPr lang="ja-JP" altLang="en-US" sz="900" dirty="0">
                <a:latin typeface="+mj-lt"/>
              </a:rPr>
              <a:t> </a:t>
            </a:r>
            <a:r>
              <a:rPr lang="en-US" altLang="ja-JP" sz="900" dirty="0">
                <a:latin typeface="+mj-lt"/>
              </a:rPr>
              <a:t>dialog</a:t>
            </a:r>
          </a:p>
          <a:p>
            <a:r>
              <a:rPr lang="en-US" altLang="ja-JP" sz="900" dirty="0">
                <a:latin typeface="+mj-lt"/>
              </a:rPr>
              <a:t>: Show Array Options dialog</a:t>
            </a:r>
          </a:p>
          <a:p>
            <a:r>
              <a:rPr kumimoji="1" lang="en-US" altLang="ja-JP" sz="900" dirty="0">
                <a:latin typeface="+mj-lt"/>
              </a:rPr>
              <a:t>:</a:t>
            </a:r>
            <a:r>
              <a:rPr kumimoji="1" lang="ja-JP" altLang="en-US" sz="900" dirty="0">
                <a:latin typeface="+mj-lt"/>
              </a:rPr>
              <a:t> </a:t>
            </a:r>
            <a:r>
              <a:rPr kumimoji="1" lang="en-US" altLang="ja-JP" sz="900" dirty="0">
                <a:latin typeface="+mj-lt"/>
              </a:rPr>
              <a:t>Show</a:t>
            </a:r>
            <a:r>
              <a:rPr kumimoji="1" lang="ja-JP" altLang="en-US" sz="900" dirty="0">
                <a:latin typeface="+mj-lt"/>
              </a:rPr>
              <a:t> </a:t>
            </a:r>
            <a:r>
              <a:rPr kumimoji="1" lang="en-US" altLang="ja-JP" sz="900" dirty="0">
                <a:latin typeface="+mj-lt"/>
              </a:rPr>
              <a:t>Help</a:t>
            </a:r>
            <a:r>
              <a:rPr kumimoji="1" lang="ja-JP" altLang="en-US" sz="900" dirty="0">
                <a:latin typeface="+mj-lt"/>
              </a:rPr>
              <a:t> </a:t>
            </a:r>
            <a:r>
              <a:rPr kumimoji="1" lang="en-US" altLang="ja-JP" sz="900" dirty="0">
                <a:latin typeface="+mj-lt"/>
              </a:rPr>
              <a:t>dialog</a:t>
            </a:r>
          </a:p>
          <a:p>
            <a:r>
              <a:rPr kumimoji="1" lang="en-US" altLang="ja-JP" sz="900" dirty="0">
                <a:latin typeface="+mj-lt"/>
              </a:rPr>
              <a:t>:</a:t>
            </a:r>
            <a:r>
              <a:rPr kumimoji="1" lang="ja-JP" altLang="en-US" sz="900" dirty="0">
                <a:latin typeface="+mj-lt"/>
              </a:rPr>
              <a:t> </a:t>
            </a:r>
            <a:r>
              <a:rPr kumimoji="1" lang="en-US" altLang="ja-JP" sz="900" dirty="0">
                <a:latin typeface="+mj-lt"/>
              </a:rPr>
              <a:t>Exit</a:t>
            </a:r>
            <a:r>
              <a:rPr kumimoji="1" lang="ja-JP" altLang="en-US" sz="900" dirty="0">
                <a:latin typeface="+mj-lt"/>
              </a:rPr>
              <a:t> </a:t>
            </a:r>
            <a:r>
              <a:rPr lang="en-US" altLang="ja-JP" sz="900" dirty="0">
                <a:latin typeface="+mj-lt"/>
              </a:rPr>
              <a:t>the</a:t>
            </a:r>
            <a:r>
              <a:rPr lang="ja-JP" altLang="en-US" sz="900" dirty="0">
                <a:latin typeface="+mj-lt"/>
              </a:rPr>
              <a:t> </a:t>
            </a:r>
            <a:r>
              <a:rPr lang="en-US" altLang="ja-JP" sz="900" dirty="0">
                <a:latin typeface="+mj-lt"/>
              </a:rPr>
              <a:t>receiver</a:t>
            </a:r>
            <a:endParaRPr kumimoji="1" lang="ja-JP" altLang="en-US" sz="900" dirty="0">
              <a:latin typeface="+mj-lt"/>
            </a:endParaRPr>
          </a:p>
        </p:txBody>
      </p:sp>
      <p:sp>
        <p:nvSpPr>
          <p:cNvPr id="235" name="テキスト ボックス 234">
            <a:extLst>
              <a:ext uri="{FF2B5EF4-FFF2-40B4-BE49-F238E27FC236}">
                <a16:creationId xmlns:a16="http://schemas.microsoft.com/office/drawing/2014/main" id="{2F8C3B72-C0EA-472C-7A37-4F6576724F69}"/>
              </a:ext>
            </a:extLst>
          </p:cNvPr>
          <p:cNvSpPr txBox="1"/>
          <p:nvPr/>
        </p:nvSpPr>
        <p:spPr>
          <a:xfrm>
            <a:off x="6768244" y="2302347"/>
            <a:ext cx="666012" cy="1246495"/>
          </a:xfrm>
          <a:prstGeom prst="rect">
            <a:avLst/>
          </a:prstGeom>
          <a:noFill/>
        </p:spPr>
        <p:txBody>
          <a:bodyPr wrap="square" lIns="0" tIns="0" rIns="0" bIns="0" rtlCol="0">
            <a:spAutoFit/>
          </a:bodyPr>
          <a:lstStyle/>
          <a:p>
            <a:r>
              <a:rPr kumimoji="1" lang="en-US" altLang="ja-JP" sz="900" dirty="0">
                <a:latin typeface="+mj-lt"/>
              </a:rPr>
              <a:t>Start</a:t>
            </a:r>
          </a:p>
          <a:p>
            <a:r>
              <a:rPr lang="en-US" altLang="ja-JP" sz="900" dirty="0">
                <a:latin typeface="+mj-lt"/>
              </a:rPr>
              <a:t>Stop</a:t>
            </a:r>
          </a:p>
          <a:p>
            <a:r>
              <a:rPr kumimoji="1" lang="en-US" altLang="ja-JP" sz="900" dirty="0">
                <a:latin typeface="+mj-lt"/>
              </a:rPr>
              <a:t>Input...</a:t>
            </a:r>
          </a:p>
          <a:p>
            <a:r>
              <a:rPr lang="en-US" altLang="ja-JP" sz="900" dirty="0">
                <a:latin typeface="+mj-lt"/>
              </a:rPr>
              <a:t>Output...</a:t>
            </a:r>
          </a:p>
          <a:p>
            <a:r>
              <a:rPr kumimoji="1" lang="en-US" altLang="ja-JP" sz="900" dirty="0">
                <a:latin typeface="+mj-lt"/>
              </a:rPr>
              <a:t>Signal...</a:t>
            </a:r>
          </a:p>
          <a:p>
            <a:r>
              <a:rPr lang="en-US" altLang="ja-JP" sz="900" dirty="0">
                <a:latin typeface="+mj-lt"/>
              </a:rPr>
              <a:t>System...</a:t>
            </a:r>
          </a:p>
          <a:p>
            <a:r>
              <a:rPr lang="en-US" altLang="ja-JP" sz="900" dirty="0">
                <a:latin typeface="+mj-lt"/>
              </a:rPr>
              <a:t>Array...</a:t>
            </a:r>
          </a:p>
          <a:p>
            <a:r>
              <a:rPr kumimoji="1" lang="en-US" altLang="ja-JP" sz="900" dirty="0">
                <a:latin typeface="+mj-lt"/>
              </a:rPr>
              <a:t>Help</a:t>
            </a:r>
          </a:p>
          <a:p>
            <a:r>
              <a:rPr kumimoji="1" lang="en-US" altLang="ja-JP" sz="900" dirty="0">
                <a:latin typeface="+mj-lt"/>
              </a:rPr>
              <a:t>Exit</a:t>
            </a:r>
            <a:endParaRPr kumimoji="1" lang="ja-JP" altLang="en-US" sz="900" dirty="0">
              <a:latin typeface="+mj-lt"/>
            </a:endParaRPr>
          </a:p>
        </p:txBody>
      </p:sp>
      <p:sp>
        <p:nvSpPr>
          <p:cNvPr id="284" name="テキスト ボックス 283">
            <a:extLst>
              <a:ext uri="{FF2B5EF4-FFF2-40B4-BE49-F238E27FC236}">
                <a16:creationId xmlns:a16="http://schemas.microsoft.com/office/drawing/2014/main" id="{2B47D1FB-27BA-F780-9C5C-C19D6193B2CF}"/>
              </a:ext>
            </a:extLst>
          </p:cNvPr>
          <p:cNvSpPr txBox="1"/>
          <p:nvPr/>
        </p:nvSpPr>
        <p:spPr>
          <a:xfrm>
            <a:off x="6876256" y="5122110"/>
            <a:ext cx="1152128" cy="461665"/>
          </a:xfrm>
          <a:prstGeom prst="rect">
            <a:avLst/>
          </a:prstGeom>
          <a:noFill/>
        </p:spPr>
        <p:txBody>
          <a:bodyPr wrap="square" lIns="0" tIns="0" rIns="0" bIns="0" rtlCol="0">
            <a:spAutoFit/>
          </a:bodyPr>
          <a:lstStyle/>
          <a:p>
            <a:pPr algn="ctr"/>
            <a:r>
              <a:rPr kumimoji="1" lang="en-US" altLang="ja-JP" sz="1200" dirty="0">
                <a:latin typeface="+mj-lt"/>
              </a:rPr>
              <a:t>Receiver</a:t>
            </a:r>
            <a:r>
              <a:rPr kumimoji="1" lang="ja-JP" altLang="en-US" sz="1200" dirty="0">
                <a:latin typeface="+mj-lt"/>
              </a:rPr>
              <a:t> </a:t>
            </a:r>
            <a:r>
              <a:rPr kumimoji="1" lang="en-US" altLang="ja-JP" sz="1200" dirty="0">
                <a:latin typeface="+mj-lt"/>
              </a:rPr>
              <a:t>Time</a:t>
            </a:r>
            <a:r>
              <a:rPr lang="en-US" altLang="ja-JP" sz="1200" dirty="0">
                <a:latin typeface="+mj-lt"/>
              </a:rPr>
              <a:t>:</a:t>
            </a:r>
            <a:endParaRPr kumimoji="1" lang="en-US" altLang="ja-JP" sz="1200" dirty="0">
              <a:latin typeface="+mj-lt"/>
            </a:endParaRPr>
          </a:p>
          <a:p>
            <a:pPr algn="ctr"/>
            <a:r>
              <a:rPr lang="en-US" altLang="ja-JP" sz="900" dirty="0">
                <a:latin typeface="+mj-lt"/>
              </a:rPr>
              <a:t>Elapsed</a:t>
            </a:r>
            <a:r>
              <a:rPr lang="ja-JP" altLang="en-US" sz="900" dirty="0">
                <a:latin typeface="+mj-lt"/>
              </a:rPr>
              <a:t> </a:t>
            </a:r>
            <a:r>
              <a:rPr lang="en-US" altLang="ja-JP" sz="900" dirty="0">
                <a:latin typeface="+mj-lt"/>
              </a:rPr>
              <a:t>time</a:t>
            </a:r>
            <a:r>
              <a:rPr lang="ja-JP" altLang="en-US" sz="900" dirty="0">
                <a:latin typeface="+mj-lt"/>
              </a:rPr>
              <a:t> </a:t>
            </a:r>
            <a:r>
              <a:rPr lang="en-US" altLang="ja-JP" sz="900" dirty="0">
                <a:latin typeface="+mj-lt"/>
              </a:rPr>
              <a:t>since</a:t>
            </a:r>
            <a:r>
              <a:rPr lang="ja-JP" altLang="en-US" sz="900" dirty="0">
                <a:latin typeface="+mj-lt"/>
              </a:rPr>
              <a:t> </a:t>
            </a:r>
            <a:r>
              <a:rPr lang="en-US" altLang="ja-JP" sz="900" dirty="0">
                <a:latin typeface="+mj-lt"/>
              </a:rPr>
              <a:t>the</a:t>
            </a:r>
            <a:r>
              <a:rPr lang="ja-JP" altLang="en-US" sz="900" dirty="0">
                <a:latin typeface="+mj-lt"/>
              </a:rPr>
              <a:t> </a:t>
            </a:r>
            <a:r>
              <a:rPr lang="en-US" altLang="ja-JP" sz="900" dirty="0">
                <a:latin typeface="+mj-lt"/>
              </a:rPr>
              <a:t>receiver</a:t>
            </a:r>
            <a:r>
              <a:rPr lang="ja-JP" altLang="en-US" sz="900" dirty="0">
                <a:latin typeface="+mj-lt"/>
              </a:rPr>
              <a:t> </a:t>
            </a:r>
            <a:r>
              <a:rPr lang="en-US" altLang="ja-JP" sz="900" dirty="0">
                <a:latin typeface="+mj-lt"/>
              </a:rPr>
              <a:t>started</a:t>
            </a:r>
            <a:r>
              <a:rPr lang="ja-JP" altLang="en-US" sz="900" dirty="0">
                <a:latin typeface="+mj-lt"/>
              </a:rPr>
              <a:t> </a:t>
            </a:r>
            <a:r>
              <a:rPr lang="en-US" altLang="ja-JP" sz="900" dirty="0">
                <a:latin typeface="+mj-lt"/>
              </a:rPr>
              <a:t>(s)</a:t>
            </a:r>
            <a:endParaRPr kumimoji="1" lang="ja-JP" altLang="en-US" sz="900" dirty="0">
              <a:latin typeface="+mj-lt"/>
            </a:endParaRPr>
          </a:p>
        </p:txBody>
      </p:sp>
      <p:cxnSp>
        <p:nvCxnSpPr>
          <p:cNvPr id="286" name="直線コネクタ 285">
            <a:extLst>
              <a:ext uri="{FF2B5EF4-FFF2-40B4-BE49-F238E27FC236}">
                <a16:creationId xmlns:a16="http://schemas.microsoft.com/office/drawing/2014/main" id="{4BE35C9B-D8E8-2F91-2012-DF30FF21CBB6}"/>
              </a:ext>
            </a:extLst>
          </p:cNvPr>
          <p:cNvCxnSpPr>
            <a:cxnSpLocks/>
            <a:endCxn id="284" idx="1"/>
          </p:cNvCxnSpPr>
          <p:nvPr/>
        </p:nvCxnSpPr>
        <p:spPr>
          <a:xfrm>
            <a:off x="6480212" y="5157953"/>
            <a:ext cx="396044" cy="194990"/>
          </a:xfrm>
          <a:prstGeom prst="line">
            <a:avLst/>
          </a:prstGeom>
        </p:spPr>
        <p:style>
          <a:lnRef idx="1">
            <a:schemeClr val="accent1"/>
          </a:lnRef>
          <a:fillRef idx="0">
            <a:schemeClr val="accent1"/>
          </a:fillRef>
          <a:effectRef idx="0">
            <a:schemeClr val="accent1"/>
          </a:effectRef>
          <a:fontRef idx="minor">
            <a:schemeClr val="tx1"/>
          </a:fontRef>
        </p:style>
      </p:cxnSp>
      <p:sp>
        <p:nvSpPr>
          <p:cNvPr id="3" name="テキスト ボックス 2">
            <a:extLst>
              <a:ext uri="{FF2B5EF4-FFF2-40B4-BE49-F238E27FC236}">
                <a16:creationId xmlns:a16="http://schemas.microsoft.com/office/drawing/2014/main" id="{A9CB3B65-8BD1-C633-D7DC-29357197EE37}"/>
              </a:ext>
            </a:extLst>
          </p:cNvPr>
          <p:cNvSpPr txBox="1"/>
          <p:nvPr/>
        </p:nvSpPr>
        <p:spPr>
          <a:xfrm>
            <a:off x="2580893" y="1629065"/>
            <a:ext cx="3972305" cy="184666"/>
          </a:xfrm>
          <a:prstGeom prst="rect">
            <a:avLst/>
          </a:prstGeom>
          <a:noFill/>
        </p:spPr>
        <p:txBody>
          <a:bodyPr wrap="square" lIns="0" tIns="0" rIns="0" bIns="0" rtlCol="0">
            <a:spAutoFit/>
          </a:bodyPr>
          <a:lstStyle/>
          <a:p>
            <a:pPr algn="ctr"/>
            <a:r>
              <a:rPr kumimoji="1" lang="en-US" altLang="ja-JP" sz="1200" dirty="0">
                <a:latin typeface="+mj-lt"/>
              </a:rPr>
              <a:t>Initial</a:t>
            </a:r>
            <a:r>
              <a:rPr kumimoji="1" lang="ja-JP" altLang="en-US" sz="1200" dirty="0">
                <a:latin typeface="+mj-lt"/>
              </a:rPr>
              <a:t> </a:t>
            </a:r>
            <a:r>
              <a:rPr kumimoji="1" lang="en-US" altLang="ja-JP" sz="1200" dirty="0">
                <a:latin typeface="+mj-lt"/>
              </a:rPr>
              <a:t>Window</a:t>
            </a:r>
            <a:endParaRPr kumimoji="1" lang="ja-JP" altLang="en-US" sz="1200" dirty="0">
              <a:latin typeface="+mj-lt"/>
            </a:endParaRPr>
          </a:p>
        </p:txBody>
      </p:sp>
      <p:sp>
        <p:nvSpPr>
          <p:cNvPr id="5" name="テキスト ボックス 4">
            <a:extLst>
              <a:ext uri="{FF2B5EF4-FFF2-40B4-BE49-F238E27FC236}">
                <a16:creationId xmlns:a16="http://schemas.microsoft.com/office/drawing/2014/main" id="{724F4444-3D5C-E7B2-1CA4-B36163389651}"/>
              </a:ext>
            </a:extLst>
          </p:cNvPr>
          <p:cNvSpPr txBox="1"/>
          <p:nvPr/>
        </p:nvSpPr>
        <p:spPr>
          <a:xfrm>
            <a:off x="6924050" y="1147376"/>
            <a:ext cx="1608390" cy="215444"/>
          </a:xfrm>
          <a:prstGeom prst="rect">
            <a:avLst/>
          </a:prstGeom>
          <a:noFill/>
        </p:spPr>
        <p:txBody>
          <a:bodyPr wrap="square" lIns="0" tIns="0" rIns="0" bIns="0" rtlCol="0">
            <a:spAutoFit/>
          </a:bodyPr>
          <a:lstStyle/>
          <a:p>
            <a:pPr algn="r"/>
            <a:r>
              <a:rPr kumimoji="1" lang="en-US" altLang="ja-JP" sz="1400" b="1" dirty="0">
                <a:latin typeface="+mj-lt"/>
              </a:rPr>
              <a:t>ver</a:t>
            </a:r>
            <a:r>
              <a:rPr kumimoji="1" lang="en-US" altLang="ja-JP" sz="1400" b="1">
                <a:latin typeface="+mj-lt"/>
              </a:rPr>
              <a:t>.</a:t>
            </a:r>
            <a:r>
              <a:rPr kumimoji="1" lang="ja-JP" altLang="en-US" sz="1400" b="1">
                <a:latin typeface="+mj-lt"/>
              </a:rPr>
              <a:t> </a:t>
            </a:r>
            <a:r>
              <a:rPr kumimoji="1" lang="en-US" altLang="ja-JP" sz="1400" b="1">
                <a:latin typeface="+mj-lt"/>
              </a:rPr>
              <a:t>0.19</a:t>
            </a:r>
            <a:r>
              <a:rPr kumimoji="1" lang="ja-JP" altLang="en-US" sz="1400" b="1">
                <a:latin typeface="+mj-lt"/>
              </a:rPr>
              <a:t>   </a:t>
            </a:r>
            <a:r>
              <a:rPr kumimoji="1" lang="en-US" altLang="ja-JP" sz="1400" b="1">
                <a:latin typeface="+mj-lt"/>
              </a:rPr>
              <a:t>2026-07-24</a:t>
            </a:r>
            <a:endParaRPr kumimoji="1" lang="ja-JP" altLang="en-US" sz="1400" b="1" dirty="0">
              <a:latin typeface="+mj-lt"/>
            </a:endParaRPr>
          </a:p>
        </p:txBody>
      </p:sp>
      <p:sp>
        <p:nvSpPr>
          <p:cNvPr id="9" name="正方形/長方形 8">
            <a:extLst>
              <a:ext uri="{FF2B5EF4-FFF2-40B4-BE49-F238E27FC236}">
                <a16:creationId xmlns:a16="http://schemas.microsoft.com/office/drawing/2014/main" id="{77BAC552-7D69-72CF-6317-70197E8BA0D5}"/>
              </a:ext>
            </a:extLst>
          </p:cNvPr>
          <p:cNvSpPr/>
          <p:nvPr/>
        </p:nvSpPr>
        <p:spPr>
          <a:xfrm>
            <a:off x="2585845" y="2521283"/>
            <a:ext cx="942039"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888B5816-2C28-BAD9-B7EC-E682453A87B0}"/>
              </a:ext>
            </a:extLst>
          </p:cNvPr>
          <p:cNvSpPr txBox="1"/>
          <p:nvPr/>
        </p:nvSpPr>
        <p:spPr>
          <a:xfrm>
            <a:off x="1013757" y="2665299"/>
            <a:ext cx="1093063" cy="784830"/>
          </a:xfrm>
          <a:prstGeom prst="rect">
            <a:avLst/>
          </a:prstGeom>
          <a:noFill/>
        </p:spPr>
        <p:txBody>
          <a:bodyPr wrap="square" lIns="0" tIns="0" rIns="0" bIns="0" rtlCol="0">
            <a:spAutoFit/>
          </a:bodyPr>
          <a:lstStyle/>
          <a:p>
            <a:pPr algn="ctr"/>
            <a:r>
              <a:rPr lang="en-US" altLang="ja-JP" sz="1200">
                <a:latin typeface="+mj-lt"/>
              </a:rPr>
              <a:t>Load or Save Receiver Options:</a:t>
            </a:r>
            <a:r>
              <a:rPr lang="en-US" altLang="ja-JP" sz="900">
                <a:latin typeface="+mj-lt"/>
              </a:rPr>
              <a:t> The options format complies with Windows ini.</a:t>
            </a:r>
            <a:endParaRPr kumimoji="1" lang="ja-JP" altLang="en-US" sz="900" dirty="0">
              <a:latin typeface="+mj-lt"/>
            </a:endParaRPr>
          </a:p>
        </p:txBody>
      </p:sp>
      <p:cxnSp>
        <p:nvCxnSpPr>
          <p:cNvPr id="11" name="直線コネクタ 10">
            <a:extLst>
              <a:ext uri="{FF2B5EF4-FFF2-40B4-BE49-F238E27FC236}">
                <a16:creationId xmlns:a16="http://schemas.microsoft.com/office/drawing/2014/main" id="{E8D685E0-91BC-8DE0-2912-BF155C3C1304}"/>
              </a:ext>
            </a:extLst>
          </p:cNvPr>
          <p:cNvCxnSpPr>
            <a:cxnSpLocks/>
            <a:stCxn id="9" idx="1"/>
            <a:endCxn id="10" idx="3"/>
          </p:cNvCxnSpPr>
          <p:nvPr/>
        </p:nvCxnSpPr>
        <p:spPr>
          <a:xfrm flipH="1">
            <a:off x="2106820" y="2593291"/>
            <a:ext cx="479025" cy="46442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84822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A8C7AE3-3440-7D67-EB0F-DFA02C10D490}"/>
              </a:ext>
            </a:extLst>
          </p:cNvPr>
          <p:cNvPicPr>
            <a:picLocks noChangeAspect="1"/>
          </p:cNvPicPr>
          <p:nvPr/>
        </p:nvPicPr>
        <p:blipFill>
          <a:blip r:embed="rId2"/>
          <a:stretch>
            <a:fillRect/>
          </a:stretch>
        </p:blipFill>
        <p:spPr>
          <a:xfrm>
            <a:off x="2580340" y="1983342"/>
            <a:ext cx="3972860" cy="3130733"/>
          </a:xfrm>
          <a:prstGeom prst="rect">
            <a:avLst/>
          </a:prstGeom>
        </p:spPr>
      </p:pic>
      <p:sp>
        <p:nvSpPr>
          <p:cNvPr id="4" name="スライド番号プレースホルダー 3">
            <a:extLst>
              <a:ext uri="{FF2B5EF4-FFF2-40B4-BE49-F238E27FC236}">
                <a16:creationId xmlns:a16="http://schemas.microsoft.com/office/drawing/2014/main" id="{4F0825B0-D8F9-D4B8-1254-67B6DB2775F2}"/>
              </a:ext>
            </a:extLst>
          </p:cNvPr>
          <p:cNvSpPr>
            <a:spLocks noGrp="1"/>
          </p:cNvSpPr>
          <p:nvPr>
            <p:ph type="sldNum" sz="quarter" idx="11"/>
          </p:nvPr>
        </p:nvSpPr>
        <p:spPr/>
        <p:txBody>
          <a:bodyPr/>
          <a:lstStyle/>
          <a:p>
            <a:pPr>
              <a:defRPr/>
            </a:pPr>
            <a:fld id="{76B10B91-6492-4C08-AE87-F344306858DA}" type="slidenum">
              <a:rPr lang="ja-JP" altLang="en-US" smtClean="0"/>
              <a:pPr>
                <a:defRPr/>
              </a:pPr>
              <a:t>2</a:t>
            </a:fld>
            <a:endParaRPr lang="ja-JP" altLang="en-US" dirty="0"/>
          </a:p>
        </p:txBody>
      </p:sp>
      <p:sp>
        <p:nvSpPr>
          <p:cNvPr id="5" name="タイトル 1">
            <a:extLst>
              <a:ext uri="{FF2B5EF4-FFF2-40B4-BE49-F238E27FC236}">
                <a16:creationId xmlns:a16="http://schemas.microsoft.com/office/drawing/2014/main" id="{0056FB27-85D5-D71A-A58F-D1546826259C}"/>
              </a:ext>
            </a:extLst>
          </p:cNvPr>
          <p:cNvSpPr>
            <a:spLocks noGrp="1"/>
          </p:cNvSpPr>
          <p:nvPr>
            <p:ph type="title"/>
          </p:nvPr>
        </p:nvSpPr>
        <p:spPr>
          <a:xfrm>
            <a:off x="457200" y="512676"/>
            <a:ext cx="8229600" cy="598078"/>
          </a:xfrm>
        </p:spPr>
        <p:txBody>
          <a:bodyPr/>
          <a:lstStyle/>
          <a:p>
            <a:r>
              <a:rPr kumimoji="1" lang="en-US" altLang="ja-JP" sz="2000" dirty="0">
                <a:solidFill>
                  <a:schemeClr val="tx1"/>
                </a:solidFill>
              </a:rPr>
              <a:t>Receiver</a:t>
            </a:r>
            <a:r>
              <a:rPr kumimoji="1" lang="ja-JP" altLang="en-US" sz="2000" dirty="0">
                <a:solidFill>
                  <a:schemeClr val="tx1"/>
                </a:solidFill>
              </a:rPr>
              <a:t> </a:t>
            </a:r>
            <a:r>
              <a:rPr kumimoji="1" lang="en-US" altLang="ja-JP" sz="2000" dirty="0">
                <a:solidFill>
                  <a:schemeClr val="tx1"/>
                </a:solidFill>
              </a:rPr>
              <a:t>Page</a:t>
            </a:r>
            <a:endParaRPr kumimoji="1" lang="ja-JP" altLang="en-US" sz="2000" dirty="0">
              <a:solidFill>
                <a:schemeClr val="tx1"/>
              </a:solidFill>
            </a:endParaRPr>
          </a:p>
        </p:txBody>
      </p:sp>
      <p:sp>
        <p:nvSpPr>
          <p:cNvPr id="12" name="正方形/長方形 11">
            <a:extLst>
              <a:ext uri="{FF2B5EF4-FFF2-40B4-BE49-F238E27FC236}">
                <a16:creationId xmlns:a16="http://schemas.microsoft.com/office/drawing/2014/main" id="{3539C06C-AADE-58B1-C4FD-D9D4E9EDDF84}"/>
              </a:ext>
            </a:extLst>
          </p:cNvPr>
          <p:cNvSpPr/>
          <p:nvPr/>
        </p:nvSpPr>
        <p:spPr>
          <a:xfrm>
            <a:off x="2588323" y="2528900"/>
            <a:ext cx="2631749" cy="125419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2CE3B697-7873-504F-B6D5-3AF270259739}"/>
              </a:ext>
            </a:extLst>
          </p:cNvPr>
          <p:cNvSpPr txBox="1"/>
          <p:nvPr/>
        </p:nvSpPr>
        <p:spPr>
          <a:xfrm>
            <a:off x="2501774" y="1483124"/>
            <a:ext cx="1548172" cy="184666"/>
          </a:xfrm>
          <a:prstGeom prst="rect">
            <a:avLst/>
          </a:prstGeom>
          <a:noFill/>
        </p:spPr>
        <p:txBody>
          <a:bodyPr wrap="square" lIns="0" tIns="0" rIns="0" bIns="0" rtlCol="0">
            <a:spAutoFit/>
          </a:bodyPr>
          <a:lstStyle/>
          <a:p>
            <a:pPr algn="ctr"/>
            <a:r>
              <a:rPr kumimoji="1" lang="en-US" altLang="ja-JP" sz="1200" dirty="0">
                <a:latin typeface="+mj-lt"/>
              </a:rPr>
              <a:t>Receiver</a:t>
            </a:r>
            <a:r>
              <a:rPr kumimoji="1" lang="ja-JP" altLang="en-US" sz="1200" dirty="0">
                <a:latin typeface="+mj-lt"/>
              </a:rPr>
              <a:t> </a:t>
            </a:r>
            <a:r>
              <a:rPr kumimoji="1" lang="en-US" altLang="ja-JP" sz="1200" dirty="0">
                <a:latin typeface="+mj-lt"/>
              </a:rPr>
              <a:t>Status</a:t>
            </a:r>
            <a:r>
              <a:rPr kumimoji="1" lang="ja-JP" altLang="en-US" sz="1200" dirty="0">
                <a:latin typeface="+mj-lt"/>
              </a:rPr>
              <a:t> </a:t>
            </a:r>
            <a:r>
              <a:rPr kumimoji="1" lang="en-US" altLang="ja-JP" sz="1200" dirty="0">
                <a:latin typeface="+mj-lt"/>
              </a:rPr>
              <a:t>Panel</a:t>
            </a:r>
          </a:p>
        </p:txBody>
      </p:sp>
      <p:sp>
        <p:nvSpPr>
          <p:cNvPr id="14" name="テキスト ボックス 13">
            <a:extLst>
              <a:ext uri="{FF2B5EF4-FFF2-40B4-BE49-F238E27FC236}">
                <a16:creationId xmlns:a16="http://schemas.microsoft.com/office/drawing/2014/main" id="{62E23238-754E-5EAE-9FE1-866F695A1485}"/>
              </a:ext>
            </a:extLst>
          </p:cNvPr>
          <p:cNvSpPr txBox="1"/>
          <p:nvPr/>
        </p:nvSpPr>
        <p:spPr>
          <a:xfrm>
            <a:off x="413810" y="1144991"/>
            <a:ext cx="2026290" cy="5401479"/>
          </a:xfrm>
          <a:prstGeom prst="rect">
            <a:avLst/>
          </a:prstGeom>
          <a:noFill/>
        </p:spPr>
        <p:txBody>
          <a:bodyPr wrap="square" lIns="0" tIns="0" rIns="0" bIns="0" rtlCol="0">
            <a:spAutoFit/>
          </a:bodyPr>
          <a:lstStyle/>
          <a:p>
            <a:pPr algn="ctr"/>
            <a:r>
              <a:rPr kumimoji="1" lang="en-US" altLang="ja-JP" sz="900" b="1" dirty="0">
                <a:latin typeface="+mj-lt"/>
              </a:rPr>
              <a:t>Receiver</a:t>
            </a:r>
            <a:r>
              <a:rPr kumimoji="1" lang="ja-JP" altLang="en-US" sz="900" b="1" dirty="0">
                <a:latin typeface="+mj-lt"/>
              </a:rPr>
              <a:t> </a:t>
            </a:r>
            <a:r>
              <a:rPr kumimoji="1" lang="en-US" altLang="ja-JP" sz="900" b="1" dirty="0">
                <a:latin typeface="+mj-lt"/>
              </a:rPr>
              <a:t>Time</a:t>
            </a:r>
            <a:r>
              <a:rPr kumimoji="1" lang="en-US" altLang="ja-JP" sz="900" dirty="0">
                <a:latin typeface="+mj-lt"/>
              </a:rPr>
              <a:t>:</a:t>
            </a:r>
          </a:p>
          <a:p>
            <a:pPr algn="ctr"/>
            <a:r>
              <a:rPr lang="en-US" altLang="ja-JP" sz="900" dirty="0">
                <a:latin typeface="+mj-lt"/>
              </a:rPr>
              <a:t>Elapsed</a:t>
            </a:r>
            <a:r>
              <a:rPr lang="ja-JP" altLang="en-US" sz="900" dirty="0">
                <a:latin typeface="+mj-lt"/>
              </a:rPr>
              <a:t> </a:t>
            </a:r>
            <a:r>
              <a:rPr lang="en-US" altLang="ja-JP" sz="900" dirty="0">
                <a:latin typeface="+mj-lt"/>
              </a:rPr>
              <a:t>time</a:t>
            </a:r>
            <a:r>
              <a:rPr lang="ja-JP" altLang="en-US" sz="900" dirty="0">
                <a:latin typeface="+mj-lt"/>
              </a:rPr>
              <a:t> </a:t>
            </a:r>
            <a:r>
              <a:rPr lang="en-US" altLang="ja-JP" sz="900" dirty="0">
                <a:latin typeface="+mj-lt"/>
              </a:rPr>
              <a:t>since</a:t>
            </a:r>
            <a:r>
              <a:rPr lang="ja-JP" altLang="en-US" sz="900" dirty="0">
                <a:latin typeface="+mj-lt"/>
              </a:rPr>
              <a:t> </a:t>
            </a:r>
            <a:r>
              <a:rPr lang="en-US" altLang="ja-JP" sz="900" dirty="0">
                <a:latin typeface="+mj-lt"/>
              </a:rPr>
              <a:t>the receiver</a:t>
            </a:r>
            <a:r>
              <a:rPr lang="ja-JP" altLang="en-US" sz="900" dirty="0">
                <a:latin typeface="+mj-lt"/>
              </a:rPr>
              <a:t> </a:t>
            </a:r>
            <a:r>
              <a:rPr lang="en-US" altLang="ja-JP" sz="900" dirty="0">
                <a:latin typeface="+mj-lt"/>
              </a:rPr>
              <a:t>started</a:t>
            </a:r>
          </a:p>
          <a:p>
            <a:pPr algn="ctr"/>
            <a:r>
              <a:rPr kumimoji="1" lang="en-US" altLang="ja-JP" sz="900" b="1" dirty="0">
                <a:latin typeface="+mj-lt"/>
              </a:rPr>
              <a:t>Input</a:t>
            </a:r>
            <a:r>
              <a:rPr kumimoji="1" lang="ja-JP" altLang="en-US" sz="900" b="1" dirty="0">
                <a:latin typeface="+mj-lt"/>
              </a:rPr>
              <a:t> </a:t>
            </a:r>
            <a:r>
              <a:rPr kumimoji="1" lang="en-US" altLang="ja-JP" sz="900" b="1" dirty="0">
                <a:latin typeface="+mj-lt"/>
              </a:rPr>
              <a:t>Source</a:t>
            </a:r>
            <a:r>
              <a:rPr kumimoji="1" lang="en-US" altLang="ja-JP" sz="900" dirty="0">
                <a:latin typeface="+mj-lt"/>
              </a:rPr>
              <a:t>:</a:t>
            </a:r>
          </a:p>
          <a:p>
            <a:pPr algn="ctr"/>
            <a:r>
              <a:rPr lang="en-US" altLang="ja-JP" sz="900" dirty="0">
                <a:latin typeface="+mj-lt"/>
              </a:rPr>
              <a:t>IF</a:t>
            </a:r>
            <a:r>
              <a:rPr lang="ja-JP" altLang="en-US" sz="900" dirty="0">
                <a:latin typeface="+mj-lt"/>
              </a:rPr>
              <a:t> </a:t>
            </a:r>
            <a:r>
              <a:rPr lang="en-US" altLang="ja-JP" sz="900" dirty="0">
                <a:latin typeface="+mj-lt"/>
              </a:rPr>
              <a:t>data</a:t>
            </a:r>
            <a:r>
              <a:rPr lang="ja-JP" altLang="en-US" sz="900" dirty="0">
                <a:latin typeface="+mj-lt"/>
              </a:rPr>
              <a:t> </a:t>
            </a:r>
            <a:r>
              <a:rPr lang="en-US" altLang="ja-JP" sz="900" dirty="0">
                <a:latin typeface="+mj-lt"/>
              </a:rPr>
              <a:t>source</a:t>
            </a:r>
            <a:r>
              <a:rPr lang="ja-JP" altLang="en-US" sz="900" dirty="0">
                <a:latin typeface="+mj-lt"/>
              </a:rPr>
              <a:t> </a:t>
            </a:r>
            <a:r>
              <a:rPr lang="en-US" altLang="ja-JP" sz="900" dirty="0">
                <a:latin typeface="+mj-lt"/>
              </a:rPr>
              <a:t>(</a:t>
            </a:r>
            <a:r>
              <a:rPr lang="en-US" altLang="ja-JP" sz="900" dirty="0" err="1">
                <a:latin typeface="+mj-lt"/>
              </a:rPr>
              <a:t>RF_Frontend</a:t>
            </a:r>
            <a:r>
              <a:rPr lang="ja-JP" altLang="en-US" sz="900" dirty="0">
                <a:latin typeface="+mj-lt"/>
              </a:rPr>
              <a:t> </a:t>
            </a:r>
            <a:r>
              <a:rPr lang="en-US" altLang="ja-JP" sz="900" dirty="0">
                <a:latin typeface="+mj-lt"/>
              </a:rPr>
              <a:t>or</a:t>
            </a:r>
            <a:r>
              <a:rPr lang="ja-JP" altLang="en-US" sz="900" dirty="0">
                <a:latin typeface="+mj-lt"/>
              </a:rPr>
              <a:t> </a:t>
            </a:r>
            <a:r>
              <a:rPr lang="en-US" altLang="ja-JP" sz="900" dirty="0" err="1">
                <a:latin typeface="+mj-lt"/>
              </a:rPr>
              <a:t>IF_Data</a:t>
            </a:r>
            <a:r>
              <a:rPr lang="en-US" altLang="ja-JP" sz="900" dirty="0">
                <a:latin typeface="+mj-lt"/>
              </a:rPr>
              <a:t>)</a:t>
            </a:r>
          </a:p>
          <a:p>
            <a:pPr algn="ctr"/>
            <a:r>
              <a:rPr kumimoji="1" lang="en-US" altLang="ja-JP" sz="900" b="1" dirty="0" err="1">
                <a:latin typeface="+mj-lt"/>
              </a:rPr>
              <a:t>Fmt</a:t>
            </a:r>
            <a:r>
              <a:rPr kumimoji="1" lang="en-US" altLang="ja-JP" sz="900" b="1" dirty="0">
                <a:latin typeface="+mj-lt"/>
              </a:rPr>
              <a:t>/#</a:t>
            </a:r>
            <a:r>
              <a:rPr kumimoji="1" lang="ja-JP" altLang="en-US" sz="900" b="1" dirty="0">
                <a:latin typeface="+mj-lt"/>
              </a:rPr>
              <a:t> </a:t>
            </a:r>
            <a:r>
              <a:rPr kumimoji="1" lang="en-US" altLang="ja-JP" sz="900" b="1" dirty="0">
                <a:latin typeface="+mj-lt"/>
              </a:rPr>
              <a:t>RF</a:t>
            </a:r>
            <a:r>
              <a:rPr kumimoji="1" lang="ja-JP" altLang="en-US" sz="900" b="1" dirty="0">
                <a:latin typeface="+mj-lt"/>
              </a:rPr>
              <a:t> </a:t>
            </a:r>
            <a:r>
              <a:rPr kumimoji="1" lang="en-US" altLang="ja-JP" sz="900" b="1" dirty="0">
                <a:latin typeface="+mj-lt"/>
              </a:rPr>
              <a:t>CH/# Array CH</a:t>
            </a:r>
            <a:r>
              <a:rPr kumimoji="1" lang="en-US" altLang="ja-JP" sz="900" dirty="0">
                <a:latin typeface="+mj-lt"/>
              </a:rPr>
              <a:t>:</a:t>
            </a:r>
          </a:p>
          <a:p>
            <a:pPr algn="ctr"/>
            <a:r>
              <a:rPr lang="en-US" altLang="ja-JP" sz="900" dirty="0">
                <a:latin typeface="+mj-lt"/>
              </a:rPr>
              <a:t>IF</a:t>
            </a:r>
            <a:r>
              <a:rPr lang="ja-JP" altLang="en-US" sz="900" dirty="0">
                <a:latin typeface="+mj-lt"/>
              </a:rPr>
              <a:t> </a:t>
            </a:r>
            <a:r>
              <a:rPr lang="en-US" altLang="ja-JP" sz="900" dirty="0">
                <a:latin typeface="+mj-lt"/>
              </a:rPr>
              <a:t>data</a:t>
            </a:r>
            <a:r>
              <a:rPr lang="ja-JP" altLang="en-US" sz="900" dirty="0">
                <a:latin typeface="+mj-lt"/>
              </a:rPr>
              <a:t> </a:t>
            </a:r>
            <a:r>
              <a:rPr lang="en-US" altLang="ja-JP" sz="900" dirty="0">
                <a:latin typeface="+mj-lt"/>
              </a:rPr>
              <a:t>format</a:t>
            </a:r>
            <a:r>
              <a:rPr lang="ja-JP" altLang="en-US" sz="900" baseline="30000" dirty="0">
                <a:latin typeface="+mj-lt"/>
              </a:rPr>
              <a:t> *</a:t>
            </a:r>
            <a:r>
              <a:rPr lang="en-US" altLang="ja-JP" sz="900" baseline="30000" dirty="0">
                <a:latin typeface="+mj-lt"/>
              </a:rPr>
              <a:t>3</a:t>
            </a:r>
            <a:r>
              <a:rPr lang="ja-JP" altLang="en-US" sz="900" baseline="30000" dirty="0">
                <a:latin typeface="+mj-lt"/>
              </a:rPr>
              <a:t> </a:t>
            </a:r>
            <a:r>
              <a:rPr lang="en-US" altLang="ja-JP" sz="900" dirty="0">
                <a:latin typeface="+mj-lt"/>
              </a:rPr>
              <a:t>and</a:t>
            </a:r>
            <a:r>
              <a:rPr lang="ja-JP" altLang="en-US" sz="900" dirty="0">
                <a:latin typeface="+mj-lt"/>
              </a:rPr>
              <a:t> </a:t>
            </a:r>
            <a:r>
              <a:rPr lang="en-US" altLang="ja-JP" sz="900" dirty="0">
                <a:latin typeface="+mj-lt"/>
              </a:rPr>
              <a:t>number</a:t>
            </a:r>
            <a:r>
              <a:rPr lang="ja-JP" altLang="en-US" sz="900" dirty="0">
                <a:latin typeface="+mj-lt"/>
              </a:rPr>
              <a:t> </a:t>
            </a:r>
            <a:r>
              <a:rPr lang="en-US" altLang="ja-JP" sz="900" dirty="0">
                <a:latin typeface="+mj-lt"/>
              </a:rPr>
              <a:t>of</a:t>
            </a:r>
            <a:r>
              <a:rPr lang="ja-JP" altLang="en-US" sz="900" dirty="0">
                <a:latin typeface="+mj-lt"/>
              </a:rPr>
              <a:t> </a:t>
            </a:r>
            <a:r>
              <a:rPr lang="en-US" altLang="ja-JP" sz="900" dirty="0">
                <a:latin typeface="+mj-lt"/>
              </a:rPr>
              <a:t>CHs</a:t>
            </a:r>
          </a:p>
          <a:p>
            <a:pPr algn="ctr"/>
            <a:r>
              <a:rPr kumimoji="1" lang="en-US" altLang="ja-JP" sz="900" b="1" dirty="0">
                <a:latin typeface="+mj-lt"/>
              </a:rPr>
              <a:t>LO</a:t>
            </a:r>
            <a:r>
              <a:rPr kumimoji="1" lang="ja-JP" altLang="en-US" sz="900" b="1" dirty="0">
                <a:latin typeface="+mj-lt"/>
              </a:rPr>
              <a:t> </a:t>
            </a:r>
            <a:r>
              <a:rPr kumimoji="1" lang="en-US" altLang="ja-JP" sz="900" b="1" dirty="0">
                <a:latin typeface="+mj-lt"/>
              </a:rPr>
              <a:t>Frequencies (MHz)</a:t>
            </a:r>
            <a:r>
              <a:rPr kumimoji="1" lang="en-US" altLang="ja-JP" sz="900" dirty="0">
                <a:latin typeface="+mj-lt"/>
              </a:rPr>
              <a:t>:</a:t>
            </a:r>
          </a:p>
          <a:p>
            <a:pPr algn="ctr"/>
            <a:r>
              <a:rPr lang="en-US" altLang="ja-JP" sz="900" dirty="0">
                <a:latin typeface="+mj-lt"/>
              </a:rPr>
              <a:t>Local</a:t>
            </a:r>
            <a:r>
              <a:rPr lang="ja-JP" altLang="en-US" sz="900" dirty="0">
                <a:latin typeface="+mj-lt"/>
              </a:rPr>
              <a:t> </a:t>
            </a:r>
            <a:r>
              <a:rPr lang="en-US" altLang="ja-JP" sz="900" dirty="0">
                <a:latin typeface="+mj-lt"/>
              </a:rPr>
              <a:t>oscillator</a:t>
            </a:r>
            <a:r>
              <a:rPr lang="ja-JP" altLang="en-US" sz="900" dirty="0">
                <a:latin typeface="+mj-lt"/>
              </a:rPr>
              <a:t> </a:t>
            </a:r>
            <a:r>
              <a:rPr lang="en-US" altLang="ja-JP" sz="900" dirty="0">
                <a:latin typeface="+mj-lt"/>
              </a:rPr>
              <a:t>frequencies</a:t>
            </a:r>
            <a:r>
              <a:rPr lang="ja-JP" altLang="en-US" sz="900" dirty="0">
                <a:latin typeface="+mj-lt"/>
              </a:rPr>
              <a:t> </a:t>
            </a:r>
            <a:r>
              <a:rPr lang="en-US" altLang="ja-JP" sz="900" dirty="0">
                <a:latin typeface="+mj-lt"/>
              </a:rPr>
              <a:t>for</a:t>
            </a:r>
            <a:r>
              <a:rPr lang="ja-JP" altLang="en-US" sz="900" dirty="0">
                <a:latin typeface="+mj-lt"/>
              </a:rPr>
              <a:t> </a:t>
            </a:r>
            <a:r>
              <a:rPr lang="en-US" altLang="ja-JP" sz="900" dirty="0">
                <a:latin typeface="+mj-lt"/>
              </a:rPr>
              <a:t>each</a:t>
            </a:r>
            <a:r>
              <a:rPr lang="ja-JP" altLang="en-US" sz="900" dirty="0">
                <a:latin typeface="+mj-lt"/>
              </a:rPr>
              <a:t> </a:t>
            </a:r>
            <a:r>
              <a:rPr lang="en-US" altLang="ja-JP" sz="900" dirty="0">
                <a:latin typeface="+mj-lt"/>
              </a:rPr>
              <a:t>RF</a:t>
            </a:r>
            <a:r>
              <a:rPr lang="ja-JP" altLang="en-US" sz="900" dirty="0">
                <a:latin typeface="+mj-lt"/>
              </a:rPr>
              <a:t> </a:t>
            </a:r>
            <a:r>
              <a:rPr lang="en-US" altLang="ja-JP" sz="900" dirty="0">
                <a:latin typeface="+mj-lt"/>
              </a:rPr>
              <a:t>CH (MHz)</a:t>
            </a:r>
          </a:p>
          <a:p>
            <a:pPr algn="ctr"/>
            <a:r>
              <a:rPr lang="en-US" altLang="ja-JP" sz="900" b="1" dirty="0">
                <a:latin typeface="+mj-lt"/>
              </a:rPr>
              <a:t>Sampling</a:t>
            </a:r>
            <a:r>
              <a:rPr lang="en-US" altLang="ja-JP" sz="900" dirty="0">
                <a:latin typeface="+mj-lt"/>
              </a:rPr>
              <a:t>:</a:t>
            </a:r>
          </a:p>
          <a:p>
            <a:pPr algn="ctr"/>
            <a:r>
              <a:rPr lang="en-US" altLang="ja-JP" sz="900" dirty="0">
                <a:latin typeface="+mj-lt"/>
              </a:rPr>
              <a:t>IF</a:t>
            </a:r>
            <a:r>
              <a:rPr lang="ja-JP" altLang="en-US" sz="900" dirty="0">
                <a:latin typeface="+mj-lt"/>
              </a:rPr>
              <a:t> </a:t>
            </a:r>
            <a:r>
              <a:rPr lang="en-US" altLang="ja-JP" sz="900" dirty="0">
                <a:latin typeface="+mj-lt"/>
              </a:rPr>
              <a:t>data</a:t>
            </a:r>
            <a:r>
              <a:rPr lang="ja-JP" altLang="en-US" sz="900" dirty="0">
                <a:latin typeface="+mj-lt"/>
              </a:rPr>
              <a:t> </a:t>
            </a:r>
            <a:r>
              <a:rPr lang="en-US" altLang="ja-JP" sz="900" dirty="0">
                <a:latin typeface="+mj-lt"/>
              </a:rPr>
              <a:t>sampling</a:t>
            </a:r>
            <a:r>
              <a:rPr lang="ja-JP" altLang="en-US" sz="900" dirty="0">
                <a:latin typeface="+mj-lt"/>
              </a:rPr>
              <a:t> </a:t>
            </a:r>
            <a:r>
              <a:rPr lang="en-US" altLang="ja-JP" sz="900" dirty="0">
                <a:latin typeface="+mj-lt"/>
              </a:rPr>
              <a:t>type</a:t>
            </a:r>
            <a:r>
              <a:rPr lang="ja-JP" altLang="en-US" sz="900" dirty="0">
                <a:latin typeface="+mj-lt"/>
              </a:rPr>
              <a:t> </a:t>
            </a:r>
            <a:r>
              <a:rPr lang="en-US" altLang="ja-JP" sz="900" dirty="0">
                <a:latin typeface="+mj-lt"/>
              </a:rPr>
              <a:t>for</a:t>
            </a:r>
            <a:r>
              <a:rPr lang="ja-JP" altLang="en-US" sz="900" dirty="0">
                <a:latin typeface="+mj-lt"/>
              </a:rPr>
              <a:t> </a:t>
            </a:r>
            <a:r>
              <a:rPr lang="en-US" altLang="ja-JP" sz="900" dirty="0">
                <a:latin typeface="+mj-lt"/>
              </a:rPr>
              <a:t>each</a:t>
            </a:r>
            <a:r>
              <a:rPr lang="ja-JP" altLang="en-US" sz="900" dirty="0">
                <a:latin typeface="+mj-lt"/>
              </a:rPr>
              <a:t> </a:t>
            </a:r>
            <a:r>
              <a:rPr lang="en-US" altLang="ja-JP" sz="900" dirty="0">
                <a:latin typeface="+mj-lt"/>
              </a:rPr>
              <a:t>RF</a:t>
            </a:r>
            <a:r>
              <a:rPr lang="ja-JP" altLang="en-US" sz="900" dirty="0">
                <a:latin typeface="+mj-lt"/>
              </a:rPr>
              <a:t> </a:t>
            </a:r>
            <a:r>
              <a:rPr lang="en-US" altLang="ja-JP" sz="900" dirty="0">
                <a:latin typeface="+mj-lt"/>
              </a:rPr>
              <a:t>CH</a:t>
            </a:r>
          </a:p>
          <a:p>
            <a:pPr algn="ctr"/>
            <a:r>
              <a:rPr lang="en-US" altLang="ja-JP" sz="900" dirty="0">
                <a:latin typeface="+mj-lt"/>
              </a:rPr>
              <a:t>(I</a:t>
            </a:r>
            <a:r>
              <a:rPr lang="ja-JP" altLang="en-US" sz="900" dirty="0">
                <a:latin typeface="+mj-lt"/>
              </a:rPr>
              <a:t> </a:t>
            </a:r>
            <a:r>
              <a:rPr lang="en-US" altLang="ja-JP" sz="900" dirty="0">
                <a:latin typeface="+mj-lt"/>
              </a:rPr>
              <a:t>or</a:t>
            </a:r>
            <a:r>
              <a:rPr lang="ja-JP" altLang="en-US" sz="900" dirty="0">
                <a:latin typeface="+mj-lt"/>
              </a:rPr>
              <a:t> </a:t>
            </a:r>
            <a:r>
              <a:rPr lang="en-US" altLang="ja-JP" sz="900" dirty="0">
                <a:latin typeface="+mj-lt"/>
              </a:rPr>
              <a:t>IQ)</a:t>
            </a:r>
          </a:p>
          <a:p>
            <a:pPr algn="ctr"/>
            <a:r>
              <a:rPr lang="en-US" altLang="ja-JP" sz="900" b="1" dirty="0">
                <a:latin typeface="+mj-lt"/>
              </a:rPr>
              <a:t>Sampling</a:t>
            </a:r>
            <a:r>
              <a:rPr lang="ja-JP" altLang="en-US" sz="900" b="1" dirty="0">
                <a:latin typeface="+mj-lt"/>
              </a:rPr>
              <a:t> </a:t>
            </a:r>
            <a:r>
              <a:rPr lang="en-US" altLang="ja-JP" sz="900" b="1" dirty="0">
                <a:latin typeface="+mj-lt"/>
              </a:rPr>
              <a:t>Rate (</a:t>
            </a:r>
            <a:r>
              <a:rPr lang="en-US" altLang="ja-JP" sz="900" b="1" dirty="0" err="1">
                <a:latin typeface="+mj-lt"/>
              </a:rPr>
              <a:t>Msps</a:t>
            </a:r>
            <a:r>
              <a:rPr lang="en-US" altLang="ja-JP" sz="900" b="1" dirty="0">
                <a:latin typeface="+mj-lt"/>
              </a:rPr>
              <a:t>)</a:t>
            </a:r>
            <a:r>
              <a:rPr lang="en-US" altLang="ja-JP" sz="900" dirty="0">
                <a:latin typeface="+mj-lt"/>
              </a:rPr>
              <a:t>:</a:t>
            </a:r>
          </a:p>
          <a:p>
            <a:pPr algn="ctr"/>
            <a:r>
              <a:rPr lang="en-US" altLang="ja-JP" sz="900" dirty="0">
                <a:latin typeface="+mj-lt"/>
              </a:rPr>
              <a:t>IF</a:t>
            </a:r>
            <a:r>
              <a:rPr lang="ja-JP" altLang="en-US" sz="900" dirty="0">
                <a:latin typeface="+mj-lt"/>
              </a:rPr>
              <a:t> </a:t>
            </a:r>
            <a:r>
              <a:rPr lang="en-US" altLang="ja-JP" sz="900" dirty="0">
                <a:latin typeface="+mj-lt"/>
              </a:rPr>
              <a:t>data</a:t>
            </a:r>
            <a:r>
              <a:rPr lang="ja-JP" altLang="en-US" sz="900" dirty="0">
                <a:latin typeface="+mj-lt"/>
              </a:rPr>
              <a:t> </a:t>
            </a:r>
            <a:r>
              <a:rPr lang="en-US" altLang="ja-JP" sz="900" dirty="0">
                <a:latin typeface="+mj-lt"/>
              </a:rPr>
              <a:t>sampling</a:t>
            </a:r>
            <a:r>
              <a:rPr lang="ja-JP" altLang="en-US" sz="900" dirty="0">
                <a:latin typeface="+mj-lt"/>
              </a:rPr>
              <a:t> </a:t>
            </a:r>
            <a:r>
              <a:rPr lang="en-US" altLang="ja-JP" sz="900" dirty="0">
                <a:latin typeface="+mj-lt"/>
              </a:rPr>
              <a:t>rate</a:t>
            </a:r>
          </a:p>
          <a:p>
            <a:pPr algn="ctr"/>
            <a:r>
              <a:rPr kumimoji="1" lang="en-US" altLang="ja-JP" sz="900" b="1" dirty="0">
                <a:latin typeface="+mj-lt"/>
              </a:rPr>
              <a:t>#</a:t>
            </a:r>
            <a:r>
              <a:rPr kumimoji="1" lang="ja-JP" altLang="en-US" sz="900" b="1" dirty="0">
                <a:latin typeface="+mj-lt"/>
              </a:rPr>
              <a:t> </a:t>
            </a:r>
            <a:r>
              <a:rPr kumimoji="1" lang="en-US" altLang="ja-JP" sz="900" b="1" dirty="0">
                <a:latin typeface="+mj-lt"/>
              </a:rPr>
              <a:t>BB</a:t>
            </a:r>
            <a:r>
              <a:rPr kumimoji="1" lang="ja-JP" altLang="en-US" sz="900" b="1" dirty="0">
                <a:latin typeface="+mj-lt"/>
              </a:rPr>
              <a:t> </a:t>
            </a:r>
            <a:r>
              <a:rPr kumimoji="1" lang="en-US" altLang="ja-JP" sz="900" b="1" dirty="0">
                <a:latin typeface="+mj-lt"/>
              </a:rPr>
              <a:t>CH</a:t>
            </a:r>
            <a:r>
              <a:rPr kumimoji="1" lang="ja-JP" altLang="en-US" sz="900" b="1" dirty="0">
                <a:latin typeface="+mj-lt"/>
              </a:rPr>
              <a:t> </a:t>
            </a:r>
            <a:r>
              <a:rPr kumimoji="1" lang="en-US" altLang="ja-JP" sz="900" b="1" dirty="0">
                <a:latin typeface="+mj-lt"/>
              </a:rPr>
              <a:t>Locked/All</a:t>
            </a:r>
            <a:r>
              <a:rPr kumimoji="1" lang="en-US" altLang="ja-JP" sz="900" dirty="0">
                <a:latin typeface="+mj-lt"/>
              </a:rPr>
              <a:t>:</a:t>
            </a:r>
          </a:p>
          <a:p>
            <a:pPr algn="ctr"/>
            <a:r>
              <a:rPr kumimoji="1" lang="en-US" altLang="ja-JP" sz="900" dirty="0">
                <a:latin typeface="+mj-lt"/>
              </a:rPr>
              <a:t>Number</a:t>
            </a:r>
            <a:r>
              <a:rPr kumimoji="1" lang="ja-JP" altLang="en-US" sz="900" dirty="0">
                <a:latin typeface="+mj-lt"/>
              </a:rPr>
              <a:t> </a:t>
            </a:r>
            <a:r>
              <a:rPr kumimoji="1" lang="en-US" altLang="ja-JP" sz="900" dirty="0">
                <a:latin typeface="+mj-lt"/>
              </a:rPr>
              <a:t>of</a:t>
            </a:r>
            <a:r>
              <a:rPr kumimoji="1" lang="ja-JP" altLang="en-US" sz="900" dirty="0">
                <a:latin typeface="+mj-lt"/>
              </a:rPr>
              <a:t> </a:t>
            </a:r>
            <a:r>
              <a:rPr kumimoji="1" lang="en-US" altLang="ja-JP" sz="900" dirty="0">
                <a:latin typeface="+mj-lt"/>
              </a:rPr>
              <a:t>BB</a:t>
            </a:r>
            <a:r>
              <a:rPr kumimoji="1" lang="ja-JP" altLang="en-US" sz="900" dirty="0">
                <a:latin typeface="+mj-lt"/>
              </a:rPr>
              <a:t> </a:t>
            </a:r>
            <a:r>
              <a:rPr kumimoji="1" lang="en-US" altLang="ja-JP" sz="900" dirty="0">
                <a:latin typeface="+mj-lt"/>
              </a:rPr>
              <a:t>CHs</a:t>
            </a:r>
            <a:r>
              <a:rPr kumimoji="1" lang="ja-JP" altLang="en-US" sz="900" dirty="0">
                <a:latin typeface="+mj-lt"/>
              </a:rPr>
              <a:t> </a:t>
            </a:r>
            <a:r>
              <a:rPr kumimoji="1" lang="en-US" altLang="ja-JP" sz="900" dirty="0">
                <a:latin typeface="+mj-lt"/>
              </a:rPr>
              <a:t>tracked</a:t>
            </a:r>
            <a:r>
              <a:rPr kumimoji="1" lang="ja-JP" altLang="en-US" sz="900" dirty="0">
                <a:latin typeface="+mj-lt"/>
              </a:rPr>
              <a:t> </a:t>
            </a:r>
            <a:r>
              <a:rPr kumimoji="1" lang="en-US" altLang="ja-JP" sz="900" dirty="0">
                <a:latin typeface="+mj-lt"/>
              </a:rPr>
              <a:t>and</a:t>
            </a:r>
            <a:r>
              <a:rPr kumimoji="1" lang="ja-JP" altLang="en-US" sz="900" dirty="0">
                <a:latin typeface="+mj-lt"/>
              </a:rPr>
              <a:t> </a:t>
            </a:r>
            <a:r>
              <a:rPr kumimoji="1" lang="en-US" altLang="ja-JP" sz="900" dirty="0">
                <a:latin typeface="+mj-lt"/>
              </a:rPr>
              <a:t>all</a:t>
            </a:r>
          </a:p>
          <a:p>
            <a:pPr algn="ctr"/>
            <a:r>
              <a:rPr lang="en-US" altLang="ja-JP" sz="900" b="1" dirty="0">
                <a:latin typeface="+mj-lt"/>
              </a:rPr>
              <a:t>IF</a:t>
            </a:r>
            <a:r>
              <a:rPr lang="ja-JP" altLang="en-US" sz="900" b="1" dirty="0">
                <a:latin typeface="+mj-lt"/>
              </a:rPr>
              <a:t> </a:t>
            </a:r>
            <a:r>
              <a:rPr lang="en-US" altLang="ja-JP" sz="900" b="1" dirty="0">
                <a:latin typeface="+mj-lt"/>
              </a:rPr>
              <a:t>Data</a:t>
            </a:r>
            <a:r>
              <a:rPr lang="ja-JP" altLang="en-US" sz="900" b="1" dirty="0">
                <a:latin typeface="+mj-lt"/>
              </a:rPr>
              <a:t> </a:t>
            </a:r>
            <a:r>
              <a:rPr lang="en-US" altLang="ja-JP" sz="900" b="1" dirty="0">
                <a:latin typeface="+mj-lt"/>
              </a:rPr>
              <a:t>Rate (MB/s)</a:t>
            </a:r>
            <a:r>
              <a:rPr lang="en-US" altLang="ja-JP" sz="900" dirty="0">
                <a:latin typeface="+mj-lt"/>
              </a:rPr>
              <a:t>:</a:t>
            </a:r>
          </a:p>
          <a:p>
            <a:pPr algn="ctr"/>
            <a:r>
              <a:rPr kumimoji="1" lang="en-US" altLang="ja-JP" sz="900" dirty="0">
                <a:latin typeface="+mj-lt"/>
              </a:rPr>
              <a:t>IF</a:t>
            </a:r>
            <a:r>
              <a:rPr kumimoji="1" lang="ja-JP" altLang="en-US" sz="900" dirty="0">
                <a:latin typeface="+mj-lt"/>
              </a:rPr>
              <a:t> </a:t>
            </a:r>
            <a:r>
              <a:rPr kumimoji="1" lang="en-US" altLang="ja-JP" sz="900" dirty="0">
                <a:latin typeface="+mj-lt"/>
              </a:rPr>
              <a:t>data</a:t>
            </a:r>
            <a:r>
              <a:rPr kumimoji="1" lang="ja-JP" altLang="en-US" sz="900" dirty="0">
                <a:latin typeface="+mj-lt"/>
              </a:rPr>
              <a:t> </a:t>
            </a:r>
            <a:r>
              <a:rPr kumimoji="1" lang="en-US" altLang="ja-JP" sz="900" dirty="0">
                <a:latin typeface="+mj-lt"/>
              </a:rPr>
              <a:t>transfer</a:t>
            </a:r>
            <a:r>
              <a:rPr kumimoji="1" lang="ja-JP" altLang="en-US" sz="900" dirty="0">
                <a:latin typeface="+mj-lt"/>
              </a:rPr>
              <a:t> </a:t>
            </a:r>
            <a:r>
              <a:rPr kumimoji="1" lang="en-US" altLang="ja-JP" sz="900" dirty="0">
                <a:latin typeface="+mj-lt"/>
              </a:rPr>
              <a:t>rate</a:t>
            </a:r>
          </a:p>
          <a:p>
            <a:pPr algn="ctr"/>
            <a:r>
              <a:rPr lang="en-US" altLang="ja-JP" sz="900" b="1" dirty="0">
                <a:latin typeface="+mj-lt"/>
              </a:rPr>
              <a:t>IF</a:t>
            </a:r>
            <a:r>
              <a:rPr lang="ja-JP" altLang="en-US" sz="900" b="1" dirty="0">
                <a:latin typeface="+mj-lt"/>
              </a:rPr>
              <a:t> </a:t>
            </a:r>
            <a:r>
              <a:rPr lang="en-US" altLang="ja-JP" sz="900" b="1" dirty="0">
                <a:latin typeface="+mj-lt"/>
              </a:rPr>
              <a:t>Data</a:t>
            </a:r>
            <a:r>
              <a:rPr lang="ja-JP" altLang="en-US" sz="900" b="1" dirty="0">
                <a:latin typeface="+mj-lt"/>
              </a:rPr>
              <a:t> </a:t>
            </a:r>
            <a:r>
              <a:rPr lang="en-US" altLang="ja-JP" sz="900" b="1" dirty="0">
                <a:latin typeface="+mj-lt"/>
              </a:rPr>
              <a:t>Buffer</a:t>
            </a:r>
            <a:r>
              <a:rPr lang="ja-JP" altLang="en-US" sz="900" b="1" dirty="0">
                <a:latin typeface="+mj-lt"/>
              </a:rPr>
              <a:t> </a:t>
            </a:r>
            <a:r>
              <a:rPr lang="en-US" altLang="ja-JP" sz="900" b="1" dirty="0">
                <a:latin typeface="+mj-lt"/>
              </a:rPr>
              <a:t>Usage (%)</a:t>
            </a:r>
            <a:r>
              <a:rPr lang="en-US" altLang="ja-JP" sz="900" dirty="0">
                <a:latin typeface="+mj-lt"/>
              </a:rPr>
              <a:t>:</a:t>
            </a:r>
          </a:p>
          <a:p>
            <a:pPr algn="ctr"/>
            <a:r>
              <a:rPr kumimoji="1" lang="en-US" altLang="ja-JP" sz="900" dirty="0">
                <a:latin typeface="+mj-lt"/>
              </a:rPr>
              <a:t>Receiver</a:t>
            </a:r>
            <a:r>
              <a:rPr kumimoji="1" lang="ja-JP" altLang="en-US" sz="900" dirty="0">
                <a:latin typeface="+mj-lt"/>
              </a:rPr>
              <a:t> </a:t>
            </a:r>
            <a:r>
              <a:rPr kumimoji="1" lang="en-US" altLang="ja-JP" sz="900" dirty="0">
                <a:latin typeface="+mj-lt"/>
              </a:rPr>
              <a:t>internal</a:t>
            </a:r>
            <a:r>
              <a:rPr kumimoji="1" lang="ja-JP" altLang="en-US" sz="900" dirty="0">
                <a:latin typeface="+mj-lt"/>
              </a:rPr>
              <a:t> </a:t>
            </a:r>
            <a:r>
              <a:rPr kumimoji="1" lang="en-US" altLang="ja-JP" sz="900" dirty="0">
                <a:latin typeface="+mj-lt"/>
              </a:rPr>
              <a:t>IF</a:t>
            </a:r>
            <a:r>
              <a:rPr kumimoji="1" lang="ja-JP" altLang="en-US" sz="900" dirty="0">
                <a:latin typeface="+mj-lt"/>
              </a:rPr>
              <a:t> </a:t>
            </a:r>
            <a:r>
              <a:rPr kumimoji="1" lang="en-US" altLang="ja-JP" sz="900" dirty="0">
                <a:latin typeface="+mj-lt"/>
              </a:rPr>
              <a:t>data</a:t>
            </a:r>
            <a:r>
              <a:rPr kumimoji="1" lang="ja-JP" altLang="en-US" sz="900" dirty="0">
                <a:latin typeface="+mj-lt"/>
              </a:rPr>
              <a:t> </a:t>
            </a:r>
            <a:r>
              <a:rPr kumimoji="1" lang="en-US" altLang="ja-JP" sz="900" dirty="0">
                <a:latin typeface="+mj-lt"/>
              </a:rPr>
              <a:t>buffer</a:t>
            </a:r>
            <a:r>
              <a:rPr kumimoji="1" lang="ja-JP" altLang="en-US" sz="900" dirty="0">
                <a:latin typeface="+mj-lt"/>
              </a:rPr>
              <a:t> </a:t>
            </a:r>
            <a:r>
              <a:rPr kumimoji="1" lang="en-US" altLang="ja-JP" sz="900" dirty="0">
                <a:latin typeface="+mj-lt"/>
              </a:rPr>
              <a:t>usage</a:t>
            </a:r>
            <a:r>
              <a:rPr kumimoji="1" lang="ja-JP" altLang="en-US" sz="900" dirty="0">
                <a:latin typeface="+mj-lt"/>
              </a:rPr>
              <a:t> </a:t>
            </a:r>
            <a:r>
              <a:rPr kumimoji="1" lang="en-US" altLang="ja-JP" sz="900" dirty="0">
                <a:latin typeface="+mj-lt"/>
              </a:rPr>
              <a:t>rate</a:t>
            </a:r>
          </a:p>
          <a:p>
            <a:pPr algn="ctr"/>
            <a:r>
              <a:rPr kumimoji="1" lang="en-US" altLang="ja-JP" sz="900" b="1" dirty="0">
                <a:latin typeface="+mj-lt"/>
              </a:rPr>
              <a:t>Time</a:t>
            </a:r>
            <a:r>
              <a:rPr kumimoji="1" lang="ja-JP" altLang="en-US" sz="900" b="1" dirty="0">
                <a:latin typeface="+mj-lt"/>
              </a:rPr>
              <a:t> </a:t>
            </a:r>
            <a:r>
              <a:rPr kumimoji="1" lang="en-US" altLang="ja-JP" sz="900" b="1" dirty="0">
                <a:latin typeface="+mj-lt"/>
              </a:rPr>
              <a:t>(GPST)</a:t>
            </a:r>
            <a:r>
              <a:rPr kumimoji="1" lang="en-US" altLang="ja-JP" sz="900" dirty="0">
                <a:latin typeface="+mj-lt"/>
              </a:rPr>
              <a:t>:</a:t>
            </a:r>
          </a:p>
          <a:p>
            <a:pPr algn="ctr"/>
            <a:r>
              <a:rPr lang="en-US" altLang="ja-JP" sz="900" dirty="0">
                <a:latin typeface="+mj-lt"/>
              </a:rPr>
              <a:t>PVT Solution</a:t>
            </a:r>
            <a:r>
              <a:rPr lang="ja-JP" altLang="en-US" sz="900" dirty="0">
                <a:latin typeface="+mj-lt"/>
              </a:rPr>
              <a:t> </a:t>
            </a:r>
            <a:r>
              <a:rPr lang="en-US" altLang="ja-JP" sz="900" dirty="0">
                <a:latin typeface="+mj-lt"/>
              </a:rPr>
              <a:t>time</a:t>
            </a:r>
            <a:r>
              <a:rPr lang="ja-JP" altLang="en-US" sz="900" dirty="0">
                <a:latin typeface="+mj-lt"/>
              </a:rPr>
              <a:t> </a:t>
            </a:r>
            <a:r>
              <a:rPr lang="en-US" altLang="ja-JP" sz="900" dirty="0">
                <a:latin typeface="+mj-lt"/>
              </a:rPr>
              <a:t>in</a:t>
            </a:r>
            <a:r>
              <a:rPr lang="ja-JP" altLang="en-US" sz="900" dirty="0">
                <a:latin typeface="+mj-lt"/>
              </a:rPr>
              <a:t> </a:t>
            </a:r>
            <a:r>
              <a:rPr lang="en-US" altLang="ja-JP" sz="900" dirty="0">
                <a:latin typeface="+mj-lt"/>
              </a:rPr>
              <a:t>GPST</a:t>
            </a:r>
          </a:p>
          <a:p>
            <a:pPr algn="ctr"/>
            <a:r>
              <a:rPr kumimoji="1" lang="en-US" altLang="ja-JP" sz="900" b="1" dirty="0">
                <a:latin typeface="+mj-lt"/>
              </a:rPr>
              <a:t>Solution</a:t>
            </a:r>
            <a:r>
              <a:rPr kumimoji="1" lang="ja-JP" altLang="en-US" sz="900" b="1" dirty="0">
                <a:latin typeface="+mj-lt"/>
              </a:rPr>
              <a:t> </a:t>
            </a:r>
            <a:r>
              <a:rPr kumimoji="1" lang="en-US" altLang="ja-JP" sz="900" b="1" dirty="0">
                <a:latin typeface="+mj-lt"/>
              </a:rPr>
              <a:t>Status</a:t>
            </a:r>
            <a:r>
              <a:rPr kumimoji="1" lang="en-US" altLang="ja-JP" sz="900" dirty="0">
                <a:latin typeface="+mj-lt"/>
              </a:rPr>
              <a:t>:</a:t>
            </a:r>
          </a:p>
          <a:p>
            <a:pPr algn="ctr"/>
            <a:r>
              <a:rPr lang="en-US" altLang="ja-JP" sz="900" dirty="0">
                <a:latin typeface="+mj-lt"/>
              </a:rPr>
              <a:t>PVT Solution</a:t>
            </a:r>
            <a:r>
              <a:rPr lang="ja-JP" altLang="en-US" sz="900" dirty="0">
                <a:latin typeface="+mj-lt"/>
              </a:rPr>
              <a:t> </a:t>
            </a:r>
            <a:r>
              <a:rPr lang="en-US" altLang="ja-JP" sz="900" dirty="0">
                <a:latin typeface="+mj-lt"/>
              </a:rPr>
              <a:t>status</a:t>
            </a:r>
            <a:r>
              <a:rPr lang="ja-JP" altLang="en-US" sz="900" dirty="0">
                <a:latin typeface="+mj-lt"/>
              </a:rPr>
              <a:t> </a:t>
            </a:r>
            <a:r>
              <a:rPr lang="en-US" altLang="ja-JP" sz="900" dirty="0">
                <a:latin typeface="+mj-lt"/>
              </a:rPr>
              <a:t>(-</a:t>
            </a:r>
            <a:r>
              <a:rPr lang="ja-JP" altLang="en-US" sz="900" dirty="0">
                <a:latin typeface="+mj-lt"/>
              </a:rPr>
              <a:t> </a:t>
            </a:r>
            <a:r>
              <a:rPr lang="en-US" altLang="ja-JP" sz="900" dirty="0">
                <a:latin typeface="+mj-lt"/>
              </a:rPr>
              <a:t>or</a:t>
            </a:r>
            <a:r>
              <a:rPr lang="ja-JP" altLang="en-US" sz="900" dirty="0">
                <a:latin typeface="+mj-lt"/>
              </a:rPr>
              <a:t> </a:t>
            </a:r>
            <a:r>
              <a:rPr lang="en-US" altLang="ja-JP" sz="900" dirty="0">
                <a:latin typeface="+mj-lt"/>
              </a:rPr>
              <a:t>FIX)</a:t>
            </a:r>
          </a:p>
          <a:p>
            <a:pPr algn="ctr"/>
            <a:r>
              <a:rPr kumimoji="1" lang="en-US" altLang="ja-JP" sz="900" b="1" dirty="0">
                <a:latin typeface="+mj-lt"/>
              </a:rPr>
              <a:t>Latitude,</a:t>
            </a:r>
            <a:r>
              <a:rPr kumimoji="1" lang="ja-JP" altLang="en-US" sz="900" b="1" dirty="0">
                <a:latin typeface="+mj-lt"/>
              </a:rPr>
              <a:t> </a:t>
            </a:r>
            <a:r>
              <a:rPr kumimoji="1" lang="en-US" altLang="ja-JP" sz="900" b="1" dirty="0">
                <a:latin typeface="+mj-lt"/>
              </a:rPr>
              <a:t>Longitude</a:t>
            </a:r>
            <a:r>
              <a:rPr kumimoji="1" lang="ja-JP" altLang="en-US" sz="900" b="1" dirty="0">
                <a:latin typeface="+mj-lt"/>
              </a:rPr>
              <a:t> </a:t>
            </a:r>
            <a:r>
              <a:rPr kumimoji="1" lang="en-US" altLang="ja-JP" sz="900" b="1" dirty="0">
                <a:latin typeface="+mj-lt"/>
              </a:rPr>
              <a:t>and</a:t>
            </a:r>
            <a:r>
              <a:rPr kumimoji="1" lang="ja-JP" altLang="en-US" sz="900" b="1" dirty="0">
                <a:latin typeface="+mj-lt"/>
              </a:rPr>
              <a:t> </a:t>
            </a:r>
            <a:r>
              <a:rPr kumimoji="1" lang="en-US" altLang="ja-JP" sz="900" b="1" dirty="0">
                <a:latin typeface="+mj-lt"/>
              </a:rPr>
              <a:t>Altitude</a:t>
            </a:r>
            <a:r>
              <a:rPr kumimoji="1" lang="en-US" altLang="ja-JP" sz="900" dirty="0">
                <a:latin typeface="+mj-lt"/>
              </a:rPr>
              <a:t>:</a:t>
            </a:r>
          </a:p>
          <a:p>
            <a:pPr algn="ctr"/>
            <a:r>
              <a:rPr lang="en-US" altLang="ja-JP" sz="900" dirty="0">
                <a:latin typeface="+mj-lt"/>
              </a:rPr>
              <a:t>PVT Solution</a:t>
            </a:r>
            <a:r>
              <a:rPr lang="ja-JP" altLang="en-US" sz="900" dirty="0">
                <a:latin typeface="+mj-lt"/>
              </a:rPr>
              <a:t> </a:t>
            </a:r>
            <a:r>
              <a:rPr lang="en-US" altLang="ja-JP" sz="900" dirty="0">
                <a:latin typeface="+mj-lt"/>
              </a:rPr>
              <a:t>latitude/</a:t>
            </a:r>
            <a:r>
              <a:rPr lang="ja-JP" altLang="en-US" sz="900" dirty="0">
                <a:latin typeface="+mj-lt"/>
              </a:rPr>
              <a:t> </a:t>
            </a:r>
            <a:r>
              <a:rPr lang="en-US" altLang="ja-JP" sz="900" dirty="0">
                <a:latin typeface="+mj-lt"/>
              </a:rPr>
              <a:t>longitude</a:t>
            </a:r>
            <a:r>
              <a:rPr lang="ja-JP" altLang="en-US" sz="900" dirty="0">
                <a:latin typeface="+mj-lt"/>
              </a:rPr>
              <a:t> </a:t>
            </a:r>
            <a:r>
              <a:rPr lang="en-US" altLang="ja-JP" sz="900" dirty="0">
                <a:latin typeface="+mj-lt"/>
              </a:rPr>
              <a:t>(deg)</a:t>
            </a:r>
            <a:r>
              <a:rPr lang="ja-JP" altLang="en-US" sz="900" dirty="0">
                <a:latin typeface="+mj-lt"/>
              </a:rPr>
              <a:t> </a:t>
            </a:r>
            <a:r>
              <a:rPr lang="en-US" altLang="ja-JP" sz="900" dirty="0">
                <a:latin typeface="+mj-lt"/>
              </a:rPr>
              <a:t>and</a:t>
            </a:r>
            <a:r>
              <a:rPr lang="ja-JP" altLang="en-US" sz="900" dirty="0">
                <a:latin typeface="+mj-lt"/>
              </a:rPr>
              <a:t> </a:t>
            </a:r>
            <a:r>
              <a:rPr lang="en-US" altLang="ja-JP" sz="900" dirty="0">
                <a:latin typeface="+mj-lt"/>
              </a:rPr>
              <a:t>ellipsoidal</a:t>
            </a:r>
            <a:r>
              <a:rPr lang="ja-JP" altLang="en-US" sz="900" dirty="0">
                <a:latin typeface="+mj-lt"/>
              </a:rPr>
              <a:t> </a:t>
            </a:r>
            <a:r>
              <a:rPr lang="en-US" altLang="ja-JP" sz="900" dirty="0">
                <a:latin typeface="+mj-lt"/>
              </a:rPr>
              <a:t>height</a:t>
            </a:r>
            <a:r>
              <a:rPr lang="ja-JP" altLang="en-US" sz="900" dirty="0">
                <a:latin typeface="+mj-lt"/>
              </a:rPr>
              <a:t> </a:t>
            </a:r>
            <a:r>
              <a:rPr lang="en-US" altLang="ja-JP" sz="900" dirty="0">
                <a:latin typeface="+mj-lt"/>
              </a:rPr>
              <a:t>(m)</a:t>
            </a:r>
          </a:p>
          <a:p>
            <a:pPr algn="ctr"/>
            <a:r>
              <a:rPr lang="en-US" altLang="ja-JP" sz="900" b="1" dirty="0">
                <a:latin typeface="+mj-lt"/>
              </a:rPr>
              <a:t>Roll/Pitch/Yaw (deg)</a:t>
            </a:r>
            <a:r>
              <a:rPr lang="en-US" altLang="ja-JP" sz="900" dirty="0">
                <a:latin typeface="+mj-lt"/>
              </a:rPr>
              <a:t>:</a:t>
            </a:r>
          </a:p>
          <a:p>
            <a:pPr algn="ctr"/>
            <a:r>
              <a:rPr lang="en-US" altLang="ja-JP" sz="900" dirty="0">
                <a:latin typeface="+mj-lt"/>
              </a:rPr>
              <a:t>Attitude solution by antenna array</a:t>
            </a:r>
          </a:p>
          <a:p>
            <a:pPr algn="ctr"/>
            <a:r>
              <a:rPr kumimoji="1" lang="en-US" altLang="ja-JP" sz="900" b="1" dirty="0">
                <a:latin typeface="+mj-lt"/>
              </a:rPr>
              <a:t>#</a:t>
            </a:r>
            <a:r>
              <a:rPr kumimoji="1" lang="ja-JP" altLang="en-US" sz="900" b="1" dirty="0">
                <a:latin typeface="+mj-lt"/>
              </a:rPr>
              <a:t> </a:t>
            </a:r>
            <a:r>
              <a:rPr kumimoji="1" lang="en-US" altLang="ja-JP" sz="900" b="1" dirty="0">
                <a:latin typeface="+mj-lt"/>
              </a:rPr>
              <a:t>Sats</a:t>
            </a:r>
            <a:r>
              <a:rPr kumimoji="1" lang="ja-JP" altLang="en-US" sz="900" b="1" dirty="0">
                <a:latin typeface="+mj-lt"/>
              </a:rPr>
              <a:t> </a:t>
            </a:r>
            <a:r>
              <a:rPr kumimoji="1" lang="en-US" altLang="ja-JP" sz="900" b="1" dirty="0">
                <a:latin typeface="+mj-lt"/>
              </a:rPr>
              <a:t>Used</a:t>
            </a:r>
            <a:r>
              <a:rPr kumimoji="1" lang="ja-JP" altLang="en-US" sz="900" b="1" dirty="0">
                <a:latin typeface="+mj-lt"/>
              </a:rPr>
              <a:t> </a:t>
            </a:r>
            <a:r>
              <a:rPr kumimoji="1" lang="en-US" altLang="ja-JP" sz="900" b="1" dirty="0">
                <a:latin typeface="+mj-lt"/>
              </a:rPr>
              <a:t>/</a:t>
            </a:r>
            <a:r>
              <a:rPr kumimoji="1" lang="ja-JP" altLang="en-US" sz="900" b="1" dirty="0">
                <a:latin typeface="+mj-lt"/>
              </a:rPr>
              <a:t> </a:t>
            </a:r>
            <a:r>
              <a:rPr kumimoji="1" lang="en-US" altLang="ja-JP" sz="900" b="1" dirty="0">
                <a:latin typeface="+mj-lt"/>
              </a:rPr>
              <a:t>All</a:t>
            </a:r>
            <a:r>
              <a:rPr kumimoji="1" lang="en-US" altLang="ja-JP" sz="900" dirty="0">
                <a:latin typeface="+mj-lt"/>
              </a:rPr>
              <a:t>:</a:t>
            </a:r>
          </a:p>
          <a:p>
            <a:pPr algn="ctr"/>
            <a:r>
              <a:rPr lang="en-US" altLang="ja-JP" sz="900" dirty="0">
                <a:latin typeface="+mj-lt"/>
              </a:rPr>
              <a:t>Number</a:t>
            </a:r>
            <a:r>
              <a:rPr lang="ja-JP" altLang="en-US" sz="900" dirty="0">
                <a:latin typeface="+mj-lt"/>
              </a:rPr>
              <a:t> </a:t>
            </a:r>
            <a:r>
              <a:rPr lang="en-US" altLang="ja-JP" sz="900" dirty="0">
                <a:latin typeface="+mj-lt"/>
              </a:rPr>
              <a:t>of</a:t>
            </a:r>
            <a:r>
              <a:rPr lang="ja-JP" altLang="en-US" sz="900" dirty="0">
                <a:latin typeface="+mj-lt"/>
              </a:rPr>
              <a:t> </a:t>
            </a:r>
            <a:r>
              <a:rPr lang="en-US" altLang="ja-JP" sz="900" dirty="0">
                <a:latin typeface="+mj-lt"/>
              </a:rPr>
              <a:t>used</a:t>
            </a:r>
            <a:r>
              <a:rPr lang="ja-JP" altLang="en-US" sz="900" dirty="0">
                <a:latin typeface="+mj-lt"/>
              </a:rPr>
              <a:t> </a:t>
            </a:r>
            <a:r>
              <a:rPr lang="en-US" altLang="ja-JP" sz="900" dirty="0">
                <a:latin typeface="+mj-lt"/>
              </a:rPr>
              <a:t>satellites</a:t>
            </a:r>
            <a:r>
              <a:rPr lang="ja-JP" altLang="en-US" sz="900" dirty="0">
                <a:latin typeface="+mj-lt"/>
              </a:rPr>
              <a:t> </a:t>
            </a:r>
            <a:r>
              <a:rPr lang="en-US" altLang="ja-JP" sz="900" dirty="0">
                <a:latin typeface="+mj-lt"/>
              </a:rPr>
              <a:t>for</a:t>
            </a:r>
            <a:r>
              <a:rPr lang="ja-JP" altLang="en-US" sz="900" dirty="0">
                <a:latin typeface="+mj-lt"/>
              </a:rPr>
              <a:t> </a:t>
            </a:r>
            <a:r>
              <a:rPr lang="en-US" altLang="ja-JP" sz="900" dirty="0">
                <a:latin typeface="+mj-lt"/>
              </a:rPr>
              <a:t>PVT</a:t>
            </a:r>
            <a:r>
              <a:rPr lang="ja-JP" altLang="en-US" sz="900" dirty="0">
                <a:latin typeface="+mj-lt"/>
              </a:rPr>
              <a:t> </a:t>
            </a:r>
            <a:r>
              <a:rPr lang="en-US" altLang="ja-JP" sz="900" dirty="0">
                <a:latin typeface="+mj-lt"/>
              </a:rPr>
              <a:t>and</a:t>
            </a:r>
            <a:r>
              <a:rPr lang="ja-JP" altLang="en-US" sz="900" dirty="0">
                <a:latin typeface="+mj-lt"/>
              </a:rPr>
              <a:t> </a:t>
            </a:r>
            <a:r>
              <a:rPr lang="en-US" altLang="ja-JP" sz="900" dirty="0">
                <a:latin typeface="+mj-lt"/>
              </a:rPr>
              <a:t>all</a:t>
            </a:r>
            <a:r>
              <a:rPr lang="ja-JP" altLang="en-US" sz="900" dirty="0">
                <a:latin typeface="+mj-lt"/>
              </a:rPr>
              <a:t> </a:t>
            </a:r>
            <a:r>
              <a:rPr lang="en-US" altLang="ja-JP" sz="900" dirty="0">
                <a:latin typeface="+mj-lt"/>
              </a:rPr>
              <a:t>satellites</a:t>
            </a:r>
            <a:r>
              <a:rPr lang="ja-JP" altLang="en-US" sz="900" dirty="0">
                <a:latin typeface="+mj-lt"/>
              </a:rPr>
              <a:t> </a:t>
            </a:r>
            <a:r>
              <a:rPr lang="en-US" altLang="ja-JP" sz="900" dirty="0">
                <a:latin typeface="+mj-lt"/>
              </a:rPr>
              <a:t>with</a:t>
            </a:r>
            <a:r>
              <a:rPr lang="ja-JP" altLang="en-US" sz="900" dirty="0">
                <a:latin typeface="+mj-lt"/>
              </a:rPr>
              <a:t> </a:t>
            </a:r>
            <a:r>
              <a:rPr lang="en-US" altLang="ja-JP" sz="900" dirty="0">
                <a:latin typeface="+mj-lt"/>
              </a:rPr>
              <a:t>OBS</a:t>
            </a:r>
            <a:r>
              <a:rPr lang="ja-JP" altLang="en-US" sz="900" dirty="0">
                <a:latin typeface="+mj-lt"/>
              </a:rPr>
              <a:t> </a:t>
            </a:r>
            <a:r>
              <a:rPr lang="en-US" altLang="ja-JP" sz="900" dirty="0">
                <a:latin typeface="+mj-lt"/>
              </a:rPr>
              <a:t>data</a:t>
            </a:r>
          </a:p>
          <a:p>
            <a:pPr algn="ctr"/>
            <a:r>
              <a:rPr lang="en-US" altLang="ja-JP" sz="900" b="1" dirty="0">
                <a:latin typeface="+mj-lt"/>
              </a:rPr>
              <a:t>Solution</a:t>
            </a:r>
            <a:r>
              <a:rPr lang="ja-JP" altLang="en-US" sz="900" b="1" dirty="0">
                <a:latin typeface="+mj-lt"/>
              </a:rPr>
              <a:t> </a:t>
            </a:r>
            <a:r>
              <a:rPr lang="en-US" altLang="ja-JP" sz="900" b="1" dirty="0">
                <a:latin typeface="+mj-lt"/>
              </a:rPr>
              <a:t>Latency (s)</a:t>
            </a:r>
            <a:r>
              <a:rPr lang="en-US" altLang="ja-JP" sz="900" dirty="0">
                <a:latin typeface="+mj-lt"/>
              </a:rPr>
              <a:t>:</a:t>
            </a:r>
          </a:p>
          <a:p>
            <a:pPr algn="ctr"/>
            <a:r>
              <a:rPr lang="en-US" altLang="ja-JP" sz="900" dirty="0">
                <a:latin typeface="+mj-lt"/>
              </a:rPr>
              <a:t>PVT Solution</a:t>
            </a:r>
            <a:r>
              <a:rPr lang="ja-JP" altLang="en-US" sz="900" dirty="0">
                <a:latin typeface="+mj-lt"/>
              </a:rPr>
              <a:t> </a:t>
            </a:r>
            <a:r>
              <a:rPr lang="en-US" altLang="ja-JP" sz="900" dirty="0">
                <a:latin typeface="+mj-lt"/>
              </a:rPr>
              <a:t>latency</a:t>
            </a:r>
          </a:p>
          <a:p>
            <a:pPr algn="ctr"/>
            <a:r>
              <a:rPr kumimoji="1" lang="en-US" altLang="ja-JP" sz="900" b="1" dirty="0">
                <a:latin typeface="+mj-lt"/>
              </a:rPr>
              <a:t>#</a:t>
            </a:r>
            <a:r>
              <a:rPr kumimoji="1" lang="ja-JP" altLang="en-US" sz="900" b="1" dirty="0">
                <a:latin typeface="+mj-lt"/>
              </a:rPr>
              <a:t> </a:t>
            </a:r>
            <a:r>
              <a:rPr kumimoji="1" lang="en-US" altLang="ja-JP" sz="900" b="1" dirty="0">
                <a:latin typeface="+mj-lt"/>
              </a:rPr>
              <a:t>PVT/# OBS/NAV</a:t>
            </a:r>
            <a:r>
              <a:rPr kumimoji="1" lang="ja-JP" altLang="en-US" sz="900" b="1" dirty="0">
                <a:latin typeface="+mj-lt"/>
              </a:rPr>
              <a:t> </a:t>
            </a:r>
            <a:r>
              <a:rPr kumimoji="1" lang="en-US" altLang="ja-JP" sz="900" b="1" dirty="0">
                <a:latin typeface="+mj-lt"/>
              </a:rPr>
              <a:t>Data</a:t>
            </a:r>
            <a:r>
              <a:rPr kumimoji="1" lang="en-US" altLang="ja-JP" sz="900" dirty="0">
                <a:latin typeface="+mj-lt"/>
              </a:rPr>
              <a:t>:</a:t>
            </a:r>
          </a:p>
          <a:p>
            <a:pPr algn="ctr"/>
            <a:r>
              <a:rPr kumimoji="1" lang="en-US" altLang="ja-JP" sz="900" dirty="0">
                <a:latin typeface="+mj-lt"/>
              </a:rPr>
              <a:t>Total</a:t>
            </a:r>
            <a:r>
              <a:rPr kumimoji="1" lang="ja-JP" altLang="en-US" sz="900" dirty="0">
                <a:latin typeface="+mj-lt"/>
              </a:rPr>
              <a:t> </a:t>
            </a:r>
            <a:r>
              <a:rPr kumimoji="1" lang="en-US" altLang="ja-JP" sz="900" dirty="0">
                <a:latin typeface="+mj-lt"/>
              </a:rPr>
              <a:t>count</a:t>
            </a:r>
            <a:r>
              <a:rPr kumimoji="1" lang="ja-JP" altLang="en-US" sz="900" dirty="0">
                <a:latin typeface="+mj-lt"/>
              </a:rPr>
              <a:t> </a:t>
            </a:r>
            <a:r>
              <a:rPr kumimoji="1" lang="en-US" altLang="ja-JP" sz="900" dirty="0">
                <a:latin typeface="+mj-lt"/>
              </a:rPr>
              <a:t>of</a:t>
            </a:r>
            <a:r>
              <a:rPr kumimoji="1" lang="ja-JP" altLang="en-US" sz="900" dirty="0">
                <a:latin typeface="+mj-lt"/>
              </a:rPr>
              <a:t> </a:t>
            </a:r>
            <a:r>
              <a:rPr kumimoji="1" lang="en-US" altLang="ja-JP" sz="900" dirty="0">
                <a:latin typeface="+mj-lt"/>
              </a:rPr>
              <a:t>PVT solutions, OBS</a:t>
            </a:r>
            <a:r>
              <a:rPr kumimoji="1" lang="ja-JP" altLang="en-US" sz="900" dirty="0">
                <a:latin typeface="+mj-lt"/>
              </a:rPr>
              <a:t> </a:t>
            </a:r>
            <a:r>
              <a:rPr kumimoji="1" lang="en-US" altLang="ja-JP" sz="900" dirty="0">
                <a:latin typeface="+mj-lt"/>
              </a:rPr>
              <a:t>and</a:t>
            </a:r>
            <a:r>
              <a:rPr kumimoji="1" lang="ja-JP" altLang="en-US" sz="900" dirty="0">
                <a:latin typeface="+mj-lt"/>
              </a:rPr>
              <a:t> </a:t>
            </a:r>
            <a:r>
              <a:rPr kumimoji="1" lang="en-US" altLang="ja-JP" sz="900" dirty="0">
                <a:latin typeface="+mj-lt"/>
              </a:rPr>
              <a:t>NAV</a:t>
            </a:r>
            <a:r>
              <a:rPr kumimoji="1" lang="ja-JP" altLang="en-US" sz="900" dirty="0">
                <a:latin typeface="+mj-lt"/>
              </a:rPr>
              <a:t> </a:t>
            </a:r>
            <a:r>
              <a:rPr kumimoji="1" lang="en-US" altLang="ja-JP" sz="900" dirty="0">
                <a:latin typeface="+mj-lt"/>
              </a:rPr>
              <a:t>data</a:t>
            </a:r>
          </a:p>
          <a:p>
            <a:pPr algn="ctr"/>
            <a:r>
              <a:rPr lang="en-US" altLang="ja-JP" sz="900" b="1" dirty="0">
                <a:latin typeface="+mj-lt"/>
              </a:rPr>
              <a:t>IF</a:t>
            </a:r>
            <a:r>
              <a:rPr lang="ja-JP" altLang="en-US" sz="900" b="1" dirty="0">
                <a:latin typeface="+mj-lt"/>
              </a:rPr>
              <a:t> </a:t>
            </a:r>
            <a:r>
              <a:rPr lang="en-US" altLang="ja-JP" sz="900" b="1" dirty="0">
                <a:latin typeface="+mj-lt"/>
              </a:rPr>
              <a:t>Data</a:t>
            </a:r>
            <a:r>
              <a:rPr lang="ja-JP" altLang="en-US" sz="900" b="1" dirty="0">
                <a:latin typeface="+mj-lt"/>
              </a:rPr>
              <a:t> </a:t>
            </a:r>
            <a:r>
              <a:rPr lang="en-US" altLang="ja-JP" sz="900" b="1" dirty="0">
                <a:latin typeface="+mj-lt"/>
              </a:rPr>
              <a:t>Log (MB)</a:t>
            </a:r>
            <a:r>
              <a:rPr lang="en-US" altLang="ja-JP" sz="900" dirty="0">
                <a:latin typeface="+mj-lt"/>
              </a:rPr>
              <a:t>:</a:t>
            </a:r>
          </a:p>
          <a:p>
            <a:pPr algn="ctr"/>
            <a:r>
              <a:rPr kumimoji="1" lang="en-US" altLang="ja-JP" sz="900" dirty="0">
                <a:latin typeface="+mj-lt"/>
              </a:rPr>
              <a:t>Recorded</a:t>
            </a:r>
            <a:r>
              <a:rPr kumimoji="1" lang="ja-JP" altLang="en-US" sz="900" dirty="0">
                <a:latin typeface="+mj-lt"/>
              </a:rPr>
              <a:t> </a:t>
            </a:r>
            <a:r>
              <a:rPr kumimoji="1" lang="en-US" altLang="ja-JP" sz="900" dirty="0">
                <a:latin typeface="+mj-lt"/>
              </a:rPr>
              <a:t>size</a:t>
            </a:r>
            <a:r>
              <a:rPr kumimoji="1" lang="ja-JP" altLang="en-US" sz="900" dirty="0">
                <a:latin typeface="+mj-lt"/>
              </a:rPr>
              <a:t> </a:t>
            </a:r>
            <a:r>
              <a:rPr kumimoji="1" lang="en-US" altLang="ja-JP" sz="900" dirty="0">
                <a:latin typeface="+mj-lt"/>
              </a:rPr>
              <a:t>of</a:t>
            </a:r>
            <a:r>
              <a:rPr kumimoji="1" lang="ja-JP" altLang="en-US" sz="900" dirty="0">
                <a:latin typeface="+mj-lt"/>
              </a:rPr>
              <a:t> </a:t>
            </a:r>
            <a:r>
              <a:rPr kumimoji="1" lang="en-US" altLang="ja-JP" sz="900" dirty="0">
                <a:latin typeface="+mj-lt"/>
              </a:rPr>
              <a:t>IF</a:t>
            </a:r>
            <a:r>
              <a:rPr kumimoji="1" lang="ja-JP" altLang="en-US" sz="900" dirty="0">
                <a:latin typeface="+mj-lt"/>
              </a:rPr>
              <a:t> </a:t>
            </a:r>
            <a:r>
              <a:rPr kumimoji="1" lang="en-US" altLang="ja-JP" sz="900" dirty="0">
                <a:latin typeface="+mj-lt"/>
              </a:rPr>
              <a:t>Data</a:t>
            </a:r>
            <a:r>
              <a:rPr kumimoji="1" lang="ja-JP" altLang="en-US" sz="900" dirty="0">
                <a:latin typeface="+mj-lt"/>
              </a:rPr>
              <a:t> </a:t>
            </a:r>
            <a:r>
              <a:rPr kumimoji="1" lang="en-US" altLang="ja-JP" sz="900" dirty="0">
                <a:latin typeface="+mj-lt"/>
              </a:rPr>
              <a:t>log</a:t>
            </a:r>
          </a:p>
        </p:txBody>
      </p:sp>
      <p:cxnSp>
        <p:nvCxnSpPr>
          <p:cNvPr id="17" name="直線コネクタ 16">
            <a:extLst>
              <a:ext uri="{FF2B5EF4-FFF2-40B4-BE49-F238E27FC236}">
                <a16:creationId xmlns:a16="http://schemas.microsoft.com/office/drawing/2014/main" id="{70DAC7D9-E1CA-059C-E141-42B9FB3D2422}"/>
              </a:ext>
            </a:extLst>
          </p:cNvPr>
          <p:cNvCxnSpPr>
            <a:cxnSpLocks/>
            <a:stCxn id="13" idx="2"/>
            <a:endCxn id="12" idx="0"/>
          </p:cNvCxnSpPr>
          <p:nvPr/>
        </p:nvCxnSpPr>
        <p:spPr>
          <a:xfrm>
            <a:off x="3275860" y="1667790"/>
            <a:ext cx="628338" cy="861110"/>
          </a:xfrm>
          <a:prstGeom prst="line">
            <a:avLst/>
          </a:prstGeom>
        </p:spPr>
        <p:style>
          <a:lnRef idx="1">
            <a:schemeClr val="accent1"/>
          </a:lnRef>
          <a:fillRef idx="0">
            <a:schemeClr val="accent1"/>
          </a:fillRef>
          <a:effectRef idx="0">
            <a:schemeClr val="accent1"/>
          </a:effectRef>
          <a:fontRef idx="minor">
            <a:schemeClr val="tx1"/>
          </a:fontRef>
        </p:style>
      </p:cxnSp>
      <p:sp>
        <p:nvSpPr>
          <p:cNvPr id="19" name="正方形/長方形 18">
            <a:extLst>
              <a:ext uri="{FF2B5EF4-FFF2-40B4-BE49-F238E27FC236}">
                <a16:creationId xmlns:a16="http://schemas.microsoft.com/office/drawing/2014/main" id="{A1D2B02F-F482-3AB6-98E9-C7A2B6F0963D}"/>
              </a:ext>
            </a:extLst>
          </p:cNvPr>
          <p:cNvSpPr/>
          <p:nvPr/>
        </p:nvSpPr>
        <p:spPr>
          <a:xfrm>
            <a:off x="4745278" y="2391294"/>
            <a:ext cx="1115672" cy="13760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150F2FEE-19FF-9027-2D22-A4019F0ED71E}"/>
              </a:ext>
            </a:extLst>
          </p:cNvPr>
          <p:cNvSpPr txBox="1"/>
          <p:nvPr/>
        </p:nvSpPr>
        <p:spPr>
          <a:xfrm>
            <a:off x="4519903" y="1477544"/>
            <a:ext cx="1909467" cy="369332"/>
          </a:xfrm>
          <a:prstGeom prst="rect">
            <a:avLst/>
          </a:prstGeom>
          <a:noFill/>
        </p:spPr>
        <p:txBody>
          <a:bodyPr wrap="square" lIns="0" tIns="0" rIns="0" bIns="0" rtlCol="0">
            <a:spAutoFit/>
          </a:bodyPr>
          <a:lstStyle/>
          <a:p>
            <a:pPr algn="ctr"/>
            <a:r>
              <a:rPr kumimoji="1" lang="en-US" altLang="ja-JP" sz="1200" dirty="0">
                <a:latin typeface="+mj-lt"/>
              </a:rPr>
              <a:t>RF CH and System</a:t>
            </a:r>
            <a:r>
              <a:rPr kumimoji="1" lang="ja-JP" altLang="en-US" sz="1200" dirty="0">
                <a:latin typeface="+mj-lt"/>
              </a:rPr>
              <a:t> </a:t>
            </a:r>
            <a:r>
              <a:rPr kumimoji="1" lang="en-US" altLang="ja-JP" sz="1200" dirty="0">
                <a:latin typeface="+mj-lt"/>
              </a:rPr>
              <a:t>Selection</a:t>
            </a:r>
            <a:r>
              <a:rPr kumimoji="1" lang="ja-JP" altLang="en-US" sz="1200" dirty="0">
                <a:latin typeface="+mj-lt"/>
              </a:rPr>
              <a:t> </a:t>
            </a:r>
            <a:r>
              <a:rPr kumimoji="1" lang="en-US" altLang="ja-JP" sz="1200" dirty="0">
                <a:latin typeface="+mj-lt"/>
              </a:rPr>
              <a:t>for</a:t>
            </a:r>
            <a:r>
              <a:rPr kumimoji="1" lang="ja-JP" altLang="en-US" sz="1200" dirty="0">
                <a:latin typeface="+mj-lt"/>
              </a:rPr>
              <a:t> </a:t>
            </a:r>
            <a:r>
              <a:rPr kumimoji="1" lang="en-US" altLang="ja-JP" sz="1200" dirty="0" err="1">
                <a:latin typeface="+mj-lt"/>
              </a:rPr>
              <a:t>Skyplot</a:t>
            </a:r>
            <a:r>
              <a:rPr kumimoji="1" lang="ja-JP" altLang="en-US" sz="1200" dirty="0">
                <a:latin typeface="+mj-lt"/>
              </a:rPr>
              <a:t> </a:t>
            </a:r>
            <a:r>
              <a:rPr kumimoji="1" lang="en-US" altLang="ja-JP" sz="1200" dirty="0">
                <a:latin typeface="+mj-lt"/>
              </a:rPr>
              <a:t>and</a:t>
            </a:r>
            <a:r>
              <a:rPr kumimoji="1" lang="ja-JP" altLang="en-US" sz="1200" dirty="0">
                <a:latin typeface="+mj-lt"/>
              </a:rPr>
              <a:t> </a:t>
            </a:r>
            <a:r>
              <a:rPr kumimoji="1" lang="en-US" altLang="ja-JP" sz="1200" dirty="0">
                <a:latin typeface="+mj-lt"/>
              </a:rPr>
              <a:t>C/N0</a:t>
            </a:r>
            <a:r>
              <a:rPr kumimoji="1" lang="ja-JP" altLang="en-US" sz="1200" dirty="0">
                <a:latin typeface="+mj-lt"/>
              </a:rPr>
              <a:t> </a:t>
            </a:r>
            <a:r>
              <a:rPr lang="en-US" altLang="ja-JP" sz="1200" dirty="0">
                <a:latin typeface="+mj-lt"/>
              </a:rPr>
              <a:t>P</a:t>
            </a:r>
            <a:r>
              <a:rPr kumimoji="1" lang="en-US" altLang="ja-JP" sz="1200" dirty="0">
                <a:latin typeface="+mj-lt"/>
              </a:rPr>
              <a:t>lot</a:t>
            </a:r>
          </a:p>
        </p:txBody>
      </p:sp>
      <p:sp>
        <p:nvSpPr>
          <p:cNvPr id="21" name="正方形/長方形 20">
            <a:extLst>
              <a:ext uri="{FF2B5EF4-FFF2-40B4-BE49-F238E27FC236}">
                <a16:creationId xmlns:a16="http://schemas.microsoft.com/office/drawing/2014/main" id="{A6034AD9-459E-5F8C-20D6-5B4E2D8E0082}"/>
              </a:ext>
            </a:extLst>
          </p:cNvPr>
          <p:cNvSpPr/>
          <p:nvPr/>
        </p:nvSpPr>
        <p:spPr>
          <a:xfrm>
            <a:off x="5871132" y="2391295"/>
            <a:ext cx="682068" cy="13760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2" name="直線コネクタ 21">
            <a:extLst>
              <a:ext uri="{FF2B5EF4-FFF2-40B4-BE49-F238E27FC236}">
                <a16:creationId xmlns:a16="http://schemas.microsoft.com/office/drawing/2014/main" id="{148A31A8-CC36-2D85-8626-AE9B403F8041}"/>
              </a:ext>
            </a:extLst>
          </p:cNvPr>
          <p:cNvCxnSpPr>
            <a:cxnSpLocks/>
            <a:stCxn id="20" idx="2"/>
            <a:endCxn id="19" idx="0"/>
          </p:cNvCxnSpPr>
          <p:nvPr/>
        </p:nvCxnSpPr>
        <p:spPr>
          <a:xfrm flipH="1">
            <a:off x="5303114" y="1846876"/>
            <a:ext cx="171523" cy="544418"/>
          </a:xfrm>
          <a:prstGeom prst="line">
            <a:avLst/>
          </a:prstGeom>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AC7CD1C1-0228-706E-56A6-CD3E5C40B30A}"/>
              </a:ext>
            </a:extLst>
          </p:cNvPr>
          <p:cNvSpPr txBox="1"/>
          <p:nvPr/>
        </p:nvSpPr>
        <p:spPr>
          <a:xfrm>
            <a:off x="6876256" y="1275396"/>
            <a:ext cx="1369132" cy="784830"/>
          </a:xfrm>
          <a:prstGeom prst="rect">
            <a:avLst/>
          </a:prstGeom>
          <a:noFill/>
        </p:spPr>
        <p:txBody>
          <a:bodyPr wrap="square" lIns="0" tIns="0" rIns="0" bIns="0" rtlCol="0">
            <a:spAutoFit/>
          </a:bodyPr>
          <a:lstStyle/>
          <a:p>
            <a:pPr algn="ctr"/>
            <a:r>
              <a:rPr kumimoji="1" lang="en-US" altLang="ja-JP" sz="1200" dirty="0">
                <a:latin typeface="+mj-lt"/>
              </a:rPr>
              <a:t>Output</a:t>
            </a:r>
            <a:r>
              <a:rPr kumimoji="1" lang="ja-JP" altLang="en-US" sz="1200" dirty="0">
                <a:latin typeface="+mj-lt"/>
              </a:rPr>
              <a:t> </a:t>
            </a:r>
            <a:r>
              <a:rPr kumimoji="1" lang="en-US" altLang="ja-JP" sz="1200" dirty="0">
                <a:latin typeface="+mj-lt"/>
              </a:rPr>
              <a:t>Status</a:t>
            </a:r>
            <a:r>
              <a:rPr kumimoji="1" lang="ja-JP" altLang="en-US" sz="1200" dirty="0">
                <a:latin typeface="+mj-lt"/>
              </a:rPr>
              <a:t> </a:t>
            </a:r>
            <a:r>
              <a:rPr kumimoji="1" lang="en-US" altLang="ja-JP" sz="1200" dirty="0">
                <a:latin typeface="+mj-lt"/>
              </a:rPr>
              <a:t>Indicators</a:t>
            </a:r>
          </a:p>
          <a:p>
            <a:pPr algn="ctr"/>
            <a:r>
              <a:rPr lang="en-US" altLang="ja-JP" sz="900">
                <a:latin typeface="+mj-lt"/>
              </a:rPr>
              <a:t>for</a:t>
            </a:r>
            <a:r>
              <a:rPr lang="ja-JP" altLang="en-US" sz="900">
                <a:latin typeface="+mj-lt"/>
              </a:rPr>
              <a:t> </a:t>
            </a:r>
            <a:r>
              <a:rPr lang="en-US" altLang="ja-JP" sz="900">
                <a:latin typeface="+mj-lt"/>
              </a:rPr>
              <a:t>stream 1-8 (PVT </a:t>
            </a:r>
            <a:r>
              <a:rPr lang="en-US" altLang="ja-JP" sz="900" dirty="0">
                <a:latin typeface="+mj-lt"/>
              </a:rPr>
              <a:t>solution,</a:t>
            </a:r>
            <a:r>
              <a:rPr lang="ja-JP" altLang="en-US" sz="900" dirty="0">
                <a:latin typeface="+mj-lt"/>
              </a:rPr>
              <a:t> </a:t>
            </a:r>
            <a:r>
              <a:rPr lang="en-US" altLang="ja-JP" sz="900" dirty="0">
                <a:latin typeface="+mj-lt"/>
              </a:rPr>
              <a:t>OBS/NAV</a:t>
            </a:r>
            <a:r>
              <a:rPr lang="ja-JP" altLang="en-US" sz="900" dirty="0">
                <a:latin typeface="+mj-lt"/>
              </a:rPr>
              <a:t> </a:t>
            </a:r>
            <a:r>
              <a:rPr lang="en-US" altLang="ja-JP" sz="900" dirty="0">
                <a:latin typeface="+mj-lt"/>
              </a:rPr>
              <a:t>data,</a:t>
            </a:r>
            <a:r>
              <a:rPr lang="ja-JP" altLang="en-US" sz="900" dirty="0">
                <a:latin typeface="+mj-lt"/>
              </a:rPr>
              <a:t> </a:t>
            </a:r>
            <a:r>
              <a:rPr lang="en-US" altLang="ja-JP" sz="900" dirty="0">
                <a:latin typeface="+mj-lt"/>
              </a:rPr>
              <a:t>receiver</a:t>
            </a:r>
            <a:r>
              <a:rPr lang="ja-JP" altLang="en-US" sz="900" dirty="0">
                <a:latin typeface="+mj-lt"/>
              </a:rPr>
              <a:t> </a:t>
            </a:r>
            <a:r>
              <a:rPr lang="en-US" altLang="ja-JP" sz="900">
                <a:latin typeface="+mj-lt"/>
              </a:rPr>
              <a:t>log</a:t>
            </a:r>
            <a:r>
              <a:rPr lang="ja-JP" altLang="en-US" sz="900">
                <a:latin typeface="+mj-lt"/>
              </a:rPr>
              <a:t> </a:t>
            </a:r>
            <a:r>
              <a:rPr lang="en-US" altLang="ja-JP" sz="900">
                <a:latin typeface="+mj-lt"/>
              </a:rPr>
              <a:t>or</a:t>
            </a:r>
            <a:r>
              <a:rPr lang="ja-JP" altLang="en-US" sz="900">
                <a:latin typeface="+mj-lt"/>
              </a:rPr>
              <a:t> </a:t>
            </a:r>
            <a:r>
              <a:rPr lang="en-US" altLang="ja-JP" sz="900" dirty="0">
                <a:latin typeface="+mj-lt"/>
              </a:rPr>
              <a:t>IF</a:t>
            </a:r>
            <a:r>
              <a:rPr lang="ja-JP" altLang="en-US" sz="900" dirty="0">
                <a:latin typeface="+mj-lt"/>
              </a:rPr>
              <a:t> </a:t>
            </a:r>
            <a:r>
              <a:rPr lang="en-US" altLang="ja-JP" sz="900">
                <a:latin typeface="+mj-lt"/>
              </a:rPr>
              <a:t>data</a:t>
            </a:r>
            <a:r>
              <a:rPr lang="ja-JP" altLang="en-US" sz="900">
                <a:latin typeface="+mj-lt"/>
              </a:rPr>
              <a:t> </a:t>
            </a:r>
            <a:r>
              <a:rPr lang="en-US" altLang="ja-JP" sz="900">
                <a:latin typeface="+mj-lt"/>
              </a:rPr>
              <a:t>log)</a:t>
            </a:r>
            <a:endParaRPr kumimoji="1" lang="en-US" altLang="ja-JP" sz="900" dirty="0">
              <a:latin typeface="+mj-lt"/>
            </a:endParaRPr>
          </a:p>
        </p:txBody>
      </p:sp>
      <p:cxnSp>
        <p:nvCxnSpPr>
          <p:cNvPr id="27" name="直線コネクタ 26">
            <a:extLst>
              <a:ext uri="{FF2B5EF4-FFF2-40B4-BE49-F238E27FC236}">
                <a16:creationId xmlns:a16="http://schemas.microsoft.com/office/drawing/2014/main" id="{0DFA351C-50C3-877C-8853-4C36FC02D2F5}"/>
              </a:ext>
            </a:extLst>
          </p:cNvPr>
          <p:cNvCxnSpPr>
            <a:cxnSpLocks/>
            <a:stCxn id="25" idx="1"/>
            <a:endCxn id="21" idx="0"/>
          </p:cNvCxnSpPr>
          <p:nvPr/>
        </p:nvCxnSpPr>
        <p:spPr>
          <a:xfrm flipH="1">
            <a:off x="6212166" y="1667811"/>
            <a:ext cx="664090" cy="723484"/>
          </a:xfrm>
          <a:prstGeom prst="line">
            <a:avLst/>
          </a:prstGeom>
        </p:spPr>
        <p:style>
          <a:lnRef idx="1">
            <a:schemeClr val="accent1"/>
          </a:lnRef>
          <a:fillRef idx="0">
            <a:schemeClr val="accent1"/>
          </a:fillRef>
          <a:effectRef idx="0">
            <a:schemeClr val="accent1"/>
          </a:effectRef>
          <a:fontRef idx="minor">
            <a:schemeClr val="tx1"/>
          </a:fontRef>
        </p:style>
      </p:cxnSp>
      <p:sp>
        <p:nvSpPr>
          <p:cNvPr id="32" name="テキスト ボックス 31">
            <a:extLst>
              <a:ext uri="{FF2B5EF4-FFF2-40B4-BE49-F238E27FC236}">
                <a16:creationId xmlns:a16="http://schemas.microsoft.com/office/drawing/2014/main" id="{6DB92D3E-58F2-292C-59A6-AFA8EB9119F5}"/>
              </a:ext>
            </a:extLst>
          </p:cNvPr>
          <p:cNvSpPr txBox="1"/>
          <p:nvPr/>
        </p:nvSpPr>
        <p:spPr>
          <a:xfrm>
            <a:off x="6949695" y="2060226"/>
            <a:ext cx="1222706" cy="830997"/>
          </a:xfrm>
          <a:prstGeom prst="rect">
            <a:avLst/>
          </a:prstGeom>
          <a:noFill/>
        </p:spPr>
        <p:txBody>
          <a:bodyPr wrap="square" lIns="0" tIns="0" rIns="0" bIns="0" rtlCol="0">
            <a:spAutoFit/>
          </a:bodyPr>
          <a:lstStyle/>
          <a:p>
            <a:pPr algn="ctr"/>
            <a:r>
              <a:rPr kumimoji="1" lang="en-US" altLang="ja-JP" sz="900" dirty="0">
                <a:solidFill>
                  <a:srgbClr val="FF9900"/>
                </a:solidFill>
                <a:latin typeface="+mj-lt"/>
              </a:rPr>
              <a:t>Orange</a:t>
            </a:r>
            <a:r>
              <a:rPr kumimoji="1" lang="en-US" altLang="ja-JP" sz="900" dirty="0">
                <a:latin typeface="+mj-lt"/>
              </a:rPr>
              <a:t>:</a:t>
            </a:r>
            <a:r>
              <a:rPr kumimoji="1" lang="ja-JP" altLang="en-US" sz="900" dirty="0">
                <a:latin typeface="+mj-lt"/>
              </a:rPr>
              <a:t> </a:t>
            </a:r>
            <a:r>
              <a:rPr lang="en-US" altLang="ja-JP" sz="900" dirty="0">
                <a:latin typeface="+mj-lt"/>
              </a:rPr>
              <a:t>w</a:t>
            </a:r>
            <a:r>
              <a:rPr kumimoji="1" lang="en-US" altLang="ja-JP" sz="900" dirty="0">
                <a:latin typeface="+mj-lt"/>
              </a:rPr>
              <a:t>aiting</a:t>
            </a:r>
            <a:r>
              <a:rPr kumimoji="1" lang="ja-JP" altLang="en-US" sz="900" dirty="0">
                <a:latin typeface="+mj-lt"/>
              </a:rPr>
              <a:t> </a:t>
            </a:r>
            <a:r>
              <a:rPr kumimoji="1" lang="en-US" altLang="ja-JP" sz="900" dirty="0">
                <a:latin typeface="+mj-lt"/>
              </a:rPr>
              <a:t>for</a:t>
            </a:r>
            <a:r>
              <a:rPr kumimoji="1" lang="ja-JP" altLang="en-US" sz="900" dirty="0">
                <a:latin typeface="+mj-lt"/>
              </a:rPr>
              <a:t> </a:t>
            </a:r>
            <a:r>
              <a:rPr kumimoji="1" lang="en-US" altLang="ja-JP" sz="900" dirty="0">
                <a:latin typeface="+mj-lt"/>
              </a:rPr>
              <a:t>connection</a:t>
            </a:r>
          </a:p>
          <a:p>
            <a:pPr algn="ctr"/>
            <a:r>
              <a:rPr lang="en-US" altLang="ja-JP" sz="900" dirty="0">
                <a:solidFill>
                  <a:srgbClr val="008000"/>
                </a:solidFill>
                <a:latin typeface="+mj-lt"/>
              </a:rPr>
              <a:t>Green</a:t>
            </a:r>
            <a:r>
              <a:rPr lang="en-US" altLang="ja-JP" sz="900" dirty="0">
                <a:latin typeface="+mj-lt"/>
              </a:rPr>
              <a:t>:</a:t>
            </a:r>
            <a:r>
              <a:rPr lang="ja-JP" altLang="en-US" sz="900" dirty="0">
                <a:latin typeface="+mj-lt"/>
              </a:rPr>
              <a:t> </a:t>
            </a:r>
            <a:r>
              <a:rPr lang="en-US" altLang="ja-JP" sz="900" dirty="0">
                <a:latin typeface="+mj-lt"/>
              </a:rPr>
              <a:t>data</a:t>
            </a:r>
            <a:r>
              <a:rPr lang="ja-JP" altLang="en-US" sz="900" dirty="0">
                <a:latin typeface="+mj-lt"/>
              </a:rPr>
              <a:t> </a:t>
            </a:r>
            <a:r>
              <a:rPr lang="en-US" altLang="ja-JP" sz="900" dirty="0">
                <a:latin typeface="+mj-lt"/>
              </a:rPr>
              <a:t>OK</a:t>
            </a:r>
          </a:p>
          <a:p>
            <a:pPr algn="ctr"/>
            <a:r>
              <a:rPr kumimoji="1" lang="en-US" altLang="ja-JP" sz="900" dirty="0">
                <a:solidFill>
                  <a:srgbClr val="92D050"/>
                </a:solidFill>
                <a:latin typeface="+mj-lt"/>
              </a:rPr>
              <a:t>Light</a:t>
            </a:r>
            <a:r>
              <a:rPr lang="en-US" altLang="ja-JP" sz="900" dirty="0">
                <a:solidFill>
                  <a:srgbClr val="92D050"/>
                </a:solidFill>
                <a:latin typeface="+mj-lt"/>
              </a:rPr>
              <a:t>-</a:t>
            </a:r>
            <a:r>
              <a:rPr kumimoji="1" lang="en-US" altLang="ja-JP" sz="900" dirty="0">
                <a:solidFill>
                  <a:srgbClr val="92D050"/>
                </a:solidFill>
                <a:latin typeface="+mj-lt"/>
              </a:rPr>
              <a:t>Green</a:t>
            </a:r>
            <a:r>
              <a:rPr kumimoji="1" lang="en-US" altLang="ja-JP" sz="900" dirty="0">
                <a:latin typeface="+mj-lt"/>
              </a:rPr>
              <a:t>:</a:t>
            </a:r>
            <a:r>
              <a:rPr kumimoji="1" lang="ja-JP" altLang="en-US" sz="900" dirty="0">
                <a:latin typeface="+mj-lt"/>
              </a:rPr>
              <a:t> </a:t>
            </a:r>
            <a:r>
              <a:rPr kumimoji="1" lang="en-US" altLang="ja-JP" sz="900" dirty="0">
                <a:latin typeface="+mj-lt"/>
              </a:rPr>
              <a:t>data</a:t>
            </a:r>
            <a:r>
              <a:rPr kumimoji="1" lang="ja-JP" altLang="en-US" sz="900" dirty="0">
                <a:latin typeface="+mj-lt"/>
              </a:rPr>
              <a:t> </a:t>
            </a:r>
            <a:r>
              <a:rPr lang="en-US" altLang="ja-JP" sz="900" dirty="0">
                <a:latin typeface="+mj-lt"/>
              </a:rPr>
              <a:t>a</a:t>
            </a:r>
            <a:r>
              <a:rPr kumimoji="1" lang="en-US" altLang="ja-JP" sz="900" dirty="0">
                <a:latin typeface="+mj-lt"/>
              </a:rPr>
              <a:t>ctive</a:t>
            </a:r>
          </a:p>
          <a:p>
            <a:pPr algn="ctr"/>
            <a:r>
              <a:rPr lang="en-US" altLang="ja-JP" sz="900" dirty="0">
                <a:solidFill>
                  <a:srgbClr val="FF0000"/>
                </a:solidFill>
                <a:latin typeface="+mj-lt"/>
              </a:rPr>
              <a:t>Red</a:t>
            </a:r>
            <a:r>
              <a:rPr lang="en-US" altLang="ja-JP" sz="900" dirty="0">
                <a:latin typeface="+mj-lt"/>
              </a:rPr>
              <a:t>:</a:t>
            </a:r>
            <a:r>
              <a:rPr lang="ja-JP" altLang="en-US" sz="900" dirty="0">
                <a:latin typeface="+mj-lt"/>
              </a:rPr>
              <a:t> </a:t>
            </a:r>
            <a:r>
              <a:rPr lang="en-US" altLang="ja-JP" sz="900" dirty="0">
                <a:latin typeface="+mj-lt"/>
              </a:rPr>
              <a:t>error</a:t>
            </a:r>
          </a:p>
          <a:p>
            <a:pPr algn="ctr"/>
            <a:r>
              <a:rPr kumimoji="1" lang="en-US" altLang="ja-JP" sz="900" dirty="0">
                <a:solidFill>
                  <a:schemeClr val="bg1">
                    <a:lumMod val="50000"/>
                  </a:schemeClr>
                </a:solidFill>
                <a:latin typeface="+mj-lt"/>
              </a:rPr>
              <a:t>White</a:t>
            </a:r>
            <a:r>
              <a:rPr kumimoji="1" lang="en-US" altLang="ja-JP" sz="900" dirty="0">
                <a:latin typeface="+mj-lt"/>
              </a:rPr>
              <a:t>:</a:t>
            </a:r>
            <a:r>
              <a:rPr kumimoji="1" lang="ja-JP" altLang="en-US" sz="900" dirty="0">
                <a:latin typeface="+mj-lt"/>
              </a:rPr>
              <a:t> </a:t>
            </a:r>
            <a:r>
              <a:rPr kumimoji="1" lang="en-US" altLang="ja-JP" sz="900" dirty="0">
                <a:latin typeface="+mj-lt"/>
              </a:rPr>
              <a:t>no</a:t>
            </a:r>
            <a:r>
              <a:rPr kumimoji="1" lang="ja-JP" altLang="en-US" sz="900" dirty="0">
                <a:latin typeface="+mj-lt"/>
              </a:rPr>
              <a:t> </a:t>
            </a:r>
            <a:r>
              <a:rPr kumimoji="1" lang="en-US" altLang="ja-JP" sz="900" dirty="0">
                <a:latin typeface="+mj-lt"/>
              </a:rPr>
              <a:t>output</a:t>
            </a:r>
            <a:endParaRPr kumimoji="1" lang="en-US" altLang="ja-JP" sz="500" dirty="0">
              <a:latin typeface="+mj-lt"/>
            </a:endParaRPr>
          </a:p>
        </p:txBody>
      </p:sp>
      <p:sp>
        <p:nvSpPr>
          <p:cNvPr id="33" name="正方形/長方形 32">
            <a:extLst>
              <a:ext uri="{FF2B5EF4-FFF2-40B4-BE49-F238E27FC236}">
                <a16:creationId xmlns:a16="http://schemas.microsoft.com/office/drawing/2014/main" id="{1B3A3A04-6415-43AB-5CBC-39BDBF2A4B29}"/>
              </a:ext>
            </a:extLst>
          </p:cNvPr>
          <p:cNvSpPr/>
          <p:nvPr/>
        </p:nvSpPr>
        <p:spPr>
          <a:xfrm>
            <a:off x="2588323" y="3815530"/>
            <a:ext cx="3964877" cy="116164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正方形/長方形 34">
            <a:extLst>
              <a:ext uri="{FF2B5EF4-FFF2-40B4-BE49-F238E27FC236}">
                <a16:creationId xmlns:a16="http://schemas.microsoft.com/office/drawing/2014/main" id="{C1C5F619-46EE-C255-4D58-C01D13EF9306}"/>
              </a:ext>
            </a:extLst>
          </p:cNvPr>
          <p:cNvSpPr/>
          <p:nvPr/>
        </p:nvSpPr>
        <p:spPr>
          <a:xfrm>
            <a:off x="5256076" y="2522950"/>
            <a:ext cx="1297124" cy="126014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a:extLst>
              <a:ext uri="{FF2B5EF4-FFF2-40B4-BE49-F238E27FC236}">
                <a16:creationId xmlns:a16="http://schemas.microsoft.com/office/drawing/2014/main" id="{82F86B9C-38A3-352D-5B8D-4EFA0D603716}"/>
              </a:ext>
            </a:extLst>
          </p:cNvPr>
          <p:cNvSpPr txBox="1"/>
          <p:nvPr/>
        </p:nvSpPr>
        <p:spPr>
          <a:xfrm>
            <a:off x="6984758" y="3197218"/>
            <a:ext cx="1152128" cy="369332"/>
          </a:xfrm>
          <a:prstGeom prst="rect">
            <a:avLst/>
          </a:prstGeom>
          <a:noFill/>
        </p:spPr>
        <p:txBody>
          <a:bodyPr wrap="square" lIns="0" tIns="0" rIns="0" bIns="0" rtlCol="0">
            <a:spAutoFit/>
          </a:bodyPr>
          <a:lstStyle/>
          <a:p>
            <a:pPr algn="ctr"/>
            <a:r>
              <a:rPr kumimoji="1" lang="en-US" altLang="ja-JP" sz="1200" dirty="0">
                <a:latin typeface="+mj-lt"/>
              </a:rPr>
              <a:t>Satellite</a:t>
            </a:r>
            <a:r>
              <a:rPr kumimoji="1" lang="ja-JP" altLang="en-US" sz="1200" dirty="0">
                <a:latin typeface="+mj-lt"/>
              </a:rPr>
              <a:t> </a:t>
            </a:r>
            <a:r>
              <a:rPr kumimoji="1" lang="en-US" altLang="ja-JP" sz="1200" dirty="0">
                <a:latin typeface="+mj-lt"/>
              </a:rPr>
              <a:t>Positions</a:t>
            </a:r>
            <a:r>
              <a:rPr kumimoji="1" lang="ja-JP" altLang="en-US" sz="1200" dirty="0">
                <a:latin typeface="+mj-lt"/>
              </a:rPr>
              <a:t> </a:t>
            </a:r>
            <a:r>
              <a:rPr kumimoji="1" lang="en-US" altLang="ja-JP" sz="1200" dirty="0">
                <a:latin typeface="+mj-lt"/>
              </a:rPr>
              <a:t>in</a:t>
            </a:r>
            <a:r>
              <a:rPr kumimoji="1" lang="ja-JP" altLang="en-US" sz="1200" dirty="0">
                <a:latin typeface="+mj-lt"/>
              </a:rPr>
              <a:t> </a:t>
            </a:r>
            <a:r>
              <a:rPr lang="en-US" altLang="ja-JP" sz="1200" dirty="0" err="1">
                <a:latin typeface="+mj-lt"/>
              </a:rPr>
              <a:t>S</a:t>
            </a:r>
            <a:r>
              <a:rPr kumimoji="1" lang="en-US" altLang="ja-JP" sz="1200" dirty="0" err="1">
                <a:latin typeface="+mj-lt"/>
              </a:rPr>
              <a:t>kyplot</a:t>
            </a:r>
            <a:r>
              <a:rPr kumimoji="1" lang="ja-JP" altLang="en-US" sz="1200" baseline="30000" dirty="0">
                <a:latin typeface="+mj-lt"/>
              </a:rPr>
              <a:t> *</a:t>
            </a:r>
            <a:r>
              <a:rPr kumimoji="1" lang="en-US" altLang="ja-JP" sz="1200" baseline="30000" dirty="0">
                <a:latin typeface="+mj-lt"/>
              </a:rPr>
              <a:t>1</a:t>
            </a:r>
            <a:r>
              <a:rPr kumimoji="1" lang="ja-JP" altLang="en-US" sz="1200" baseline="30000" dirty="0">
                <a:latin typeface="+mj-lt"/>
              </a:rPr>
              <a:t> *</a:t>
            </a:r>
            <a:r>
              <a:rPr kumimoji="1" lang="en-US" altLang="ja-JP" sz="1200" baseline="30000" dirty="0">
                <a:latin typeface="+mj-lt"/>
              </a:rPr>
              <a:t>2</a:t>
            </a:r>
          </a:p>
        </p:txBody>
      </p:sp>
      <p:cxnSp>
        <p:nvCxnSpPr>
          <p:cNvPr id="37" name="直線コネクタ 36">
            <a:extLst>
              <a:ext uri="{FF2B5EF4-FFF2-40B4-BE49-F238E27FC236}">
                <a16:creationId xmlns:a16="http://schemas.microsoft.com/office/drawing/2014/main" id="{B64AF30A-BE0F-2DD8-3C8C-2D3D99BE55B8}"/>
              </a:ext>
            </a:extLst>
          </p:cNvPr>
          <p:cNvCxnSpPr>
            <a:cxnSpLocks/>
            <a:stCxn id="36" idx="1"/>
            <a:endCxn id="35" idx="3"/>
          </p:cNvCxnSpPr>
          <p:nvPr/>
        </p:nvCxnSpPr>
        <p:spPr>
          <a:xfrm flipH="1" flipV="1">
            <a:off x="6553200" y="3153020"/>
            <a:ext cx="431558" cy="228864"/>
          </a:xfrm>
          <a:prstGeom prst="line">
            <a:avLst/>
          </a:prstGeom>
        </p:spPr>
        <p:style>
          <a:lnRef idx="1">
            <a:schemeClr val="accent1"/>
          </a:lnRef>
          <a:fillRef idx="0">
            <a:schemeClr val="accent1"/>
          </a:fillRef>
          <a:effectRef idx="0">
            <a:schemeClr val="accent1"/>
          </a:effectRef>
          <a:fontRef idx="minor">
            <a:schemeClr val="tx1"/>
          </a:fontRef>
        </p:style>
      </p:cxnSp>
      <p:sp>
        <p:nvSpPr>
          <p:cNvPr id="43" name="テキスト ボックス 42">
            <a:extLst>
              <a:ext uri="{FF2B5EF4-FFF2-40B4-BE49-F238E27FC236}">
                <a16:creationId xmlns:a16="http://schemas.microsoft.com/office/drawing/2014/main" id="{88EBD489-3FD3-71AA-8207-A1450BEB9EAD}"/>
              </a:ext>
            </a:extLst>
          </p:cNvPr>
          <p:cNvSpPr txBox="1"/>
          <p:nvPr/>
        </p:nvSpPr>
        <p:spPr>
          <a:xfrm>
            <a:off x="6794858" y="5106367"/>
            <a:ext cx="1531927" cy="1384995"/>
          </a:xfrm>
          <a:prstGeom prst="rect">
            <a:avLst/>
          </a:prstGeom>
          <a:noFill/>
        </p:spPr>
        <p:txBody>
          <a:bodyPr wrap="square" lIns="0" tIns="0" rIns="0" bIns="0" rtlCol="0">
            <a:spAutoFit/>
          </a:bodyPr>
          <a:lstStyle/>
          <a:p>
            <a:pPr algn="ctr"/>
            <a:r>
              <a:rPr lang="ja-JP" altLang="en-US" sz="900" dirty="0">
                <a:latin typeface="+mj-lt"/>
              </a:rPr>
              <a:t>* </a:t>
            </a:r>
            <a:r>
              <a:rPr lang="en-US" altLang="ja-JP" sz="900" dirty="0">
                <a:latin typeface="+mj-lt"/>
              </a:rPr>
              <a:t>1</a:t>
            </a:r>
            <a:r>
              <a:rPr lang="ja-JP" altLang="en-US" sz="900" dirty="0">
                <a:latin typeface="+mj-lt"/>
              </a:rPr>
              <a:t> </a:t>
            </a:r>
            <a:r>
              <a:rPr lang="en-US" altLang="ja-JP" sz="900" dirty="0">
                <a:latin typeface="+mj-lt"/>
              </a:rPr>
              <a:t>GNSS</a:t>
            </a:r>
            <a:r>
              <a:rPr lang="ja-JP" altLang="en-US" sz="900" dirty="0">
                <a:latin typeface="+mj-lt"/>
              </a:rPr>
              <a:t> </a:t>
            </a:r>
            <a:r>
              <a:rPr lang="en-US" altLang="ja-JP" sz="900" dirty="0">
                <a:latin typeface="+mj-lt"/>
              </a:rPr>
              <a:t>System</a:t>
            </a:r>
            <a:r>
              <a:rPr lang="ja-JP" altLang="en-US" sz="900" dirty="0">
                <a:latin typeface="+mj-lt"/>
              </a:rPr>
              <a:t> </a:t>
            </a:r>
            <a:r>
              <a:rPr lang="en-US" altLang="ja-JP" sz="900" dirty="0">
                <a:latin typeface="+mj-lt"/>
              </a:rPr>
              <a:t>Color:</a:t>
            </a:r>
          </a:p>
          <a:p>
            <a:pPr algn="ctr"/>
            <a:r>
              <a:rPr lang="en-US" altLang="ja-JP" sz="900" dirty="0">
                <a:solidFill>
                  <a:srgbClr val="008000"/>
                </a:solidFill>
                <a:latin typeface="+mj-lt"/>
              </a:rPr>
              <a:t>Green:</a:t>
            </a:r>
            <a:r>
              <a:rPr lang="ja-JP" altLang="en-US" sz="900" dirty="0">
                <a:solidFill>
                  <a:srgbClr val="008000"/>
                </a:solidFill>
                <a:latin typeface="+mj-lt"/>
              </a:rPr>
              <a:t> </a:t>
            </a:r>
            <a:r>
              <a:rPr lang="en-US" altLang="ja-JP" sz="900" dirty="0">
                <a:solidFill>
                  <a:srgbClr val="008000"/>
                </a:solidFill>
                <a:latin typeface="+mj-lt"/>
              </a:rPr>
              <a:t>GPS</a:t>
            </a:r>
          </a:p>
          <a:p>
            <a:pPr algn="ctr"/>
            <a:r>
              <a:rPr lang="en-US" altLang="ja-JP" sz="900" dirty="0">
                <a:solidFill>
                  <a:srgbClr val="FF9900"/>
                </a:solidFill>
                <a:latin typeface="+mj-lt"/>
              </a:rPr>
              <a:t>Orange:</a:t>
            </a:r>
            <a:r>
              <a:rPr lang="ja-JP" altLang="en-US" sz="900" dirty="0">
                <a:solidFill>
                  <a:srgbClr val="FF9900"/>
                </a:solidFill>
                <a:latin typeface="+mj-lt"/>
              </a:rPr>
              <a:t> </a:t>
            </a:r>
            <a:r>
              <a:rPr lang="en-US" altLang="ja-JP" sz="900" dirty="0">
                <a:solidFill>
                  <a:srgbClr val="FF9900"/>
                </a:solidFill>
                <a:latin typeface="+mj-lt"/>
              </a:rPr>
              <a:t>GLONASS</a:t>
            </a:r>
          </a:p>
          <a:p>
            <a:pPr algn="ctr"/>
            <a:r>
              <a:rPr lang="en-US" altLang="ja-JP" sz="900" dirty="0">
                <a:solidFill>
                  <a:srgbClr val="FF00FF"/>
                </a:solidFill>
                <a:latin typeface="+mj-lt"/>
              </a:rPr>
              <a:t>Magenta:</a:t>
            </a:r>
            <a:r>
              <a:rPr lang="ja-JP" altLang="en-US" sz="900" dirty="0">
                <a:solidFill>
                  <a:srgbClr val="FF00FF"/>
                </a:solidFill>
                <a:latin typeface="+mj-lt"/>
              </a:rPr>
              <a:t> </a:t>
            </a:r>
            <a:r>
              <a:rPr lang="en-US" altLang="ja-JP" sz="900" dirty="0">
                <a:solidFill>
                  <a:srgbClr val="FF00FF"/>
                </a:solidFill>
                <a:latin typeface="+mj-lt"/>
              </a:rPr>
              <a:t>Galileo</a:t>
            </a:r>
          </a:p>
          <a:p>
            <a:pPr algn="ctr"/>
            <a:r>
              <a:rPr lang="en-US" altLang="ja-JP" sz="900" dirty="0">
                <a:solidFill>
                  <a:srgbClr val="0000FF"/>
                </a:solidFill>
                <a:latin typeface="+mj-lt"/>
              </a:rPr>
              <a:t>Blue:</a:t>
            </a:r>
            <a:r>
              <a:rPr lang="ja-JP" altLang="en-US" sz="900" dirty="0">
                <a:solidFill>
                  <a:srgbClr val="0000FF"/>
                </a:solidFill>
                <a:latin typeface="+mj-lt"/>
              </a:rPr>
              <a:t> </a:t>
            </a:r>
            <a:r>
              <a:rPr lang="en-US" altLang="ja-JP" sz="900" dirty="0">
                <a:solidFill>
                  <a:srgbClr val="0000FF"/>
                </a:solidFill>
                <a:latin typeface="+mj-lt"/>
              </a:rPr>
              <a:t>QZSS</a:t>
            </a:r>
          </a:p>
          <a:p>
            <a:pPr algn="ctr"/>
            <a:r>
              <a:rPr lang="en-US" altLang="ja-JP" sz="900" dirty="0">
                <a:solidFill>
                  <a:srgbClr val="FF0000"/>
                </a:solidFill>
                <a:latin typeface="+mj-lt"/>
              </a:rPr>
              <a:t>Red</a:t>
            </a:r>
            <a:r>
              <a:rPr lang="en-US" altLang="ja-JP" sz="900" dirty="0">
                <a:latin typeface="+mj-lt"/>
              </a:rPr>
              <a:t>:</a:t>
            </a:r>
            <a:r>
              <a:rPr lang="ja-JP" altLang="en-US" sz="900" dirty="0">
                <a:latin typeface="+mj-lt"/>
              </a:rPr>
              <a:t> </a:t>
            </a:r>
            <a:r>
              <a:rPr lang="en-US" altLang="ja-JP" sz="900" dirty="0" err="1">
                <a:latin typeface="+mj-lt"/>
              </a:rPr>
              <a:t>BeiDou</a:t>
            </a:r>
            <a:endParaRPr lang="en-US" altLang="ja-JP" sz="900" dirty="0">
              <a:latin typeface="+mj-lt"/>
            </a:endParaRPr>
          </a:p>
          <a:p>
            <a:pPr algn="ctr"/>
            <a:r>
              <a:rPr lang="en-US" altLang="ja-JP" sz="900" dirty="0">
                <a:solidFill>
                  <a:schemeClr val="accent5">
                    <a:lumMod val="75000"/>
                  </a:schemeClr>
                </a:solidFill>
                <a:latin typeface="+mj-lt"/>
              </a:rPr>
              <a:t>Blue-Green:</a:t>
            </a:r>
            <a:r>
              <a:rPr lang="ja-JP" altLang="en-US" sz="900" dirty="0">
                <a:solidFill>
                  <a:schemeClr val="accent5">
                    <a:lumMod val="75000"/>
                  </a:schemeClr>
                </a:solidFill>
                <a:latin typeface="+mj-lt"/>
              </a:rPr>
              <a:t> </a:t>
            </a:r>
            <a:r>
              <a:rPr lang="en-US" altLang="ja-JP" sz="900" dirty="0" err="1">
                <a:solidFill>
                  <a:schemeClr val="accent5">
                    <a:lumMod val="75000"/>
                  </a:schemeClr>
                </a:solidFill>
                <a:latin typeface="+mj-lt"/>
              </a:rPr>
              <a:t>NavIC</a:t>
            </a:r>
            <a:endParaRPr lang="en-US" altLang="ja-JP" sz="900" dirty="0">
              <a:solidFill>
                <a:schemeClr val="accent5">
                  <a:lumMod val="75000"/>
                </a:schemeClr>
              </a:solidFill>
              <a:latin typeface="+mj-lt"/>
            </a:endParaRPr>
          </a:p>
          <a:p>
            <a:pPr algn="ctr"/>
            <a:r>
              <a:rPr lang="en-US" altLang="ja-JP" sz="900" dirty="0">
                <a:solidFill>
                  <a:schemeClr val="bg1">
                    <a:lumMod val="50000"/>
                  </a:schemeClr>
                </a:solidFill>
                <a:latin typeface="+mj-lt"/>
              </a:rPr>
              <a:t>Grey:</a:t>
            </a:r>
            <a:r>
              <a:rPr lang="ja-JP" altLang="en-US" sz="900" dirty="0">
                <a:solidFill>
                  <a:schemeClr val="bg1">
                    <a:lumMod val="50000"/>
                  </a:schemeClr>
                </a:solidFill>
                <a:latin typeface="+mj-lt"/>
              </a:rPr>
              <a:t> </a:t>
            </a:r>
            <a:r>
              <a:rPr lang="en-US" altLang="ja-JP" sz="900" dirty="0">
                <a:solidFill>
                  <a:schemeClr val="bg1">
                    <a:lumMod val="50000"/>
                  </a:schemeClr>
                </a:solidFill>
                <a:latin typeface="+mj-lt"/>
              </a:rPr>
              <a:t>SBAS</a:t>
            </a:r>
          </a:p>
          <a:p>
            <a:pPr algn="ctr"/>
            <a:r>
              <a:rPr lang="en-US" altLang="ja-JP" sz="900" dirty="0">
                <a:solidFill>
                  <a:schemeClr val="bg1">
                    <a:lumMod val="50000"/>
                  </a:schemeClr>
                </a:solidFill>
                <a:latin typeface="+mj-lt"/>
              </a:rPr>
              <a:t>White</a:t>
            </a:r>
            <a:r>
              <a:rPr lang="ja-JP" altLang="en-US" sz="900" dirty="0">
                <a:solidFill>
                  <a:schemeClr val="bg1">
                    <a:lumMod val="50000"/>
                  </a:schemeClr>
                </a:solidFill>
                <a:latin typeface="+mj-lt"/>
              </a:rPr>
              <a:t> </a:t>
            </a:r>
            <a:r>
              <a:rPr lang="en-US" altLang="ja-JP" sz="900" dirty="0">
                <a:solidFill>
                  <a:schemeClr val="bg1">
                    <a:lumMod val="50000"/>
                  </a:schemeClr>
                </a:solidFill>
                <a:latin typeface="+mj-lt"/>
              </a:rPr>
              <a:t>or</a:t>
            </a:r>
            <a:r>
              <a:rPr lang="ja-JP" altLang="en-US" sz="900" dirty="0">
                <a:solidFill>
                  <a:schemeClr val="bg1">
                    <a:lumMod val="50000"/>
                  </a:schemeClr>
                </a:solidFill>
                <a:latin typeface="+mj-lt"/>
              </a:rPr>
              <a:t> </a:t>
            </a:r>
            <a:r>
              <a:rPr lang="en-US" altLang="ja-JP" sz="900" dirty="0">
                <a:solidFill>
                  <a:schemeClr val="bg1">
                    <a:lumMod val="50000"/>
                  </a:schemeClr>
                </a:solidFill>
                <a:latin typeface="+mj-lt"/>
              </a:rPr>
              <a:t>light-color</a:t>
            </a:r>
            <a:r>
              <a:rPr lang="en-US" altLang="ja-JP" sz="900" dirty="0">
                <a:latin typeface="+mj-lt"/>
              </a:rPr>
              <a:t>:</a:t>
            </a:r>
          </a:p>
          <a:p>
            <a:pPr algn="ctr"/>
            <a:r>
              <a:rPr lang="en-US" altLang="ja-JP" sz="900" dirty="0">
                <a:latin typeface="+mj-lt"/>
              </a:rPr>
              <a:t>unused</a:t>
            </a:r>
            <a:r>
              <a:rPr lang="ja-JP" altLang="en-US" sz="900" dirty="0">
                <a:latin typeface="+mj-lt"/>
              </a:rPr>
              <a:t> </a:t>
            </a:r>
            <a:r>
              <a:rPr lang="en-US" altLang="ja-JP" sz="900" dirty="0">
                <a:latin typeface="+mj-lt"/>
              </a:rPr>
              <a:t>satellites</a:t>
            </a:r>
            <a:r>
              <a:rPr lang="ja-JP" altLang="en-US" sz="900" dirty="0">
                <a:latin typeface="+mj-lt"/>
              </a:rPr>
              <a:t> </a:t>
            </a:r>
            <a:r>
              <a:rPr lang="en-US" altLang="ja-JP" sz="900" dirty="0">
                <a:latin typeface="+mj-lt"/>
              </a:rPr>
              <a:t>for</a:t>
            </a:r>
            <a:r>
              <a:rPr lang="ja-JP" altLang="en-US" sz="900" dirty="0">
                <a:latin typeface="+mj-lt"/>
              </a:rPr>
              <a:t> </a:t>
            </a:r>
            <a:r>
              <a:rPr lang="en-US" altLang="ja-JP" sz="900" dirty="0">
                <a:latin typeface="+mj-lt"/>
              </a:rPr>
              <a:t>solution</a:t>
            </a:r>
          </a:p>
        </p:txBody>
      </p:sp>
      <p:cxnSp>
        <p:nvCxnSpPr>
          <p:cNvPr id="45" name="直線コネクタ 44">
            <a:extLst>
              <a:ext uri="{FF2B5EF4-FFF2-40B4-BE49-F238E27FC236}">
                <a16:creationId xmlns:a16="http://schemas.microsoft.com/office/drawing/2014/main" id="{D7B4CFB6-BA6D-CF51-B229-1635814D51E3}"/>
              </a:ext>
            </a:extLst>
          </p:cNvPr>
          <p:cNvCxnSpPr>
            <a:cxnSpLocks/>
            <a:stCxn id="50" idx="0"/>
            <a:endCxn id="33" idx="2"/>
          </p:cNvCxnSpPr>
          <p:nvPr/>
        </p:nvCxnSpPr>
        <p:spPr>
          <a:xfrm flipH="1" flipV="1">
            <a:off x="4570762" y="4977172"/>
            <a:ext cx="152253" cy="273807"/>
          </a:xfrm>
          <a:prstGeom prst="line">
            <a:avLst/>
          </a:prstGeom>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FEDB43FA-2859-F370-29F3-CBB03C856B38}"/>
              </a:ext>
            </a:extLst>
          </p:cNvPr>
          <p:cNvSpPr txBox="1"/>
          <p:nvPr/>
        </p:nvSpPr>
        <p:spPr>
          <a:xfrm>
            <a:off x="3876921" y="5250979"/>
            <a:ext cx="1692188" cy="553998"/>
          </a:xfrm>
          <a:prstGeom prst="rect">
            <a:avLst/>
          </a:prstGeom>
          <a:noFill/>
        </p:spPr>
        <p:txBody>
          <a:bodyPr wrap="square" lIns="0" tIns="0" rIns="0" bIns="0" rtlCol="0">
            <a:spAutoFit/>
          </a:bodyPr>
          <a:lstStyle/>
          <a:p>
            <a:pPr algn="ctr"/>
            <a:r>
              <a:rPr kumimoji="1" lang="en-US" altLang="ja-JP" sz="1200" dirty="0">
                <a:latin typeface="+mj-lt"/>
              </a:rPr>
              <a:t>Signal</a:t>
            </a:r>
            <a:r>
              <a:rPr kumimoji="1" lang="ja-JP" altLang="en-US" sz="1200" dirty="0">
                <a:latin typeface="+mj-lt"/>
              </a:rPr>
              <a:t> </a:t>
            </a:r>
            <a:r>
              <a:rPr kumimoji="1" lang="en-US" altLang="ja-JP" sz="1200" dirty="0">
                <a:latin typeface="+mj-lt"/>
              </a:rPr>
              <a:t>C/N0</a:t>
            </a:r>
            <a:r>
              <a:rPr lang="ja-JP" altLang="en-US" sz="1200" dirty="0">
                <a:latin typeface="+mj-lt"/>
              </a:rPr>
              <a:t> </a:t>
            </a:r>
            <a:r>
              <a:rPr lang="en-US" altLang="ja-JP" sz="1200" dirty="0">
                <a:latin typeface="+mj-lt"/>
              </a:rPr>
              <a:t>(dB-Hz)</a:t>
            </a:r>
            <a:r>
              <a:rPr kumimoji="1" lang="ja-JP" altLang="en-US" sz="1200" dirty="0">
                <a:latin typeface="+mj-lt"/>
              </a:rPr>
              <a:t> </a:t>
            </a:r>
            <a:r>
              <a:rPr kumimoji="1" lang="en-US" altLang="ja-JP" sz="1200" dirty="0">
                <a:latin typeface="+mj-lt"/>
              </a:rPr>
              <a:t>Plot</a:t>
            </a:r>
            <a:r>
              <a:rPr kumimoji="1" lang="ja-JP" altLang="en-US" sz="1200" dirty="0">
                <a:latin typeface="+mj-lt"/>
              </a:rPr>
              <a:t> </a:t>
            </a:r>
            <a:r>
              <a:rPr kumimoji="1" lang="en-US" altLang="ja-JP" sz="1200" dirty="0">
                <a:latin typeface="+mj-lt"/>
              </a:rPr>
              <a:t>for</a:t>
            </a:r>
            <a:r>
              <a:rPr kumimoji="1" lang="ja-JP" altLang="en-US" sz="1200" dirty="0">
                <a:latin typeface="+mj-lt"/>
              </a:rPr>
              <a:t> </a:t>
            </a:r>
            <a:r>
              <a:rPr kumimoji="1" lang="en-US" altLang="ja-JP" sz="1200" dirty="0">
                <a:latin typeface="+mj-lt"/>
              </a:rPr>
              <a:t>Each</a:t>
            </a:r>
            <a:r>
              <a:rPr kumimoji="1" lang="ja-JP" altLang="en-US" sz="1200" dirty="0">
                <a:latin typeface="+mj-lt"/>
              </a:rPr>
              <a:t> </a:t>
            </a:r>
            <a:r>
              <a:rPr lang="en-US" altLang="ja-JP" sz="1200" dirty="0">
                <a:latin typeface="+mj-lt"/>
              </a:rPr>
              <a:t>S</a:t>
            </a:r>
            <a:r>
              <a:rPr kumimoji="1" lang="en-US" altLang="ja-JP" sz="1200" dirty="0">
                <a:latin typeface="+mj-lt"/>
              </a:rPr>
              <a:t>atellite</a:t>
            </a:r>
            <a:r>
              <a:rPr kumimoji="1" lang="ja-JP" altLang="en-US" sz="1200" dirty="0">
                <a:latin typeface="+mj-lt"/>
              </a:rPr>
              <a:t> </a:t>
            </a:r>
            <a:r>
              <a:rPr kumimoji="1" lang="en-US" altLang="ja-JP" sz="1200" dirty="0">
                <a:latin typeface="+mj-lt"/>
              </a:rPr>
              <a:t>and</a:t>
            </a:r>
            <a:r>
              <a:rPr kumimoji="1" lang="ja-JP" altLang="en-US" sz="1200" dirty="0">
                <a:latin typeface="+mj-lt"/>
              </a:rPr>
              <a:t> </a:t>
            </a:r>
            <a:r>
              <a:rPr lang="en-US" altLang="ja-JP" sz="1200" dirty="0">
                <a:latin typeface="+mj-lt"/>
              </a:rPr>
              <a:t>S</a:t>
            </a:r>
            <a:r>
              <a:rPr kumimoji="1" lang="en-US" altLang="ja-JP" sz="1200" dirty="0">
                <a:latin typeface="+mj-lt"/>
              </a:rPr>
              <a:t>ignals</a:t>
            </a:r>
            <a:r>
              <a:rPr kumimoji="1" lang="ja-JP" altLang="en-US" sz="1200" dirty="0">
                <a:latin typeface="+mj-lt"/>
              </a:rPr>
              <a:t> </a:t>
            </a:r>
            <a:r>
              <a:rPr kumimoji="1" lang="en-US" altLang="ja-JP" sz="1200" dirty="0">
                <a:latin typeface="+mj-lt"/>
              </a:rPr>
              <a:t>(stacked)</a:t>
            </a:r>
            <a:r>
              <a:rPr kumimoji="1" lang="ja-JP" altLang="en-US" sz="1200" baseline="30000" dirty="0">
                <a:latin typeface="+mj-lt"/>
              </a:rPr>
              <a:t> *</a:t>
            </a:r>
            <a:r>
              <a:rPr kumimoji="1" lang="en-US" altLang="ja-JP" sz="1200" baseline="30000" dirty="0">
                <a:latin typeface="+mj-lt"/>
              </a:rPr>
              <a:t>1</a:t>
            </a:r>
            <a:r>
              <a:rPr kumimoji="1" lang="ja-JP" altLang="en-US" sz="1200" baseline="30000" dirty="0">
                <a:latin typeface="+mj-lt"/>
              </a:rPr>
              <a:t> *</a:t>
            </a:r>
            <a:r>
              <a:rPr kumimoji="1" lang="en-US" altLang="ja-JP" sz="1200" baseline="30000" dirty="0">
                <a:latin typeface="+mj-lt"/>
              </a:rPr>
              <a:t>2</a:t>
            </a:r>
            <a:endParaRPr kumimoji="1" lang="en-US" altLang="ja-JP" sz="1200" dirty="0">
              <a:latin typeface="+mj-lt"/>
            </a:endParaRPr>
          </a:p>
        </p:txBody>
      </p:sp>
      <p:sp>
        <p:nvSpPr>
          <p:cNvPr id="53" name="テキスト ボックス 52">
            <a:extLst>
              <a:ext uri="{FF2B5EF4-FFF2-40B4-BE49-F238E27FC236}">
                <a16:creationId xmlns:a16="http://schemas.microsoft.com/office/drawing/2014/main" id="{9599A4D2-8827-80CA-6A05-672D69B7DCA3}"/>
              </a:ext>
            </a:extLst>
          </p:cNvPr>
          <p:cNvSpPr txBox="1"/>
          <p:nvPr/>
        </p:nvSpPr>
        <p:spPr>
          <a:xfrm>
            <a:off x="2247985" y="5245059"/>
            <a:ext cx="1531927" cy="553998"/>
          </a:xfrm>
          <a:prstGeom prst="rect">
            <a:avLst/>
          </a:prstGeom>
          <a:noFill/>
        </p:spPr>
        <p:txBody>
          <a:bodyPr wrap="square" lIns="0" tIns="0" rIns="0" bIns="0" rtlCol="0">
            <a:spAutoFit/>
          </a:bodyPr>
          <a:lstStyle/>
          <a:p>
            <a:pPr algn="ctr"/>
            <a:r>
              <a:rPr kumimoji="1" lang="en-US" altLang="ja-JP" sz="1200" dirty="0">
                <a:latin typeface="+mj-lt"/>
              </a:rPr>
              <a:t>Number</a:t>
            </a:r>
            <a:r>
              <a:rPr kumimoji="1" lang="ja-JP" altLang="en-US" sz="1200" dirty="0">
                <a:latin typeface="+mj-lt"/>
              </a:rPr>
              <a:t> </a:t>
            </a:r>
            <a:r>
              <a:rPr kumimoji="1" lang="en-US" altLang="ja-JP" sz="1200" dirty="0">
                <a:latin typeface="+mj-lt"/>
              </a:rPr>
              <a:t>of</a:t>
            </a:r>
            <a:r>
              <a:rPr kumimoji="1" lang="ja-JP" altLang="en-US" sz="1200" dirty="0">
                <a:latin typeface="+mj-lt"/>
              </a:rPr>
              <a:t> </a:t>
            </a:r>
            <a:r>
              <a:rPr kumimoji="1" lang="en-US" altLang="ja-JP" sz="1200" dirty="0">
                <a:latin typeface="+mj-lt"/>
              </a:rPr>
              <a:t>used</a:t>
            </a:r>
            <a:r>
              <a:rPr kumimoji="1" lang="ja-JP" altLang="en-US" sz="1200" dirty="0">
                <a:latin typeface="+mj-lt"/>
              </a:rPr>
              <a:t> </a:t>
            </a:r>
            <a:r>
              <a:rPr kumimoji="1" lang="en-US" altLang="ja-JP" sz="1200" dirty="0">
                <a:latin typeface="+mj-lt"/>
              </a:rPr>
              <a:t>satellites</a:t>
            </a:r>
            <a:r>
              <a:rPr kumimoji="1" lang="ja-JP" altLang="en-US" sz="1200" dirty="0">
                <a:latin typeface="+mj-lt"/>
              </a:rPr>
              <a:t> </a:t>
            </a:r>
            <a:r>
              <a:rPr kumimoji="1" lang="en-US" altLang="ja-JP" sz="1200" dirty="0">
                <a:latin typeface="+mj-lt"/>
              </a:rPr>
              <a:t>and</a:t>
            </a:r>
            <a:r>
              <a:rPr kumimoji="1" lang="ja-JP" altLang="en-US" sz="1200" dirty="0">
                <a:latin typeface="+mj-lt"/>
              </a:rPr>
              <a:t> </a:t>
            </a:r>
            <a:r>
              <a:rPr kumimoji="1" lang="en-US" altLang="ja-JP" sz="1200" dirty="0">
                <a:latin typeface="+mj-lt"/>
              </a:rPr>
              <a:t>all</a:t>
            </a:r>
            <a:r>
              <a:rPr kumimoji="1" lang="ja-JP" altLang="en-US" sz="1200" dirty="0">
                <a:latin typeface="+mj-lt"/>
              </a:rPr>
              <a:t> </a:t>
            </a:r>
            <a:r>
              <a:rPr kumimoji="1" lang="en-US" altLang="ja-JP" sz="1200" dirty="0">
                <a:latin typeface="+mj-lt"/>
              </a:rPr>
              <a:t>satellites</a:t>
            </a:r>
            <a:r>
              <a:rPr kumimoji="1" lang="ja-JP" altLang="en-US" sz="1200" dirty="0">
                <a:latin typeface="+mj-lt"/>
              </a:rPr>
              <a:t> </a:t>
            </a:r>
            <a:r>
              <a:rPr kumimoji="1" lang="en-US" altLang="ja-JP" sz="1200" dirty="0">
                <a:latin typeface="+mj-lt"/>
              </a:rPr>
              <a:t>with</a:t>
            </a:r>
            <a:r>
              <a:rPr kumimoji="1" lang="ja-JP" altLang="en-US" sz="1200" dirty="0">
                <a:latin typeface="+mj-lt"/>
              </a:rPr>
              <a:t> </a:t>
            </a:r>
            <a:r>
              <a:rPr kumimoji="1" lang="en-US" altLang="ja-JP" sz="1200" dirty="0">
                <a:latin typeface="+mj-lt"/>
              </a:rPr>
              <a:t>OBS</a:t>
            </a:r>
            <a:r>
              <a:rPr kumimoji="1" lang="ja-JP" altLang="en-US" sz="1200" dirty="0">
                <a:latin typeface="+mj-lt"/>
              </a:rPr>
              <a:t> </a:t>
            </a:r>
            <a:r>
              <a:rPr kumimoji="1" lang="en-US" altLang="ja-JP" sz="1200" dirty="0">
                <a:latin typeface="+mj-lt"/>
              </a:rPr>
              <a:t>data</a:t>
            </a:r>
          </a:p>
        </p:txBody>
      </p:sp>
      <p:cxnSp>
        <p:nvCxnSpPr>
          <p:cNvPr id="55" name="直線コネクタ 54">
            <a:extLst>
              <a:ext uri="{FF2B5EF4-FFF2-40B4-BE49-F238E27FC236}">
                <a16:creationId xmlns:a16="http://schemas.microsoft.com/office/drawing/2014/main" id="{0F761D56-35A5-9568-68C7-3415CEEBCE64}"/>
              </a:ext>
            </a:extLst>
          </p:cNvPr>
          <p:cNvCxnSpPr>
            <a:cxnSpLocks/>
            <a:stCxn id="53" idx="0"/>
          </p:cNvCxnSpPr>
          <p:nvPr/>
        </p:nvCxnSpPr>
        <p:spPr>
          <a:xfrm flipV="1">
            <a:off x="3013949" y="4099901"/>
            <a:ext cx="45883" cy="1145158"/>
          </a:xfrm>
          <a:prstGeom prst="line">
            <a:avLst/>
          </a:prstGeom>
        </p:spPr>
        <p:style>
          <a:lnRef idx="1">
            <a:schemeClr val="accent1"/>
          </a:lnRef>
          <a:fillRef idx="0">
            <a:schemeClr val="accent1"/>
          </a:fillRef>
          <a:effectRef idx="0">
            <a:schemeClr val="accent1"/>
          </a:effectRef>
          <a:fontRef idx="minor">
            <a:schemeClr val="tx1"/>
          </a:fontRef>
        </p:style>
      </p:cxnSp>
      <p:sp>
        <p:nvSpPr>
          <p:cNvPr id="60" name="テキスト ボックス 59">
            <a:extLst>
              <a:ext uri="{FF2B5EF4-FFF2-40B4-BE49-F238E27FC236}">
                <a16:creationId xmlns:a16="http://schemas.microsoft.com/office/drawing/2014/main" id="{5F8A0FD5-B103-3AA6-EC8F-8199AF5F8430}"/>
              </a:ext>
            </a:extLst>
          </p:cNvPr>
          <p:cNvSpPr txBox="1"/>
          <p:nvPr/>
        </p:nvSpPr>
        <p:spPr>
          <a:xfrm>
            <a:off x="2779004" y="6075864"/>
            <a:ext cx="3655839" cy="415498"/>
          </a:xfrm>
          <a:prstGeom prst="rect">
            <a:avLst/>
          </a:prstGeom>
          <a:noFill/>
        </p:spPr>
        <p:txBody>
          <a:bodyPr wrap="square" lIns="0" tIns="0" rIns="0" bIns="0" rtlCol="0">
            <a:spAutoFit/>
          </a:bodyPr>
          <a:lstStyle/>
          <a:p>
            <a:pPr algn="ctr"/>
            <a:r>
              <a:rPr lang="ja-JP" altLang="en-US" sz="900" dirty="0">
                <a:latin typeface="+mj-lt"/>
              </a:rPr>
              <a:t>*</a:t>
            </a:r>
            <a:r>
              <a:rPr lang="en-US" altLang="ja-JP" sz="900" dirty="0">
                <a:latin typeface="+mj-lt"/>
              </a:rPr>
              <a:t>2</a:t>
            </a:r>
            <a:r>
              <a:rPr lang="ja-JP" altLang="en-US" sz="900" dirty="0">
                <a:latin typeface="+mj-lt"/>
              </a:rPr>
              <a:t> </a:t>
            </a:r>
            <a:r>
              <a:rPr lang="en-US" altLang="ja-JP" sz="900" dirty="0">
                <a:latin typeface="+mj-lt"/>
              </a:rPr>
              <a:t>Satellite</a:t>
            </a:r>
            <a:r>
              <a:rPr lang="ja-JP" altLang="en-US" sz="900" dirty="0">
                <a:latin typeface="+mj-lt"/>
              </a:rPr>
              <a:t> </a:t>
            </a:r>
            <a:r>
              <a:rPr lang="en-US" altLang="ja-JP" sz="900" dirty="0">
                <a:latin typeface="+mj-lt"/>
              </a:rPr>
              <a:t>ID</a:t>
            </a:r>
            <a:r>
              <a:rPr lang="ja-JP" altLang="en-US" sz="900" dirty="0">
                <a:latin typeface="+mj-lt"/>
              </a:rPr>
              <a:t> </a:t>
            </a:r>
            <a:r>
              <a:rPr lang="en-US" altLang="ja-JP" sz="900" dirty="0">
                <a:latin typeface="+mj-lt"/>
              </a:rPr>
              <a:t>complies</a:t>
            </a:r>
            <a:r>
              <a:rPr lang="ja-JP" altLang="en-US" sz="900" dirty="0">
                <a:latin typeface="+mj-lt"/>
              </a:rPr>
              <a:t> </a:t>
            </a:r>
            <a:r>
              <a:rPr lang="en-US" altLang="ja-JP" sz="900" dirty="0">
                <a:latin typeface="+mj-lt"/>
              </a:rPr>
              <a:t>with</a:t>
            </a:r>
            <a:r>
              <a:rPr lang="ja-JP" altLang="en-US" sz="900" dirty="0">
                <a:latin typeface="+mj-lt"/>
              </a:rPr>
              <a:t> </a:t>
            </a:r>
            <a:r>
              <a:rPr lang="en-US" altLang="ja-JP" sz="900" dirty="0">
                <a:latin typeface="+mj-lt"/>
              </a:rPr>
              <a:t>RINEX</a:t>
            </a:r>
            <a:r>
              <a:rPr lang="ja-JP" altLang="en-US" sz="900" dirty="0">
                <a:latin typeface="+mj-lt"/>
              </a:rPr>
              <a:t> </a:t>
            </a:r>
            <a:r>
              <a:rPr lang="en-US" altLang="ja-JP" sz="900" dirty="0">
                <a:latin typeface="+mj-lt"/>
              </a:rPr>
              <a:t>convention</a:t>
            </a:r>
          </a:p>
          <a:p>
            <a:pPr algn="ctr"/>
            <a:r>
              <a:rPr lang="ja-JP" altLang="en-US" sz="900" dirty="0">
                <a:latin typeface="+mj-lt"/>
              </a:rPr>
              <a:t>*</a:t>
            </a:r>
            <a:r>
              <a:rPr lang="en-US" altLang="ja-JP" sz="900" dirty="0">
                <a:latin typeface="+mj-lt"/>
              </a:rPr>
              <a:t>3</a:t>
            </a:r>
            <a:r>
              <a:rPr lang="ja-JP" altLang="en-US" sz="900" dirty="0">
                <a:latin typeface="+mj-lt"/>
              </a:rPr>
              <a:t> </a:t>
            </a:r>
            <a:r>
              <a:rPr lang="en-US" altLang="ja-JP" sz="900" dirty="0">
                <a:latin typeface="+mj-lt"/>
              </a:rPr>
              <a:t>INT8</a:t>
            </a:r>
            <a:r>
              <a:rPr lang="ja-JP" altLang="en-US" sz="900" dirty="0">
                <a:latin typeface="+mj-lt"/>
              </a:rPr>
              <a:t> </a:t>
            </a:r>
            <a:r>
              <a:rPr lang="en-US" altLang="ja-JP" sz="900" dirty="0">
                <a:latin typeface="+mj-lt"/>
              </a:rPr>
              <a:t>(int8</a:t>
            </a:r>
            <a:r>
              <a:rPr lang="ja-JP" altLang="en-US" sz="900" dirty="0">
                <a:latin typeface="+mj-lt"/>
              </a:rPr>
              <a:t> </a:t>
            </a:r>
            <a:r>
              <a:rPr lang="en-US" altLang="ja-JP" sz="900" dirty="0">
                <a:latin typeface="+mj-lt"/>
              </a:rPr>
              <a:t>I-sampling),</a:t>
            </a:r>
            <a:r>
              <a:rPr lang="ja-JP" altLang="en-US" sz="900" dirty="0">
                <a:latin typeface="+mj-lt"/>
              </a:rPr>
              <a:t> </a:t>
            </a:r>
            <a:r>
              <a:rPr lang="en-US" altLang="ja-JP" sz="900" dirty="0">
                <a:latin typeface="+mj-lt"/>
              </a:rPr>
              <a:t>INT8X2</a:t>
            </a:r>
            <a:r>
              <a:rPr lang="ja-JP" altLang="en-US" sz="900" dirty="0">
                <a:latin typeface="+mj-lt"/>
              </a:rPr>
              <a:t> </a:t>
            </a:r>
            <a:r>
              <a:rPr lang="en-US" altLang="ja-JP" sz="900" dirty="0">
                <a:latin typeface="+mj-lt"/>
              </a:rPr>
              <a:t>(interleaved-int8</a:t>
            </a:r>
            <a:r>
              <a:rPr lang="ja-JP" altLang="en-US" sz="900" dirty="0">
                <a:latin typeface="+mj-lt"/>
              </a:rPr>
              <a:t> </a:t>
            </a:r>
            <a:r>
              <a:rPr lang="en-US" altLang="ja-JP" sz="900" dirty="0">
                <a:latin typeface="+mj-lt"/>
              </a:rPr>
              <a:t>IQ-sampling),</a:t>
            </a:r>
            <a:r>
              <a:rPr lang="ja-JP" altLang="en-US" sz="900" dirty="0">
                <a:latin typeface="+mj-lt"/>
              </a:rPr>
              <a:t> </a:t>
            </a:r>
            <a:r>
              <a:rPr lang="en-US" altLang="ja-JP" sz="900" dirty="0">
                <a:latin typeface="+mj-lt"/>
              </a:rPr>
              <a:t>RAW8,</a:t>
            </a:r>
            <a:r>
              <a:rPr lang="ja-JP" altLang="en-US" sz="900" dirty="0">
                <a:latin typeface="+mj-lt"/>
              </a:rPr>
              <a:t> </a:t>
            </a:r>
            <a:r>
              <a:rPr lang="en-US" altLang="ja-JP" sz="900" dirty="0" err="1">
                <a:latin typeface="+mj-lt"/>
              </a:rPr>
              <a:t>RAW16</a:t>
            </a:r>
            <a:r>
              <a:rPr lang="en-US" altLang="ja-JP" sz="900" dirty="0">
                <a:latin typeface="+mj-lt"/>
              </a:rPr>
              <a:t>,</a:t>
            </a:r>
            <a:r>
              <a:rPr lang="ja-JP" altLang="en-US" sz="900" dirty="0">
                <a:latin typeface="+mj-lt"/>
              </a:rPr>
              <a:t> </a:t>
            </a:r>
            <a:r>
              <a:rPr lang="en-US" altLang="ja-JP" sz="900" dirty="0" err="1">
                <a:latin typeface="+mj-lt"/>
              </a:rPr>
              <a:t>RAW32</a:t>
            </a:r>
            <a:r>
              <a:rPr lang="ja-JP" altLang="en-US" sz="900" dirty="0">
                <a:latin typeface="+mj-lt"/>
              </a:rPr>
              <a:t> </a:t>
            </a:r>
            <a:r>
              <a:rPr lang="en-US" altLang="ja-JP" sz="900" dirty="0">
                <a:latin typeface="+mj-lt"/>
              </a:rPr>
              <a:t>(Pocket</a:t>
            </a:r>
            <a:r>
              <a:rPr lang="ja-JP" altLang="en-US" sz="900" dirty="0">
                <a:latin typeface="+mj-lt"/>
              </a:rPr>
              <a:t> </a:t>
            </a:r>
            <a:r>
              <a:rPr lang="en-US" altLang="ja-JP" sz="900" dirty="0" err="1">
                <a:latin typeface="+mj-lt"/>
              </a:rPr>
              <a:t>SDR</a:t>
            </a:r>
            <a:r>
              <a:rPr lang="ja-JP" altLang="en-US" sz="900" dirty="0">
                <a:latin typeface="+mj-lt"/>
              </a:rPr>
              <a:t> </a:t>
            </a:r>
            <a:r>
              <a:rPr lang="en-US" altLang="ja-JP" sz="900" dirty="0">
                <a:latin typeface="+mj-lt"/>
              </a:rPr>
              <a:t>FE), </a:t>
            </a:r>
            <a:r>
              <a:rPr lang="en-US" altLang="ja-JP" sz="900" dirty="0" err="1">
                <a:latin typeface="+mj-lt"/>
              </a:rPr>
              <a:t>CS8</a:t>
            </a:r>
            <a:r>
              <a:rPr lang="en-US" altLang="ja-JP" sz="900" dirty="0">
                <a:latin typeface="+mj-lt"/>
              </a:rPr>
              <a:t> or </a:t>
            </a:r>
            <a:r>
              <a:rPr lang="en-US" altLang="ja-JP" sz="900" dirty="0" err="1">
                <a:latin typeface="+mj-lt"/>
              </a:rPr>
              <a:t>CS16</a:t>
            </a:r>
            <a:r>
              <a:rPr lang="en-US" altLang="ja-JP" sz="900" dirty="0">
                <a:latin typeface="+mj-lt"/>
              </a:rPr>
              <a:t> (</a:t>
            </a:r>
            <a:r>
              <a:rPr lang="en-US" altLang="ja-JP" sz="900" dirty="0" err="1">
                <a:latin typeface="+mj-lt"/>
              </a:rPr>
              <a:t>SoapySDR</a:t>
            </a:r>
            <a:r>
              <a:rPr lang="en-US" altLang="ja-JP" sz="900" dirty="0">
                <a:latin typeface="+mj-lt"/>
              </a:rPr>
              <a:t> devices)</a:t>
            </a:r>
          </a:p>
        </p:txBody>
      </p:sp>
      <p:sp>
        <p:nvSpPr>
          <p:cNvPr id="2" name="正方形/長方形 1">
            <a:extLst>
              <a:ext uri="{FF2B5EF4-FFF2-40B4-BE49-F238E27FC236}">
                <a16:creationId xmlns:a16="http://schemas.microsoft.com/office/drawing/2014/main" id="{D5222161-BC00-7856-4F56-4164FBF257D7}"/>
              </a:ext>
            </a:extLst>
          </p:cNvPr>
          <p:cNvSpPr/>
          <p:nvPr/>
        </p:nvSpPr>
        <p:spPr>
          <a:xfrm>
            <a:off x="4864534" y="2816932"/>
            <a:ext cx="73439" cy="1800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1426855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10D7B-3EFB-F3E9-1639-19B823DA9CA4}"/>
            </a:ext>
          </a:extLst>
        </p:cNvPr>
        <p:cNvGrpSpPr/>
        <p:nvPr/>
      </p:nvGrpSpPr>
      <p:grpSpPr>
        <a:xfrm>
          <a:off x="0" y="0"/>
          <a:ext cx="0" cy="0"/>
          <a:chOff x="0" y="0"/>
          <a:chExt cx="0" cy="0"/>
        </a:xfrm>
      </p:grpSpPr>
      <p:pic>
        <p:nvPicPr>
          <p:cNvPr id="7" name="図 6">
            <a:extLst>
              <a:ext uri="{FF2B5EF4-FFF2-40B4-BE49-F238E27FC236}">
                <a16:creationId xmlns:a16="http://schemas.microsoft.com/office/drawing/2014/main" id="{00DFF763-3E49-A07C-2502-A9DD52D44FD6}"/>
              </a:ext>
            </a:extLst>
          </p:cNvPr>
          <p:cNvPicPr>
            <a:picLocks noChangeAspect="1"/>
          </p:cNvPicPr>
          <p:nvPr/>
        </p:nvPicPr>
        <p:blipFill>
          <a:blip r:embed="rId2"/>
          <a:stretch>
            <a:fillRect/>
          </a:stretch>
        </p:blipFill>
        <p:spPr>
          <a:xfrm>
            <a:off x="2580894" y="1976445"/>
            <a:ext cx="3972306" cy="3130296"/>
          </a:xfrm>
          <a:prstGeom prst="rect">
            <a:avLst/>
          </a:prstGeom>
        </p:spPr>
      </p:pic>
      <p:sp>
        <p:nvSpPr>
          <p:cNvPr id="4" name="スライド番号プレースホルダー 3">
            <a:extLst>
              <a:ext uri="{FF2B5EF4-FFF2-40B4-BE49-F238E27FC236}">
                <a16:creationId xmlns:a16="http://schemas.microsoft.com/office/drawing/2014/main" id="{082821F4-414B-733B-3753-46818FE32276}"/>
              </a:ext>
            </a:extLst>
          </p:cNvPr>
          <p:cNvSpPr>
            <a:spLocks noGrp="1"/>
          </p:cNvSpPr>
          <p:nvPr>
            <p:ph type="sldNum" sz="quarter" idx="11"/>
          </p:nvPr>
        </p:nvSpPr>
        <p:spPr/>
        <p:txBody>
          <a:bodyPr/>
          <a:lstStyle/>
          <a:p>
            <a:pPr>
              <a:defRPr/>
            </a:pPr>
            <a:fld id="{76B10B91-6492-4C08-AE87-F344306858DA}" type="slidenum">
              <a:rPr lang="ja-JP" altLang="en-US" smtClean="0"/>
              <a:pPr>
                <a:defRPr/>
              </a:pPr>
              <a:t>3</a:t>
            </a:fld>
            <a:endParaRPr lang="ja-JP" altLang="en-US" dirty="0"/>
          </a:p>
        </p:txBody>
      </p:sp>
      <p:sp>
        <p:nvSpPr>
          <p:cNvPr id="5" name="タイトル 1">
            <a:extLst>
              <a:ext uri="{FF2B5EF4-FFF2-40B4-BE49-F238E27FC236}">
                <a16:creationId xmlns:a16="http://schemas.microsoft.com/office/drawing/2014/main" id="{F353D74F-3D61-1F2C-FECD-B28495DC151B}"/>
              </a:ext>
            </a:extLst>
          </p:cNvPr>
          <p:cNvSpPr>
            <a:spLocks noGrp="1"/>
          </p:cNvSpPr>
          <p:nvPr>
            <p:ph type="title"/>
          </p:nvPr>
        </p:nvSpPr>
        <p:spPr>
          <a:xfrm>
            <a:off x="457200" y="512676"/>
            <a:ext cx="8229600" cy="598078"/>
          </a:xfrm>
        </p:spPr>
        <p:txBody>
          <a:bodyPr/>
          <a:lstStyle/>
          <a:p>
            <a:r>
              <a:rPr kumimoji="1" lang="en-US" altLang="ja-JP" sz="2000" dirty="0">
                <a:solidFill>
                  <a:schemeClr val="tx1"/>
                </a:solidFill>
              </a:rPr>
              <a:t>RF</a:t>
            </a:r>
            <a:r>
              <a:rPr kumimoji="1" lang="ja-JP" altLang="en-US" sz="2000" dirty="0">
                <a:solidFill>
                  <a:schemeClr val="tx1"/>
                </a:solidFill>
              </a:rPr>
              <a:t> </a:t>
            </a:r>
            <a:r>
              <a:rPr kumimoji="1" lang="en-US" altLang="ja-JP" sz="2000" dirty="0">
                <a:solidFill>
                  <a:schemeClr val="tx1"/>
                </a:solidFill>
              </a:rPr>
              <a:t>CH</a:t>
            </a:r>
            <a:r>
              <a:rPr kumimoji="1" lang="ja-JP" altLang="en-US" sz="2000" dirty="0">
                <a:solidFill>
                  <a:schemeClr val="tx1"/>
                </a:solidFill>
              </a:rPr>
              <a:t> </a:t>
            </a:r>
            <a:r>
              <a:rPr kumimoji="1" lang="en-US" altLang="ja-JP" sz="2000" dirty="0">
                <a:solidFill>
                  <a:schemeClr val="tx1"/>
                </a:solidFill>
              </a:rPr>
              <a:t>Page</a:t>
            </a:r>
            <a:endParaRPr kumimoji="1" lang="ja-JP" altLang="en-US" sz="2000" dirty="0">
              <a:solidFill>
                <a:schemeClr val="tx1"/>
              </a:solidFill>
            </a:endParaRPr>
          </a:p>
        </p:txBody>
      </p:sp>
      <p:sp>
        <p:nvSpPr>
          <p:cNvPr id="10" name="正方形/長方形 9">
            <a:extLst>
              <a:ext uri="{FF2B5EF4-FFF2-40B4-BE49-F238E27FC236}">
                <a16:creationId xmlns:a16="http://schemas.microsoft.com/office/drawing/2014/main" id="{20881CDF-0486-6B62-A113-7593161C743B}"/>
              </a:ext>
            </a:extLst>
          </p:cNvPr>
          <p:cNvSpPr/>
          <p:nvPr/>
        </p:nvSpPr>
        <p:spPr>
          <a:xfrm>
            <a:off x="2588323" y="2528900"/>
            <a:ext cx="2559741" cy="244827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757CDAE0-4928-E0F4-7033-90FC269F4769}"/>
              </a:ext>
            </a:extLst>
          </p:cNvPr>
          <p:cNvSpPr txBox="1"/>
          <p:nvPr/>
        </p:nvSpPr>
        <p:spPr>
          <a:xfrm>
            <a:off x="1020282" y="3712721"/>
            <a:ext cx="1057706" cy="923330"/>
          </a:xfrm>
          <a:prstGeom prst="rect">
            <a:avLst/>
          </a:prstGeom>
          <a:noFill/>
        </p:spPr>
        <p:txBody>
          <a:bodyPr wrap="square" lIns="0" tIns="0" rIns="0" bIns="0" rtlCol="0">
            <a:spAutoFit/>
          </a:bodyPr>
          <a:lstStyle/>
          <a:p>
            <a:pPr algn="ctr"/>
            <a:r>
              <a:rPr kumimoji="1" lang="en-US" altLang="ja-JP" sz="1200" dirty="0">
                <a:latin typeface="+mj-lt"/>
              </a:rPr>
              <a:t>Power</a:t>
            </a:r>
            <a:r>
              <a:rPr kumimoji="1" lang="ja-JP" altLang="en-US" sz="1200" dirty="0">
                <a:latin typeface="+mj-lt"/>
              </a:rPr>
              <a:t> </a:t>
            </a:r>
            <a:r>
              <a:rPr kumimoji="1" lang="en-US" altLang="ja-JP" sz="1200" dirty="0">
                <a:latin typeface="+mj-lt"/>
              </a:rPr>
              <a:t>Spectral</a:t>
            </a:r>
            <a:r>
              <a:rPr kumimoji="1" lang="ja-JP" altLang="en-US" sz="1200" dirty="0">
                <a:latin typeface="+mj-lt"/>
              </a:rPr>
              <a:t> </a:t>
            </a:r>
            <a:r>
              <a:rPr kumimoji="1" lang="en-US" altLang="ja-JP" sz="1200" dirty="0">
                <a:latin typeface="+mj-lt"/>
              </a:rPr>
              <a:t>Density</a:t>
            </a:r>
            <a:r>
              <a:rPr kumimoji="1" lang="ja-JP" altLang="en-US" sz="1200" dirty="0">
                <a:latin typeface="+mj-lt"/>
              </a:rPr>
              <a:t> </a:t>
            </a:r>
            <a:r>
              <a:rPr kumimoji="1" lang="en-US" altLang="ja-JP" sz="1200" dirty="0">
                <a:latin typeface="+mj-lt"/>
              </a:rPr>
              <a:t>Plot</a:t>
            </a:r>
            <a:r>
              <a:rPr kumimoji="1" lang="ja-JP" altLang="en-US" sz="1200" dirty="0">
                <a:latin typeface="+mj-lt"/>
              </a:rPr>
              <a:t> </a:t>
            </a:r>
            <a:r>
              <a:rPr kumimoji="1" lang="en-US" altLang="ja-JP" sz="1200" dirty="0">
                <a:latin typeface="+mj-lt"/>
              </a:rPr>
              <a:t>(Spectral</a:t>
            </a:r>
            <a:r>
              <a:rPr kumimoji="1" lang="ja-JP" altLang="en-US" sz="1200" dirty="0">
                <a:latin typeface="+mj-lt"/>
              </a:rPr>
              <a:t> </a:t>
            </a:r>
            <a:r>
              <a:rPr kumimoji="1" lang="en-US" altLang="ja-JP" sz="1200" dirty="0">
                <a:latin typeface="+mj-lt"/>
              </a:rPr>
              <a:t>Analyzer)</a:t>
            </a:r>
            <a:r>
              <a:rPr kumimoji="1" lang="ja-JP" altLang="en-US" sz="1200" dirty="0">
                <a:latin typeface="+mj-lt"/>
              </a:rPr>
              <a:t> </a:t>
            </a:r>
            <a:r>
              <a:rPr kumimoji="1" lang="en-US" altLang="ja-JP" sz="1200" dirty="0">
                <a:latin typeface="+mj-lt"/>
              </a:rPr>
              <a:t>for</a:t>
            </a:r>
            <a:r>
              <a:rPr kumimoji="1" lang="ja-JP" altLang="en-US" sz="1200" dirty="0">
                <a:latin typeface="+mj-lt"/>
              </a:rPr>
              <a:t> </a:t>
            </a:r>
            <a:r>
              <a:rPr kumimoji="1" lang="en-US" altLang="ja-JP" sz="1200" dirty="0">
                <a:latin typeface="+mj-lt"/>
              </a:rPr>
              <a:t>each</a:t>
            </a:r>
            <a:r>
              <a:rPr kumimoji="1" lang="ja-JP" altLang="en-US" sz="1200" dirty="0">
                <a:latin typeface="+mj-lt"/>
              </a:rPr>
              <a:t> </a:t>
            </a:r>
            <a:r>
              <a:rPr kumimoji="1" lang="en-US" altLang="ja-JP" sz="1200" dirty="0">
                <a:latin typeface="+mj-lt"/>
              </a:rPr>
              <a:t>RF</a:t>
            </a:r>
            <a:r>
              <a:rPr kumimoji="1" lang="ja-JP" altLang="en-US" sz="1200" dirty="0">
                <a:latin typeface="+mj-lt"/>
              </a:rPr>
              <a:t> </a:t>
            </a:r>
            <a:r>
              <a:rPr kumimoji="1" lang="en-US" altLang="ja-JP" sz="1200" dirty="0">
                <a:latin typeface="+mj-lt"/>
              </a:rPr>
              <a:t>CH</a:t>
            </a:r>
          </a:p>
        </p:txBody>
      </p:sp>
      <p:cxnSp>
        <p:nvCxnSpPr>
          <p:cNvPr id="13" name="直線コネクタ 12">
            <a:extLst>
              <a:ext uri="{FF2B5EF4-FFF2-40B4-BE49-F238E27FC236}">
                <a16:creationId xmlns:a16="http://schemas.microsoft.com/office/drawing/2014/main" id="{354C286F-7873-5611-14B8-55D3402EF814}"/>
              </a:ext>
            </a:extLst>
          </p:cNvPr>
          <p:cNvCxnSpPr>
            <a:cxnSpLocks/>
            <a:stCxn id="10" idx="1"/>
            <a:endCxn id="11" idx="3"/>
          </p:cNvCxnSpPr>
          <p:nvPr/>
        </p:nvCxnSpPr>
        <p:spPr>
          <a:xfrm flipH="1">
            <a:off x="2077988" y="3753036"/>
            <a:ext cx="510335" cy="421350"/>
          </a:xfrm>
          <a:prstGeom prst="line">
            <a:avLst/>
          </a:prstGeom>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ADB5B954-CF35-C10E-8FB4-590C7ECAD382}"/>
              </a:ext>
            </a:extLst>
          </p:cNvPr>
          <p:cNvSpPr txBox="1"/>
          <p:nvPr/>
        </p:nvSpPr>
        <p:spPr>
          <a:xfrm>
            <a:off x="1020282" y="1969359"/>
            <a:ext cx="1126187" cy="646331"/>
          </a:xfrm>
          <a:prstGeom prst="rect">
            <a:avLst/>
          </a:prstGeom>
          <a:noFill/>
        </p:spPr>
        <p:txBody>
          <a:bodyPr wrap="square" lIns="0" tIns="0" rIns="0" bIns="0" rtlCol="0">
            <a:spAutoFit/>
          </a:bodyPr>
          <a:lstStyle/>
          <a:p>
            <a:pPr algn="ctr"/>
            <a:r>
              <a:rPr kumimoji="1" lang="en-US" altLang="ja-JP" sz="1200" dirty="0">
                <a:latin typeface="+mj-lt"/>
              </a:rPr>
              <a:t>RF</a:t>
            </a:r>
            <a:r>
              <a:rPr kumimoji="1" lang="ja-JP" altLang="en-US" sz="1200" dirty="0">
                <a:latin typeface="+mj-lt"/>
              </a:rPr>
              <a:t> </a:t>
            </a:r>
            <a:r>
              <a:rPr kumimoji="1" lang="en-US" altLang="ja-JP" sz="1200" dirty="0">
                <a:latin typeface="+mj-lt"/>
              </a:rPr>
              <a:t>CH</a:t>
            </a:r>
          </a:p>
          <a:p>
            <a:pPr algn="ctr"/>
            <a:r>
              <a:rPr lang="en-US" altLang="ja-JP" sz="1200" dirty="0">
                <a:latin typeface="+mj-lt"/>
              </a:rPr>
              <a:t>Selection:</a:t>
            </a:r>
          </a:p>
          <a:p>
            <a:pPr algn="ctr"/>
            <a:r>
              <a:rPr kumimoji="1" lang="en-US" altLang="ja-JP" sz="900" dirty="0">
                <a:latin typeface="+mj-lt"/>
              </a:rPr>
              <a:t>ALL,</a:t>
            </a:r>
            <a:r>
              <a:rPr kumimoji="1" lang="ja-JP" altLang="en-US" sz="900" dirty="0">
                <a:latin typeface="+mj-lt"/>
              </a:rPr>
              <a:t> </a:t>
            </a:r>
            <a:r>
              <a:rPr kumimoji="1" lang="en-US" altLang="ja-JP" sz="900" dirty="0">
                <a:latin typeface="+mj-lt"/>
              </a:rPr>
              <a:t>1,</a:t>
            </a:r>
            <a:r>
              <a:rPr kumimoji="1" lang="ja-JP" altLang="en-US" sz="900" dirty="0">
                <a:latin typeface="+mj-lt"/>
              </a:rPr>
              <a:t> </a:t>
            </a:r>
            <a:r>
              <a:rPr kumimoji="1" lang="en-US" altLang="ja-JP" sz="900" dirty="0">
                <a:latin typeface="+mj-lt"/>
              </a:rPr>
              <a:t>2,</a:t>
            </a:r>
            <a:r>
              <a:rPr kumimoji="1" lang="ja-JP" altLang="en-US" sz="900" dirty="0">
                <a:latin typeface="+mj-lt"/>
              </a:rPr>
              <a:t> </a:t>
            </a:r>
            <a:r>
              <a:rPr kumimoji="1" lang="en-US" altLang="ja-JP" sz="900" dirty="0">
                <a:latin typeface="+mj-lt"/>
              </a:rPr>
              <a:t>...,</a:t>
            </a:r>
            <a:r>
              <a:rPr kumimoji="1" lang="ja-JP" altLang="en-US" sz="900" dirty="0">
                <a:latin typeface="+mj-lt"/>
              </a:rPr>
              <a:t> </a:t>
            </a:r>
            <a:r>
              <a:rPr lang="en-US" altLang="ja-JP" sz="900" dirty="0">
                <a:latin typeface="+mj-lt"/>
              </a:rPr>
              <a:t>16</a:t>
            </a:r>
            <a:r>
              <a:rPr kumimoji="1" lang="en-US" altLang="ja-JP" sz="900" dirty="0">
                <a:latin typeface="+mj-lt"/>
              </a:rPr>
              <a:t>,</a:t>
            </a:r>
            <a:r>
              <a:rPr kumimoji="1" lang="ja-JP" altLang="en-US" sz="900" dirty="0">
                <a:latin typeface="+mj-lt"/>
              </a:rPr>
              <a:t> </a:t>
            </a:r>
            <a:r>
              <a:rPr kumimoji="1" lang="en-US" altLang="ja-JP" sz="900" dirty="0">
                <a:latin typeface="+mj-lt"/>
              </a:rPr>
              <a:t>1-4</a:t>
            </a:r>
            <a:r>
              <a:rPr kumimoji="1" lang="ja-JP" altLang="en-US" sz="900" dirty="0">
                <a:latin typeface="+mj-lt"/>
              </a:rPr>
              <a:t> </a:t>
            </a:r>
            <a:r>
              <a:rPr kumimoji="1" lang="en-US" altLang="ja-JP" sz="900" dirty="0">
                <a:latin typeface="+mj-lt"/>
              </a:rPr>
              <a:t>or</a:t>
            </a:r>
            <a:r>
              <a:rPr kumimoji="1" lang="ja-JP" altLang="en-US" sz="900" dirty="0">
                <a:latin typeface="+mj-lt"/>
              </a:rPr>
              <a:t> </a:t>
            </a:r>
            <a:r>
              <a:rPr kumimoji="1" lang="en-US" altLang="ja-JP" sz="900" dirty="0">
                <a:latin typeface="+mj-lt"/>
              </a:rPr>
              <a:t>5-8 </a:t>
            </a:r>
            <a:r>
              <a:rPr kumimoji="1" lang="en-US" altLang="ja-JP" sz="900" baseline="30000" dirty="0">
                <a:latin typeface="+mj-lt"/>
              </a:rPr>
              <a:t>*3</a:t>
            </a:r>
          </a:p>
        </p:txBody>
      </p:sp>
      <p:sp>
        <p:nvSpPr>
          <p:cNvPr id="15" name="正方形/長方形 14">
            <a:extLst>
              <a:ext uri="{FF2B5EF4-FFF2-40B4-BE49-F238E27FC236}">
                <a16:creationId xmlns:a16="http://schemas.microsoft.com/office/drawing/2014/main" id="{8771460E-A9A8-B15A-3F25-FB5E246776D6}"/>
              </a:ext>
            </a:extLst>
          </p:cNvPr>
          <p:cNvSpPr/>
          <p:nvPr/>
        </p:nvSpPr>
        <p:spPr>
          <a:xfrm>
            <a:off x="2588324" y="2384884"/>
            <a:ext cx="543774"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6" name="直線コネクタ 15">
            <a:extLst>
              <a:ext uri="{FF2B5EF4-FFF2-40B4-BE49-F238E27FC236}">
                <a16:creationId xmlns:a16="http://schemas.microsoft.com/office/drawing/2014/main" id="{166AF0AA-F7B8-1DC8-EF8B-35CEADF0120C}"/>
              </a:ext>
            </a:extLst>
          </p:cNvPr>
          <p:cNvCxnSpPr>
            <a:cxnSpLocks/>
            <a:stCxn id="15" idx="1"/>
            <a:endCxn id="14" idx="3"/>
          </p:cNvCxnSpPr>
          <p:nvPr/>
        </p:nvCxnSpPr>
        <p:spPr>
          <a:xfrm flipH="1" flipV="1">
            <a:off x="2146469" y="2292525"/>
            <a:ext cx="441855" cy="164367"/>
          </a:xfrm>
          <a:prstGeom prst="line">
            <a:avLst/>
          </a:prstGeom>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A75CBF59-0657-DA40-2207-47355CD0DACD}"/>
              </a:ext>
            </a:extLst>
          </p:cNvPr>
          <p:cNvSpPr txBox="1"/>
          <p:nvPr/>
        </p:nvSpPr>
        <p:spPr>
          <a:xfrm>
            <a:off x="1044099" y="2771636"/>
            <a:ext cx="1017054" cy="738664"/>
          </a:xfrm>
          <a:prstGeom prst="rect">
            <a:avLst/>
          </a:prstGeom>
          <a:noFill/>
        </p:spPr>
        <p:txBody>
          <a:bodyPr wrap="square" lIns="0" tIns="0" rIns="0" bIns="0" rtlCol="0">
            <a:spAutoFit/>
          </a:bodyPr>
          <a:lstStyle/>
          <a:p>
            <a:pPr algn="ctr"/>
            <a:r>
              <a:rPr kumimoji="1" lang="en-US" altLang="ja-JP" sz="1200" dirty="0">
                <a:latin typeface="+mj-lt"/>
              </a:rPr>
              <a:t>Carrer-Frequency</a:t>
            </a:r>
            <a:r>
              <a:rPr kumimoji="1" lang="ja-JP" altLang="en-US" sz="1200" dirty="0">
                <a:latin typeface="+mj-lt"/>
              </a:rPr>
              <a:t> </a:t>
            </a:r>
            <a:r>
              <a:rPr lang="en-US" altLang="ja-JP" sz="1200" dirty="0">
                <a:latin typeface="+mj-lt"/>
              </a:rPr>
              <a:t>M</a:t>
            </a:r>
            <a:r>
              <a:rPr kumimoji="1" lang="en-US" altLang="ja-JP" sz="1200" dirty="0">
                <a:latin typeface="+mj-lt"/>
              </a:rPr>
              <a:t>arks</a:t>
            </a:r>
            <a:r>
              <a:rPr kumimoji="1" lang="ja-JP" altLang="en-US" sz="1200" dirty="0">
                <a:latin typeface="+mj-lt"/>
              </a:rPr>
              <a:t> </a:t>
            </a:r>
            <a:r>
              <a:rPr kumimoji="1" lang="en-US" altLang="ja-JP" sz="1200" dirty="0">
                <a:latin typeface="+mj-lt"/>
              </a:rPr>
              <a:t>for</a:t>
            </a:r>
            <a:r>
              <a:rPr kumimoji="1" lang="ja-JP" altLang="en-US" sz="1200" dirty="0">
                <a:latin typeface="+mj-lt"/>
              </a:rPr>
              <a:t> </a:t>
            </a:r>
            <a:r>
              <a:rPr kumimoji="1" lang="en-US" altLang="ja-JP" sz="1200" dirty="0">
                <a:latin typeface="+mj-lt"/>
              </a:rPr>
              <a:t>each</a:t>
            </a:r>
            <a:r>
              <a:rPr kumimoji="1" lang="ja-JP" altLang="en-US" sz="1200" dirty="0">
                <a:latin typeface="+mj-lt"/>
              </a:rPr>
              <a:t> </a:t>
            </a:r>
            <a:r>
              <a:rPr kumimoji="1" lang="en-US" altLang="ja-JP" sz="1200" dirty="0">
                <a:latin typeface="+mj-lt"/>
              </a:rPr>
              <a:t>GNSS</a:t>
            </a:r>
            <a:r>
              <a:rPr kumimoji="1" lang="ja-JP" altLang="en-US" sz="1200" dirty="0">
                <a:latin typeface="+mj-lt"/>
              </a:rPr>
              <a:t> </a:t>
            </a:r>
            <a:r>
              <a:rPr kumimoji="1" lang="en-US" altLang="ja-JP" sz="1200" dirty="0">
                <a:latin typeface="+mj-lt"/>
              </a:rPr>
              <a:t>Signal</a:t>
            </a:r>
            <a:endParaRPr kumimoji="1" lang="en-US" altLang="ja-JP" sz="900" dirty="0">
              <a:latin typeface="+mj-lt"/>
            </a:endParaRPr>
          </a:p>
        </p:txBody>
      </p:sp>
      <p:cxnSp>
        <p:nvCxnSpPr>
          <p:cNvPr id="22" name="直線コネクタ 21">
            <a:extLst>
              <a:ext uri="{FF2B5EF4-FFF2-40B4-BE49-F238E27FC236}">
                <a16:creationId xmlns:a16="http://schemas.microsoft.com/office/drawing/2014/main" id="{534B6491-4ACF-BB61-2297-202C7049CE95}"/>
              </a:ext>
            </a:extLst>
          </p:cNvPr>
          <p:cNvCxnSpPr>
            <a:cxnSpLocks/>
            <a:endCxn id="21" idx="3"/>
          </p:cNvCxnSpPr>
          <p:nvPr/>
        </p:nvCxnSpPr>
        <p:spPr>
          <a:xfrm flipH="1">
            <a:off x="2061153" y="3058997"/>
            <a:ext cx="1610747" cy="81971"/>
          </a:xfrm>
          <a:prstGeom prst="line">
            <a:avLst/>
          </a:prstGeom>
        </p:spPr>
        <p:style>
          <a:lnRef idx="1">
            <a:schemeClr val="accent1"/>
          </a:lnRef>
          <a:fillRef idx="0">
            <a:schemeClr val="accent1"/>
          </a:fillRef>
          <a:effectRef idx="0">
            <a:schemeClr val="accent1"/>
          </a:effectRef>
          <a:fontRef idx="minor">
            <a:schemeClr val="tx1"/>
          </a:fontRef>
        </p:style>
      </p:cxnSp>
      <p:sp>
        <p:nvSpPr>
          <p:cNvPr id="29" name="テキスト ボックス 28">
            <a:extLst>
              <a:ext uri="{FF2B5EF4-FFF2-40B4-BE49-F238E27FC236}">
                <a16:creationId xmlns:a16="http://schemas.microsoft.com/office/drawing/2014/main" id="{EB682275-81D8-0B2A-0809-85EA6A7E2025}"/>
              </a:ext>
            </a:extLst>
          </p:cNvPr>
          <p:cNvSpPr txBox="1"/>
          <p:nvPr/>
        </p:nvSpPr>
        <p:spPr>
          <a:xfrm>
            <a:off x="2339752" y="5390596"/>
            <a:ext cx="1017054" cy="369332"/>
          </a:xfrm>
          <a:prstGeom prst="rect">
            <a:avLst/>
          </a:prstGeom>
          <a:noFill/>
        </p:spPr>
        <p:txBody>
          <a:bodyPr wrap="square" lIns="0" tIns="0" rIns="0" bIns="0" rtlCol="0">
            <a:spAutoFit/>
          </a:bodyPr>
          <a:lstStyle/>
          <a:p>
            <a:pPr algn="ctr"/>
            <a:r>
              <a:rPr kumimoji="1" lang="en-US" altLang="ja-JP" sz="1200" dirty="0">
                <a:latin typeface="+mj-lt"/>
              </a:rPr>
              <a:t>Local</a:t>
            </a:r>
            <a:r>
              <a:rPr kumimoji="1" lang="ja-JP" altLang="en-US" sz="1200" dirty="0">
                <a:latin typeface="+mj-lt"/>
              </a:rPr>
              <a:t> </a:t>
            </a:r>
            <a:r>
              <a:rPr kumimoji="1" lang="en-US" altLang="ja-JP" sz="1200" dirty="0">
                <a:latin typeface="+mj-lt"/>
              </a:rPr>
              <a:t>Oscillator</a:t>
            </a:r>
          </a:p>
          <a:p>
            <a:pPr algn="ctr"/>
            <a:r>
              <a:rPr lang="en-US" altLang="ja-JP" sz="1200" dirty="0">
                <a:latin typeface="+mj-lt"/>
              </a:rPr>
              <a:t>F</a:t>
            </a:r>
            <a:r>
              <a:rPr kumimoji="1" lang="en-US" altLang="ja-JP" sz="1200" dirty="0">
                <a:latin typeface="+mj-lt"/>
              </a:rPr>
              <a:t>requency</a:t>
            </a:r>
            <a:endParaRPr kumimoji="1" lang="en-US" altLang="ja-JP" sz="900" dirty="0">
              <a:latin typeface="+mj-lt"/>
            </a:endParaRPr>
          </a:p>
        </p:txBody>
      </p:sp>
      <p:cxnSp>
        <p:nvCxnSpPr>
          <p:cNvPr id="30" name="直線コネクタ 29">
            <a:extLst>
              <a:ext uri="{FF2B5EF4-FFF2-40B4-BE49-F238E27FC236}">
                <a16:creationId xmlns:a16="http://schemas.microsoft.com/office/drawing/2014/main" id="{AC42980D-CAA6-5860-AC7A-95A34FDEBF1C}"/>
              </a:ext>
            </a:extLst>
          </p:cNvPr>
          <p:cNvCxnSpPr>
            <a:cxnSpLocks/>
            <a:endCxn id="29" idx="0"/>
          </p:cNvCxnSpPr>
          <p:nvPr/>
        </p:nvCxnSpPr>
        <p:spPr>
          <a:xfrm flipH="1">
            <a:off x="2848279" y="4730385"/>
            <a:ext cx="1033221" cy="660211"/>
          </a:xfrm>
          <a:prstGeom prst="line">
            <a:avLst/>
          </a:prstGeom>
        </p:spPr>
        <p:style>
          <a:lnRef idx="1">
            <a:schemeClr val="accent1"/>
          </a:lnRef>
          <a:fillRef idx="0">
            <a:schemeClr val="accent1"/>
          </a:fillRef>
          <a:effectRef idx="0">
            <a:schemeClr val="accent1"/>
          </a:effectRef>
          <a:fontRef idx="minor">
            <a:schemeClr val="tx1"/>
          </a:fontRef>
        </p:style>
      </p:cxnSp>
      <p:sp>
        <p:nvSpPr>
          <p:cNvPr id="36" name="テキスト ボックス 35">
            <a:extLst>
              <a:ext uri="{FF2B5EF4-FFF2-40B4-BE49-F238E27FC236}">
                <a16:creationId xmlns:a16="http://schemas.microsoft.com/office/drawing/2014/main" id="{07B3B472-7A45-470A-F8B7-8B993B7E35C3}"/>
              </a:ext>
            </a:extLst>
          </p:cNvPr>
          <p:cNvSpPr txBox="1"/>
          <p:nvPr/>
        </p:nvSpPr>
        <p:spPr>
          <a:xfrm>
            <a:off x="3865334" y="5390596"/>
            <a:ext cx="2074818" cy="553998"/>
          </a:xfrm>
          <a:prstGeom prst="rect">
            <a:avLst/>
          </a:prstGeom>
          <a:noFill/>
        </p:spPr>
        <p:txBody>
          <a:bodyPr wrap="square" lIns="0" tIns="0" rIns="0" bIns="0" rtlCol="0">
            <a:spAutoFit/>
          </a:bodyPr>
          <a:lstStyle/>
          <a:p>
            <a:pPr algn="ctr"/>
            <a:r>
              <a:rPr kumimoji="1" lang="en-US" altLang="ja-JP" sz="1200" dirty="0">
                <a:latin typeface="+mj-lt"/>
              </a:rPr>
              <a:t>Sampling</a:t>
            </a:r>
            <a:r>
              <a:rPr kumimoji="1" lang="ja-JP" altLang="en-US" sz="1200" dirty="0">
                <a:latin typeface="+mj-lt"/>
              </a:rPr>
              <a:t> </a:t>
            </a:r>
            <a:r>
              <a:rPr kumimoji="1" lang="en-US" altLang="ja-JP" sz="1200" dirty="0">
                <a:latin typeface="+mj-lt"/>
              </a:rPr>
              <a:t>Type</a:t>
            </a:r>
            <a:r>
              <a:rPr kumimoji="1" lang="ja-JP" altLang="en-US" sz="1200" dirty="0">
                <a:latin typeface="+mj-lt"/>
              </a:rPr>
              <a:t> </a:t>
            </a:r>
            <a:r>
              <a:rPr kumimoji="1" lang="en-US" altLang="ja-JP" sz="1200" dirty="0">
                <a:latin typeface="+mj-lt"/>
              </a:rPr>
              <a:t>(I</a:t>
            </a:r>
            <a:r>
              <a:rPr kumimoji="1" lang="ja-JP" altLang="en-US" sz="1200" dirty="0">
                <a:latin typeface="+mj-lt"/>
              </a:rPr>
              <a:t> </a:t>
            </a:r>
            <a:r>
              <a:rPr kumimoji="1" lang="en-US" altLang="ja-JP" sz="1200" dirty="0">
                <a:latin typeface="+mj-lt"/>
              </a:rPr>
              <a:t>or</a:t>
            </a:r>
            <a:r>
              <a:rPr kumimoji="1" lang="ja-JP" altLang="en-US" sz="1200" dirty="0">
                <a:latin typeface="+mj-lt"/>
              </a:rPr>
              <a:t> </a:t>
            </a:r>
            <a:r>
              <a:rPr kumimoji="1" lang="en-US" altLang="ja-JP" sz="1200" dirty="0">
                <a:latin typeface="+mj-lt"/>
              </a:rPr>
              <a:t>IQ)</a:t>
            </a:r>
            <a:r>
              <a:rPr kumimoji="1" lang="ja-JP" altLang="en-US" sz="1200" dirty="0">
                <a:latin typeface="+mj-lt"/>
              </a:rPr>
              <a:t> </a:t>
            </a:r>
            <a:r>
              <a:rPr kumimoji="1" lang="en-US" altLang="ja-JP" sz="1200" dirty="0">
                <a:latin typeface="+mj-lt"/>
              </a:rPr>
              <a:t>and</a:t>
            </a:r>
            <a:r>
              <a:rPr kumimoji="1" lang="ja-JP" altLang="en-US" sz="1200" dirty="0">
                <a:latin typeface="+mj-lt"/>
              </a:rPr>
              <a:t> </a:t>
            </a:r>
            <a:r>
              <a:rPr kumimoji="1" lang="en-US" altLang="ja-JP" sz="1200" dirty="0">
                <a:latin typeface="+mj-lt"/>
              </a:rPr>
              <a:t>number</a:t>
            </a:r>
            <a:r>
              <a:rPr kumimoji="1" lang="ja-JP" altLang="en-US" sz="1200" dirty="0">
                <a:latin typeface="+mj-lt"/>
              </a:rPr>
              <a:t> </a:t>
            </a:r>
            <a:r>
              <a:rPr kumimoji="1" lang="en-US" altLang="ja-JP" sz="1200" dirty="0">
                <a:latin typeface="+mj-lt"/>
              </a:rPr>
              <a:t>of</a:t>
            </a:r>
            <a:r>
              <a:rPr kumimoji="1" lang="ja-JP" altLang="en-US" sz="1200" dirty="0">
                <a:latin typeface="+mj-lt"/>
              </a:rPr>
              <a:t> </a:t>
            </a:r>
            <a:r>
              <a:rPr kumimoji="1" lang="en-US" altLang="ja-JP" sz="1200" dirty="0">
                <a:latin typeface="+mj-lt"/>
              </a:rPr>
              <a:t>sample</a:t>
            </a:r>
            <a:r>
              <a:rPr kumimoji="1" lang="ja-JP" altLang="en-US" sz="1200" dirty="0">
                <a:latin typeface="+mj-lt"/>
              </a:rPr>
              <a:t> </a:t>
            </a:r>
            <a:r>
              <a:rPr kumimoji="1" lang="en-US" altLang="ja-JP" sz="1200" dirty="0">
                <a:latin typeface="+mj-lt"/>
              </a:rPr>
              <a:t>bits, Standard-deviation of Sample Value </a:t>
            </a:r>
            <a:endParaRPr kumimoji="1" lang="en-US" altLang="ja-JP" sz="900" dirty="0">
              <a:latin typeface="+mj-lt"/>
            </a:endParaRPr>
          </a:p>
        </p:txBody>
      </p:sp>
      <p:cxnSp>
        <p:nvCxnSpPr>
          <p:cNvPr id="37" name="直線コネクタ 36">
            <a:extLst>
              <a:ext uri="{FF2B5EF4-FFF2-40B4-BE49-F238E27FC236}">
                <a16:creationId xmlns:a16="http://schemas.microsoft.com/office/drawing/2014/main" id="{2A87A83F-7E4E-542B-4B9C-CF94BCC5AF61}"/>
              </a:ext>
            </a:extLst>
          </p:cNvPr>
          <p:cNvCxnSpPr>
            <a:cxnSpLocks/>
            <a:endCxn id="36" idx="0"/>
          </p:cNvCxnSpPr>
          <p:nvPr/>
        </p:nvCxnSpPr>
        <p:spPr>
          <a:xfrm>
            <a:off x="4824028" y="4730385"/>
            <a:ext cx="78715" cy="660211"/>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直線コネクタ 39">
            <a:extLst>
              <a:ext uri="{FF2B5EF4-FFF2-40B4-BE49-F238E27FC236}">
                <a16:creationId xmlns:a16="http://schemas.microsoft.com/office/drawing/2014/main" id="{B081A141-4A1E-8972-B0C8-0C9F53C288AC}"/>
              </a:ext>
            </a:extLst>
          </p:cNvPr>
          <p:cNvCxnSpPr>
            <a:cxnSpLocks/>
            <a:endCxn id="42" idx="3"/>
          </p:cNvCxnSpPr>
          <p:nvPr/>
        </p:nvCxnSpPr>
        <p:spPr>
          <a:xfrm flipH="1">
            <a:off x="2037336" y="4676366"/>
            <a:ext cx="841223" cy="394175"/>
          </a:xfrm>
          <a:prstGeom prst="line">
            <a:avLst/>
          </a:prstGeom>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EE39AE91-4727-B367-A008-8035EFC03049}"/>
              </a:ext>
            </a:extLst>
          </p:cNvPr>
          <p:cNvSpPr txBox="1"/>
          <p:nvPr/>
        </p:nvSpPr>
        <p:spPr>
          <a:xfrm>
            <a:off x="1020282" y="4885875"/>
            <a:ext cx="1017054" cy="369332"/>
          </a:xfrm>
          <a:prstGeom prst="rect">
            <a:avLst/>
          </a:prstGeom>
          <a:noFill/>
        </p:spPr>
        <p:txBody>
          <a:bodyPr wrap="square" lIns="0" tIns="0" rIns="0" bIns="0" rtlCol="0">
            <a:spAutoFit/>
          </a:bodyPr>
          <a:lstStyle/>
          <a:p>
            <a:pPr algn="ctr"/>
            <a:r>
              <a:rPr kumimoji="1" lang="en-US" altLang="ja-JP" sz="1200" dirty="0">
                <a:latin typeface="+mj-lt"/>
              </a:rPr>
              <a:t>IF</a:t>
            </a:r>
            <a:r>
              <a:rPr kumimoji="1" lang="ja-JP" altLang="en-US" sz="1200" dirty="0">
                <a:latin typeface="+mj-lt"/>
              </a:rPr>
              <a:t> </a:t>
            </a:r>
            <a:r>
              <a:rPr kumimoji="1" lang="en-US" altLang="ja-JP" sz="1200" dirty="0">
                <a:latin typeface="+mj-lt"/>
              </a:rPr>
              <a:t>Filter</a:t>
            </a:r>
          </a:p>
          <a:p>
            <a:pPr algn="ctr"/>
            <a:r>
              <a:rPr lang="en-US" altLang="ja-JP" sz="1200" dirty="0">
                <a:latin typeface="+mj-lt"/>
              </a:rPr>
              <a:t>Bandwidth</a:t>
            </a:r>
            <a:endParaRPr kumimoji="1" lang="en-US" altLang="ja-JP" sz="900" dirty="0">
              <a:latin typeface="+mj-lt"/>
            </a:endParaRPr>
          </a:p>
        </p:txBody>
      </p:sp>
      <p:sp>
        <p:nvSpPr>
          <p:cNvPr id="44" name="テキスト ボックス 43">
            <a:extLst>
              <a:ext uri="{FF2B5EF4-FFF2-40B4-BE49-F238E27FC236}">
                <a16:creationId xmlns:a16="http://schemas.microsoft.com/office/drawing/2014/main" id="{2FEA7615-C97C-435F-D0DB-28F6864A191E}"/>
              </a:ext>
            </a:extLst>
          </p:cNvPr>
          <p:cNvSpPr txBox="1"/>
          <p:nvPr/>
        </p:nvSpPr>
        <p:spPr>
          <a:xfrm>
            <a:off x="3165415" y="1469181"/>
            <a:ext cx="1017054" cy="184666"/>
          </a:xfrm>
          <a:prstGeom prst="rect">
            <a:avLst/>
          </a:prstGeom>
          <a:noFill/>
        </p:spPr>
        <p:txBody>
          <a:bodyPr wrap="square" lIns="0" tIns="0" rIns="0" bIns="0" rtlCol="0">
            <a:spAutoFit/>
          </a:bodyPr>
          <a:lstStyle/>
          <a:p>
            <a:pPr algn="ctr"/>
            <a:r>
              <a:rPr kumimoji="1" lang="en-US" altLang="ja-JP" sz="1200" dirty="0">
                <a:latin typeface="+mj-lt"/>
              </a:rPr>
              <a:t>Sampling</a:t>
            </a:r>
            <a:r>
              <a:rPr kumimoji="1" lang="ja-JP" altLang="en-US" sz="1200" dirty="0">
                <a:latin typeface="+mj-lt"/>
              </a:rPr>
              <a:t> </a:t>
            </a:r>
            <a:r>
              <a:rPr kumimoji="1" lang="en-US" altLang="ja-JP" sz="1200" dirty="0">
                <a:latin typeface="+mj-lt"/>
              </a:rPr>
              <a:t>Rate</a:t>
            </a:r>
            <a:endParaRPr kumimoji="1" lang="en-US" altLang="ja-JP" sz="900" dirty="0">
              <a:latin typeface="+mj-lt"/>
            </a:endParaRPr>
          </a:p>
        </p:txBody>
      </p:sp>
      <p:cxnSp>
        <p:nvCxnSpPr>
          <p:cNvPr id="45" name="直線コネクタ 44">
            <a:extLst>
              <a:ext uri="{FF2B5EF4-FFF2-40B4-BE49-F238E27FC236}">
                <a16:creationId xmlns:a16="http://schemas.microsoft.com/office/drawing/2014/main" id="{6F5463A0-8F6E-E30C-6736-2F4EED05FFDF}"/>
              </a:ext>
            </a:extLst>
          </p:cNvPr>
          <p:cNvCxnSpPr>
            <a:cxnSpLocks/>
            <a:stCxn id="44" idx="2"/>
          </p:cNvCxnSpPr>
          <p:nvPr/>
        </p:nvCxnSpPr>
        <p:spPr>
          <a:xfrm flipH="1">
            <a:off x="3635896" y="1653847"/>
            <a:ext cx="38046" cy="756843"/>
          </a:xfrm>
          <a:prstGeom prst="line">
            <a:avLst/>
          </a:prstGeom>
        </p:spPr>
        <p:style>
          <a:lnRef idx="1">
            <a:schemeClr val="accent1"/>
          </a:lnRef>
          <a:fillRef idx="0">
            <a:schemeClr val="accent1"/>
          </a:fillRef>
          <a:effectRef idx="0">
            <a:schemeClr val="accent1"/>
          </a:effectRef>
          <a:fontRef idx="minor">
            <a:schemeClr val="tx1"/>
          </a:fontRef>
        </p:style>
      </p:cxnSp>
      <p:sp>
        <p:nvSpPr>
          <p:cNvPr id="49" name="正方形/長方形 48">
            <a:extLst>
              <a:ext uri="{FF2B5EF4-FFF2-40B4-BE49-F238E27FC236}">
                <a16:creationId xmlns:a16="http://schemas.microsoft.com/office/drawing/2014/main" id="{A13CD36F-4189-5D49-D6CF-62C15E4C3E8B}"/>
              </a:ext>
            </a:extLst>
          </p:cNvPr>
          <p:cNvSpPr/>
          <p:nvPr/>
        </p:nvSpPr>
        <p:spPr>
          <a:xfrm>
            <a:off x="4876177" y="2384717"/>
            <a:ext cx="543774"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テキスト ボックス 49">
            <a:extLst>
              <a:ext uri="{FF2B5EF4-FFF2-40B4-BE49-F238E27FC236}">
                <a16:creationId xmlns:a16="http://schemas.microsoft.com/office/drawing/2014/main" id="{1290999B-1EEC-9898-5E9E-88D63953F30C}"/>
              </a:ext>
            </a:extLst>
          </p:cNvPr>
          <p:cNvSpPr txBox="1"/>
          <p:nvPr/>
        </p:nvSpPr>
        <p:spPr>
          <a:xfrm>
            <a:off x="4211961" y="1417866"/>
            <a:ext cx="1479256" cy="369332"/>
          </a:xfrm>
          <a:prstGeom prst="rect">
            <a:avLst/>
          </a:prstGeom>
          <a:noFill/>
        </p:spPr>
        <p:txBody>
          <a:bodyPr wrap="square" lIns="0" tIns="0" rIns="0" bIns="0" rtlCol="0">
            <a:spAutoFit/>
          </a:bodyPr>
          <a:lstStyle/>
          <a:p>
            <a:pPr algn="ctr"/>
            <a:r>
              <a:rPr kumimoji="1" lang="en-US" altLang="ja-JP" sz="1200" dirty="0">
                <a:latin typeface="+mj-lt"/>
              </a:rPr>
              <a:t>IF</a:t>
            </a:r>
            <a:r>
              <a:rPr kumimoji="1" lang="ja-JP" altLang="en-US" sz="1200" dirty="0">
                <a:latin typeface="+mj-lt"/>
              </a:rPr>
              <a:t> </a:t>
            </a:r>
            <a:r>
              <a:rPr kumimoji="1" lang="en-US" altLang="ja-JP" sz="1200" dirty="0">
                <a:latin typeface="+mj-lt"/>
              </a:rPr>
              <a:t>Filter</a:t>
            </a:r>
            <a:r>
              <a:rPr kumimoji="1" lang="ja-JP" altLang="en-US" sz="1200" dirty="0">
                <a:latin typeface="+mj-lt"/>
              </a:rPr>
              <a:t> </a:t>
            </a:r>
            <a:r>
              <a:rPr kumimoji="1" lang="en-US" altLang="ja-JP" sz="1200" dirty="0">
                <a:latin typeface="+mj-lt"/>
              </a:rPr>
              <a:t>Bandwidth</a:t>
            </a:r>
            <a:r>
              <a:rPr kumimoji="1" lang="ja-JP" altLang="en-US" sz="1200" dirty="0">
                <a:latin typeface="+mj-lt"/>
              </a:rPr>
              <a:t> </a:t>
            </a:r>
            <a:r>
              <a:rPr kumimoji="1" lang="en-US" altLang="ja-JP" sz="1200" dirty="0">
                <a:latin typeface="+mj-lt"/>
              </a:rPr>
              <a:t>and</a:t>
            </a:r>
            <a:r>
              <a:rPr kumimoji="1" lang="ja-JP" altLang="en-US" sz="1200" dirty="0">
                <a:latin typeface="+mj-lt"/>
              </a:rPr>
              <a:t> </a:t>
            </a:r>
            <a:r>
              <a:rPr kumimoji="1" lang="en-US" altLang="ja-JP" sz="1200" dirty="0">
                <a:latin typeface="+mj-lt"/>
              </a:rPr>
              <a:t>order</a:t>
            </a:r>
            <a:r>
              <a:rPr kumimoji="1" lang="ja-JP" altLang="en-US" sz="1200" dirty="0">
                <a:latin typeface="+mj-lt"/>
              </a:rPr>
              <a:t> </a:t>
            </a:r>
            <a:r>
              <a:rPr kumimoji="1" lang="en-US" altLang="ja-JP" sz="1200" dirty="0">
                <a:latin typeface="+mj-lt"/>
              </a:rPr>
              <a:t>Selection</a:t>
            </a:r>
            <a:r>
              <a:rPr kumimoji="1" lang="ja-JP" altLang="en-US" sz="1200" dirty="0">
                <a:latin typeface="+mj-lt"/>
              </a:rPr>
              <a:t> </a:t>
            </a:r>
            <a:r>
              <a:rPr kumimoji="1" lang="ja-JP" altLang="en-US" sz="1200" baseline="30000" dirty="0">
                <a:latin typeface="+mj-lt"/>
              </a:rPr>
              <a:t>*</a:t>
            </a:r>
            <a:r>
              <a:rPr kumimoji="1" lang="en-US" altLang="ja-JP" sz="1200" baseline="30000" dirty="0">
                <a:latin typeface="+mj-lt"/>
              </a:rPr>
              <a:t>1</a:t>
            </a:r>
            <a:r>
              <a:rPr kumimoji="1" lang="ja-JP" altLang="en-US" sz="1200" baseline="30000" dirty="0">
                <a:latin typeface="+mj-lt"/>
              </a:rPr>
              <a:t> *</a:t>
            </a:r>
            <a:r>
              <a:rPr kumimoji="1" lang="en-US" altLang="ja-JP" sz="1200" baseline="30000" dirty="0">
                <a:latin typeface="+mj-lt"/>
              </a:rPr>
              <a:t>2</a:t>
            </a:r>
            <a:endParaRPr kumimoji="1" lang="en-US" altLang="ja-JP" sz="900" baseline="30000" dirty="0">
              <a:latin typeface="+mj-lt"/>
            </a:endParaRPr>
          </a:p>
        </p:txBody>
      </p:sp>
      <p:cxnSp>
        <p:nvCxnSpPr>
          <p:cNvPr id="51" name="直線コネクタ 50">
            <a:extLst>
              <a:ext uri="{FF2B5EF4-FFF2-40B4-BE49-F238E27FC236}">
                <a16:creationId xmlns:a16="http://schemas.microsoft.com/office/drawing/2014/main" id="{2400A696-6EB7-DC83-B49B-A2B17C1DBF74}"/>
              </a:ext>
            </a:extLst>
          </p:cNvPr>
          <p:cNvCxnSpPr>
            <a:cxnSpLocks/>
            <a:stCxn id="50" idx="2"/>
            <a:endCxn id="49" idx="0"/>
          </p:cNvCxnSpPr>
          <p:nvPr/>
        </p:nvCxnSpPr>
        <p:spPr>
          <a:xfrm>
            <a:off x="4951589" y="1787198"/>
            <a:ext cx="196475" cy="597519"/>
          </a:xfrm>
          <a:prstGeom prst="line">
            <a:avLst/>
          </a:prstGeom>
        </p:spPr>
        <p:style>
          <a:lnRef idx="1">
            <a:schemeClr val="accent1"/>
          </a:lnRef>
          <a:fillRef idx="0">
            <a:schemeClr val="accent1"/>
          </a:fillRef>
          <a:effectRef idx="0">
            <a:schemeClr val="accent1"/>
          </a:effectRef>
          <a:fontRef idx="minor">
            <a:schemeClr val="tx1"/>
          </a:fontRef>
        </p:style>
      </p:cxnSp>
      <p:sp>
        <p:nvSpPr>
          <p:cNvPr id="55" name="正方形/長方形 54">
            <a:extLst>
              <a:ext uri="{FF2B5EF4-FFF2-40B4-BE49-F238E27FC236}">
                <a16:creationId xmlns:a16="http://schemas.microsoft.com/office/drawing/2014/main" id="{7A1407B3-B1D9-E543-BB24-57AC385BA53F}"/>
              </a:ext>
            </a:extLst>
          </p:cNvPr>
          <p:cNvSpPr/>
          <p:nvPr/>
        </p:nvSpPr>
        <p:spPr>
          <a:xfrm>
            <a:off x="5672758" y="2384717"/>
            <a:ext cx="353327"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テキスト ボックス 57">
            <a:extLst>
              <a:ext uri="{FF2B5EF4-FFF2-40B4-BE49-F238E27FC236}">
                <a16:creationId xmlns:a16="http://schemas.microsoft.com/office/drawing/2014/main" id="{6F6FCCF4-D50A-08CA-E117-F74A2665DCCD}"/>
              </a:ext>
            </a:extLst>
          </p:cNvPr>
          <p:cNvSpPr txBox="1"/>
          <p:nvPr/>
        </p:nvSpPr>
        <p:spPr>
          <a:xfrm>
            <a:off x="5724129" y="1421433"/>
            <a:ext cx="972108" cy="369332"/>
          </a:xfrm>
          <a:prstGeom prst="rect">
            <a:avLst/>
          </a:prstGeom>
          <a:noFill/>
        </p:spPr>
        <p:txBody>
          <a:bodyPr wrap="square" lIns="0" tIns="0" rIns="0" bIns="0" rtlCol="0">
            <a:spAutoFit/>
          </a:bodyPr>
          <a:lstStyle/>
          <a:p>
            <a:pPr algn="ctr"/>
            <a:r>
              <a:rPr kumimoji="1" lang="en-US" altLang="ja-JP" sz="1200" dirty="0">
                <a:latin typeface="+mj-lt"/>
              </a:rPr>
              <a:t>LNA</a:t>
            </a:r>
            <a:r>
              <a:rPr kumimoji="1" lang="ja-JP" altLang="en-US" sz="1200" dirty="0">
                <a:latin typeface="+mj-lt"/>
              </a:rPr>
              <a:t> </a:t>
            </a:r>
            <a:r>
              <a:rPr kumimoji="1" lang="en-US" altLang="ja-JP" sz="1200" dirty="0">
                <a:latin typeface="+mj-lt"/>
              </a:rPr>
              <a:t>Gain</a:t>
            </a:r>
            <a:r>
              <a:rPr kumimoji="1" lang="ja-JP" altLang="en-US" sz="1200" dirty="0">
                <a:latin typeface="+mj-lt"/>
              </a:rPr>
              <a:t> </a:t>
            </a:r>
            <a:r>
              <a:rPr kumimoji="1" lang="en-US" altLang="ja-JP" sz="1200" dirty="0">
                <a:latin typeface="+mj-lt"/>
              </a:rPr>
              <a:t>Selection</a:t>
            </a:r>
            <a:r>
              <a:rPr kumimoji="1" lang="ja-JP" altLang="en-US" sz="1200" dirty="0">
                <a:latin typeface="+mj-lt"/>
              </a:rPr>
              <a:t> </a:t>
            </a:r>
            <a:r>
              <a:rPr kumimoji="1" lang="ja-JP" altLang="en-US" sz="1200" baseline="30000" dirty="0">
                <a:latin typeface="+mj-lt"/>
              </a:rPr>
              <a:t>*</a:t>
            </a:r>
            <a:r>
              <a:rPr kumimoji="1" lang="en-US" altLang="ja-JP" sz="1200" baseline="30000" dirty="0">
                <a:latin typeface="+mj-lt"/>
              </a:rPr>
              <a:t>1</a:t>
            </a:r>
            <a:endParaRPr kumimoji="1" lang="en-US" altLang="ja-JP" sz="900" baseline="30000" dirty="0">
              <a:latin typeface="+mj-lt"/>
            </a:endParaRPr>
          </a:p>
        </p:txBody>
      </p:sp>
      <p:cxnSp>
        <p:nvCxnSpPr>
          <p:cNvPr id="59" name="直線コネクタ 58">
            <a:extLst>
              <a:ext uri="{FF2B5EF4-FFF2-40B4-BE49-F238E27FC236}">
                <a16:creationId xmlns:a16="http://schemas.microsoft.com/office/drawing/2014/main" id="{172ECFB2-8FAB-C83D-2430-495AD13FA8D0}"/>
              </a:ext>
            </a:extLst>
          </p:cNvPr>
          <p:cNvCxnSpPr>
            <a:cxnSpLocks/>
            <a:endCxn id="55" idx="0"/>
          </p:cNvCxnSpPr>
          <p:nvPr/>
        </p:nvCxnSpPr>
        <p:spPr>
          <a:xfrm flipH="1">
            <a:off x="5849422" y="1791254"/>
            <a:ext cx="376296" cy="593463"/>
          </a:xfrm>
          <a:prstGeom prst="line">
            <a:avLst/>
          </a:prstGeom>
        </p:spPr>
        <p:style>
          <a:lnRef idx="1">
            <a:schemeClr val="accent1"/>
          </a:lnRef>
          <a:fillRef idx="0">
            <a:schemeClr val="accent1"/>
          </a:fillRef>
          <a:effectRef idx="0">
            <a:schemeClr val="accent1"/>
          </a:effectRef>
          <a:fontRef idx="minor">
            <a:schemeClr val="tx1"/>
          </a:fontRef>
        </p:style>
      </p:cxnSp>
      <p:sp>
        <p:nvSpPr>
          <p:cNvPr id="62" name="正方形/長方形 61">
            <a:extLst>
              <a:ext uri="{FF2B5EF4-FFF2-40B4-BE49-F238E27FC236}">
                <a16:creationId xmlns:a16="http://schemas.microsoft.com/office/drawing/2014/main" id="{B532A093-ADEA-8C59-FF10-984AADE170CB}"/>
              </a:ext>
            </a:extLst>
          </p:cNvPr>
          <p:cNvSpPr/>
          <p:nvPr/>
        </p:nvSpPr>
        <p:spPr>
          <a:xfrm>
            <a:off x="6190556" y="2383299"/>
            <a:ext cx="353327"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テキスト ボックス 62">
            <a:extLst>
              <a:ext uri="{FF2B5EF4-FFF2-40B4-BE49-F238E27FC236}">
                <a16:creationId xmlns:a16="http://schemas.microsoft.com/office/drawing/2014/main" id="{A4F0C796-EEF9-E435-8C72-A732C4F66AFE}"/>
              </a:ext>
            </a:extLst>
          </p:cNvPr>
          <p:cNvSpPr txBox="1"/>
          <p:nvPr/>
        </p:nvSpPr>
        <p:spPr>
          <a:xfrm>
            <a:off x="6987624" y="1890318"/>
            <a:ext cx="1154735" cy="923330"/>
          </a:xfrm>
          <a:prstGeom prst="rect">
            <a:avLst/>
          </a:prstGeom>
          <a:noFill/>
        </p:spPr>
        <p:txBody>
          <a:bodyPr wrap="square" lIns="0" tIns="0" rIns="0" bIns="0" rtlCol="0">
            <a:spAutoFit/>
          </a:bodyPr>
          <a:lstStyle/>
          <a:p>
            <a:pPr algn="ctr"/>
            <a:r>
              <a:rPr kumimoji="1" lang="en-US" altLang="ja-JP" sz="1200" dirty="0">
                <a:latin typeface="+mj-lt"/>
              </a:rPr>
              <a:t>Averaging</a:t>
            </a:r>
            <a:r>
              <a:rPr kumimoji="1" lang="ja-JP" altLang="en-US" sz="1200" dirty="0">
                <a:latin typeface="+mj-lt"/>
              </a:rPr>
              <a:t> </a:t>
            </a:r>
            <a:r>
              <a:rPr kumimoji="1" lang="en-US" altLang="ja-JP" sz="1200" dirty="0">
                <a:latin typeface="+mj-lt"/>
              </a:rPr>
              <a:t>Time</a:t>
            </a:r>
            <a:r>
              <a:rPr kumimoji="1" lang="ja-JP" altLang="en-US" sz="1200" dirty="0">
                <a:latin typeface="+mj-lt"/>
              </a:rPr>
              <a:t> </a:t>
            </a:r>
            <a:r>
              <a:rPr kumimoji="1" lang="en-US" altLang="ja-JP" sz="1200" dirty="0">
                <a:latin typeface="+mj-lt"/>
              </a:rPr>
              <a:t>Selection</a:t>
            </a:r>
            <a:r>
              <a:rPr kumimoji="1" lang="ja-JP" altLang="en-US" sz="1200" dirty="0">
                <a:latin typeface="+mj-lt"/>
              </a:rPr>
              <a:t> </a:t>
            </a:r>
            <a:r>
              <a:rPr kumimoji="1" lang="en-US" altLang="ja-JP" sz="1200" dirty="0">
                <a:latin typeface="+mj-lt"/>
              </a:rPr>
              <a:t>for</a:t>
            </a:r>
            <a:r>
              <a:rPr kumimoji="1" lang="ja-JP" altLang="en-US" sz="1200" dirty="0">
                <a:latin typeface="+mj-lt"/>
              </a:rPr>
              <a:t> </a:t>
            </a:r>
            <a:r>
              <a:rPr kumimoji="1" lang="en-US" altLang="ja-JP" sz="1200" dirty="0">
                <a:latin typeface="+mj-lt"/>
              </a:rPr>
              <a:t>Power</a:t>
            </a:r>
            <a:r>
              <a:rPr kumimoji="1" lang="ja-JP" altLang="en-US" sz="1200" dirty="0">
                <a:latin typeface="+mj-lt"/>
              </a:rPr>
              <a:t> </a:t>
            </a:r>
            <a:r>
              <a:rPr kumimoji="1" lang="en-US" altLang="ja-JP" sz="1200" dirty="0">
                <a:latin typeface="+mj-lt"/>
              </a:rPr>
              <a:t>Spectral</a:t>
            </a:r>
            <a:r>
              <a:rPr kumimoji="1" lang="ja-JP" altLang="en-US" sz="1200" dirty="0">
                <a:latin typeface="+mj-lt"/>
              </a:rPr>
              <a:t> </a:t>
            </a:r>
            <a:r>
              <a:rPr kumimoji="1" lang="en-US" altLang="ja-JP" sz="1200" dirty="0">
                <a:latin typeface="+mj-lt"/>
              </a:rPr>
              <a:t>Density</a:t>
            </a:r>
            <a:r>
              <a:rPr kumimoji="1" lang="ja-JP" altLang="en-US" sz="1200" dirty="0">
                <a:latin typeface="+mj-lt"/>
              </a:rPr>
              <a:t> </a:t>
            </a:r>
            <a:r>
              <a:rPr kumimoji="1" lang="en-US" altLang="ja-JP" sz="1200" dirty="0">
                <a:latin typeface="+mj-lt"/>
              </a:rPr>
              <a:t>and</a:t>
            </a:r>
            <a:r>
              <a:rPr kumimoji="1" lang="ja-JP" altLang="en-US" sz="1200" dirty="0">
                <a:latin typeface="+mj-lt"/>
              </a:rPr>
              <a:t> </a:t>
            </a:r>
            <a:r>
              <a:rPr kumimoji="1" lang="en-US" altLang="ja-JP" sz="1200" dirty="0">
                <a:latin typeface="+mj-lt"/>
              </a:rPr>
              <a:t>Histogram</a:t>
            </a:r>
            <a:endParaRPr kumimoji="1" lang="en-US" altLang="ja-JP" sz="900" baseline="30000" dirty="0">
              <a:latin typeface="+mj-lt"/>
            </a:endParaRPr>
          </a:p>
        </p:txBody>
      </p:sp>
      <p:cxnSp>
        <p:nvCxnSpPr>
          <p:cNvPr id="64" name="直線コネクタ 63">
            <a:extLst>
              <a:ext uri="{FF2B5EF4-FFF2-40B4-BE49-F238E27FC236}">
                <a16:creationId xmlns:a16="http://schemas.microsoft.com/office/drawing/2014/main" id="{6F8E5864-8EDB-AE3E-66DB-2A9D0E3EF6D3}"/>
              </a:ext>
            </a:extLst>
          </p:cNvPr>
          <p:cNvCxnSpPr>
            <a:cxnSpLocks/>
            <a:stCxn id="63" idx="1"/>
            <a:endCxn id="62" idx="3"/>
          </p:cNvCxnSpPr>
          <p:nvPr/>
        </p:nvCxnSpPr>
        <p:spPr>
          <a:xfrm flipH="1">
            <a:off x="6543883" y="2351983"/>
            <a:ext cx="443741" cy="103324"/>
          </a:xfrm>
          <a:prstGeom prst="line">
            <a:avLst/>
          </a:prstGeom>
        </p:spPr>
        <p:style>
          <a:lnRef idx="1">
            <a:schemeClr val="accent1"/>
          </a:lnRef>
          <a:fillRef idx="0">
            <a:schemeClr val="accent1"/>
          </a:fillRef>
          <a:effectRef idx="0">
            <a:schemeClr val="accent1"/>
          </a:effectRef>
          <a:fontRef idx="minor">
            <a:schemeClr val="tx1"/>
          </a:fontRef>
        </p:style>
      </p:cxnSp>
      <p:sp>
        <p:nvSpPr>
          <p:cNvPr id="69" name="正方形/長方形 68">
            <a:extLst>
              <a:ext uri="{FF2B5EF4-FFF2-40B4-BE49-F238E27FC236}">
                <a16:creationId xmlns:a16="http://schemas.microsoft.com/office/drawing/2014/main" id="{9A525311-C9CB-FB6D-B091-D08FBAB59CD6}"/>
              </a:ext>
            </a:extLst>
          </p:cNvPr>
          <p:cNvSpPr/>
          <p:nvPr/>
        </p:nvSpPr>
        <p:spPr>
          <a:xfrm>
            <a:off x="5184068" y="2528900"/>
            <a:ext cx="1359815" cy="244827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テキスト ボックス 69">
            <a:extLst>
              <a:ext uri="{FF2B5EF4-FFF2-40B4-BE49-F238E27FC236}">
                <a16:creationId xmlns:a16="http://schemas.microsoft.com/office/drawing/2014/main" id="{5147D6EC-0AA9-0F34-8304-6ED3E94E05AB}"/>
              </a:ext>
            </a:extLst>
          </p:cNvPr>
          <p:cNvSpPr txBox="1"/>
          <p:nvPr/>
        </p:nvSpPr>
        <p:spPr>
          <a:xfrm>
            <a:off x="6987624" y="4866978"/>
            <a:ext cx="1154735" cy="738664"/>
          </a:xfrm>
          <a:prstGeom prst="rect">
            <a:avLst/>
          </a:prstGeom>
          <a:noFill/>
        </p:spPr>
        <p:txBody>
          <a:bodyPr wrap="square" lIns="0" tIns="0" rIns="0" bIns="0" rtlCol="0">
            <a:spAutoFit/>
          </a:bodyPr>
          <a:lstStyle/>
          <a:p>
            <a:pPr algn="ctr"/>
            <a:r>
              <a:rPr kumimoji="1" lang="en-US" altLang="ja-JP" sz="1200" dirty="0">
                <a:latin typeface="+mj-lt"/>
              </a:rPr>
              <a:t>Histogram</a:t>
            </a:r>
            <a:r>
              <a:rPr kumimoji="1" lang="ja-JP" altLang="en-US" sz="1200" dirty="0">
                <a:latin typeface="+mj-lt"/>
              </a:rPr>
              <a:t> </a:t>
            </a:r>
            <a:r>
              <a:rPr kumimoji="1" lang="en-US" altLang="ja-JP" sz="1200" dirty="0">
                <a:latin typeface="+mj-lt"/>
              </a:rPr>
              <a:t>for</a:t>
            </a:r>
            <a:r>
              <a:rPr kumimoji="1" lang="ja-JP" altLang="en-US" sz="1200" dirty="0">
                <a:latin typeface="+mj-lt"/>
              </a:rPr>
              <a:t> </a:t>
            </a:r>
            <a:r>
              <a:rPr kumimoji="1" lang="en-US" altLang="ja-JP" sz="1200" dirty="0">
                <a:latin typeface="+mj-lt"/>
              </a:rPr>
              <a:t>IF</a:t>
            </a:r>
            <a:r>
              <a:rPr kumimoji="1" lang="ja-JP" altLang="en-US" sz="1200" dirty="0">
                <a:latin typeface="+mj-lt"/>
              </a:rPr>
              <a:t> </a:t>
            </a:r>
            <a:r>
              <a:rPr kumimoji="1" lang="en-US" altLang="ja-JP" sz="1200" dirty="0">
                <a:latin typeface="+mj-lt"/>
              </a:rPr>
              <a:t>Data</a:t>
            </a:r>
            <a:r>
              <a:rPr kumimoji="1" lang="ja-JP" altLang="en-US" sz="1200" dirty="0">
                <a:latin typeface="+mj-lt"/>
              </a:rPr>
              <a:t> </a:t>
            </a:r>
            <a:r>
              <a:rPr kumimoji="1" lang="en-US" altLang="ja-JP" sz="1200" dirty="0">
                <a:latin typeface="+mj-lt"/>
              </a:rPr>
              <a:t>Sample</a:t>
            </a:r>
            <a:r>
              <a:rPr kumimoji="1" lang="ja-JP" altLang="en-US" sz="1200" dirty="0">
                <a:latin typeface="+mj-lt"/>
              </a:rPr>
              <a:t> </a:t>
            </a:r>
            <a:r>
              <a:rPr kumimoji="1" lang="en-US" altLang="ja-JP" sz="1200" dirty="0">
                <a:latin typeface="+mj-lt"/>
              </a:rPr>
              <a:t>Values</a:t>
            </a:r>
            <a:r>
              <a:rPr kumimoji="1" lang="ja-JP" altLang="en-US" sz="1200" dirty="0">
                <a:latin typeface="+mj-lt"/>
              </a:rPr>
              <a:t> </a:t>
            </a:r>
            <a:r>
              <a:rPr kumimoji="1" lang="en-US" altLang="ja-JP" sz="1200" dirty="0">
                <a:latin typeface="+mj-lt"/>
              </a:rPr>
              <a:t>(I-sample</a:t>
            </a:r>
            <a:r>
              <a:rPr kumimoji="1" lang="ja-JP" altLang="en-US" sz="1200" dirty="0">
                <a:latin typeface="+mj-lt"/>
              </a:rPr>
              <a:t> </a:t>
            </a:r>
            <a:r>
              <a:rPr kumimoji="1" lang="en-US" altLang="ja-JP" sz="1200" dirty="0">
                <a:latin typeface="+mj-lt"/>
              </a:rPr>
              <a:t>and</a:t>
            </a:r>
            <a:r>
              <a:rPr kumimoji="1" lang="ja-JP" altLang="en-US" sz="1200" dirty="0">
                <a:latin typeface="+mj-lt"/>
              </a:rPr>
              <a:t> </a:t>
            </a:r>
            <a:r>
              <a:rPr kumimoji="1" lang="en-US" altLang="ja-JP" sz="1200" dirty="0">
                <a:latin typeface="+mj-lt"/>
              </a:rPr>
              <a:t>Q-sample)</a:t>
            </a:r>
            <a:endParaRPr kumimoji="1" lang="en-US" altLang="ja-JP" sz="900" baseline="30000" dirty="0">
              <a:latin typeface="+mj-lt"/>
            </a:endParaRPr>
          </a:p>
        </p:txBody>
      </p:sp>
      <p:cxnSp>
        <p:nvCxnSpPr>
          <p:cNvPr id="71" name="直線コネクタ 70">
            <a:extLst>
              <a:ext uri="{FF2B5EF4-FFF2-40B4-BE49-F238E27FC236}">
                <a16:creationId xmlns:a16="http://schemas.microsoft.com/office/drawing/2014/main" id="{32216E20-0C8C-E52E-D76D-E9D964B0F0BF}"/>
              </a:ext>
            </a:extLst>
          </p:cNvPr>
          <p:cNvCxnSpPr>
            <a:cxnSpLocks/>
            <a:stCxn id="70" idx="1"/>
          </p:cNvCxnSpPr>
          <p:nvPr/>
        </p:nvCxnSpPr>
        <p:spPr>
          <a:xfrm flipH="1" flipV="1">
            <a:off x="6553200" y="4977172"/>
            <a:ext cx="434424" cy="259138"/>
          </a:xfrm>
          <a:prstGeom prst="line">
            <a:avLst/>
          </a:prstGeom>
        </p:spPr>
        <p:style>
          <a:lnRef idx="1">
            <a:schemeClr val="accent1"/>
          </a:lnRef>
          <a:fillRef idx="0">
            <a:schemeClr val="accent1"/>
          </a:fillRef>
          <a:effectRef idx="0">
            <a:schemeClr val="accent1"/>
          </a:effectRef>
          <a:fontRef idx="minor">
            <a:schemeClr val="tx1"/>
          </a:fontRef>
        </p:style>
      </p:cxnSp>
      <p:sp>
        <p:nvSpPr>
          <p:cNvPr id="78" name="テキスト ボックス 77">
            <a:extLst>
              <a:ext uri="{FF2B5EF4-FFF2-40B4-BE49-F238E27FC236}">
                <a16:creationId xmlns:a16="http://schemas.microsoft.com/office/drawing/2014/main" id="{4F752239-C3EC-0D60-6F60-899735A4B055}"/>
              </a:ext>
            </a:extLst>
          </p:cNvPr>
          <p:cNvSpPr txBox="1"/>
          <p:nvPr/>
        </p:nvSpPr>
        <p:spPr>
          <a:xfrm>
            <a:off x="7066012" y="3400291"/>
            <a:ext cx="972108" cy="738664"/>
          </a:xfrm>
          <a:prstGeom prst="rect">
            <a:avLst/>
          </a:prstGeom>
          <a:noFill/>
        </p:spPr>
        <p:txBody>
          <a:bodyPr wrap="square" lIns="0" tIns="0" rIns="0" bIns="0" rtlCol="0">
            <a:spAutoFit/>
          </a:bodyPr>
          <a:lstStyle/>
          <a:p>
            <a:pPr algn="ctr"/>
            <a:r>
              <a:rPr kumimoji="1" lang="en-US" altLang="ja-JP" sz="1200" dirty="0">
                <a:latin typeface="+mj-lt"/>
              </a:rPr>
              <a:t>Average</a:t>
            </a:r>
            <a:r>
              <a:rPr kumimoji="1" lang="ja-JP" altLang="en-US" sz="1200" dirty="0">
                <a:latin typeface="+mj-lt"/>
              </a:rPr>
              <a:t> </a:t>
            </a:r>
            <a:r>
              <a:rPr kumimoji="1" lang="en-US" altLang="ja-JP" sz="1200" dirty="0">
                <a:latin typeface="+mj-lt"/>
              </a:rPr>
              <a:t>and</a:t>
            </a:r>
            <a:r>
              <a:rPr kumimoji="1" lang="ja-JP" altLang="en-US" sz="1200" dirty="0">
                <a:latin typeface="+mj-lt"/>
              </a:rPr>
              <a:t> </a:t>
            </a:r>
            <a:r>
              <a:rPr kumimoji="1" lang="en-US" altLang="ja-JP" sz="1200" dirty="0">
                <a:latin typeface="+mj-lt"/>
              </a:rPr>
              <a:t>Standard</a:t>
            </a:r>
            <a:r>
              <a:rPr kumimoji="1" lang="ja-JP" altLang="en-US" sz="1200" dirty="0">
                <a:latin typeface="+mj-lt"/>
              </a:rPr>
              <a:t> </a:t>
            </a:r>
            <a:r>
              <a:rPr kumimoji="1" lang="en-US" altLang="ja-JP" sz="1200" dirty="0">
                <a:latin typeface="+mj-lt"/>
              </a:rPr>
              <a:t>Deviation</a:t>
            </a:r>
            <a:r>
              <a:rPr kumimoji="1" lang="ja-JP" altLang="en-US" sz="1200" dirty="0">
                <a:latin typeface="+mj-lt"/>
              </a:rPr>
              <a:t> </a:t>
            </a:r>
            <a:r>
              <a:rPr kumimoji="1" lang="en-US" altLang="ja-JP" sz="1200" dirty="0">
                <a:latin typeface="+mj-lt"/>
              </a:rPr>
              <a:t>of</a:t>
            </a:r>
            <a:r>
              <a:rPr kumimoji="1" lang="ja-JP" altLang="en-US" sz="1200" dirty="0">
                <a:latin typeface="+mj-lt"/>
              </a:rPr>
              <a:t> </a:t>
            </a:r>
            <a:r>
              <a:rPr kumimoji="1" lang="en-US" altLang="ja-JP" sz="1200" dirty="0">
                <a:latin typeface="+mj-lt"/>
              </a:rPr>
              <a:t>Sample</a:t>
            </a:r>
            <a:r>
              <a:rPr kumimoji="1" lang="ja-JP" altLang="en-US" sz="1200" dirty="0">
                <a:latin typeface="+mj-lt"/>
              </a:rPr>
              <a:t> </a:t>
            </a:r>
            <a:r>
              <a:rPr kumimoji="1" lang="en-US" altLang="ja-JP" sz="1200" dirty="0">
                <a:latin typeface="+mj-lt"/>
              </a:rPr>
              <a:t>Values</a:t>
            </a:r>
            <a:endParaRPr kumimoji="1" lang="en-US" altLang="ja-JP" sz="900" baseline="30000" dirty="0">
              <a:latin typeface="+mj-lt"/>
            </a:endParaRPr>
          </a:p>
        </p:txBody>
      </p:sp>
      <p:cxnSp>
        <p:nvCxnSpPr>
          <p:cNvPr id="79" name="直線コネクタ 78">
            <a:extLst>
              <a:ext uri="{FF2B5EF4-FFF2-40B4-BE49-F238E27FC236}">
                <a16:creationId xmlns:a16="http://schemas.microsoft.com/office/drawing/2014/main" id="{D03C39E8-5268-7A02-C6DE-0DD2935A6357}"/>
              </a:ext>
            </a:extLst>
          </p:cNvPr>
          <p:cNvCxnSpPr>
            <a:cxnSpLocks/>
            <a:stCxn id="78" idx="1"/>
          </p:cNvCxnSpPr>
          <p:nvPr/>
        </p:nvCxnSpPr>
        <p:spPr>
          <a:xfrm flipH="1">
            <a:off x="6300192" y="3769623"/>
            <a:ext cx="765820" cy="235441"/>
          </a:xfrm>
          <a:prstGeom prst="line">
            <a:avLst/>
          </a:prstGeom>
        </p:spPr>
        <p:style>
          <a:lnRef idx="1">
            <a:schemeClr val="accent1"/>
          </a:lnRef>
          <a:fillRef idx="0">
            <a:schemeClr val="accent1"/>
          </a:fillRef>
          <a:effectRef idx="0">
            <a:schemeClr val="accent1"/>
          </a:effectRef>
          <a:fontRef idx="minor">
            <a:schemeClr val="tx1"/>
          </a:fontRef>
        </p:style>
      </p:cxnSp>
      <p:sp>
        <p:nvSpPr>
          <p:cNvPr id="83" name="テキスト ボックス 82">
            <a:extLst>
              <a:ext uri="{FF2B5EF4-FFF2-40B4-BE49-F238E27FC236}">
                <a16:creationId xmlns:a16="http://schemas.microsoft.com/office/drawing/2014/main" id="{C43077E6-16E9-4376-2960-4BC2F2840E05}"/>
              </a:ext>
            </a:extLst>
          </p:cNvPr>
          <p:cNvSpPr txBox="1"/>
          <p:nvPr/>
        </p:nvSpPr>
        <p:spPr>
          <a:xfrm>
            <a:off x="2375756" y="6173519"/>
            <a:ext cx="4248472" cy="276999"/>
          </a:xfrm>
          <a:prstGeom prst="rect">
            <a:avLst/>
          </a:prstGeom>
          <a:noFill/>
        </p:spPr>
        <p:txBody>
          <a:bodyPr wrap="square" lIns="0" tIns="0" rIns="0" bIns="0" rtlCol="0">
            <a:spAutoFit/>
          </a:bodyPr>
          <a:lstStyle/>
          <a:p>
            <a:pPr algn="ctr"/>
            <a:r>
              <a:rPr lang="ja-JP" altLang="en-US" sz="900" dirty="0">
                <a:latin typeface="+mj-lt"/>
              </a:rPr>
              <a:t>*</a:t>
            </a:r>
            <a:r>
              <a:rPr lang="en-US" altLang="ja-JP" sz="900" dirty="0">
                <a:latin typeface="+mj-lt"/>
              </a:rPr>
              <a:t>1</a:t>
            </a:r>
            <a:r>
              <a:rPr lang="ja-JP" altLang="en-US" sz="900" dirty="0">
                <a:latin typeface="+mj-lt"/>
              </a:rPr>
              <a:t>  </a:t>
            </a:r>
            <a:r>
              <a:rPr lang="en-US" altLang="ja-JP" sz="900" dirty="0">
                <a:latin typeface="+mj-lt"/>
              </a:rPr>
              <a:t>Only</a:t>
            </a:r>
            <a:r>
              <a:rPr lang="ja-JP" altLang="en-US" sz="900" dirty="0">
                <a:latin typeface="+mj-lt"/>
              </a:rPr>
              <a:t> </a:t>
            </a:r>
            <a:r>
              <a:rPr lang="en-US" altLang="ja-JP" sz="900" dirty="0">
                <a:latin typeface="+mj-lt"/>
              </a:rPr>
              <a:t>valid</a:t>
            </a:r>
            <a:r>
              <a:rPr lang="ja-JP" altLang="en-US" sz="900" dirty="0">
                <a:latin typeface="+mj-lt"/>
              </a:rPr>
              <a:t> </a:t>
            </a:r>
            <a:r>
              <a:rPr lang="en-US" altLang="ja-JP" sz="900" dirty="0">
                <a:latin typeface="+mj-lt"/>
              </a:rPr>
              <a:t>for</a:t>
            </a:r>
            <a:r>
              <a:rPr lang="ja-JP" altLang="en-US" sz="900" dirty="0">
                <a:latin typeface="+mj-lt"/>
              </a:rPr>
              <a:t> </a:t>
            </a:r>
            <a:r>
              <a:rPr lang="en-US" altLang="ja-JP" sz="900" dirty="0" err="1">
                <a:latin typeface="+mj-lt"/>
              </a:rPr>
              <a:t>RF_Frontend</a:t>
            </a:r>
            <a:r>
              <a:rPr lang="ja-JP" altLang="en-US" sz="900" dirty="0">
                <a:latin typeface="+mj-lt"/>
              </a:rPr>
              <a:t> </a:t>
            </a:r>
            <a:r>
              <a:rPr lang="en-US" altLang="ja-JP" sz="900" dirty="0">
                <a:latin typeface="+mj-lt"/>
              </a:rPr>
              <a:t>Input,</a:t>
            </a:r>
            <a:r>
              <a:rPr lang="ja-JP" altLang="en-US" sz="900" dirty="0">
                <a:latin typeface="+mj-lt"/>
              </a:rPr>
              <a:t> *</a:t>
            </a:r>
            <a:r>
              <a:rPr lang="en-US" altLang="ja-JP" sz="900" dirty="0">
                <a:latin typeface="+mj-lt"/>
              </a:rPr>
              <a:t>2</a:t>
            </a:r>
            <a:r>
              <a:rPr lang="ja-JP" altLang="en-US" sz="900" dirty="0">
                <a:latin typeface="+mj-lt"/>
              </a:rPr>
              <a:t>  </a:t>
            </a:r>
            <a:r>
              <a:rPr lang="en-US" altLang="ja-JP" sz="900" dirty="0">
                <a:latin typeface="+mj-lt"/>
              </a:rPr>
              <a:t>Only</a:t>
            </a:r>
            <a:r>
              <a:rPr lang="ja-JP" altLang="en-US" sz="900" dirty="0">
                <a:latin typeface="+mj-lt"/>
              </a:rPr>
              <a:t> </a:t>
            </a:r>
            <a:r>
              <a:rPr lang="en-US" altLang="ja-JP" sz="900" dirty="0">
                <a:latin typeface="+mj-lt"/>
              </a:rPr>
              <a:t>valid</a:t>
            </a:r>
            <a:r>
              <a:rPr lang="ja-JP" altLang="en-US" sz="900" dirty="0">
                <a:latin typeface="+mj-lt"/>
              </a:rPr>
              <a:t> </a:t>
            </a:r>
            <a:r>
              <a:rPr lang="en-US" altLang="ja-JP" sz="900" dirty="0">
                <a:latin typeface="+mj-lt"/>
              </a:rPr>
              <a:t>for</a:t>
            </a:r>
            <a:r>
              <a:rPr lang="ja-JP" altLang="en-US" sz="900" dirty="0">
                <a:latin typeface="+mj-lt"/>
              </a:rPr>
              <a:t> </a:t>
            </a:r>
            <a:r>
              <a:rPr lang="en-US" altLang="ja-JP" sz="900" dirty="0">
                <a:latin typeface="+mj-lt"/>
              </a:rPr>
              <a:t>IQ-sampling</a:t>
            </a:r>
          </a:p>
          <a:p>
            <a:pPr algn="ctr"/>
            <a:r>
              <a:rPr lang="en-US" altLang="ja-JP" sz="900" dirty="0">
                <a:latin typeface="+mj-lt"/>
              </a:rPr>
              <a:t>*3  RF CH 9, 10, ..., 16 are beamforming CHs by antenna array</a:t>
            </a:r>
          </a:p>
        </p:txBody>
      </p:sp>
      <p:sp>
        <p:nvSpPr>
          <p:cNvPr id="2" name="テキスト ボックス 1">
            <a:extLst>
              <a:ext uri="{FF2B5EF4-FFF2-40B4-BE49-F238E27FC236}">
                <a16:creationId xmlns:a16="http://schemas.microsoft.com/office/drawing/2014/main" id="{F5993FF9-708F-9F21-21CC-A48D60E1EB96}"/>
              </a:ext>
            </a:extLst>
          </p:cNvPr>
          <p:cNvSpPr txBox="1"/>
          <p:nvPr/>
        </p:nvSpPr>
        <p:spPr>
          <a:xfrm>
            <a:off x="2009205" y="1421433"/>
            <a:ext cx="1155742" cy="369332"/>
          </a:xfrm>
          <a:prstGeom prst="rect">
            <a:avLst/>
          </a:prstGeom>
          <a:noFill/>
        </p:spPr>
        <p:txBody>
          <a:bodyPr wrap="square" lIns="0" tIns="0" rIns="0" bIns="0" rtlCol="0">
            <a:spAutoFit/>
          </a:bodyPr>
          <a:lstStyle/>
          <a:p>
            <a:pPr algn="ctr"/>
            <a:r>
              <a:rPr kumimoji="1" lang="en-US" altLang="ja-JP" sz="1200" dirty="0">
                <a:latin typeface="+mj-lt"/>
              </a:rPr>
              <a:t>Link to GNSS Signal Band Table</a:t>
            </a:r>
            <a:endParaRPr kumimoji="1" lang="en-US" altLang="ja-JP" sz="900" dirty="0">
              <a:latin typeface="+mj-lt"/>
            </a:endParaRPr>
          </a:p>
        </p:txBody>
      </p:sp>
      <p:cxnSp>
        <p:nvCxnSpPr>
          <p:cNvPr id="6" name="直線コネクタ 5">
            <a:extLst>
              <a:ext uri="{FF2B5EF4-FFF2-40B4-BE49-F238E27FC236}">
                <a16:creationId xmlns:a16="http://schemas.microsoft.com/office/drawing/2014/main" id="{25D5F0E4-5C56-012D-A12B-E62B4EAF40C7}"/>
              </a:ext>
            </a:extLst>
          </p:cNvPr>
          <p:cNvCxnSpPr>
            <a:cxnSpLocks/>
            <a:stCxn id="2" idx="2"/>
          </p:cNvCxnSpPr>
          <p:nvPr/>
        </p:nvCxnSpPr>
        <p:spPr>
          <a:xfrm>
            <a:off x="2587076" y="1790765"/>
            <a:ext cx="594872" cy="62797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69713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6E311-D670-2E9C-8971-3D4E2098988D}"/>
            </a:ext>
          </a:extLst>
        </p:cNvPr>
        <p:cNvGrpSpPr/>
        <p:nvPr/>
      </p:nvGrpSpPr>
      <p:grpSpPr>
        <a:xfrm>
          <a:off x="0" y="0"/>
          <a:ext cx="0" cy="0"/>
          <a:chOff x="0" y="0"/>
          <a:chExt cx="0" cy="0"/>
        </a:xfrm>
      </p:grpSpPr>
      <p:pic>
        <p:nvPicPr>
          <p:cNvPr id="7" name="図 6">
            <a:extLst>
              <a:ext uri="{FF2B5EF4-FFF2-40B4-BE49-F238E27FC236}">
                <a16:creationId xmlns:a16="http://schemas.microsoft.com/office/drawing/2014/main" id="{6A37ED6C-ADAA-9BE9-22F9-388A7C12A452}"/>
              </a:ext>
            </a:extLst>
          </p:cNvPr>
          <p:cNvPicPr>
            <a:picLocks noChangeAspect="1"/>
          </p:cNvPicPr>
          <p:nvPr/>
        </p:nvPicPr>
        <p:blipFill>
          <a:blip r:embed="rId2"/>
          <a:stretch>
            <a:fillRect/>
          </a:stretch>
        </p:blipFill>
        <p:spPr>
          <a:xfrm>
            <a:off x="2584609" y="1978118"/>
            <a:ext cx="3972306" cy="3130296"/>
          </a:xfrm>
          <a:prstGeom prst="rect">
            <a:avLst/>
          </a:prstGeom>
        </p:spPr>
      </p:pic>
      <p:sp>
        <p:nvSpPr>
          <p:cNvPr id="4" name="スライド番号プレースホルダー 3">
            <a:extLst>
              <a:ext uri="{FF2B5EF4-FFF2-40B4-BE49-F238E27FC236}">
                <a16:creationId xmlns:a16="http://schemas.microsoft.com/office/drawing/2014/main" id="{2CDF89DB-18CE-9B6C-2FD9-E55A3DE0B10D}"/>
              </a:ext>
            </a:extLst>
          </p:cNvPr>
          <p:cNvSpPr>
            <a:spLocks noGrp="1"/>
          </p:cNvSpPr>
          <p:nvPr>
            <p:ph type="sldNum" sz="quarter" idx="11"/>
          </p:nvPr>
        </p:nvSpPr>
        <p:spPr/>
        <p:txBody>
          <a:bodyPr/>
          <a:lstStyle/>
          <a:p>
            <a:pPr>
              <a:defRPr/>
            </a:pPr>
            <a:fld id="{76B10B91-6492-4C08-AE87-F344306858DA}" type="slidenum">
              <a:rPr lang="ja-JP" altLang="en-US" smtClean="0"/>
              <a:pPr>
                <a:defRPr/>
              </a:pPr>
              <a:t>4</a:t>
            </a:fld>
            <a:endParaRPr lang="ja-JP" altLang="en-US" dirty="0"/>
          </a:p>
        </p:txBody>
      </p:sp>
      <p:sp>
        <p:nvSpPr>
          <p:cNvPr id="5" name="タイトル 1">
            <a:extLst>
              <a:ext uri="{FF2B5EF4-FFF2-40B4-BE49-F238E27FC236}">
                <a16:creationId xmlns:a16="http://schemas.microsoft.com/office/drawing/2014/main" id="{9C12C2F8-9642-AD6A-2E9D-7269957744C7}"/>
              </a:ext>
            </a:extLst>
          </p:cNvPr>
          <p:cNvSpPr>
            <a:spLocks noGrp="1"/>
          </p:cNvSpPr>
          <p:nvPr>
            <p:ph type="title"/>
          </p:nvPr>
        </p:nvSpPr>
        <p:spPr>
          <a:xfrm>
            <a:off x="457200" y="512676"/>
            <a:ext cx="8229600" cy="598078"/>
          </a:xfrm>
        </p:spPr>
        <p:txBody>
          <a:bodyPr/>
          <a:lstStyle/>
          <a:p>
            <a:r>
              <a:rPr kumimoji="1" lang="en-US" altLang="ja-JP" sz="2000" dirty="0">
                <a:solidFill>
                  <a:schemeClr val="tx1"/>
                </a:solidFill>
              </a:rPr>
              <a:t>BB</a:t>
            </a:r>
            <a:r>
              <a:rPr kumimoji="1" lang="ja-JP" altLang="en-US" sz="2000" dirty="0">
                <a:solidFill>
                  <a:schemeClr val="tx1"/>
                </a:solidFill>
              </a:rPr>
              <a:t> </a:t>
            </a:r>
            <a:r>
              <a:rPr kumimoji="1" lang="en-US" altLang="ja-JP" sz="2000" dirty="0">
                <a:solidFill>
                  <a:schemeClr val="tx1"/>
                </a:solidFill>
              </a:rPr>
              <a:t>CH</a:t>
            </a:r>
            <a:r>
              <a:rPr kumimoji="1" lang="ja-JP" altLang="en-US" sz="2000" dirty="0">
                <a:solidFill>
                  <a:schemeClr val="tx1"/>
                </a:solidFill>
              </a:rPr>
              <a:t> </a:t>
            </a:r>
            <a:r>
              <a:rPr kumimoji="1" lang="en-US" altLang="ja-JP" sz="2000" dirty="0">
                <a:solidFill>
                  <a:schemeClr val="tx1"/>
                </a:solidFill>
              </a:rPr>
              <a:t>Page</a:t>
            </a:r>
            <a:endParaRPr kumimoji="1" lang="ja-JP" altLang="en-US" sz="2000" dirty="0">
              <a:solidFill>
                <a:schemeClr val="tx1"/>
              </a:solidFill>
            </a:endParaRPr>
          </a:p>
        </p:txBody>
      </p:sp>
      <p:sp>
        <p:nvSpPr>
          <p:cNvPr id="2" name="正方形/長方形 1">
            <a:extLst>
              <a:ext uri="{FF2B5EF4-FFF2-40B4-BE49-F238E27FC236}">
                <a16:creationId xmlns:a16="http://schemas.microsoft.com/office/drawing/2014/main" id="{70CDB646-0259-31FC-BA9A-76A3F0CA527D}"/>
              </a:ext>
            </a:extLst>
          </p:cNvPr>
          <p:cNvSpPr/>
          <p:nvPr/>
        </p:nvSpPr>
        <p:spPr>
          <a:xfrm>
            <a:off x="2588324" y="2384884"/>
            <a:ext cx="543774"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659807AE-C7EC-189D-162C-0067EA1A14A7}"/>
              </a:ext>
            </a:extLst>
          </p:cNvPr>
          <p:cNvSpPr txBox="1"/>
          <p:nvPr/>
        </p:nvSpPr>
        <p:spPr>
          <a:xfrm>
            <a:off x="1800918" y="1285319"/>
            <a:ext cx="767441" cy="507831"/>
          </a:xfrm>
          <a:prstGeom prst="rect">
            <a:avLst/>
          </a:prstGeom>
          <a:noFill/>
        </p:spPr>
        <p:txBody>
          <a:bodyPr wrap="square" lIns="0" tIns="0" rIns="0" bIns="0" rtlCol="0">
            <a:spAutoFit/>
          </a:bodyPr>
          <a:lstStyle/>
          <a:p>
            <a:pPr algn="ctr"/>
            <a:r>
              <a:rPr kumimoji="1" lang="en-US" altLang="ja-JP" sz="1200" dirty="0">
                <a:latin typeface="+mj-lt"/>
              </a:rPr>
              <a:t>RF</a:t>
            </a:r>
            <a:r>
              <a:rPr kumimoji="1" lang="ja-JP" altLang="en-US" sz="1200" dirty="0">
                <a:latin typeface="+mj-lt"/>
              </a:rPr>
              <a:t> </a:t>
            </a:r>
            <a:r>
              <a:rPr kumimoji="1" lang="en-US" altLang="ja-JP" sz="1200" dirty="0">
                <a:latin typeface="+mj-lt"/>
              </a:rPr>
              <a:t>CH</a:t>
            </a:r>
          </a:p>
          <a:p>
            <a:pPr algn="ctr"/>
            <a:r>
              <a:rPr lang="en-US" altLang="ja-JP" sz="1200" dirty="0">
                <a:latin typeface="+mj-lt"/>
              </a:rPr>
              <a:t>Selection:</a:t>
            </a:r>
          </a:p>
          <a:p>
            <a:pPr algn="ctr"/>
            <a:r>
              <a:rPr kumimoji="1" lang="en-US" altLang="ja-JP" sz="900" dirty="0">
                <a:latin typeface="+mj-lt"/>
              </a:rPr>
              <a:t>ALL,</a:t>
            </a:r>
            <a:r>
              <a:rPr kumimoji="1" lang="ja-JP" altLang="en-US" sz="900" dirty="0">
                <a:latin typeface="+mj-lt"/>
              </a:rPr>
              <a:t> </a:t>
            </a:r>
            <a:r>
              <a:rPr kumimoji="1" lang="en-US" altLang="ja-JP" sz="900" dirty="0">
                <a:latin typeface="+mj-lt"/>
              </a:rPr>
              <a:t>1,</a:t>
            </a:r>
            <a:r>
              <a:rPr kumimoji="1" lang="ja-JP" altLang="en-US" sz="900" dirty="0">
                <a:latin typeface="+mj-lt"/>
              </a:rPr>
              <a:t> </a:t>
            </a:r>
            <a:r>
              <a:rPr kumimoji="1" lang="en-US" altLang="ja-JP" sz="900" dirty="0">
                <a:latin typeface="+mj-lt"/>
              </a:rPr>
              <a:t>2,</a:t>
            </a:r>
            <a:r>
              <a:rPr kumimoji="1" lang="ja-JP" altLang="en-US" sz="900" dirty="0">
                <a:latin typeface="+mj-lt"/>
              </a:rPr>
              <a:t> </a:t>
            </a:r>
            <a:r>
              <a:rPr kumimoji="1" lang="en-US" altLang="ja-JP" sz="900" dirty="0">
                <a:latin typeface="+mj-lt"/>
              </a:rPr>
              <a:t>...,</a:t>
            </a:r>
            <a:r>
              <a:rPr kumimoji="1" lang="ja-JP" altLang="en-US" sz="900" dirty="0">
                <a:latin typeface="+mj-lt"/>
              </a:rPr>
              <a:t> </a:t>
            </a:r>
            <a:r>
              <a:rPr kumimoji="1" lang="en-US" altLang="ja-JP" sz="900" dirty="0">
                <a:latin typeface="+mj-lt"/>
              </a:rPr>
              <a:t>16</a:t>
            </a:r>
          </a:p>
        </p:txBody>
      </p:sp>
      <p:cxnSp>
        <p:nvCxnSpPr>
          <p:cNvPr id="8" name="直線コネクタ 7">
            <a:extLst>
              <a:ext uri="{FF2B5EF4-FFF2-40B4-BE49-F238E27FC236}">
                <a16:creationId xmlns:a16="http://schemas.microsoft.com/office/drawing/2014/main" id="{0AFFF6C0-3581-7EF3-52FB-1B839F0E8DDA}"/>
              </a:ext>
            </a:extLst>
          </p:cNvPr>
          <p:cNvCxnSpPr>
            <a:cxnSpLocks/>
            <a:stCxn id="6" idx="2"/>
            <a:endCxn id="2" idx="1"/>
          </p:cNvCxnSpPr>
          <p:nvPr/>
        </p:nvCxnSpPr>
        <p:spPr>
          <a:xfrm>
            <a:off x="2184639" y="1793150"/>
            <a:ext cx="403685" cy="663742"/>
          </a:xfrm>
          <a:prstGeom prst="line">
            <a:avLst/>
          </a:prstGeom>
        </p:spPr>
        <p:style>
          <a:lnRef idx="1">
            <a:schemeClr val="accent1"/>
          </a:lnRef>
          <a:fillRef idx="0">
            <a:schemeClr val="accent1"/>
          </a:fillRef>
          <a:effectRef idx="0">
            <a:schemeClr val="accent1"/>
          </a:effectRef>
          <a:fontRef idx="minor">
            <a:schemeClr val="tx1"/>
          </a:fontRef>
        </p:style>
      </p:cxnSp>
      <p:sp>
        <p:nvSpPr>
          <p:cNvPr id="9" name="正方形/長方形 8">
            <a:extLst>
              <a:ext uri="{FF2B5EF4-FFF2-40B4-BE49-F238E27FC236}">
                <a16:creationId xmlns:a16="http://schemas.microsoft.com/office/drawing/2014/main" id="{FC11F8B1-A2FD-CAC6-3AAD-02BF8A4F2B1D}"/>
              </a:ext>
            </a:extLst>
          </p:cNvPr>
          <p:cNvSpPr/>
          <p:nvPr/>
        </p:nvSpPr>
        <p:spPr>
          <a:xfrm>
            <a:off x="3174728" y="2384884"/>
            <a:ext cx="641187"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8FB5FEFC-55AF-A994-3248-E19CF894D5ED}"/>
              </a:ext>
            </a:extLst>
          </p:cNvPr>
          <p:cNvSpPr txBox="1"/>
          <p:nvPr/>
        </p:nvSpPr>
        <p:spPr>
          <a:xfrm>
            <a:off x="2622204" y="1285320"/>
            <a:ext cx="1045382" cy="507831"/>
          </a:xfrm>
          <a:prstGeom prst="rect">
            <a:avLst/>
          </a:prstGeom>
          <a:noFill/>
        </p:spPr>
        <p:txBody>
          <a:bodyPr wrap="square" lIns="0" tIns="0" rIns="0" bIns="0" rtlCol="0">
            <a:spAutoFit/>
          </a:bodyPr>
          <a:lstStyle/>
          <a:p>
            <a:pPr algn="ctr"/>
            <a:r>
              <a:rPr kumimoji="1" lang="en-US" altLang="ja-JP" sz="1200" dirty="0">
                <a:latin typeface="+mj-lt"/>
              </a:rPr>
              <a:t>GNSS</a:t>
            </a:r>
            <a:r>
              <a:rPr kumimoji="1" lang="ja-JP" altLang="en-US" sz="1200" dirty="0">
                <a:latin typeface="+mj-lt"/>
              </a:rPr>
              <a:t> </a:t>
            </a:r>
            <a:r>
              <a:rPr kumimoji="1" lang="en-US" altLang="ja-JP" sz="1200" dirty="0">
                <a:latin typeface="+mj-lt"/>
              </a:rPr>
              <a:t>System</a:t>
            </a:r>
            <a:r>
              <a:rPr kumimoji="1" lang="ja-JP" altLang="en-US" sz="1200" dirty="0">
                <a:latin typeface="+mj-lt"/>
              </a:rPr>
              <a:t> </a:t>
            </a:r>
            <a:r>
              <a:rPr kumimoji="1" lang="en-US" altLang="ja-JP" sz="1200" dirty="0">
                <a:latin typeface="+mj-lt"/>
              </a:rPr>
              <a:t>Selection</a:t>
            </a:r>
            <a:r>
              <a:rPr lang="en-US" altLang="ja-JP" sz="1200" dirty="0">
                <a:latin typeface="+mj-lt"/>
              </a:rPr>
              <a:t>:</a:t>
            </a:r>
          </a:p>
          <a:p>
            <a:pPr algn="ctr"/>
            <a:r>
              <a:rPr kumimoji="1" lang="en-US" altLang="ja-JP" sz="900" dirty="0">
                <a:latin typeface="+mj-lt"/>
              </a:rPr>
              <a:t>ALL,</a:t>
            </a:r>
            <a:r>
              <a:rPr kumimoji="1" lang="ja-JP" altLang="en-US" sz="900" dirty="0">
                <a:latin typeface="+mj-lt"/>
              </a:rPr>
              <a:t> </a:t>
            </a:r>
            <a:r>
              <a:rPr kumimoji="1" lang="en-US" altLang="ja-JP" sz="900" dirty="0">
                <a:latin typeface="+mj-lt"/>
              </a:rPr>
              <a:t>GPS,</a:t>
            </a:r>
            <a:r>
              <a:rPr kumimoji="1" lang="ja-JP" altLang="en-US" sz="900" dirty="0">
                <a:latin typeface="+mj-lt"/>
              </a:rPr>
              <a:t> </a:t>
            </a:r>
            <a:r>
              <a:rPr kumimoji="1" lang="en-US" altLang="ja-JP" sz="900" dirty="0">
                <a:latin typeface="+mj-lt"/>
              </a:rPr>
              <a:t>GLONASS,</a:t>
            </a:r>
            <a:r>
              <a:rPr kumimoji="1" lang="ja-JP" altLang="en-US" sz="900" dirty="0">
                <a:latin typeface="+mj-lt"/>
              </a:rPr>
              <a:t> </a:t>
            </a:r>
            <a:r>
              <a:rPr kumimoji="1" lang="en-US" altLang="ja-JP" sz="900" dirty="0">
                <a:latin typeface="+mj-lt"/>
              </a:rPr>
              <a:t>...</a:t>
            </a:r>
          </a:p>
        </p:txBody>
      </p:sp>
      <p:cxnSp>
        <p:nvCxnSpPr>
          <p:cNvPr id="11" name="直線コネクタ 10">
            <a:extLst>
              <a:ext uri="{FF2B5EF4-FFF2-40B4-BE49-F238E27FC236}">
                <a16:creationId xmlns:a16="http://schemas.microsoft.com/office/drawing/2014/main" id="{954B4312-BD9B-8B20-0058-0B9A207E0C50}"/>
              </a:ext>
            </a:extLst>
          </p:cNvPr>
          <p:cNvCxnSpPr>
            <a:cxnSpLocks/>
            <a:stCxn id="10" idx="2"/>
            <a:endCxn id="9" idx="0"/>
          </p:cNvCxnSpPr>
          <p:nvPr/>
        </p:nvCxnSpPr>
        <p:spPr>
          <a:xfrm>
            <a:off x="3144895" y="1793151"/>
            <a:ext cx="350427" cy="591733"/>
          </a:xfrm>
          <a:prstGeom prst="line">
            <a:avLst/>
          </a:prstGeom>
        </p:spPr>
        <p:style>
          <a:lnRef idx="1">
            <a:schemeClr val="accent1"/>
          </a:lnRef>
          <a:fillRef idx="0">
            <a:schemeClr val="accent1"/>
          </a:fillRef>
          <a:effectRef idx="0">
            <a:schemeClr val="accent1"/>
          </a:effectRef>
          <a:fontRef idx="minor">
            <a:schemeClr val="tx1"/>
          </a:fontRef>
        </p:style>
      </p:cxnSp>
      <p:sp>
        <p:nvSpPr>
          <p:cNvPr id="14" name="正方形/長方形 13">
            <a:extLst>
              <a:ext uri="{FF2B5EF4-FFF2-40B4-BE49-F238E27FC236}">
                <a16:creationId xmlns:a16="http://schemas.microsoft.com/office/drawing/2014/main" id="{7D0D9B4B-CD92-1CCE-CEB6-F06CED538085}"/>
              </a:ext>
            </a:extLst>
          </p:cNvPr>
          <p:cNvSpPr/>
          <p:nvPr/>
        </p:nvSpPr>
        <p:spPr>
          <a:xfrm>
            <a:off x="3862029" y="2380224"/>
            <a:ext cx="493947"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16F7C3C8-3B1B-C999-BFB4-2C15009A70D4}"/>
              </a:ext>
            </a:extLst>
          </p:cNvPr>
          <p:cNvSpPr txBox="1"/>
          <p:nvPr/>
        </p:nvSpPr>
        <p:spPr>
          <a:xfrm>
            <a:off x="3624900" y="1288212"/>
            <a:ext cx="853986" cy="507831"/>
          </a:xfrm>
          <a:prstGeom prst="rect">
            <a:avLst/>
          </a:prstGeom>
          <a:noFill/>
        </p:spPr>
        <p:txBody>
          <a:bodyPr wrap="square" lIns="0" tIns="0" rIns="0" bIns="0" rtlCol="0">
            <a:spAutoFit/>
          </a:bodyPr>
          <a:lstStyle/>
          <a:p>
            <a:pPr algn="ctr"/>
            <a:r>
              <a:rPr kumimoji="1" lang="en-US" altLang="ja-JP" sz="1200" dirty="0">
                <a:latin typeface="+mj-lt"/>
              </a:rPr>
              <a:t>BB</a:t>
            </a:r>
            <a:r>
              <a:rPr kumimoji="1" lang="ja-JP" altLang="en-US" sz="1200" dirty="0">
                <a:latin typeface="+mj-lt"/>
              </a:rPr>
              <a:t> </a:t>
            </a:r>
            <a:r>
              <a:rPr kumimoji="1" lang="en-US" altLang="ja-JP" sz="1200" dirty="0">
                <a:latin typeface="+mj-lt"/>
              </a:rPr>
              <a:t>CH</a:t>
            </a:r>
            <a:r>
              <a:rPr kumimoji="1" lang="ja-JP" altLang="en-US" sz="1200" dirty="0">
                <a:latin typeface="+mj-lt"/>
              </a:rPr>
              <a:t> </a:t>
            </a:r>
            <a:r>
              <a:rPr kumimoji="1" lang="en-US" altLang="ja-JP" sz="1200" dirty="0">
                <a:latin typeface="+mj-lt"/>
              </a:rPr>
              <a:t>State</a:t>
            </a:r>
            <a:r>
              <a:rPr kumimoji="1" lang="ja-JP" altLang="en-US" sz="1200" dirty="0">
                <a:latin typeface="+mj-lt"/>
              </a:rPr>
              <a:t> </a:t>
            </a:r>
            <a:r>
              <a:rPr kumimoji="1" lang="en-US" altLang="ja-JP" sz="1200" dirty="0">
                <a:latin typeface="+mj-lt"/>
              </a:rPr>
              <a:t>Selection</a:t>
            </a:r>
            <a:r>
              <a:rPr lang="en-US" altLang="ja-JP" sz="1200" dirty="0">
                <a:latin typeface="+mj-lt"/>
              </a:rPr>
              <a:t>:</a:t>
            </a:r>
          </a:p>
          <a:p>
            <a:pPr algn="ctr"/>
            <a:r>
              <a:rPr kumimoji="1" lang="en-US" altLang="ja-JP" sz="900" dirty="0">
                <a:latin typeface="+mj-lt"/>
              </a:rPr>
              <a:t>LOCK</a:t>
            </a:r>
            <a:r>
              <a:rPr kumimoji="1" lang="ja-JP" altLang="en-US" sz="900" dirty="0">
                <a:latin typeface="+mj-lt"/>
              </a:rPr>
              <a:t> </a:t>
            </a:r>
            <a:r>
              <a:rPr kumimoji="1" lang="en-US" altLang="ja-JP" sz="900" dirty="0">
                <a:latin typeface="+mj-lt"/>
              </a:rPr>
              <a:t>or</a:t>
            </a:r>
            <a:r>
              <a:rPr kumimoji="1" lang="ja-JP" altLang="en-US" sz="900" dirty="0">
                <a:latin typeface="+mj-lt"/>
              </a:rPr>
              <a:t> </a:t>
            </a:r>
            <a:r>
              <a:rPr kumimoji="1" lang="en-US" altLang="ja-JP" sz="900" dirty="0">
                <a:latin typeface="+mj-lt"/>
              </a:rPr>
              <a:t>ALL</a:t>
            </a:r>
          </a:p>
        </p:txBody>
      </p:sp>
      <p:cxnSp>
        <p:nvCxnSpPr>
          <p:cNvPr id="17" name="直線コネクタ 16">
            <a:extLst>
              <a:ext uri="{FF2B5EF4-FFF2-40B4-BE49-F238E27FC236}">
                <a16:creationId xmlns:a16="http://schemas.microsoft.com/office/drawing/2014/main" id="{E0A79924-056C-9F8C-7529-0C592A024BB4}"/>
              </a:ext>
            </a:extLst>
          </p:cNvPr>
          <p:cNvCxnSpPr>
            <a:cxnSpLocks/>
            <a:stCxn id="16" idx="2"/>
            <a:endCxn id="14" idx="0"/>
          </p:cNvCxnSpPr>
          <p:nvPr/>
        </p:nvCxnSpPr>
        <p:spPr>
          <a:xfrm>
            <a:off x="4051893" y="1796043"/>
            <a:ext cx="57110" cy="584181"/>
          </a:xfrm>
          <a:prstGeom prst="line">
            <a:avLst/>
          </a:prstGeom>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CC21819C-653D-182A-4D67-E707D97A924B}"/>
              </a:ext>
            </a:extLst>
          </p:cNvPr>
          <p:cNvSpPr txBox="1"/>
          <p:nvPr/>
        </p:nvSpPr>
        <p:spPr>
          <a:xfrm>
            <a:off x="5255003" y="1284659"/>
            <a:ext cx="988279" cy="553998"/>
          </a:xfrm>
          <a:prstGeom prst="rect">
            <a:avLst/>
          </a:prstGeom>
          <a:noFill/>
        </p:spPr>
        <p:txBody>
          <a:bodyPr wrap="square" lIns="0" tIns="0" rIns="0" bIns="0" rtlCol="0">
            <a:spAutoFit/>
          </a:bodyPr>
          <a:lstStyle/>
          <a:p>
            <a:pPr algn="ctr"/>
            <a:r>
              <a:rPr kumimoji="1" lang="en-US" altLang="ja-JP" sz="1200" dirty="0">
                <a:latin typeface="+mj-lt"/>
              </a:rPr>
              <a:t>Internal</a:t>
            </a:r>
            <a:r>
              <a:rPr kumimoji="1" lang="ja-JP" altLang="en-US" sz="1200" dirty="0">
                <a:latin typeface="+mj-lt"/>
              </a:rPr>
              <a:t> </a:t>
            </a:r>
            <a:r>
              <a:rPr kumimoji="1" lang="en-US" altLang="ja-JP" sz="1200" dirty="0">
                <a:latin typeface="+mj-lt"/>
              </a:rPr>
              <a:t>IF</a:t>
            </a:r>
            <a:r>
              <a:rPr kumimoji="1" lang="ja-JP" altLang="en-US" sz="1200" dirty="0">
                <a:latin typeface="+mj-lt"/>
              </a:rPr>
              <a:t> </a:t>
            </a:r>
            <a:r>
              <a:rPr kumimoji="1" lang="en-US" altLang="ja-JP" sz="1200" dirty="0">
                <a:latin typeface="+mj-lt"/>
              </a:rPr>
              <a:t>Data</a:t>
            </a:r>
          </a:p>
          <a:p>
            <a:pPr algn="ctr"/>
            <a:r>
              <a:rPr lang="en-US" altLang="ja-JP" sz="1200" dirty="0">
                <a:latin typeface="+mj-lt"/>
              </a:rPr>
              <a:t>Buffer</a:t>
            </a:r>
            <a:r>
              <a:rPr lang="ja-JP" altLang="en-US" sz="1200" dirty="0">
                <a:latin typeface="+mj-lt"/>
              </a:rPr>
              <a:t> </a:t>
            </a:r>
            <a:r>
              <a:rPr lang="en-US" altLang="ja-JP" sz="1200" dirty="0">
                <a:latin typeface="+mj-lt"/>
              </a:rPr>
              <a:t>Usage</a:t>
            </a:r>
            <a:r>
              <a:rPr lang="ja-JP" altLang="en-US" sz="1200" dirty="0">
                <a:latin typeface="+mj-lt"/>
              </a:rPr>
              <a:t> </a:t>
            </a:r>
            <a:r>
              <a:rPr lang="en-US" altLang="ja-JP" sz="1200" dirty="0">
                <a:latin typeface="+mj-lt"/>
              </a:rPr>
              <a:t>Rate</a:t>
            </a:r>
            <a:r>
              <a:rPr lang="ja-JP" altLang="en-US" sz="1200" dirty="0">
                <a:latin typeface="+mj-lt"/>
              </a:rPr>
              <a:t> </a:t>
            </a:r>
            <a:r>
              <a:rPr lang="en-US" altLang="ja-JP" sz="1200" dirty="0">
                <a:latin typeface="+mj-lt"/>
              </a:rPr>
              <a:t>in</a:t>
            </a:r>
            <a:r>
              <a:rPr lang="ja-JP" altLang="en-US" sz="1200" dirty="0">
                <a:latin typeface="+mj-lt"/>
              </a:rPr>
              <a:t> </a:t>
            </a:r>
            <a:r>
              <a:rPr lang="en-US" altLang="ja-JP" sz="1200" dirty="0">
                <a:latin typeface="+mj-lt"/>
              </a:rPr>
              <a:t>%</a:t>
            </a:r>
            <a:endParaRPr kumimoji="1" lang="en-US" altLang="ja-JP" sz="900" dirty="0">
              <a:latin typeface="+mj-lt"/>
            </a:endParaRPr>
          </a:p>
        </p:txBody>
      </p:sp>
      <p:cxnSp>
        <p:nvCxnSpPr>
          <p:cNvPr id="22" name="直線コネクタ 21">
            <a:extLst>
              <a:ext uri="{FF2B5EF4-FFF2-40B4-BE49-F238E27FC236}">
                <a16:creationId xmlns:a16="http://schemas.microsoft.com/office/drawing/2014/main" id="{A61A2FAA-7B52-41BB-F788-F9D11FB88DC1}"/>
              </a:ext>
            </a:extLst>
          </p:cNvPr>
          <p:cNvCxnSpPr>
            <a:cxnSpLocks/>
            <a:stCxn id="21" idx="2"/>
          </p:cNvCxnSpPr>
          <p:nvPr/>
        </p:nvCxnSpPr>
        <p:spPr>
          <a:xfrm flipH="1">
            <a:off x="5302502" y="1838657"/>
            <a:ext cx="446641" cy="590078"/>
          </a:xfrm>
          <a:prstGeom prst="line">
            <a:avLst/>
          </a:prstGeom>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2734F230-78A1-95C4-10D7-7A6245309B0A}"/>
              </a:ext>
            </a:extLst>
          </p:cNvPr>
          <p:cNvSpPr txBox="1"/>
          <p:nvPr/>
        </p:nvSpPr>
        <p:spPr>
          <a:xfrm>
            <a:off x="6201529" y="1279113"/>
            <a:ext cx="970157" cy="553998"/>
          </a:xfrm>
          <a:prstGeom prst="rect">
            <a:avLst/>
          </a:prstGeom>
          <a:noFill/>
        </p:spPr>
        <p:txBody>
          <a:bodyPr wrap="square" lIns="0" tIns="0" rIns="0" bIns="0" rtlCol="0">
            <a:spAutoFit/>
          </a:bodyPr>
          <a:lstStyle/>
          <a:p>
            <a:pPr algn="ctr"/>
            <a:r>
              <a:rPr kumimoji="1" lang="en-US" altLang="ja-JP" sz="1200" dirty="0">
                <a:latin typeface="+mj-lt"/>
              </a:rPr>
              <a:t>BB</a:t>
            </a:r>
            <a:r>
              <a:rPr kumimoji="1" lang="ja-JP" altLang="en-US" sz="1200" dirty="0">
                <a:latin typeface="+mj-lt"/>
              </a:rPr>
              <a:t> </a:t>
            </a:r>
            <a:r>
              <a:rPr kumimoji="1" lang="en-US" altLang="ja-JP" sz="1200" dirty="0">
                <a:latin typeface="+mj-lt"/>
              </a:rPr>
              <a:t>CH</a:t>
            </a:r>
            <a:r>
              <a:rPr kumimoji="1" lang="ja-JP" altLang="en-US" sz="1200" dirty="0">
                <a:latin typeface="+mj-lt"/>
              </a:rPr>
              <a:t> </a:t>
            </a:r>
            <a:r>
              <a:rPr kumimoji="1" lang="en-US" altLang="ja-JP" sz="1200" dirty="0">
                <a:latin typeface="+mj-lt"/>
              </a:rPr>
              <a:t>No</a:t>
            </a:r>
            <a:r>
              <a:rPr kumimoji="1" lang="ja-JP" altLang="en-US" sz="1200" dirty="0">
                <a:latin typeface="+mj-lt"/>
              </a:rPr>
              <a:t> </a:t>
            </a:r>
            <a:r>
              <a:rPr kumimoji="1" lang="en-US" altLang="ja-JP" sz="1200" dirty="0">
                <a:latin typeface="+mj-lt"/>
              </a:rPr>
              <a:t>Searching</a:t>
            </a:r>
            <a:r>
              <a:rPr kumimoji="1" lang="ja-JP" altLang="en-US" sz="1200" dirty="0">
                <a:latin typeface="+mj-lt"/>
              </a:rPr>
              <a:t> </a:t>
            </a:r>
            <a:r>
              <a:rPr kumimoji="1" lang="en-US" altLang="ja-JP" sz="1200" dirty="0">
                <a:latin typeface="+mj-lt"/>
              </a:rPr>
              <a:t>Signal</a:t>
            </a:r>
            <a:endParaRPr kumimoji="1" lang="en-US" altLang="ja-JP" sz="900" dirty="0">
              <a:latin typeface="+mj-lt"/>
            </a:endParaRPr>
          </a:p>
        </p:txBody>
      </p:sp>
      <p:cxnSp>
        <p:nvCxnSpPr>
          <p:cNvPr id="26" name="直線コネクタ 25">
            <a:extLst>
              <a:ext uri="{FF2B5EF4-FFF2-40B4-BE49-F238E27FC236}">
                <a16:creationId xmlns:a16="http://schemas.microsoft.com/office/drawing/2014/main" id="{55755D4B-C496-60FA-96AA-06FD9F513B63}"/>
              </a:ext>
            </a:extLst>
          </p:cNvPr>
          <p:cNvCxnSpPr>
            <a:cxnSpLocks/>
            <a:stCxn id="25" idx="2"/>
          </p:cNvCxnSpPr>
          <p:nvPr/>
        </p:nvCxnSpPr>
        <p:spPr>
          <a:xfrm flipH="1">
            <a:off x="5880357" y="1833111"/>
            <a:ext cx="806251" cy="583175"/>
          </a:xfrm>
          <a:prstGeom prst="line">
            <a:avLst/>
          </a:prstGeom>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51FD9749-C252-F373-4416-FCD9F19926D1}"/>
              </a:ext>
            </a:extLst>
          </p:cNvPr>
          <p:cNvSpPr txBox="1"/>
          <p:nvPr/>
        </p:nvSpPr>
        <p:spPr>
          <a:xfrm>
            <a:off x="6820583" y="2051590"/>
            <a:ext cx="1061256" cy="553998"/>
          </a:xfrm>
          <a:prstGeom prst="rect">
            <a:avLst/>
          </a:prstGeom>
          <a:noFill/>
        </p:spPr>
        <p:txBody>
          <a:bodyPr wrap="square" lIns="0" tIns="0" rIns="0" bIns="0" rtlCol="0">
            <a:spAutoFit/>
          </a:bodyPr>
          <a:lstStyle/>
          <a:p>
            <a:pPr algn="ctr"/>
            <a:r>
              <a:rPr kumimoji="1" lang="en-US" altLang="ja-JP" sz="1200" dirty="0">
                <a:latin typeface="+mj-lt"/>
              </a:rPr>
              <a:t>Number</a:t>
            </a:r>
            <a:r>
              <a:rPr kumimoji="1" lang="ja-JP" altLang="en-US" sz="1200" dirty="0">
                <a:latin typeface="+mj-lt"/>
              </a:rPr>
              <a:t> </a:t>
            </a:r>
            <a:r>
              <a:rPr kumimoji="1" lang="en-US" altLang="ja-JP" sz="1200" dirty="0">
                <a:latin typeface="+mj-lt"/>
              </a:rPr>
              <a:t>of</a:t>
            </a:r>
            <a:r>
              <a:rPr kumimoji="1" lang="ja-JP" altLang="en-US" sz="1200" dirty="0">
                <a:latin typeface="+mj-lt"/>
              </a:rPr>
              <a:t> </a:t>
            </a:r>
            <a:r>
              <a:rPr kumimoji="1" lang="en-US" altLang="ja-JP" sz="1200" dirty="0">
                <a:latin typeface="+mj-lt"/>
              </a:rPr>
              <a:t>Locked</a:t>
            </a:r>
            <a:r>
              <a:rPr kumimoji="1" lang="ja-JP" altLang="en-US" sz="1200" dirty="0">
                <a:latin typeface="+mj-lt"/>
              </a:rPr>
              <a:t> </a:t>
            </a:r>
            <a:r>
              <a:rPr kumimoji="1" lang="en-US" altLang="ja-JP" sz="1200" dirty="0">
                <a:latin typeface="+mj-lt"/>
              </a:rPr>
              <a:t>and</a:t>
            </a:r>
            <a:r>
              <a:rPr kumimoji="1" lang="ja-JP" altLang="en-US" sz="1200" dirty="0">
                <a:latin typeface="+mj-lt"/>
              </a:rPr>
              <a:t> </a:t>
            </a:r>
            <a:r>
              <a:rPr kumimoji="1" lang="en-US" altLang="ja-JP" sz="1200" dirty="0">
                <a:latin typeface="+mj-lt"/>
              </a:rPr>
              <a:t>All</a:t>
            </a:r>
            <a:r>
              <a:rPr kumimoji="1" lang="ja-JP" altLang="en-US" sz="1200" dirty="0">
                <a:latin typeface="+mj-lt"/>
              </a:rPr>
              <a:t> </a:t>
            </a:r>
            <a:r>
              <a:rPr kumimoji="1" lang="en-US" altLang="ja-JP" sz="1200" dirty="0">
                <a:latin typeface="+mj-lt"/>
              </a:rPr>
              <a:t>BB</a:t>
            </a:r>
            <a:r>
              <a:rPr kumimoji="1" lang="ja-JP" altLang="en-US" sz="1200" dirty="0">
                <a:latin typeface="+mj-lt"/>
              </a:rPr>
              <a:t> </a:t>
            </a:r>
            <a:r>
              <a:rPr kumimoji="1" lang="en-US" altLang="ja-JP" sz="1200" dirty="0">
                <a:latin typeface="+mj-lt"/>
              </a:rPr>
              <a:t>CHs</a:t>
            </a:r>
            <a:endParaRPr kumimoji="1" lang="en-US" altLang="ja-JP" sz="900" dirty="0">
              <a:latin typeface="+mj-lt"/>
            </a:endParaRPr>
          </a:p>
        </p:txBody>
      </p:sp>
      <p:cxnSp>
        <p:nvCxnSpPr>
          <p:cNvPr id="35" name="直線コネクタ 34">
            <a:extLst>
              <a:ext uri="{FF2B5EF4-FFF2-40B4-BE49-F238E27FC236}">
                <a16:creationId xmlns:a16="http://schemas.microsoft.com/office/drawing/2014/main" id="{207AE79E-FF17-29AB-3DEC-B989C4EB83F5}"/>
              </a:ext>
            </a:extLst>
          </p:cNvPr>
          <p:cNvCxnSpPr>
            <a:cxnSpLocks/>
            <a:stCxn id="31" idx="1"/>
          </p:cNvCxnSpPr>
          <p:nvPr/>
        </p:nvCxnSpPr>
        <p:spPr>
          <a:xfrm flipH="1">
            <a:off x="6503056" y="2328589"/>
            <a:ext cx="317527" cy="128303"/>
          </a:xfrm>
          <a:prstGeom prst="line">
            <a:avLst/>
          </a:prstGeom>
        </p:spPr>
        <p:style>
          <a:lnRef idx="1">
            <a:schemeClr val="accent1"/>
          </a:lnRef>
          <a:fillRef idx="0">
            <a:schemeClr val="accent1"/>
          </a:fillRef>
          <a:effectRef idx="0">
            <a:schemeClr val="accent1"/>
          </a:effectRef>
          <a:fontRef idx="minor">
            <a:schemeClr val="tx1"/>
          </a:fontRef>
        </p:style>
      </p:cxnSp>
      <p:sp>
        <p:nvSpPr>
          <p:cNvPr id="40" name="正方形/長方形 39">
            <a:extLst>
              <a:ext uri="{FF2B5EF4-FFF2-40B4-BE49-F238E27FC236}">
                <a16:creationId xmlns:a16="http://schemas.microsoft.com/office/drawing/2014/main" id="{83D03F9B-FC22-5D7E-A2A1-482B115A11DF}"/>
              </a:ext>
            </a:extLst>
          </p:cNvPr>
          <p:cNvSpPr/>
          <p:nvPr/>
        </p:nvSpPr>
        <p:spPr>
          <a:xfrm>
            <a:off x="2588324" y="2528900"/>
            <a:ext cx="3964876" cy="244827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テキスト ボックス 56">
            <a:extLst>
              <a:ext uri="{FF2B5EF4-FFF2-40B4-BE49-F238E27FC236}">
                <a16:creationId xmlns:a16="http://schemas.microsoft.com/office/drawing/2014/main" id="{E64087E1-EFE1-D33D-E69F-9897DE284E1E}"/>
              </a:ext>
            </a:extLst>
          </p:cNvPr>
          <p:cNvSpPr txBox="1"/>
          <p:nvPr/>
        </p:nvSpPr>
        <p:spPr>
          <a:xfrm>
            <a:off x="899592" y="2339574"/>
            <a:ext cx="1072574" cy="369332"/>
          </a:xfrm>
          <a:prstGeom prst="rect">
            <a:avLst/>
          </a:prstGeom>
          <a:noFill/>
        </p:spPr>
        <p:txBody>
          <a:bodyPr wrap="square" lIns="0" tIns="0" rIns="0" bIns="0" rtlCol="0">
            <a:spAutoFit/>
          </a:bodyPr>
          <a:lstStyle/>
          <a:p>
            <a:pPr algn="ctr"/>
            <a:r>
              <a:rPr kumimoji="1" lang="en-US" altLang="ja-JP" sz="1200" dirty="0">
                <a:latin typeface="+mj-lt"/>
              </a:rPr>
              <a:t>Status</a:t>
            </a:r>
            <a:r>
              <a:rPr kumimoji="1" lang="ja-JP" altLang="en-US" sz="1200" dirty="0">
                <a:latin typeface="+mj-lt"/>
              </a:rPr>
              <a:t> </a:t>
            </a:r>
            <a:r>
              <a:rPr kumimoji="1" lang="en-US" altLang="ja-JP" sz="1200" dirty="0">
                <a:latin typeface="+mj-lt"/>
              </a:rPr>
              <a:t>for</a:t>
            </a:r>
            <a:r>
              <a:rPr kumimoji="1" lang="ja-JP" altLang="en-US" sz="1200" dirty="0">
                <a:latin typeface="+mj-lt"/>
              </a:rPr>
              <a:t> </a:t>
            </a:r>
            <a:r>
              <a:rPr kumimoji="1" lang="en-US" altLang="ja-JP" sz="1200" dirty="0">
                <a:latin typeface="+mj-lt"/>
              </a:rPr>
              <a:t>each</a:t>
            </a:r>
            <a:r>
              <a:rPr kumimoji="1" lang="ja-JP" altLang="en-US" sz="1200" dirty="0">
                <a:latin typeface="+mj-lt"/>
              </a:rPr>
              <a:t> </a:t>
            </a:r>
            <a:r>
              <a:rPr kumimoji="1" lang="en-US" altLang="ja-JP" sz="1200" dirty="0">
                <a:latin typeface="+mj-lt"/>
              </a:rPr>
              <a:t>BB</a:t>
            </a:r>
            <a:r>
              <a:rPr kumimoji="1" lang="ja-JP" altLang="en-US" sz="1200" dirty="0">
                <a:latin typeface="+mj-lt"/>
              </a:rPr>
              <a:t> </a:t>
            </a:r>
            <a:r>
              <a:rPr kumimoji="1" lang="en-US" altLang="ja-JP" sz="1200" dirty="0">
                <a:latin typeface="+mj-lt"/>
              </a:rPr>
              <a:t>CH:</a:t>
            </a:r>
            <a:endParaRPr kumimoji="1" lang="en-US" altLang="ja-JP" sz="900" dirty="0">
              <a:latin typeface="+mj-lt"/>
            </a:endParaRPr>
          </a:p>
        </p:txBody>
      </p:sp>
      <p:sp>
        <p:nvSpPr>
          <p:cNvPr id="58" name="テキスト ボックス 57">
            <a:extLst>
              <a:ext uri="{FF2B5EF4-FFF2-40B4-BE49-F238E27FC236}">
                <a16:creationId xmlns:a16="http://schemas.microsoft.com/office/drawing/2014/main" id="{7C68A07C-66A5-C41A-B452-A4616CCD9126}"/>
              </a:ext>
            </a:extLst>
          </p:cNvPr>
          <p:cNvSpPr txBox="1"/>
          <p:nvPr/>
        </p:nvSpPr>
        <p:spPr>
          <a:xfrm>
            <a:off x="590976" y="2744924"/>
            <a:ext cx="432048" cy="2631490"/>
          </a:xfrm>
          <a:prstGeom prst="rect">
            <a:avLst/>
          </a:prstGeom>
          <a:noFill/>
        </p:spPr>
        <p:txBody>
          <a:bodyPr wrap="square" lIns="0" tIns="0" rIns="0" bIns="0" rtlCol="0">
            <a:spAutoFit/>
          </a:bodyPr>
          <a:lstStyle/>
          <a:p>
            <a:r>
              <a:rPr kumimoji="1" lang="en-US" altLang="ja-JP" sz="900" dirty="0">
                <a:latin typeface="+mj-lt"/>
              </a:rPr>
              <a:t>CH</a:t>
            </a:r>
          </a:p>
          <a:p>
            <a:r>
              <a:rPr lang="en-US" altLang="ja-JP" sz="900" dirty="0">
                <a:latin typeface="+mj-lt"/>
              </a:rPr>
              <a:t>RF</a:t>
            </a:r>
          </a:p>
          <a:p>
            <a:r>
              <a:rPr kumimoji="1" lang="en-US" altLang="ja-JP" sz="900" dirty="0">
                <a:latin typeface="+mj-lt"/>
              </a:rPr>
              <a:t>SAT</a:t>
            </a:r>
          </a:p>
          <a:p>
            <a:r>
              <a:rPr lang="en-US" altLang="ja-JP" sz="900" dirty="0">
                <a:latin typeface="+mj-lt"/>
              </a:rPr>
              <a:t>SIG</a:t>
            </a:r>
          </a:p>
          <a:p>
            <a:r>
              <a:rPr kumimoji="1" lang="en-US" altLang="ja-JP" sz="900" dirty="0">
                <a:latin typeface="+mj-lt"/>
              </a:rPr>
              <a:t>PRN</a:t>
            </a:r>
          </a:p>
          <a:p>
            <a:endParaRPr lang="en-US" altLang="ja-JP" sz="900" dirty="0">
              <a:latin typeface="+mj-lt"/>
            </a:endParaRPr>
          </a:p>
          <a:p>
            <a:r>
              <a:rPr lang="en-US" altLang="ja-JP" sz="900" dirty="0">
                <a:latin typeface="+mj-lt"/>
              </a:rPr>
              <a:t>LOCK</a:t>
            </a:r>
          </a:p>
          <a:p>
            <a:r>
              <a:rPr kumimoji="1" lang="en-US" altLang="ja-JP" sz="900" dirty="0">
                <a:latin typeface="+mj-lt"/>
              </a:rPr>
              <a:t>C/N0</a:t>
            </a:r>
          </a:p>
          <a:p>
            <a:r>
              <a:rPr lang="en-US" altLang="ja-JP" sz="900" dirty="0">
                <a:latin typeface="+mj-lt"/>
              </a:rPr>
              <a:t>(dB-Hz)</a:t>
            </a:r>
          </a:p>
          <a:p>
            <a:r>
              <a:rPr kumimoji="1" lang="en-US" altLang="ja-JP" sz="900" dirty="0">
                <a:latin typeface="+mj-lt"/>
              </a:rPr>
              <a:t>COFF</a:t>
            </a:r>
          </a:p>
          <a:p>
            <a:r>
              <a:rPr lang="en-US" altLang="ja-JP" sz="900" dirty="0">
                <a:latin typeface="+mj-lt"/>
              </a:rPr>
              <a:t>DOP</a:t>
            </a:r>
          </a:p>
          <a:p>
            <a:r>
              <a:rPr kumimoji="1" lang="en-US" altLang="ja-JP" sz="900" dirty="0">
                <a:latin typeface="+mj-lt"/>
              </a:rPr>
              <a:t>ADR</a:t>
            </a:r>
          </a:p>
          <a:p>
            <a:endParaRPr lang="en-US" altLang="ja-JP" sz="900" dirty="0">
              <a:latin typeface="+mj-lt"/>
            </a:endParaRPr>
          </a:p>
          <a:p>
            <a:r>
              <a:rPr lang="en-US" altLang="ja-JP" sz="900" dirty="0">
                <a:latin typeface="+mj-lt"/>
              </a:rPr>
              <a:t>SYNC</a:t>
            </a:r>
          </a:p>
          <a:p>
            <a:r>
              <a:rPr kumimoji="1" lang="en-US" altLang="ja-JP" sz="900" dirty="0">
                <a:latin typeface="+mj-lt"/>
              </a:rPr>
              <a:t>#NAV</a:t>
            </a:r>
          </a:p>
          <a:p>
            <a:endParaRPr lang="en-US" altLang="ja-JP" sz="900" dirty="0">
              <a:latin typeface="+mj-lt"/>
            </a:endParaRPr>
          </a:p>
          <a:p>
            <a:r>
              <a:rPr lang="en-US" altLang="ja-JP" sz="900" dirty="0">
                <a:latin typeface="+mj-lt"/>
              </a:rPr>
              <a:t>#ERR</a:t>
            </a:r>
          </a:p>
          <a:p>
            <a:r>
              <a:rPr kumimoji="1" lang="en-US" altLang="ja-JP" sz="900" dirty="0">
                <a:latin typeface="+mj-lt"/>
              </a:rPr>
              <a:t>#LOL</a:t>
            </a:r>
          </a:p>
          <a:p>
            <a:r>
              <a:rPr lang="en-US" altLang="ja-JP" sz="900" dirty="0">
                <a:latin typeface="+mj-lt"/>
              </a:rPr>
              <a:t>FEC</a:t>
            </a:r>
            <a:endParaRPr kumimoji="1" lang="en-US" altLang="ja-JP" sz="500" dirty="0">
              <a:latin typeface="+mj-lt"/>
            </a:endParaRPr>
          </a:p>
        </p:txBody>
      </p:sp>
      <p:sp>
        <p:nvSpPr>
          <p:cNvPr id="59" name="テキスト ボックス 58">
            <a:extLst>
              <a:ext uri="{FF2B5EF4-FFF2-40B4-BE49-F238E27FC236}">
                <a16:creationId xmlns:a16="http://schemas.microsoft.com/office/drawing/2014/main" id="{5975B8ED-0436-F9AA-4DA9-753CF5572E7C}"/>
              </a:ext>
            </a:extLst>
          </p:cNvPr>
          <p:cNvSpPr txBox="1"/>
          <p:nvPr/>
        </p:nvSpPr>
        <p:spPr>
          <a:xfrm>
            <a:off x="952955" y="2744924"/>
            <a:ext cx="1566817" cy="2769989"/>
          </a:xfrm>
          <a:prstGeom prst="rect">
            <a:avLst/>
          </a:prstGeom>
          <a:noFill/>
        </p:spPr>
        <p:txBody>
          <a:bodyPr wrap="square" lIns="0" tIns="0" rIns="0" bIns="0" rtlCol="0">
            <a:spAutoFit/>
          </a:bodyPr>
          <a:lstStyle/>
          <a:p>
            <a:r>
              <a:rPr kumimoji="1" lang="en-US" altLang="ja-JP" sz="900" dirty="0">
                <a:latin typeface="+mj-lt"/>
              </a:rPr>
              <a:t>:</a:t>
            </a:r>
            <a:r>
              <a:rPr kumimoji="1" lang="ja-JP" altLang="en-US" sz="900" dirty="0">
                <a:latin typeface="+mj-lt"/>
              </a:rPr>
              <a:t> </a:t>
            </a:r>
            <a:r>
              <a:rPr kumimoji="1" lang="en-US" altLang="ja-JP" sz="900" dirty="0">
                <a:latin typeface="+mj-lt"/>
              </a:rPr>
              <a:t>BB</a:t>
            </a:r>
            <a:r>
              <a:rPr kumimoji="1" lang="ja-JP" altLang="en-US" sz="900" dirty="0">
                <a:latin typeface="+mj-lt"/>
              </a:rPr>
              <a:t> </a:t>
            </a:r>
            <a:r>
              <a:rPr kumimoji="1" lang="en-US" altLang="ja-JP" sz="900" dirty="0">
                <a:latin typeface="+mj-lt"/>
              </a:rPr>
              <a:t>CH</a:t>
            </a:r>
            <a:r>
              <a:rPr kumimoji="1" lang="ja-JP" altLang="en-US" sz="900" dirty="0">
                <a:latin typeface="+mj-lt"/>
              </a:rPr>
              <a:t> </a:t>
            </a:r>
            <a:r>
              <a:rPr lang="en-US" altLang="ja-JP" sz="900" dirty="0">
                <a:latin typeface="+mj-lt"/>
              </a:rPr>
              <a:t>n</a:t>
            </a:r>
            <a:r>
              <a:rPr kumimoji="1" lang="en-US" altLang="ja-JP" sz="900" dirty="0">
                <a:latin typeface="+mj-lt"/>
              </a:rPr>
              <a:t>o</a:t>
            </a:r>
          </a:p>
          <a:p>
            <a:r>
              <a:rPr lang="en-US" altLang="ja-JP" sz="900" dirty="0">
                <a:latin typeface="+mj-lt"/>
              </a:rPr>
              <a:t>:</a:t>
            </a:r>
            <a:r>
              <a:rPr lang="ja-JP" altLang="en-US" sz="900" dirty="0">
                <a:latin typeface="+mj-lt"/>
              </a:rPr>
              <a:t> </a:t>
            </a:r>
            <a:r>
              <a:rPr lang="en-US" altLang="ja-JP" sz="900" dirty="0">
                <a:latin typeface="+mj-lt"/>
              </a:rPr>
              <a:t>Assigned</a:t>
            </a:r>
            <a:r>
              <a:rPr lang="ja-JP" altLang="en-US" sz="900" dirty="0">
                <a:latin typeface="+mj-lt"/>
              </a:rPr>
              <a:t> </a:t>
            </a:r>
            <a:r>
              <a:rPr lang="en-US" altLang="ja-JP" sz="900" dirty="0">
                <a:latin typeface="+mj-lt"/>
              </a:rPr>
              <a:t>RF</a:t>
            </a:r>
            <a:r>
              <a:rPr lang="ja-JP" altLang="en-US" sz="900" dirty="0">
                <a:latin typeface="+mj-lt"/>
              </a:rPr>
              <a:t> </a:t>
            </a:r>
            <a:r>
              <a:rPr lang="en-US" altLang="ja-JP" sz="900" dirty="0">
                <a:latin typeface="+mj-lt"/>
              </a:rPr>
              <a:t>CH</a:t>
            </a:r>
            <a:r>
              <a:rPr lang="ja-JP" altLang="en-US" sz="900" dirty="0">
                <a:latin typeface="+mj-lt"/>
              </a:rPr>
              <a:t> </a:t>
            </a:r>
            <a:r>
              <a:rPr lang="en-US" altLang="ja-JP" sz="900" dirty="0">
                <a:latin typeface="+mj-lt"/>
              </a:rPr>
              <a:t>no</a:t>
            </a:r>
            <a:r>
              <a:rPr lang="ja-JP" altLang="en-US" sz="900" dirty="0">
                <a:latin typeface="+mj-lt"/>
              </a:rPr>
              <a:t> </a:t>
            </a:r>
            <a:r>
              <a:rPr lang="en-US" altLang="ja-JP" sz="900" dirty="0">
                <a:latin typeface="+mj-lt"/>
              </a:rPr>
              <a:t>for</a:t>
            </a:r>
            <a:r>
              <a:rPr lang="ja-JP" altLang="en-US" sz="900" dirty="0">
                <a:latin typeface="+mj-lt"/>
              </a:rPr>
              <a:t> </a:t>
            </a:r>
            <a:r>
              <a:rPr lang="en-US" altLang="ja-JP" sz="900" dirty="0">
                <a:latin typeface="+mj-lt"/>
              </a:rPr>
              <a:t>BB</a:t>
            </a:r>
            <a:r>
              <a:rPr lang="ja-JP" altLang="en-US" sz="900" dirty="0">
                <a:latin typeface="+mj-lt"/>
              </a:rPr>
              <a:t> </a:t>
            </a:r>
            <a:r>
              <a:rPr lang="en-US" altLang="ja-JP" sz="900" dirty="0">
                <a:latin typeface="+mj-lt"/>
              </a:rPr>
              <a:t>CH</a:t>
            </a:r>
            <a:r>
              <a:rPr lang="ja-JP" altLang="en-US" sz="900" dirty="0">
                <a:latin typeface="+mj-lt"/>
              </a:rPr>
              <a:t> </a:t>
            </a:r>
            <a:endParaRPr lang="en-US" altLang="ja-JP" sz="900" dirty="0">
              <a:latin typeface="+mj-lt"/>
            </a:endParaRPr>
          </a:p>
          <a:p>
            <a:r>
              <a:rPr kumimoji="1" lang="en-US" altLang="ja-JP" sz="900" dirty="0">
                <a:latin typeface="+mj-lt"/>
              </a:rPr>
              <a:t>:</a:t>
            </a:r>
            <a:r>
              <a:rPr kumimoji="1" lang="ja-JP" altLang="en-US" sz="900" dirty="0">
                <a:latin typeface="+mj-lt"/>
              </a:rPr>
              <a:t> </a:t>
            </a:r>
            <a:r>
              <a:rPr kumimoji="1" lang="en-US" altLang="ja-JP" sz="900" dirty="0">
                <a:latin typeface="+mj-lt"/>
              </a:rPr>
              <a:t>Satellite</a:t>
            </a:r>
            <a:r>
              <a:rPr kumimoji="1" lang="ja-JP" altLang="en-US" sz="900" dirty="0">
                <a:latin typeface="+mj-lt"/>
              </a:rPr>
              <a:t> </a:t>
            </a:r>
            <a:r>
              <a:rPr kumimoji="1" lang="en-US" altLang="ja-JP" sz="900" dirty="0">
                <a:latin typeface="+mj-lt"/>
              </a:rPr>
              <a:t>ID</a:t>
            </a:r>
          </a:p>
          <a:p>
            <a:r>
              <a:rPr lang="en-US" altLang="ja-JP" sz="900" dirty="0">
                <a:latin typeface="+mj-lt"/>
              </a:rPr>
              <a:t>:</a:t>
            </a:r>
            <a:r>
              <a:rPr lang="ja-JP" altLang="en-US" sz="900" dirty="0">
                <a:latin typeface="+mj-lt"/>
              </a:rPr>
              <a:t> </a:t>
            </a:r>
            <a:r>
              <a:rPr lang="en-US" altLang="ja-JP" sz="900" dirty="0">
                <a:latin typeface="+mj-lt"/>
              </a:rPr>
              <a:t>Signal</a:t>
            </a:r>
            <a:r>
              <a:rPr lang="ja-JP" altLang="en-US" sz="900" dirty="0">
                <a:latin typeface="+mj-lt"/>
              </a:rPr>
              <a:t> </a:t>
            </a:r>
            <a:r>
              <a:rPr lang="en-US" altLang="ja-JP" sz="900" dirty="0">
                <a:latin typeface="+mj-lt"/>
              </a:rPr>
              <a:t>ID</a:t>
            </a:r>
          </a:p>
          <a:p>
            <a:r>
              <a:rPr kumimoji="1" lang="en-US" altLang="ja-JP" sz="900" dirty="0">
                <a:latin typeface="+mj-lt"/>
              </a:rPr>
              <a:t>:</a:t>
            </a:r>
            <a:r>
              <a:rPr kumimoji="1" lang="ja-JP" altLang="en-US" sz="900" dirty="0">
                <a:latin typeface="+mj-lt"/>
              </a:rPr>
              <a:t> </a:t>
            </a:r>
            <a:r>
              <a:rPr kumimoji="1" lang="en-US" altLang="ja-JP" sz="900" dirty="0">
                <a:latin typeface="+mj-lt"/>
              </a:rPr>
              <a:t>PRN</a:t>
            </a:r>
            <a:r>
              <a:rPr kumimoji="1" lang="ja-JP" altLang="en-US" sz="900" dirty="0">
                <a:latin typeface="+mj-lt"/>
              </a:rPr>
              <a:t> </a:t>
            </a:r>
            <a:r>
              <a:rPr kumimoji="1" lang="en-US" altLang="ja-JP" sz="900" dirty="0">
                <a:latin typeface="+mj-lt"/>
              </a:rPr>
              <a:t>number</a:t>
            </a:r>
            <a:r>
              <a:rPr kumimoji="1" lang="ja-JP" altLang="en-US" sz="900" dirty="0">
                <a:latin typeface="+mj-lt"/>
              </a:rPr>
              <a:t> </a:t>
            </a:r>
            <a:r>
              <a:rPr kumimoji="1" lang="en-US" altLang="ja-JP" sz="900" dirty="0">
                <a:latin typeface="+mj-lt"/>
              </a:rPr>
              <a:t>or</a:t>
            </a:r>
            <a:r>
              <a:rPr kumimoji="1" lang="ja-JP" altLang="en-US" sz="900" dirty="0">
                <a:latin typeface="+mj-lt"/>
              </a:rPr>
              <a:t> </a:t>
            </a:r>
            <a:r>
              <a:rPr kumimoji="1" lang="en-US" altLang="ja-JP" sz="900" dirty="0">
                <a:latin typeface="+mj-lt"/>
              </a:rPr>
              <a:t>FCN</a:t>
            </a:r>
            <a:r>
              <a:rPr kumimoji="1" lang="ja-JP" altLang="en-US" sz="900" dirty="0">
                <a:latin typeface="+mj-lt"/>
              </a:rPr>
              <a:t> </a:t>
            </a:r>
            <a:r>
              <a:rPr kumimoji="1" lang="en-US" altLang="ja-JP" sz="900" dirty="0">
                <a:latin typeface="+mj-lt"/>
              </a:rPr>
              <a:t>for</a:t>
            </a:r>
          </a:p>
          <a:p>
            <a:r>
              <a:rPr lang="en-US" altLang="ja-JP" sz="900" dirty="0">
                <a:latin typeface="+mj-lt"/>
              </a:rPr>
              <a:t> </a:t>
            </a:r>
            <a:r>
              <a:rPr kumimoji="1" lang="ja-JP" altLang="en-US" sz="900" dirty="0">
                <a:latin typeface="+mj-lt"/>
              </a:rPr>
              <a:t> </a:t>
            </a:r>
            <a:r>
              <a:rPr kumimoji="1" lang="en-US" altLang="ja-JP" sz="900" dirty="0">
                <a:latin typeface="+mj-lt"/>
              </a:rPr>
              <a:t>GLONASS FDMA</a:t>
            </a:r>
            <a:r>
              <a:rPr kumimoji="1" lang="ja-JP" altLang="en-US" sz="900" dirty="0">
                <a:latin typeface="+mj-lt"/>
              </a:rPr>
              <a:t> </a:t>
            </a:r>
            <a:r>
              <a:rPr lang="en-US" altLang="ja-JP" sz="900" dirty="0">
                <a:latin typeface="+mj-lt"/>
              </a:rPr>
              <a:t>s</a:t>
            </a:r>
            <a:r>
              <a:rPr kumimoji="1" lang="en-US" altLang="ja-JP" sz="900" dirty="0">
                <a:latin typeface="+mj-lt"/>
              </a:rPr>
              <a:t>ignal</a:t>
            </a:r>
          </a:p>
          <a:p>
            <a:r>
              <a:rPr lang="en-US" altLang="ja-JP" sz="900" dirty="0">
                <a:latin typeface="+mj-lt"/>
              </a:rPr>
              <a:t>:</a:t>
            </a:r>
            <a:r>
              <a:rPr lang="ja-JP" altLang="en-US" sz="900" dirty="0">
                <a:latin typeface="+mj-lt"/>
              </a:rPr>
              <a:t> </a:t>
            </a:r>
            <a:r>
              <a:rPr lang="en-US" altLang="ja-JP" sz="900" dirty="0">
                <a:latin typeface="+mj-lt"/>
              </a:rPr>
              <a:t>Continuous lock</a:t>
            </a:r>
            <a:r>
              <a:rPr lang="ja-JP" altLang="en-US" sz="900" dirty="0">
                <a:latin typeface="+mj-lt"/>
              </a:rPr>
              <a:t> </a:t>
            </a:r>
            <a:r>
              <a:rPr lang="en-US" altLang="ja-JP" sz="900" dirty="0">
                <a:latin typeface="+mj-lt"/>
              </a:rPr>
              <a:t>time</a:t>
            </a:r>
            <a:r>
              <a:rPr lang="ja-JP" altLang="en-US" sz="900" dirty="0">
                <a:latin typeface="+mj-lt"/>
              </a:rPr>
              <a:t> </a:t>
            </a:r>
            <a:r>
              <a:rPr lang="en-US" altLang="ja-JP" sz="900" dirty="0">
                <a:latin typeface="+mj-lt"/>
              </a:rPr>
              <a:t>(s)</a:t>
            </a:r>
          </a:p>
          <a:p>
            <a:r>
              <a:rPr kumimoji="1" lang="en-US" altLang="ja-JP" sz="900" dirty="0">
                <a:latin typeface="+mj-lt"/>
              </a:rPr>
              <a:t>:</a:t>
            </a:r>
            <a:r>
              <a:rPr kumimoji="1" lang="ja-JP" altLang="en-US" sz="900" dirty="0">
                <a:latin typeface="+mj-lt"/>
              </a:rPr>
              <a:t> </a:t>
            </a:r>
            <a:r>
              <a:rPr kumimoji="1" lang="en-US" altLang="ja-JP" sz="900" dirty="0">
                <a:latin typeface="+mj-lt"/>
              </a:rPr>
              <a:t>Signal</a:t>
            </a:r>
            <a:r>
              <a:rPr kumimoji="1" lang="ja-JP" altLang="en-US" sz="900" dirty="0">
                <a:latin typeface="+mj-lt"/>
              </a:rPr>
              <a:t> </a:t>
            </a:r>
            <a:r>
              <a:rPr kumimoji="1" lang="en-US" altLang="ja-JP" sz="900" dirty="0">
                <a:latin typeface="+mj-lt"/>
              </a:rPr>
              <a:t>C/N0</a:t>
            </a:r>
            <a:r>
              <a:rPr kumimoji="1" lang="ja-JP" altLang="en-US" sz="900" dirty="0">
                <a:latin typeface="+mj-lt"/>
              </a:rPr>
              <a:t> </a:t>
            </a:r>
            <a:r>
              <a:rPr kumimoji="1" lang="en-US" altLang="ja-JP" sz="900" dirty="0">
                <a:latin typeface="+mj-lt"/>
              </a:rPr>
              <a:t>(dB-Hz)</a:t>
            </a:r>
          </a:p>
          <a:p>
            <a:r>
              <a:rPr lang="en-US" altLang="ja-JP" sz="900" dirty="0">
                <a:latin typeface="+mj-lt"/>
              </a:rPr>
              <a:t>:</a:t>
            </a:r>
            <a:r>
              <a:rPr kumimoji="1" lang="ja-JP" altLang="en-US" sz="900" dirty="0">
                <a:latin typeface="+mj-lt"/>
              </a:rPr>
              <a:t> </a:t>
            </a:r>
            <a:r>
              <a:rPr lang="en-US" altLang="ja-JP" sz="900" dirty="0">
                <a:latin typeface="+mj-lt"/>
              </a:rPr>
              <a:t>Signal</a:t>
            </a:r>
            <a:r>
              <a:rPr lang="ja-JP" altLang="en-US" sz="900" dirty="0">
                <a:latin typeface="+mj-lt"/>
              </a:rPr>
              <a:t> </a:t>
            </a:r>
            <a:r>
              <a:rPr lang="en-US" altLang="ja-JP" sz="900" dirty="0">
                <a:latin typeface="+mj-lt"/>
              </a:rPr>
              <a:t>C/N0</a:t>
            </a:r>
            <a:r>
              <a:rPr lang="ja-JP" altLang="en-US" sz="900" dirty="0">
                <a:latin typeface="+mj-lt"/>
              </a:rPr>
              <a:t> </a:t>
            </a:r>
            <a:r>
              <a:rPr lang="en-US" altLang="ja-JP" sz="900" dirty="0">
                <a:latin typeface="+mj-lt"/>
              </a:rPr>
              <a:t>Bar</a:t>
            </a:r>
            <a:r>
              <a:rPr lang="ja-JP" altLang="en-US" sz="900" dirty="0">
                <a:latin typeface="+mj-lt"/>
              </a:rPr>
              <a:t> </a:t>
            </a:r>
            <a:r>
              <a:rPr lang="en-US" altLang="ja-JP" sz="900" dirty="0">
                <a:latin typeface="+mj-lt"/>
              </a:rPr>
              <a:t>(20-50</a:t>
            </a:r>
            <a:r>
              <a:rPr lang="ja-JP" altLang="en-US" sz="900" dirty="0">
                <a:latin typeface="+mj-lt"/>
              </a:rPr>
              <a:t> </a:t>
            </a:r>
            <a:r>
              <a:rPr lang="en-US" altLang="ja-JP" sz="900" dirty="0">
                <a:latin typeface="+mj-lt"/>
              </a:rPr>
              <a:t>dB-Hz)</a:t>
            </a:r>
          </a:p>
          <a:p>
            <a:r>
              <a:rPr kumimoji="1" lang="en-US" altLang="ja-JP" sz="900" dirty="0">
                <a:latin typeface="+mj-lt"/>
              </a:rPr>
              <a:t>:</a:t>
            </a:r>
            <a:r>
              <a:rPr kumimoji="1" lang="ja-JP" altLang="en-US" sz="900" dirty="0">
                <a:latin typeface="+mj-lt"/>
              </a:rPr>
              <a:t> </a:t>
            </a:r>
            <a:r>
              <a:rPr kumimoji="1" lang="en-US" altLang="ja-JP" sz="900" dirty="0">
                <a:latin typeface="+mj-lt"/>
              </a:rPr>
              <a:t>Code</a:t>
            </a:r>
            <a:r>
              <a:rPr kumimoji="1" lang="ja-JP" altLang="en-US" sz="900" dirty="0">
                <a:latin typeface="+mj-lt"/>
              </a:rPr>
              <a:t> </a:t>
            </a:r>
            <a:r>
              <a:rPr lang="en-US" altLang="ja-JP" sz="900" dirty="0">
                <a:latin typeface="+mj-lt"/>
              </a:rPr>
              <a:t>o</a:t>
            </a:r>
            <a:r>
              <a:rPr kumimoji="1" lang="en-US" altLang="ja-JP" sz="900" dirty="0">
                <a:latin typeface="+mj-lt"/>
              </a:rPr>
              <a:t>ffset</a:t>
            </a:r>
            <a:r>
              <a:rPr kumimoji="1" lang="ja-JP" altLang="en-US" sz="900" dirty="0">
                <a:latin typeface="+mj-lt"/>
              </a:rPr>
              <a:t> </a:t>
            </a:r>
            <a:r>
              <a:rPr kumimoji="1" lang="en-US" altLang="ja-JP" sz="900" dirty="0">
                <a:latin typeface="+mj-lt"/>
              </a:rPr>
              <a:t>(</a:t>
            </a:r>
            <a:r>
              <a:rPr kumimoji="1" lang="en-US" altLang="ja-JP" sz="900" dirty="0" err="1">
                <a:latin typeface="+mj-lt"/>
              </a:rPr>
              <a:t>ms</a:t>
            </a:r>
            <a:r>
              <a:rPr kumimoji="1" lang="en-US" altLang="ja-JP" sz="900" dirty="0">
                <a:latin typeface="+mj-lt"/>
              </a:rPr>
              <a:t>)</a:t>
            </a:r>
          </a:p>
          <a:p>
            <a:r>
              <a:rPr lang="en-US" altLang="ja-JP" sz="900" dirty="0">
                <a:latin typeface="+mj-lt"/>
              </a:rPr>
              <a:t>:</a:t>
            </a:r>
            <a:r>
              <a:rPr lang="ja-JP" altLang="en-US" sz="900" dirty="0">
                <a:latin typeface="+mj-lt"/>
              </a:rPr>
              <a:t> </a:t>
            </a:r>
            <a:r>
              <a:rPr lang="en-US" altLang="ja-JP" sz="900" dirty="0">
                <a:latin typeface="+mj-lt"/>
              </a:rPr>
              <a:t>Doppler</a:t>
            </a:r>
            <a:r>
              <a:rPr lang="ja-JP" altLang="en-US" sz="900" dirty="0">
                <a:latin typeface="+mj-lt"/>
              </a:rPr>
              <a:t> </a:t>
            </a:r>
            <a:r>
              <a:rPr lang="en-US" altLang="ja-JP" sz="900" dirty="0">
                <a:latin typeface="+mj-lt"/>
              </a:rPr>
              <a:t>frequency</a:t>
            </a:r>
            <a:r>
              <a:rPr lang="ja-JP" altLang="en-US" sz="900" dirty="0">
                <a:latin typeface="+mj-lt"/>
              </a:rPr>
              <a:t> </a:t>
            </a:r>
            <a:r>
              <a:rPr lang="en-US" altLang="ja-JP" sz="900" dirty="0">
                <a:latin typeface="+mj-lt"/>
              </a:rPr>
              <a:t>(Hz)</a:t>
            </a:r>
          </a:p>
          <a:p>
            <a:r>
              <a:rPr kumimoji="1" lang="en-US" altLang="ja-JP" sz="900" dirty="0">
                <a:latin typeface="+mj-lt"/>
              </a:rPr>
              <a:t>:</a:t>
            </a:r>
            <a:r>
              <a:rPr kumimoji="1" lang="ja-JP" altLang="en-US" sz="900" dirty="0">
                <a:latin typeface="+mj-lt"/>
              </a:rPr>
              <a:t> </a:t>
            </a:r>
            <a:r>
              <a:rPr kumimoji="1" lang="en-US" altLang="ja-JP" sz="900" dirty="0">
                <a:latin typeface="+mj-lt"/>
              </a:rPr>
              <a:t>Accumulated</a:t>
            </a:r>
            <a:r>
              <a:rPr kumimoji="1" lang="ja-JP" altLang="en-US" sz="900" dirty="0">
                <a:latin typeface="+mj-lt"/>
              </a:rPr>
              <a:t> </a:t>
            </a:r>
            <a:r>
              <a:rPr kumimoji="1" lang="en-US" altLang="ja-JP" sz="900" dirty="0">
                <a:latin typeface="+mj-lt"/>
              </a:rPr>
              <a:t>Doppler</a:t>
            </a:r>
            <a:r>
              <a:rPr kumimoji="1" lang="ja-JP" altLang="en-US" sz="900" dirty="0">
                <a:latin typeface="+mj-lt"/>
              </a:rPr>
              <a:t> </a:t>
            </a:r>
            <a:r>
              <a:rPr lang="en-US" altLang="ja-JP" sz="900" dirty="0">
                <a:latin typeface="+mj-lt"/>
              </a:rPr>
              <a:t>r</a:t>
            </a:r>
            <a:r>
              <a:rPr kumimoji="1" lang="en-US" altLang="ja-JP" sz="900" dirty="0">
                <a:latin typeface="+mj-lt"/>
              </a:rPr>
              <a:t>ange</a:t>
            </a:r>
          </a:p>
          <a:p>
            <a:r>
              <a:rPr lang="ja-JP" altLang="en-US" sz="900" dirty="0">
                <a:latin typeface="+mj-lt"/>
              </a:rPr>
              <a:t> </a:t>
            </a:r>
            <a:r>
              <a:rPr kumimoji="1" lang="ja-JP" altLang="en-US" sz="900" dirty="0">
                <a:latin typeface="+mj-lt"/>
              </a:rPr>
              <a:t> </a:t>
            </a:r>
            <a:r>
              <a:rPr kumimoji="1" lang="en-US" altLang="ja-JP" sz="900" dirty="0">
                <a:latin typeface="+mj-lt"/>
              </a:rPr>
              <a:t>(cycle)</a:t>
            </a:r>
          </a:p>
          <a:p>
            <a:r>
              <a:rPr lang="en-US" altLang="ja-JP" sz="900" dirty="0">
                <a:latin typeface="+mj-lt"/>
              </a:rPr>
              <a:t>:</a:t>
            </a:r>
            <a:r>
              <a:rPr lang="ja-JP" altLang="en-US" sz="900" dirty="0">
                <a:latin typeface="+mj-lt"/>
              </a:rPr>
              <a:t> </a:t>
            </a:r>
            <a:r>
              <a:rPr lang="en-US" altLang="ja-JP" sz="900" dirty="0">
                <a:latin typeface="+mj-lt"/>
              </a:rPr>
              <a:t>Synchronization</a:t>
            </a:r>
            <a:r>
              <a:rPr lang="ja-JP" altLang="en-US" sz="900" dirty="0">
                <a:latin typeface="+mj-lt"/>
              </a:rPr>
              <a:t> </a:t>
            </a:r>
            <a:r>
              <a:rPr lang="en-US" altLang="ja-JP" sz="900" dirty="0">
                <a:latin typeface="+mj-lt"/>
              </a:rPr>
              <a:t>status</a:t>
            </a:r>
          </a:p>
          <a:p>
            <a:r>
              <a:rPr kumimoji="1" lang="en-US" altLang="ja-JP" sz="900" dirty="0">
                <a:latin typeface="+mj-lt"/>
              </a:rPr>
              <a:t>:</a:t>
            </a:r>
            <a:r>
              <a:rPr kumimoji="1" lang="ja-JP" altLang="en-US" sz="900" dirty="0">
                <a:latin typeface="+mj-lt"/>
              </a:rPr>
              <a:t> </a:t>
            </a:r>
            <a:r>
              <a:rPr kumimoji="1" lang="en-US" altLang="ja-JP" sz="900" dirty="0">
                <a:latin typeface="+mj-lt"/>
              </a:rPr>
              <a:t>Decoded</a:t>
            </a:r>
            <a:r>
              <a:rPr kumimoji="1" lang="ja-JP" altLang="en-US" sz="900" dirty="0">
                <a:latin typeface="+mj-lt"/>
              </a:rPr>
              <a:t> </a:t>
            </a:r>
            <a:r>
              <a:rPr lang="en-US" altLang="ja-JP" sz="900" dirty="0">
                <a:latin typeface="+mj-lt"/>
              </a:rPr>
              <a:t>s</a:t>
            </a:r>
            <a:r>
              <a:rPr kumimoji="1" lang="en-US" altLang="ja-JP" sz="900" dirty="0">
                <a:latin typeface="+mj-lt"/>
              </a:rPr>
              <a:t>ubframe</a:t>
            </a:r>
            <a:r>
              <a:rPr kumimoji="1" lang="ja-JP" altLang="en-US" sz="900" dirty="0">
                <a:latin typeface="+mj-lt"/>
              </a:rPr>
              <a:t> </a:t>
            </a:r>
            <a:r>
              <a:rPr kumimoji="1" lang="en-US" altLang="ja-JP" sz="900" dirty="0">
                <a:latin typeface="+mj-lt"/>
              </a:rPr>
              <a:t>or</a:t>
            </a:r>
            <a:r>
              <a:rPr kumimoji="1" lang="ja-JP" altLang="en-US" sz="900" dirty="0">
                <a:latin typeface="+mj-lt"/>
              </a:rPr>
              <a:t> </a:t>
            </a:r>
            <a:r>
              <a:rPr kumimoji="1" lang="en-US" altLang="ja-JP" sz="900" dirty="0">
                <a:latin typeface="+mj-lt"/>
              </a:rPr>
              <a:t>message</a:t>
            </a:r>
          </a:p>
          <a:p>
            <a:r>
              <a:rPr lang="ja-JP" altLang="en-US" sz="900" dirty="0">
                <a:latin typeface="+mj-lt"/>
              </a:rPr>
              <a:t> </a:t>
            </a:r>
            <a:r>
              <a:rPr kumimoji="1" lang="ja-JP" altLang="en-US" sz="900" dirty="0">
                <a:latin typeface="+mj-lt"/>
              </a:rPr>
              <a:t> </a:t>
            </a:r>
            <a:r>
              <a:rPr kumimoji="1" lang="en-US" altLang="ja-JP" sz="900" dirty="0">
                <a:latin typeface="+mj-lt"/>
              </a:rPr>
              <a:t>count</a:t>
            </a:r>
          </a:p>
          <a:p>
            <a:r>
              <a:rPr lang="en-US" altLang="ja-JP" sz="900" dirty="0">
                <a:latin typeface="+mj-lt"/>
              </a:rPr>
              <a:t>:</a:t>
            </a:r>
            <a:r>
              <a:rPr lang="ja-JP" altLang="en-US" sz="900" dirty="0">
                <a:latin typeface="+mj-lt"/>
              </a:rPr>
              <a:t> </a:t>
            </a:r>
            <a:r>
              <a:rPr lang="en-US" altLang="ja-JP" sz="900" dirty="0">
                <a:latin typeface="+mj-lt"/>
              </a:rPr>
              <a:t>NAV</a:t>
            </a:r>
            <a:r>
              <a:rPr lang="ja-JP" altLang="en-US" sz="900" dirty="0">
                <a:latin typeface="+mj-lt"/>
              </a:rPr>
              <a:t> </a:t>
            </a:r>
            <a:r>
              <a:rPr lang="en-US" altLang="ja-JP" sz="900" dirty="0">
                <a:latin typeface="+mj-lt"/>
              </a:rPr>
              <a:t>data</a:t>
            </a:r>
            <a:r>
              <a:rPr lang="ja-JP" altLang="en-US" sz="900" dirty="0">
                <a:latin typeface="+mj-lt"/>
              </a:rPr>
              <a:t> </a:t>
            </a:r>
            <a:r>
              <a:rPr lang="en-US" altLang="ja-JP" sz="900" dirty="0">
                <a:latin typeface="+mj-lt"/>
              </a:rPr>
              <a:t>error</a:t>
            </a:r>
            <a:r>
              <a:rPr lang="ja-JP" altLang="en-US" sz="900" dirty="0">
                <a:latin typeface="+mj-lt"/>
              </a:rPr>
              <a:t> </a:t>
            </a:r>
            <a:r>
              <a:rPr lang="en-US" altLang="ja-JP" sz="900" dirty="0">
                <a:latin typeface="+mj-lt"/>
              </a:rPr>
              <a:t>count</a:t>
            </a:r>
          </a:p>
          <a:p>
            <a:r>
              <a:rPr kumimoji="1" lang="en-US" altLang="ja-JP" sz="900" dirty="0">
                <a:latin typeface="+mj-lt"/>
              </a:rPr>
              <a:t>:</a:t>
            </a:r>
            <a:r>
              <a:rPr kumimoji="1" lang="ja-JP" altLang="en-US" sz="900" dirty="0">
                <a:latin typeface="+mj-lt"/>
              </a:rPr>
              <a:t> </a:t>
            </a:r>
            <a:r>
              <a:rPr kumimoji="1" lang="en-US" altLang="ja-JP" sz="900" dirty="0">
                <a:latin typeface="+mj-lt"/>
              </a:rPr>
              <a:t>Loss-of-lock</a:t>
            </a:r>
            <a:r>
              <a:rPr kumimoji="1" lang="ja-JP" altLang="en-US" sz="900" dirty="0">
                <a:latin typeface="+mj-lt"/>
              </a:rPr>
              <a:t> </a:t>
            </a:r>
            <a:r>
              <a:rPr kumimoji="1" lang="en-US" altLang="ja-JP" sz="900" dirty="0">
                <a:latin typeface="+mj-lt"/>
              </a:rPr>
              <a:t>count</a:t>
            </a:r>
          </a:p>
          <a:p>
            <a:r>
              <a:rPr lang="en-US" altLang="ja-JP" sz="900" dirty="0">
                <a:latin typeface="+mj-lt"/>
              </a:rPr>
              <a:t>:</a:t>
            </a:r>
            <a:r>
              <a:rPr lang="ja-JP" altLang="en-US" sz="900" dirty="0">
                <a:latin typeface="+mj-lt"/>
              </a:rPr>
              <a:t> </a:t>
            </a:r>
            <a:r>
              <a:rPr lang="en-US" altLang="ja-JP" sz="900" dirty="0">
                <a:latin typeface="+mj-lt"/>
              </a:rPr>
              <a:t>Number</a:t>
            </a:r>
            <a:r>
              <a:rPr lang="ja-JP" altLang="en-US" sz="900" dirty="0">
                <a:latin typeface="+mj-lt"/>
              </a:rPr>
              <a:t> </a:t>
            </a:r>
            <a:r>
              <a:rPr lang="en-US" altLang="ja-JP" sz="900" dirty="0">
                <a:latin typeface="+mj-lt"/>
              </a:rPr>
              <a:t>of</a:t>
            </a:r>
            <a:r>
              <a:rPr lang="ja-JP" altLang="en-US" sz="900" dirty="0">
                <a:latin typeface="+mj-lt"/>
              </a:rPr>
              <a:t> </a:t>
            </a:r>
            <a:r>
              <a:rPr lang="en-US" altLang="ja-JP" sz="900" dirty="0">
                <a:latin typeface="+mj-lt"/>
              </a:rPr>
              <a:t>error</a:t>
            </a:r>
            <a:r>
              <a:rPr lang="ja-JP" altLang="en-US" sz="900" dirty="0">
                <a:latin typeface="+mj-lt"/>
              </a:rPr>
              <a:t> </a:t>
            </a:r>
            <a:r>
              <a:rPr lang="en-US" altLang="ja-JP" sz="900" dirty="0">
                <a:latin typeface="+mj-lt"/>
              </a:rPr>
              <a:t>bits</a:t>
            </a:r>
            <a:r>
              <a:rPr lang="ja-JP" altLang="en-US" sz="900" dirty="0">
                <a:latin typeface="+mj-lt"/>
              </a:rPr>
              <a:t> </a:t>
            </a:r>
            <a:r>
              <a:rPr lang="en-US" altLang="ja-JP" sz="900" dirty="0">
                <a:latin typeface="+mj-lt"/>
              </a:rPr>
              <a:t>corrected</a:t>
            </a:r>
          </a:p>
          <a:p>
            <a:r>
              <a:rPr lang="ja-JP" altLang="en-US" sz="900" dirty="0">
                <a:latin typeface="+mj-lt"/>
              </a:rPr>
              <a:t>  </a:t>
            </a:r>
            <a:r>
              <a:rPr lang="en-US" altLang="ja-JP" sz="900" dirty="0">
                <a:latin typeface="+mj-lt"/>
              </a:rPr>
              <a:t>by</a:t>
            </a:r>
            <a:r>
              <a:rPr lang="ja-JP" altLang="en-US" sz="900" dirty="0">
                <a:latin typeface="+mj-lt"/>
              </a:rPr>
              <a:t> </a:t>
            </a:r>
            <a:r>
              <a:rPr lang="en-US" altLang="ja-JP" sz="900" dirty="0">
                <a:latin typeface="+mj-lt"/>
              </a:rPr>
              <a:t>FEC</a:t>
            </a:r>
            <a:r>
              <a:rPr lang="ja-JP" altLang="en-US" sz="900" dirty="0">
                <a:latin typeface="+mj-lt"/>
              </a:rPr>
              <a:t> </a:t>
            </a:r>
            <a:r>
              <a:rPr lang="en-US" altLang="ja-JP" sz="900" dirty="0">
                <a:latin typeface="+mj-lt"/>
              </a:rPr>
              <a:t>(-1:</a:t>
            </a:r>
            <a:r>
              <a:rPr lang="ja-JP" altLang="en-US" sz="900" dirty="0">
                <a:latin typeface="+mj-lt"/>
              </a:rPr>
              <a:t> </a:t>
            </a:r>
            <a:r>
              <a:rPr lang="en-US" altLang="ja-JP" sz="900" dirty="0">
                <a:latin typeface="+mj-lt"/>
              </a:rPr>
              <a:t>correction</a:t>
            </a:r>
            <a:r>
              <a:rPr lang="ja-JP" altLang="en-US" sz="900" dirty="0">
                <a:latin typeface="+mj-lt"/>
              </a:rPr>
              <a:t> </a:t>
            </a:r>
            <a:r>
              <a:rPr lang="en-US" altLang="ja-JP" sz="900" dirty="0">
                <a:latin typeface="+mj-lt"/>
              </a:rPr>
              <a:t>unable)</a:t>
            </a:r>
            <a:endParaRPr kumimoji="1" lang="en-US" altLang="ja-JP" sz="500" dirty="0">
              <a:latin typeface="+mj-lt"/>
            </a:endParaRPr>
          </a:p>
        </p:txBody>
      </p:sp>
      <p:cxnSp>
        <p:nvCxnSpPr>
          <p:cNvPr id="60" name="直線コネクタ 59">
            <a:extLst>
              <a:ext uri="{FF2B5EF4-FFF2-40B4-BE49-F238E27FC236}">
                <a16:creationId xmlns:a16="http://schemas.microsoft.com/office/drawing/2014/main" id="{98773AAD-D940-4B13-D932-E8E4D0206964}"/>
              </a:ext>
            </a:extLst>
          </p:cNvPr>
          <p:cNvCxnSpPr>
            <a:cxnSpLocks/>
            <a:stCxn id="57" idx="3"/>
          </p:cNvCxnSpPr>
          <p:nvPr/>
        </p:nvCxnSpPr>
        <p:spPr>
          <a:xfrm>
            <a:off x="1972166" y="2524240"/>
            <a:ext cx="611205" cy="220684"/>
          </a:xfrm>
          <a:prstGeom prst="line">
            <a:avLst/>
          </a:prstGeom>
        </p:spPr>
        <p:style>
          <a:lnRef idx="1">
            <a:schemeClr val="accent1"/>
          </a:lnRef>
          <a:fillRef idx="0">
            <a:schemeClr val="accent1"/>
          </a:fillRef>
          <a:effectRef idx="0">
            <a:schemeClr val="accent1"/>
          </a:effectRef>
          <a:fontRef idx="minor">
            <a:schemeClr val="tx1"/>
          </a:fontRef>
        </p:style>
      </p:cxnSp>
      <p:sp>
        <p:nvSpPr>
          <p:cNvPr id="67" name="テキスト ボックス 66">
            <a:extLst>
              <a:ext uri="{FF2B5EF4-FFF2-40B4-BE49-F238E27FC236}">
                <a16:creationId xmlns:a16="http://schemas.microsoft.com/office/drawing/2014/main" id="{A6494CC8-1BCF-56A0-D845-D0D675D3B7DA}"/>
              </a:ext>
            </a:extLst>
          </p:cNvPr>
          <p:cNvSpPr txBox="1"/>
          <p:nvPr/>
        </p:nvSpPr>
        <p:spPr>
          <a:xfrm>
            <a:off x="6866125" y="4410895"/>
            <a:ext cx="1019211" cy="369332"/>
          </a:xfrm>
          <a:prstGeom prst="rect">
            <a:avLst/>
          </a:prstGeom>
          <a:noFill/>
        </p:spPr>
        <p:txBody>
          <a:bodyPr wrap="square" lIns="0" tIns="0" rIns="0" bIns="0" rtlCol="0">
            <a:spAutoFit/>
          </a:bodyPr>
          <a:lstStyle/>
          <a:p>
            <a:pPr algn="ctr"/>
            <a:r>
              <a:rPr kumimoji="1" lang="en-US" altLang="ja-JP" sz="1200" dirty="0">
                <a:latin typeface="+mj-lt"/>
              </a:rPr>
              <a:t>Synchronization</a:t>
            </a:r>
            <a:r>
              <a:rPr kumimoji="1" lang="ja-JP" altLang="en-US" sz="1200" dirty="0">
                <a:latin typeface="+mj-lt"/>
              </a:rPr>
              <a:t> </a:t>
            </a:r>
            <a:r>
              <a:rPr kumimoji="1" lang="en-US" altLang="ja-JP" sz="1200" dirty="0">
                <a:latin typeface="+mj-lt"/>
              </a:rPr>
              <a:t>Status:</a:t>
            </a:r>
            <a:endParaRPr kumimoji="1" lang="en-US" altLang="ja-JP" sz="900" dirty="0">
              <a:latin typeface="+mj-lt"/>
            </a:endParaRPr>
          </a:p>
        </p:txBody>
      </p:sp>
      <p:cxnSp>
        <p:nvCxnSpPr>
          <p:cNvPr id="68" name="直線コネクタ 67">
            <a:extLst>
              <a:ext uri="{FF2B5EF4-FFF2-40B4-BE49-F238E27FC236}">
                <a16:creationId xmlns:a16="http://schemas.microsoft.com/office/drawing/2014/main" id="{71DA450C-8191-2E9C-966B-018FE0859E68}"/>
              </a:ext>
            </a:extLst>
          </p:cNvPr>
          <p:cNvCxnSpPr>
            <a:cxnSpLocks/>
            <a:stCxn id="67" idx="1"/>
          </p:cNvCxnSpPr>
          <p:nvPr/>
        </p:nvCxnSpPr>
        <p:spPr>
          <a:xfrm flipH="1" flipV="1">
            <a:off x="5712644" y="4243278"/>
            <a:ext cx="1153481" cy="352283"/>
          </a:xfrm>
          <a:prstGeom prst="line">
            <a:avLst/>
          </a:prstGeom>
        </p:spPr>
        <p:style>
          <a:lnRef idx="1">
            <a:schemeClr val="accent1"/>
          </a:lnRef>
          <a:fillRef idx="0">
            <a:schemeClr val="accent1"/>
          </a:fillRef>
          <a:effectRef idx="0">
            <a:schemeClr val="accent1"/>
          </a:effectRef>
          <a:fontRef idx="minor">
            <a:schemeClr val="tx1"/>
          </a:fontRef>
        </p:style>
      </p:cxnSp>
      <p:sp>
        <p:nvSpPr>
          <p:cNvPr id="72" name="テキスト ボックス 71">
            <a:extLst>
              <a:ext uri="{FF2B5EF4-FFF2-40B4-BE49-F238E27FC236}">
                <a16:creationId xmlns:a16="http://schemas.microsoft.com/office/drawing/2014/main" id="{C8F1D7A8-FA23-9581-7BE0-69A8A517BF57}"/>
              </a:ext>
            </a:extLst>
          </p:cNvPr>
          <p:cNvSpPr txBox="1"/>
          <p:nvPr/>
        </p:nvSpPr>
        <p:spPr>
          <a:xfrm>
            <a:off x="6732240" y="4805478"/>
            <a:ext cx="1423825" cy="769441"/>
          </a:xfrm>
          <a:prstGeom prst="rect">
            <a:avLst/>
          </a:prstGeom>
          <a:noFill/>
        </p:spPr>
        <p:txBody>
          <a:bodyPr wrap="square" lIns="0" tIns="0" rIns="0" bIns="0" rtlCol="0">
            <a:spAutoFit/>
          </a:bodyPr>
          <a:lstStyle/>
          <a:p>
            <a:r>
              <a:rPr kumimoji="1" lang="en-US" altLang="ja-JP" sz="900" dirty="0">
                <a:latin typeface="+mj-lt"/>
              </a:rPr>
              <a:t>S</a:t>
            </a:r>
            <a:r>
              <a:rPr kumimoji="1" lang="ja-JP" altLang="en-US" sz="900" dirty="0">
                <a:latin typeface="+mj-lt"/>
              </a:rPr>
              <a:t> </a:t>
            </a:r>
            <a:r>
              <a:rPr kumimoji="1" lang="en-US" altLang="ja-JP" sz="900" dirty="0">
                <a:latin typeface="+mj-lt"/>
              </a:rPr>
              <a:t>:</a:t>
            </a:r>
            <a:r>
              <a:rPr kumimoji="1" lang="ja-JP" altLang="en-US" sz="900" dirty="0">
                <a:latin typeface="+mj-lt"/>
              </a:rPr>
              <a:t> </a:t>
            </a:r>
            <a:r>
              <a:rPr kumimoji="1" lang="en-US" altLang="ja-JP" sz="900" dirty="0">
                <a:latin typeface="+mj-lt"/>
              </a:rPr>
              <a:t>Secondary</a:t>
            </a:r>
            <a:r>
              <a:rPr kumimoji="1" lang="ja-JP" altLang="en-US" sz="900" dirty="0">
                <a:latin typeface="+mj-lt"/>
              </a:rPr>
              <a:t> </a:t>
            </a:r>
            <a:r>
              <a:rPr kumimoji="1" lang="en-US" altLang="ja-JP" sz="900" dirty="0">
                <a:latin typeface="+mj-lt"/>
              </a:rPr>
              <a:t>code</a:t>
            </a:r>
            <a:r>
              <a:rPr kumimoji="1" lang="ja-JP" altLang="en-US" sz="900" dirty="0">
                <a:latin typeface="+mj-lt"/>
              </a:rPr>
              <a:t> </a:t>
            </a:r>
            <a:r>
              <a:rPr kumimoji="1" lang="en-US" altLang="ja-JP" sz="900" dirty="0">
                <a:latin typeface="+mj-lt"/>
              </a:rPr>
              <a:t>sync</a:t>
            </a:r>
          </a:p>
          <a:p>
            <a:r>
              <a:rPr lang="en-US" altLang="ja-JP" sz="900" dirty="0">
                <a:latin typeface="+mj-lt"/>
              </a:rPr>
              <a:t>B</a:t>
            </a:r>
            <a:r>
              <a:rPr lang="ja-JP" altLang="en-US" sz="900" dirty="0">
                <a:latin typeface="+mj-lt"/>
              </a:rPr>
              <a:t> </a:t>
            </a:r>
            <a:r>
              <a:rPr lang="en-US" altLang="ja-JP" sz="900" dirty="0">
                <a:latin typeface="+mj-lt"/>
              </a:rPr>
              <a:t>:</a:t>
            </a:r>
            <a:r>
              <a:rPr lang="ja-JP" altLang="en-US" sz="900" dirty="0">
                <a:latin typeface="+mj-lt"/>
              </a:rPr>
              <a:t> </a:t>
            </a:r>
            <a:r>
              <a:rPr lang="en-US" altLang="ja-JP" sz="900" dirty="0">
                <a:latin typeface="+mj-lt"/>
              </a:rPr>
              <a:t>NAV</a:t>
            </a:r>
            <a:r>
              <a:rPr lang="ja-JP" altLang="en-US" sz="900" dirty="0">
                <a:latin typeface="+mj-lt"/>
              </a:rPr>
              <a:t> </a:t>
            </a:r>
            <a:r>
              <a:rPr lang="en-US" altLang="ja-JP" sz="900" dirty="0">
                <a:latin typeface="+mj-lt"/>
              </a:rPr>
              <a:t>symbol (bit)</a:t>
            </a:r>
            <a:r>
              <a:rPr lang="ja-JP" altLang="en-US" sz="900" dirty="0">
                <a:latin typeface="+mj-lt"/>
              </a:rPr>
              <a:t> </a:t>
            </a:r>
            <a:r>
              <a:rPr lang="en-US" altLang="ja-JP" sz="900" dirty="0">
                <a:latin typeface="+mj-lt"/>
              </a:rPr>
              <a:t>sync</a:t>
            </a:r>
          </a:p>
          <a:p>
            <a:r>
              <a:rPr kumimoji="1" lang="en-US" altLang="ja-JP" sz="900" dirty="0">
                <a:latin typeface="+mj-lt"/>
              </a:rPr>
              <a:t>F</a:t>
            </a:r>
            <a:r>
              <a:rPr kumimoji="1" lang="ja-JP" altLang="en-US" sz="900" dirty="0">
                <a:latin typeface="+mj-lt"/>
              </a:rPr>
              <a:t> </a:t>
            </a:r>
            <a:r>
              <a:rPr kumimoji="1" lang="en-US" altLang="ja-JP" sz="900" dirty="0">
                <a:latin typeface="+mj-lt"/>
              </a:rPr>
              <a:t>:</a:t>
            </a:r>
            <a:r>
              <a:rPr kumimoji="1" lang="ja-JP" altLang="en-US" sz="900" dirty="0">
                <a:latin typeface="+mj-lt"/>
              </a:rPr>
              <a:t> </a:t>
            </a:r>
            <a:r>
              <a:rPr kumimoji="1" lang="en-US" altLang="ja-JP" sz="900" dirty="0">
                <a:latin typeface="+mj-lt"/>
              </a:rPr>
              <a:t>Subframe</a:t>
            </a:r>
            <a:r>
              <a:rPr kumimoji="1" lang="ja-JP" altLang="en-US" sz="900" dirty="0">
                <a:latin typeface="+mj-lt"/>
              </a:rPr>
              <a:t> </a:t>
            </a:r>
            <a:r>
              <a:rPr kumimoji="1" lang="en-US" altLang="ja-JP" sz="900" dirty="0">
                <a:latin typeface="+mj-lt"/>
              </a:rPr>
              <a:t>or</a:t>
            </a:r>
            <a:r>
              <a:rPr kumimoji="1" lang="ja-JP" altLang="en-US" sz="900" dirty="0">
                <a:latin typeface="+mj-lt"/>
              </a:rPr>
              <a:t> </a:t>
            </a:r>
            <a:r>
              <a:rPr kumimoji="1" lang="en-US" altLang="ja-JP" sz="900" dirty="0">
                <a:latin typeface="+mj-lt"/>
              </a:rPr>
              <a:t>message</a:t>
            </a:r>
            <a:r>
              <a:rPr kumimoji="1" lang="ja-JP" altLang="en-US" sz="900" dirty="0">
                <a:latin typeface="+mj-lt"/>
              </a:rPr>
              <a:t> </a:t>
            </a:r>
            <a:r>
              <a:rPr kumimoji="1" lang="en-US" altLang="ja-JP" sz="900" dirty="0">
                <a:latin typeface="+mj-lt"/>
              </a:rPr>
              <a:t>sync</a:t>
            </a:r>
          </a:p>
          <a:p>
            <a:r>
              <a:rPr lang="en-US" altLang="ja-JP" sz="900" dirty="0">
                <a:latin typeface="+mj-lt"/>
              </a:rPr>
              <a:t>R</a:t>
            </a:r>
            <a:r>
              <a:rPr lang="ja-JP" altLang="en-US" sz="900" dirty="0">
                <a:latin typeface="+mj-lt"/>
              </a:rPr>
              <a:t> </a:t>
            </a:r>
            <a:r>
              <a:rPr lang="en-US" altLang="ja-JP" sz="900" dirty="0">
                <a:latin typeface="+mj-lt"/>
              </a:rPr>
              <a:t>:</a:t>
            </a:r>
            <a:r>
              <a:rPr lang="ja-JP" altLang="en-US" sz="900" dirty="0">
                <a:latin typeface="+mj-lt"/>
              </a:rPr>
              <a:t> </a:t>
            </a:r>
            <a:r>
              <a:rPr lang="en-US" altLang="ja-JP" sz="900" dirty="0">
                <a:latin typeface="+mj-lt"/>
              </a:rPr>
              <a:t>Polarity</a:t>
            </a:r>
            <a:r>
              <a:rPr lang="ja-JP" altLang="en-US" sz="900" dirty="0">
                <a:latin typeface="+mj-lt"/>
              </a:rPr>
              <a:t> </a:t>
            </a:r>
            <a:r>
              <a:rPr lang="en-US" altLang="ja-JP" sz="900" dirty="0">
                <a:latin typeface="+mj-lt"/>
              </a:rPr>
              <a:t>of</a:t>
            </a:r>
            <a:r>
              <a:rPr lang="ja-JP" altLang="en-US" sz="900" dirty="0">
                <a:latin typeface="+mj-lt"/>
              </a:rPr>
              <a:t> </a:t>
            </a:r>
            <a:r>
              <a:rPr lang="en-US" altLang="ja-JP" sz="900" dirty="0">
                <a:latin typeface="+mj-lt"/>
              </a:rPr>
              <a:t>subframe</a:t>
            </a:r>
            <a:r>
              <a:rPr lang="ja-JP" altLang="en-US" sz="900" dirty="0">
                <a:latin typeface="+mj-lt"/>
              </a:rPr>
              <a:t> </a:t>
            </a:r>
            <a:r>
              <a:rPr lang="en-US" altLang="ja-JP" sz="900" dirty="0">
                <a:latin typeface="+mj-lt"/>
              </a:rPr>
              <a:t>or</a:t>
            </a:r>
          </a:p>
          <a:p>
            <a:r>
              <a:rPr lang="ja-JP" altLang="en-US" sz="900" dirty="0">
                <a:latin typeface="+mj-lt"/>
              </a:rPr>
              <a:t>     </a:t>
            </a:r>
            <a:r>
              <a:rPr lang="en-US" altLang="ja-JP" sz="900" dirty="0">
                <a:latin typeface="+mj-lt"/>
              </a:rPr>
              <a:t>message</a:t>
            </a:r>
            <a:r>
              <a:rPr lang="ja-JP" altLang="en-US" sz="900" dirty="0">
                <a:latin typeface="+mj-lt"/>
              </a:rPr>
              <a:t> </a:t>
            </a:r>
            <a:r>
              <a:rPr lang="en-US" altLang="ja-JP" sz="900" dirty="0">
                <a:latin typeface="+mj-lt"/>
              </a:rPr>
              <a:t>sync</a:t>
            </a:r>
            <a:r>
              <a:rPr lang="ja-JP" altLang="en-US" sz="900" dirty="0">
                <a:latin typeface="+mj-lt"/>
              </a:rPr>
              <a:t> </a:t>
            </a:r>
            <a:r>
              <a:rPr lang="en-US" altLang="ja-JP" sz="900" dirty="0">
                <a:latin typeface="+mj-lt"/>
              </a:rPr>
              <a:t>(R:</a:t>
            </a:r>
            <a:r>
              <a:rPr lang="ja-JP" altLang="en-US" sz="900" dirty="0">
                <a:latin typeface="+mj-lt"/>
              </a:rPr>
              <a:t> </a:t>
            </a:r>
            <a:r>
              <a:rPr lang="en-US" altLang="ja-JP" sz="900" dirty="0">
                <a:latin typeface="+mj-lt"/>
              </a:rPr>
              <a:t>reversed)</a:t>
            </a:r>
            <a:endParaRPr kumimoji="1" lang="en-US" altLang="ja-JP" sz="900" dirty="0">
              <a:latin typeface="+mj-lt"/>
            </a:endParaRPr>
          </a:p>
          <a:p>
            <a:endParaRPr kumimoji="1" lang="en-US" altLang="ja-JP" sz="500" dirty="0">
              <a:latin typeface="+mj-lt"/>
            </a:endParaRPr>
          </a:p>
        </p:txBody>
      </p:sp>
      <p:sp>
        <p:nvSpPr>
          <p:cNvPr id="77" name="テキスト ボックス 76">
            <a:extLst>
              <a:ext uri="{FF2B5EF4-FFF2-40B4-BE49-F238E27FC236}">
                <a16:creationId xmlns:a16="http://schemas.microsoft.com/office/drawing/2014/main" id="{928B5ACA-0908-C59C-B8A8-5E89546AAC9D}"/>
              </a:ext>
            </a:extLst>
          </p:cNvPr>
          <p:cNvSpPr txBox="1"/>
          <p:nvPr/>
        </p:nvSpPr>
        <p:spPr>
          <a:xfrm>
            <a:off x="4444062" y="1279113"/>
            <a:ext cx="748165" cy="553998"/>
          </a:xfrm>
          <a:prstGeom prst="rect">
            <a:avLst/>
          </a:prstGeom>
          <a:noFill/>
        </p:spPr>
        <p:txBody>
          <a:bodyPr wrap="square" lIns="0" tIns="0" rIns="0" bIns="0" rtlCol="0">
            <a:spAutoFit/>
          </a:bodyPr>
          <a:lstStyle/>
          <a:p>
            <a:pPr algn="ctr"/>
            <a:r>
              <a:rPr kumimoji="1" lang="en-US" altLang="ja-JP" sz="1200" dirty="0">
                <a:latin typeface="+mj-lt"/>
              </a:rPr>
              <a:t>Link to GNSS Signal Table</a:t>
            </a:r>
            <a:endParaRPr kumimoji="1" lang="en-US" altLang="ja-JP" sz="900" dirty="0">
              <a:latin typeface="+mj-lt"/>
            </a:endParaRPr>
          </a:p>
        </p:txBody>
      </p:sp>
      <p:cxnSp>
        <p:nvCxnSpPr>
          <p:cNvPr id="79" name="直線コネクタ 78">
            <a:extLst>
              <a:ext uri="{FF2B5EF4-FFF2-40B4-BE49-F238E27FC236}">
                <a16:creationId xmlns:a16="http://schemas.microsoft.com/office/drawing/2014/main" id="{38F73C78-99F3-F428-E3A7-AB7362CA7CD8}"/>
              </a:ext>
            </a:extLst>
          </p:cNvPr>
          <p:cNvCxnSpPr>
            <a:cxnSpLocks/>
            <a:stCxn id="77" idx="2"/>
          </p:cNvCxnSpPr>
          <p:nvPr/>
        </p:nvCxnSpPr>
        <p:spPr>
          <a:xfrm flipH="1">
            <a:off x="4418752" y="1833111"/>
            <a:ext cx="399393" cy="59562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93599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9D4DF-92F2-7481-E2A2-F9C26BFA66C8}"/>
            </a:ext>
          </a:extLst>
        </p:cNvPr>
        <p:cNvGrpSpPr/>
        <p:nvPr/>
      </p:nvGrpSpPr>
      <p:grpSpPr>
        <a:xfrm>
          <a:off x="0" y="0"/>
          <a:ext cx="0" cy="0"/>
          <a:chOff x="0" y="0"/>
          <a:chExt cx="0" cy="0"/>
        </a:xfrm>
      </p:grpSpPr>
      <p:pic>
        <p:nvPicPr>
          <p:cNvPr id="8" name="図 7">
            <a:extLst>
              <a:ext uri="{FF2B5EF4-FFF2-40B4-BE49-F238E27FC236}">
                <a16:creationId xmlns:a16="http://schemas.microsoft.com/office/drawing/2014/main" id="{5212A222-98D6-B7C3-A34B-C960DE151ABC}"/>
              </a:ext>
            </a:extLst>
          </p:cNvPr>
          <p:cNvPicPr>
            <a:picLocks noChangeAspect="1"/>
          </p:cNvPicPr>
          <p:nvPr/>
        </p:nvPicPr>
        <p:blipFill>
          <a:blip r:embed="rId2"/>
          <a:stretch>
            <a:fillRect/>
          </a:stretch>
        </p:blipFill>
        <p:spPr>
          <a:xfrm>
            <a:off x="2580893" y="1969586"/>
            <a:ext cx="3972306" cy="3130296"/>
          </a:xfrm>
          <a:prstGeom prst="rect">
            <a:avLst/>
          </a:prstGeom>
        </p:spPr>
      </p:pic>
      <p:sp>
        <p:nvSpPr>
          <p:cNvPr id="4" name="スライド番号プレースホルダー 3">
            <a:extLst>
              <a:ext uri="{FF2B5EF4-FFF2-40B4-BE49-F238E27FC236}">
                <a16:creationId xmlns:a16="http://schemas.microsoft.com/office/drawing/2014/main" id="{AC4257F1-FDA4-64B8-D736-66678569D70D}"/>
              </a:ext>
            </a:extLst>
          </p:cNvPr>
          <p:cNvSpPr>
            <a:spLocks noGrp="1"/>
          </p:cNvSpPr>
          <p:nvPr>
            <p:ph type="sldNum" sz="quarter" idx="11"/>
          </p:nvPr>
        </p:nvSpPr>
        <p:spPr/>
        <p:txBody>
          <a:bodyPr/>
          <a:lstStyle/>
          <a:p>
            <a:pPr>
              <a:defRPr/>
            </a:pPr>
            <a:fld id="{76B10B91-6492-4C08-AE87-F344306858DA}" type="slidenum">
              <a:rPr lang="ja-JP" altLang="en-US" smtClean="0"/>
              <a:pPr>
                <a:defRPr/>
              </a:pPr>
              <a:t>5</a:t>
            </a:fld>
            <a:endParaRPr lang="ja-JP" altLang="en-US" dirty="0"/>
          </a:p>
        </p:txBody>
      </p:sp>
      <p:sp>
        <p:nvSpPr>
          <p:cNvPr id="5" name="タイトル 1">
            <a:extLst>
              <a:ext uri="{FF2B5EF4-FFF2-40B4-BE49-F238E27FC236}">
                <a16:creationId xmlns:a16="http://schemas.microsoft.com/office/drawing/2014/main" id="{0687DFEC-D043-E8D5-FDF5-1D079D2FA9D0}"/>
              </a:ext>
            </a:extLst>
          </p:cNvPr>
          <p:cNvSpPr>
            <a:spLocks noGrp="1"/>
          </p:cNvSpPr>
          <p:nvPr>
            <p:ph type="title"/>
          </p:nvPr>
        </p:nvSpPr>
        <p:spPr>
          <a:xfrm>
            <a:off x="457200" y="512676"/>
            <a:ext cx="8229600" cy="598078"/>
          </a:xfrm>
        </p:spPr>
        <p:txBody>
          <a:bodyPr/>
          <a:lstStyle/>
          <a:p>
            <a:r>
              <a:rPr kumimoji="1" lang="en-US" altLang="ja-JP" sz="2000" dirty="0">
                <a:solidFill>
                  <a:schemeClr val="tx1"/>
                </a:solidFill>
              </a:rPr>
              <a:t>Correlator</a:t>
            </a:r>
            <a:r>
              <a:rPr kumimoji="1" lang="ja-JP" altLang="en-US" sz="2000" dirty="0">
                <a:solidFill>
                  <a:schemeClr val="tx1"/>
                </a:solidFill>
              </a:rPr>
              <a:t> </a:t>
            </a:r>
            <a:r>
              <a:rPr kumimoji="1" lang="en-US" altLang="ja-JP" sz="2000" dirty="0">
                <a:solidFill>
                  <a:schemeClr val="tx1"/>
                </a:solidFill>
              </a:rPr>
              <a:t>Page</a:t>
            </a:r>
            <a:endParaRPr kumimoji="1" lang="ja-JP" altLang="en-US" sz="2000" dirty="0">
              <a:solidFill>
                <a:schemeClr val="tx1"/>
              </a:solidFill>
            </a:endParaRPr>
          </a:p>
        </p:txBody>
      </p:sp>
      <p:sp>
        <p:nvSpPr>
          <p:cNvPr id="2" name="正方形/長方形 1">
            <a:extLst>
              <a:ext uri="{FF2B5EF4-FFF2-40B4-BE49-F238E27FC236}">
                <a16:creationId xmlns:a16="http://schemas.microsoft.com/office/drawing/2014/main" id="{E40D7D21-0CF7-9497-C71B-B7B6297ABCBC}"/>
              </a:ext>
            </a:extLst>
          </p:cNvPr>
          <p:cNvSpPr/>
          <p:nvPr/>
        </p:nvSpPr>
        <p:spPr>
          <a:xfrm>
            <a:off x="2588324" y="2384884"/>
            <a:ext cx="748325"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BA5EDEF9-83D3-7216-0E59-9E47F6BA58AC}"/>
              </a:ext>
            </a:extLst>
          </p:cNvPr>
          <p:cNvSpPr txBox="1"/>
          <p:nvPr/>
        </p:nvSpPr>
        <p:spPr>
          <a:xfrm>
            <a:off x="1331640" y="1772816"/>
            <a:ext cx="767441" cy="507831"/>
          </a:xfrm>
          <a:prstGeom prst="rect">
            <a:avLst/>
          </a:prstGeom>
          <a:noFill/>
        </p:spPr>
        <p:txBody>
          <a:bodyPr wrap="square" lIns="0" tIns="0" rIns="0" bIns="0" rtlCol="0">
            <a:spAutoFit/>
          </a:bodyPr>
          <a:lstStyle/>
          <a:p>
            <a:pPr algn="ctr"/>
            <a:r>
              <a:rPr kumimoji="1" lang="en-US" altLang="ja-JP" sz="1200" dirty="0">
                <a:latin typeface="+mj-lt"/>
              </a:rPr>
              <a:t>BB</a:t>
            </a:r>
            <a:r>
              <a:rPr kumimoji="1" lang="ja-JP" altLang="en-US" sz="1200" dirty="0">
                <a:latin typeface="+mj-lt"/>
              </a:rPr>
              <a:t> </a:t>
            </a:r>
            <a:r>
              <a:rPr kumimoji="1" lang="en-US" altLang="ja-JP" sz="1200" dirty="0">
                <a:latin typeface="+mj-lt"/>
              </a:rPr>
              <a:t>CH</a:t>
            </a:r>
          </a:p>
          <a:p>
            <a:pPr algn="ctr"/>
            <a:r>
              <a:rPr lang="en-US" altLang="ja-JP" sz="1200" dirty="0">
                <a:latin typeface="+mj-lt"/>
              </a:rPr>
              <a:t>Selection</a:t>
            </a:r>
            <a:r>
              <a:rPr lang="ja-JP" altLang="en-US" sz="1200" dirty="0">
                <a:latin typeface="+mj-lt"/>
              </a:rPr>
              <a:t> </a:t>
            </a:r>
            <a:r>
              <a:rPr lang="ja-JP" altLang="en-US" sz="1200" baseline="30000" dirty="0">
                <a:latin typeface="+mj-lt"/>
              </a:rPr>
              <a:t>*</a:t>
            </a:r>
            <a:r>
              <a:rPr lang="en-US" altLang="ja-JP" sz="1200" baseline="30000" dirty="0">
                <a:latin typeface="+mj-lt"/>
              </a:rPr>
              <a:t>1</a:t>
            </a:r>
            <a:r>
              <a:rPr lang="en-US" altLang="ja-JP" sz="1200" dirty="0">
                <a:latin typeface="+mj-lt"/>
              </a:rPr>
              <a:t>:</a:t>
            </a:r>
          </a:p>
          <a:p>
            <a:pPr algn="ctr"/>
            <a:r>
              <a:rPr kumimoji="1" lang="en-US" altLang="ja-JP" sz="900" dirty="0">
                <a:latin typeface="+mj-lt"/>
              </a:rPr>
              <a:t>1,</a:t>
            </a:r>
            <a:r>
              <a:rPr kumimoji="1" lang="ja-JP" altLang="en-US" sz="900" dirty="0">
                <a:latin typeface="+mj-lt"/>
              </a:rPr>
              <a:t> </a:t>
            </a:r>
            <a:r>
              <a:rPr kumimoji="1" lang="en-US" altLang="ja-JP" sz="900" dirty="0">
                <a:latin typeface="+mj-lt"/>
              </a:rPr>
              <a:t>2,</a:t>
            </a:r>
            <a:r>
              <a:rPr kumimoji="1" lang="ja-JP" altLang="en-US" sz="900" dirty="0">
                <a:latin typeface="+mj-lt"/>
              </a:rPr>
              <a:t> </a:t>
            </a:r>
            <a:r>
              <a:rPr kumimoji="1" lang="en-US" altLang="ja-JP" sz="900" dirty="0">
                <a:latin typeface="+mj-lt"/>
              </a:rPr>
              <a:t>3,</a:t>
            </a:r>
            <a:r>
              <a:rPr kumimoji="1" lang="ja-JP" altLang="en-US" sz="900" dirty="0">
                <a:latin typeface="+mj-lt"/>
              </a:rPr>
              <a:t> </a:t>
            </a:r>
            <a:r>
              <a:rPr kumimoji="1" lang="en-US" altLang="ja-JP" sz="900" dirty="0">
                <a:latin typeface="+mj-lt"/>
              </a:rPr>
              <a:t>...</a:t>
            </a:r>
          </a:p>
        </p:txBody>
      </p:sp>
      <p:cxnSp>
        <p:nvCxnSpPr>
          <p:cNvPr id="7" name="直線コネクタ 6">
            <a:extLst>
              <a:ext uri="{FF2B5EF4-FFF2-40B4-BE49-F238E27FC236}">
                <a16:creationId xmlns:a16="http://schemas.microsoft.com/office/drawing/2014/main" id="{2E62639B-60BA-3ECE-CE4F-7220FA2CD439}"/>
              </a:ext>
            </a:extLst>
          </p:cNvPr>
          <p:cNvCxnSpPr>
            <a:cxnSpLocks/>
            <a:stCxn id="6" idx="3"/>
            <a:endCxn id="2" idx="1"/>
          </p:cNvCxnSpPr>
          <p:nvPr/>
        </p:nvCxnSpPr>
        <p:spPr>
          <a:xfrm>
            <a:off x="2099081" y="2026732"/>
            <a:ext cx="489243" cy="430160"/>
          </a:xfrm>
          <a:prstGeom prst="line">
            <a:avLst/>
          </a:prstGeom>
        </p:spPr>
        <p:style>
          <a:lnRef idx="1">
            <a:schemeClr val="accent1"/>
          </a:lnRef>
          <a:fillRef idx="0">
            <a:schemeClr val="accent1"/>
          </a:fillRef>
          <a:effectRef idx="0">
            <a:schemeClr val="accent1"/>
          </a:effectRef>
          <a:fontRef idx="minor">
            <a:schemeClr val="tx1"/>
          </a:fontRef>
        </p:style>
      </p:cxnSp>
      <p:sp>
        <p:nvSpPr>
          <p:cNvPr id="11" name="正方形/長方形 10">
            <a:extLst>
              <a:ext uri="{FF2B5EF4-FFF2-40B4-BE49-F238E27FC236}">
                <a16:creationId xmlns:a16="http://schemas.microsoft.com/office/drawing/2014/main" id="{2D390DFF-192E-98A6-ACB4-FDCA329CEB05}"/>
              </a:ext>
            </a:extLst>
          </p:cNvPr>
          <p:cNvSpPr/>
          <p:nvPr/>
        </p:nvSpPr>
        <p:spPr>
          <a:xfrm>
            <a:off x="3344080" y="2384884"/>
            <a:ext cx="1519049"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4E2CE9D9-5BF6-7EAF-057D-3A097A8448DE}"/>
              </a:ext>
            </a:extLst>
          </p:cNvPr>
          <p:cNvSpPr txBox="1"/>
          <p:nvPr/>
        </p:nvSpPr>
        <p:spPr>
          <a:xfrm>
            <a:off x="2159733" y="1364722"/>
            <a:ext cx="2016240" cy="369332"/>
          </a:xfrm>
          <a:prstGeom prst="rect">
            <a:avLst/>
          </a:prstGeom>
          <a:noFill/>
        </p:spPr>
        <p:txBody>
          <a:bodyPr wrap="square" lIns="0" tIns="0" rIns="0" bIns="0" rtlCol="0">
            <a:spAutoFit/>
          </a:bodyPr>
          <a:lstStyle/>
          <a:p>
            <a:pPr algn="ctr"/>
            <a:r>
              <a:rPr kumimoji="1" lang="en-US" altLang="ja-JP" sz="1200" dirty="0">
                <a:latin typeface="+mj-lt"/>
              </a:rPr>
              <a:t>RF CH, Satellite</a:t>
            </a:r>
            <a:r>
              <a:rPr kumimoji="1" lang="ja-JP" altLang="en-US" sz="1200" dirty="0">
                <a:latin typeface="+mj-lt"/>
              </a:rPr>
              <a:t> </a:t>
            </a:r>
            <a:r>
              <a:rPr kumimoji="1" lang="en-US" altLang="ja-JP" sz="1200" dirty="0">
                <a:latin typeface="+mj-lt"/>
              </a:rPr>
              <a:t>ID,</a:t>
            </a:r>
            <a:r>
              <a:rPr kumimoji="1" lang="ja-JP" altLang="en-US" sz="1200" dirty="0">
                <a:latin typeface="+mj-lt"/>
              </a:rPr>
              <a:t> </a:t>
            </a:r>
            <a:r>
              <a:rPr kumimoji="1" lang="en-US" altLang="ja-JP" sz="1200" dirty="0">
                <a:latin typeface="+mj-lt"/>
              </a:rPr>
              <a:t>Signal</a:t>
            </a:r>
            <a:r>
              <a:rPr kumimoji="1" lang="ja-JP" altLang="en-US" sz="1200" dirty="0">
                <a:latin typeface="+mj-lt"/>
              </a:rPr>
              <a:t> </a:t>
            </a:r>
            <a:r>
              <a:rPr kumimoji="1" lang="en-US" altLang="ja-JP" sz="1200" dirty="0">
                <a:latin typeface="+mj-lt"/>
              </a:rPr>
              <a:t>ID</a:t>
            </a:r>
            <a:r>
              <a:rPr kumimoji="1" lang="ja-JP" altLang="en-US" sz="1200" dirty="0">
                <a:latin typeface="+mj-lt"/>
              </a:rPr>
              <a:t> </a:t>
            </a:r>
            <a:r>
              <a:rPr kumimoji="1" lang="en-US" altLang="ja-JP" sz="1200" dirty="0">
                <a:latin typeface="+mj-lt"/>
              </a:rPr>
              <a:t>PRN No. and</a:t>
            </a:r>
            <a:r>
              <a:rPr kumimoji="1" lang="ja-JP" altLang="en-US" sz="1200" dirty="0">
                <a:latin typeface="+mj-lt"/>
              </a:rPr>
              <a:t> </a:t>
            </a:r>
            <a:r>
              <a:rPr kumimoji="1" lang="en-US" altLang="ja-JP" sz="1200" dirty="0">
                <a:latin typeface="+mj-lt"/>
              </a:rPr>
              <a:t>Lock</a:t>
            </a:r>
            <a:r>
              <a:rPr kumimoji="1" lang="ja-JP" altLang="en-US" sz="1200" dirty="0">
                <a:latin typeface="+mj-lt"/>
              </a:rPr>
              <a:t> </a:t>
            </a:r>
            <a:r>
              <a:rPr kumimoji="1" lang="en-US" altLang="ja-JP" sz="1200" dirty="0">
                <a:latin typeface="+mj-lt"/>
              </a:rPr>
              <a:t>Time</a:t>
            </a:r>
            <a:r>
              <a:rPr kumimoji="1" lang="ja-JP" altLang="en-US" sz="1200" dirty="0">
                <a:latin typeface="+mj-lt"/>
              </a:rPr>
              <a:t> </a:t>
            </a:r>
            <a:r>
              <a:rPr kumimoji="1" lang="en-US" altLang="ja-JP" sz="1200" dirty="0">
                <a:latin typeface="+mj-lt"/>
              </a:rPr>
              <a:t>of</a:t>
            </a:r>
            <a:r>
              <a:rPr kumimoji="1" lang="ja-JP" altLang="en-US" sz="1200" dirty="0">
                <a:latin typeface="+mj-lt"/>
              </a:rPr>
              <a:t> </a:t>
            </a:r>
            <a:r>
              <a:rPr kumimoji="1" lang="en-US" altLang="ja-JP" sz="1200" dirty="0">
                <a:latin typeface="+mj-lt"/>
              </a:rPr>
              <a:t>BB</a:t>
            </a:r>
            <a:r>
              <a:rPr kumimoji="1" lang="ja-JP" altLang="en-US" sz="1200" dirty="0">
                <a:latin typeface="+mj-lt"/>
              </a:rPr>
              <a:t> </a:t>
            </a:r>
            <a:r>
              <a:rPr kumimoji="1" lang="en-US" altLang="ja-JP" sz="1200" dirty="0">
                <a:latin typeface="+mj-lt"/>
              </a:rPr>
              <a:t>CH</a:t>
            </a:r>
            <a:endParaRPr kumimoji="1" lang="en-US" altLang="ja-JP" sz="900" dirty="0">
              <a:latin typeface="+mj-lt"/>
            </a:endParaRPr>
          </a:p>
        </p:txBody>
      </p:sp>
      <p:cxnSp>
        <p:nvCxnSpPr>
          <p:cNvPr id="16" name="直線コネクタ 15">
            <a:extLst>
              <a:ext uri="{FF2B5EF4-FFF2-40B4-BE49-F238E27FC236}">
                <a16:creationId xmlns:a16="http://schemas.microsoft.com/office/drawing/2014/main" id="{442486DF-FEF0-90DD-7344-2B51418A05D0}"/>
              </a:ext>
            </a:extLst>
          </p:cNvPr>
          <p:cNvCxnSpPr>
            <a:cxnSpLocks/>
            <a:stCxn id="15" idx="2"/>
            <a:endCxn id="11" idx="0"/>
          </p:cNvCxnSpPr>
          <p:nvPr/>
        </p:nvCxnSpPr>
        <p:spPr>
          <a:xfrm>
            <a:off x="3167853" y="1734054"/>
            <a:ext cx="935752" cy="650830"/>
          </a:xfrm>
          <a:prstGeom prst="line">
            <a:avLst/>
          </a:prstGeom>
        </p:spPr>
        <p:style>
          <a:lnRef idx="1">
            <a:schemeClr val="accent1"/>
          </a:lnRef>
          <a:fillRef idx="0">
            <a:schemeClr val="accent1"/>
          </a:fillRef>
          <a:effectRef idx="0">
            <a:schemeClr val="accent1"/>
          </a:effectRef>
          <a:fontRef idx="minor">
            <a:schemeClr val="tx1"/>
          </a:fontRef>
        </p:style>
      </p:cxnSp>
      <p:sp>
        <p:nvSpPr>
          <p:cNvPr id="20" name="正方形/長方形 19">
            <a:extLst>
              <a:ext uri="{FF2B5EF4-FFF2-40B4-BE49-F238E27FC236}">
                <a16:creationId xmlns:a16="http://schemas.microsoft.com/office/drawing/2014/main" id="{90A13A00-499A-AE4F-C2A5-54EF47F523F6}"/>
              </a:ext>
            </a:extLst>
          </p:cNvPr>
          <p:cNvSpPr/>
          <p:nvPr/>
        </p:nvSpPr>
        <p:spPr>
          <a:xfrm>
            <a:off x="2585848" y="2528900"/>
            <a:ext cx="2634224" cy="118813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35039B26-DC7D-1552-FF69-3120EEDB637F}"/>
              </a:ext>
            </a:extLst>
          </p:cNvPr>
          <p:cNvSpPr txBox="1"/>
          <p:nvPr/>
        </p:nvSpPr>
        <p:spPr>
          <a:xfrm>
            <a:off x="1193184" y="2636912"/>
            <a:ext cx="767441" cy="369332"/>
          </a:xfrm>
          <a:prstGeom prst="rect">
            <a:avLst/>
          </a:prstGeom>
          <a:noFill/>
        </p:spPr>
        <p:txBody>
          <a:bodyPr wrap="square" lIns="0" tIns="0" rIns="0" bIns="0" rtlCol="0">
            <a:spAutoFit/>
          </a:bodyPr>
          <a:lstStyle/>
          <a:p>
            <a:pPr algn="ctr"/>
            <a:r>
              <a:rPr kumimoji="1" lang="en-US" altLang="ja-JP" sz="1200" dirty="0">
                <a:latin typeface="+mj-lt"/>
              </a:rPr>
              <a:t>Correlation</a:t>
            </a:r>
          </a:p>
          <a:p>
            <a:pPr algn="ctr"/>
            <a:r>
              <a:rPr lang="en-US" altLang="ja-JP" sz="1200" dirty="0">
                <a:latin typeface="+mj-lt"/>
              </a:rPr>
              <a:t>Plot</a:t>
            </a:r>
            <a:endParaRPr kumimoji="1" lang="en-US" altLang="ja-JP" sz="900" dirty="0">
              <a:latin typeface="+mj-lt"/>
            </a:endParaRPr>
          </a:p>
        </p:txBody>
      </p:sp>
      <p:cxnSp>
        <p:nvCxnSpPr>
          <p:cNvPr id="23" name="直線コネクタ 22">
            <a:extLst>
              <a:ext uri="{FF2B5EF4-FFF2-40B4-BE49-F238E27FC236}">
                <a16:creationId xmlns:a16="http://schemas.microsoft.com/office/drawing/2014/main" id="{05D52D4A-8AD9-3822-DE80-4A02CB038412}"/>
              </a:ext>
            </a:extLst>
          </p:cNvPr>
          <p:cNvCxnSpPr>
            <a:cxnSpLocks/>
            <a:stCxn id="21" idx="3"/>
            <a:endCxn id="20" idx="1"/>
          </p:cNvCxnSpPr>
          <p:nvPr/>
        </p:nvCxnSpPr>
        <p:spPr>
          <a:xfrm>
            <a:off x="1960625" y="2821578"/>
            <a:ext cx="625223" cy="301388"/>
          </a:xfrm>
          <a:prstGeom prst="line">
            <a:avLst/>
          </a:prstGeom>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2899794-E288-6D0F-F759-890BD1C6CC7C}"/>
              </a:ext>
            </a:extLst>
          </p:cNvPr>
          <p:cNvSpPr txBox="1"/>
          <p:nvPr/>
        </p:nvSpPr>
        <p:spPr>
          <a:xfrm>
            <a:off x="1005913" y="3048163"/>
            <a:ext cx="1141982" cy="969496"/>
          </a:xfrm>
          <a:prstGeom prst="rect">
            <a:avLst/>
          </a:prstGeom>
          <a:noFill/>
        </p:spPr>
        <p:txBody>
          <a:bodyPr wrap="square" lIns="0" tIns="0" rIns="0" bIns="0" rtlCol="0">
            <a:spAutoFit/>
          </a:bodyPr>
          <a:lstStyle/>
          <a:p>
            <a:pPr algn="ctr"/>
            <a:r>
              <a:rPr kumimoji="1" lang="en-US" altLang="ja-JP" sz="900" dirty="0">
                <a:latin typeface="+mj-lt"/>
              </a:rPr>
              <a:t>X-axis:</a:t>
            </a:r>
            <a:r>
              <a:rPr kumimoji="1" lang="ja-JP" altLang="en-US" sz="900" dirty="0">
                <a:latin typeface="+mj-lt"/>
              </a:rPr>
              <a:t> </a:t>
            </a:r>
            <a:r>
              <a:rPr kumimoji="1" lang="en-US" altLang="ja-JP" sz="900" dirty="0">
                <a:latin typeface="+mj-lt"/>
              </a:rPr>
              <a:t>code</a:t>
            </a:r>
            <a:r>
              <a:rPr kumimoji="1" lang="ja-JP" altLang="en-US" sz="900" dirty="0">
                <a:latin typeface="+mj-lt"/>
              </a:rPr>
              <a:t> </a:t>
            </a:r>
            <a:r>
              <a:rPr kumimoji="1" lang="en-US" altLang="ja-JP" sz="900" dirty="0">
                <a:latin typeface="+mj-lt"/>
              </a:rPr>
              <a:t>offset</a:t>
            </a:r>
            <a:r>
              <a:rPr kumimoji="1" lang="ja-JP" altLang="en-US" sz="900" dirty="0">
                <a:latin typeface="+mj-lt"/>
              </a:rPr>
              <a:t> </a:t>
            </a:r>
            <a:r>
              <a:rPr kumimoji="1" lang="en-US" altLang="ja-JP" sz="900" dirty="0">
                <a:latin typeface="+mj-lt"/>
              </a:rPr>
              <a:t>(</a:t>
            </a:r>
            <a:r>
              <a:rPr kumimoji="1" lang="en-US" altLang="ja-JP" sz="900" dirty="0" err="1">
                <a:latin typeface="+mj-lt"/>
              </a:rPr>
              <a:t>ms</a:t>
            </a:r>
            <a:r>
              <a:rPr kumimoji="1" lang="en-US" altLang="ja-JP" sz="900" dirty="0">
                <a:latin typeface="+mj-lt"/>
              </a:rPr>
              <a:t>)</a:t>
            </a:r>
          </a:p>
          <a:p>
            <a:pPr algn="ctr"/>
            <a:r>
              <a:rPr lang="en-US" altLang="ja-JP" sz="900" dirty="0">
                <a:latin typeface="+mj-lt"/>
              </a:rPr>
              <a:t>Y-axis:</a:t>
            </a:r>
            <a:r>
              <a:rPr lang="ja-JP" altLang="en-US" sz="900" dirty="0">
                <a:latin typeface="+mj-lt"/>
              </a:rPr>
              <a:t> </a:t>
            </a:r>
            <a:r>
              <a:rPr lang="en-US" altLang="ja-JP" sz="900" dirty="0">
                <a:latin typeface="+mj-lt"/>
              </a:rPr>
              <a:t>correlations</a:t>
            </a:r>
          </a:p>
          <a:p>
            <a:pPr algn="ctr"/>
            <a:r>
              <a:rPr kumimoji="1" lang="en-US" altLang="ja-JP" sz="900" dirty="0">
                <a:latin typeface="+mj-lt"/>
              </a:rPr>
              <a:t>(I</a:t>
            </a:r>
            <a:r>
              <a:rPr kumimoji="1" lang="ja-JP" altLang="en-US" sz="900" dirty="0">
                <a:latin typeface="+mj-lt"/>
              </a:rPr>
              <a:t> * </a:t>
            </a:r>
            <a:r>
              <a:rPr kumimoji="1" lang="en-US" altLang="ja-JP" sz="900" dirty="0">
                <a:latin typeface="+mj-lt"/>
              </a:rPr>
              <a:t>sign(IP),</a:t>
            </a:r>
            <a:r>
              <a:rPr kumimoji="1" lang="ja-JP" altLang="en-US" sz="900" dirty="0">
                <a:latin typeface="+mj-lt"/>
              </a:rPr>
              <a:t> </a:t>
            </a:r>
            <a:r>
              <a:rPr kumimoji="1" lang="en-US" altLang="ja-JP" sz="900" dirty="0">
                <a:latin typeface="+mj-lt"/>
              </a:rPr>
              <a:t>sqrt(I</a:t>
            </a:r>
            <a:r>
              <a:rPr kumimoji="1" lang="en-US" altLang="ja-JP" sz="900" baseline="30000" dirty="0">
                <a:latin typeface="+mj-lt"/>
              </a:rPr>
              <a:t>2</a:t>
            </a:r>
            <a:r>
              <a:rPr kumimoji="1" lang="ja-JP" altLang="en-US" sz="900" dirty="0">
                <a:latin typeface="+mj-lt"/>
              </a:rPr>
              <a:t> </a:t>
            </a:r>
            <a:r>
              <a:rPr kumimoji="1" lang="en-US" altLang="ja-JP" sz="900" dirty="0">
                <a:latin typeface="+mj-lt"/>
              </a:rPr>
              <a:t>+</a:t>
            </a:r>
            <a:r>
              <a:rPr kumimoji="1" lang="ja-JP" altLang="en-US" sz="900" dirty="0">
                <a:latin typeface="+mj-lt"/>
              </a:rPr>
              <a:t> </a:t>
            </a:r>
            <a:r>
              <a:rPr kumimoji="1" lang="en-US" altLang="ja-JP" sz="900" dirty="0">
                <a:latin typeface="+mj-lt"/>
              </a:rPr>
              <a:t>Q</a:t>
            </a:r>
            <a:r>
              <a:rPr kumimoji="1" lang="en-US" altLang="ja-JP" sz="900" baseline="30000" dirty="0">
                <a:latin typeface="+mj-lt"/>
              </a:rPr>
              <a:t>2</a:t>
            </a:r>
            <a:r>
              <a:rPr kumimoji="1" lang="en-US" altLang="ja-JP" sz="900" dirty="0">
                <a:latin typeface="+mj-lt"/>
              </a:rPr>
              <a:t>)</a:t>
            </a:r>
            <a:r>
              <a:rPr kumimoji="1" lang="ja-JP" altLang="en-US" sz="900" dirty="0">
                <a:latin typeface="+mj-lt"/>
              </a:rPr>
              <a:t> </a:t>
            </a:r>
            <a:r>
              <a:rPr kumimoji="1" lang="en-US" altLang="ja-JP" sz="900" dirty="0">
                <a:latin typeface="+mj-lt"/>
              </a:rPr>
              <a:t>or</a:t>
            </a:r>
            <a:r>
              <a:rPr kumimoji="1" lang="ja-JP" altLang="en-US" sz="900" dirty="0">
                <a:latin typeface="+mj-lt"/>
              </a:rPr>
              <a:t> </a:t>
            </a:r>
            <a:r>
              <a:rPr kumimoji="1" lang="en-US" altLang="ja-JP" sz="900" dirty="0">
                <a:latin typeface="+mj-lt"/>
              </a:rPr>
              <a:t>sqrt(sum(I</a:t>
            </a:r>
            <a:r>
              <a:rPr kumimoji="1" lang="en-US" altLang="ja-JP" sz="900" baseline="30000" dirty="0">
                <a:latin typeface="+mj-lt"/>
              </a:rPr>
              <a:t>2</a:t>
            </a:r>
            <a:r>
              <a:rPr kumimoji="1" lang="ja-JP" altLang="en-US" sz="900" dirty="0">
                <a:latin typeface="+mj-lt"/>
              </a:rPr>
              <a:t> </a:t>
            </a:r>
            <a:r>
              <a:rPr kumimoji="1" lang="en-US" altLang="ja-JP" sz="900" dirty="0">
                <a:latin typeface="+mj-lt"/>
              </a:rPr>
              <a:t>+</a:t>
            </a:r>
            <a:r>
              <a:rPr kumimoji="1" lang="ja-JP" altLang="en-US" sz="900" dirty="0">
                <a:latin typeface="+mj-lt"/>
              </a:rPr>
              <a:t> </a:t>
            </a:r>
            <a:r>
              <a:rPr kumimoji="1" lang="en-US" altLang="ja-JP" sz="900" dirty="0">
                <a:latin typeface="+mj-lt"/>
              </a:rPr>
              <a:t>Q</a:t>
            </a:r>
            <a:r>
              <a:rPr kumimoji="1" lang="en-US" altLang="ja-JP" sz="900" baseline="30000" dirty="0">
                <a:latin typeface="+mj-lt"/>
              </a:rPr>
              <a:t>2</a:t>
            </a:r>
            <a:r>
              <a:rPr kumimoji="1" lang="en-US" altLang="ja-JP" sz="900" dirty="0">
                <a:latin typeface="+mj-lt"/>
              </a:rPr>
              <a:t>)))</a:t>
            </a:r>
            <a:r>
              <a:rPr kumimoji="1" lang="ja-JP" altLang="en-US" sz="900" dirty="0">
                <a:latin typeface="+mj-lt"/>
              </a:rPr>
              <a:t> </a:t>
            </a:r>
            <a:r>
              <a:rPr kumimoji="1" lang="ja-JP" altLang="en-US" sz="900" baseline="30000" dirty="0">
                <a:latin typeface="+mj-lt"/>
              </a:rPr>
              <a:t>*</a:t>
            </a:r>
            <a:r>
              <a:rPr kumimoji="1" lang="en-US" altLang="ja-JP" sz="900" baseline="30000" dirty="0">
                <a:latin typeface="+mj-lt"/>
              </a:rPr>
              <a:t>2</a:t>
            </a:r>
          </a:p>
          <a:p>
            <a:pPr algn="ctr"/>
            <a:r>
              <a:rPr lang="en-US" altLang="ja-JP" sz="900" dirty="0">
                <a:latin typeface="+mj-lt"/>
              </a:rPr>
              <a:t>Large</a:t>
            </a:r>
            <a:r>
              <a:rPr lang="ja-JP" altLang="en-US" sz="900" dirty="0">
                <a:latin typeface="+mj-lt"/>
              </a:rPr>
              <a:t> </a:t>
            </a:r>
            <a:r>
              <a:rPr lang="en-US" altLang="ja-JP" sz="900" dirty="0">
                <a:latin typeface="+mj-lt"/>
              </a:rPr>
              <a:t>dots:</a:t>
            </a:r>
          </a:p>
          <a:p>
            <a:pPr algn="ctr"/>
            <a:r>
              <a:rPr lang="en-US" altLang="ja-JP" sz="900" dirty="0">
                <a:latin typeface="+mj-lt"/>
              </a:rPr>
              <a:t>correlator</a:t>
            </a:r>
            <a:r>
              <a:rPr lang="ja-JP" altLang="en-US" sz="900" dirty="0">
                <a:latin typeface="+mj-lt"/>
              </a:rPr>
              <a:t> </a:t>
            </a:r>
            <a:r>
              <a:rPr lang="en-US" altLang="ja-JP" sz="900" dirty="0">
                <a:latin typeface="+mj-lt"/>
              </a:rPr>
              <a:t>positions for</a:t>
            </a:r>
          </a:p>
          <a:p>
            <a:pPr algn="ctr"/>
            <a:r>
              <a:rPr lang="en-US" altLang="ja-JP" sz="900" dirty="0">
                <a:latin typeface="+mj-lt"/>
              </a:rPr>
              <a:t>VE,</a:t>
            </a:r>
            <a:r>
              <a:rPr lang="ja-JP" altLang="en-US" sz="900" dirty="0">
                <a:latin typeface="+mj-lt"/>
              </a:rPr>
              <a:t> </a:t>
            </a:r>
            <a:r>
              <a:rPr lang="en-US" altLang="ja-JP" sz="900" dirty="0">
                <a:latin typeface="+mj-lt"/>
              </a:rPr>
              <a:t>E,</a:t>
            </a:r>
            <a:r>
              <a:rPr lang="ja-JP" altLang="en-US" sz="900" dirty="0">
                <a:latin typeface="+mj-lt"/>
              </a:rPr>
              <a:t> </a:t>
            </a:r>
            <a:r>
              <a:rPr lang="en-US" altLang="ja-JP" sz="900" dirty="0">
                <a:latin typeface="+mj-lt"/>
              </a:rPr>
              <a:t>P,</a:t>
            </a:r>
            <a:r>
              <a:rPr lang="ja-JP" altLang="en-US" sz="900" dirty="0">
                <a:latin typeface="+mj-lt"/>
              </a:rPr>
              <a:t> </a:t>
            </a:r>
            <a:r>
              <a:rPr lang="en-US" altLang="ja-JP" sz="900" dirty="0">
                <a:latin typeface="+mj-lt"/>
              </a:rPr>
              <a:t>L and</a:t>
            </a:r>
            <a:r>
              <a:rPr lang="ja-JP" altLang="en-US" sz="900" dirty="0">
                <a:latin typeface="+mj-lt"/>
              </a:rPr>
              <a:t> </a:t>
            </a:r>
            <a:r>
              <a:rPr lang="en-US" altLang="ja-JP" sz="900" dirty="0">
                <a:latin typeface="+mj-lt"/>
              </a:rPr>
              <a:t>VL</a:t>
            </a:r>
            <a:r>
              <a:rPr lang="ja-JP" altLang="en-US" sz="900" baseline="30000" dirty="0">
                <a:latin typeface="+mj-lt"/>
              </a:rPr>
              <a:t> *</a:t>
            </a:r>
            <a:r>
              <a:rPr lang="en-US" altLang="ja-JP" sz="900" baseline="30000" dirty="0">
                <a:latin typeface="+mj-lt"/>
              </a:rPr>
              <a:t>3</a:t>
            </a:r>
            <a:endParaRPr kumimoji="1" lang="en-US" altLang="ja-JP" sz="500" baseline="30000" dirty="0">
              <a:latin typeface="+mj-lt"/>
            </a:endParaRPr>
          </a:p>
        </p:txBody>
      </p:sp>
      <p:sp>
        <p:nvSpPr>
          <p:cNvPr id="27" name="正方形/長方形 26">
            <a:extLst>
              <a:ext uri="{FF2B5EF4-FFF2-40B4-BE49-F238E27FC236}">
                <a16:creationId xmlns:a16="http://schemas.microsoft.com/office/drawing/2014/main" id="{A83C2EB6-41BA-1D35-8DC7-4998F33468F6}"/>
              </a:ext>
            </a:extLst>
          </p:cNvPr>
          <p:cNvSpPr/>
          <p:nvPr/>
        </p:nvSpPr>
        <p:spPr>
          <a:xfrm>
            <a:off x="5256076" y="2528900"/>
            <a:ext cx="1297124" cy="118813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04C16790-D786-4265-D7E4-C30DBEDA194B}"/>
              </a:ext>
            </a:extLst>
          </p:cNvPr>
          <p:cNvSpPr txBox="1"/>
          <p:nvPr/>
        </p:nvSpPr>
        <p:spPr>
          <a:xfrm>
            <a:off x="6984268" y="2652398"/>
            <a:ext cx="900100" cy="369332"/>
          </a:xfrm>
          <a:prstGeom prst="rect">
            <a:avLst/>
          </a:prstGeom>
          <a:noFill/>
        </p:spPr>
        <p:txBody>
          <a:bodyPr wrap="square" lIns="0" tIns="0" rIns="0" bIns="0" rtlCol="0">
            <a:spAutoFit/>
          </a:bodyPr>
          <a:lstStyle/>
          <a:p>
            <a:pPr algn="ctr"/>
            <a:r>
              <a:rPr kumimoji="1" lang="en-US" altLang="ja-JP" sz="1200" dirty="0">
                <a:latin typeface="+mj-lt"/>
              </a:rPr>
              <a:t>Constellation</a:t>
            </a:r>
          </a:p>
          <a:p>
            <a:pPr algn="ctr"/>
            <a:r>
              <a:rPr lang="en-US" altLang="ja-JP" sz="1200" dirty="0">
                <a:latin typeface="+mj-lt"/>
              </a:rPr>
              <a:t>Plot</a:t>
            </a:r>
            <a:endParaRPr kumimoji="1" lang="en-US" altLang="ja-JP" sz="900" dirty="0">
              <a:latin typeface="+mj-lt"/>
            </a:endParaRPr>
          </a:p>
        </p:txBody>
      </p:sp>
      <p:cxnSp>
        <p:nvCxnSpPr>
          <p:cNvPr id="30" name="直線コネクタ 29">
            <a:extLst>
              <a:ext uri="{FF2B5EF4-FFF2-40B4-BE49-F238E27FC236}">
                <a16:creationId xmlns:a16="http://schemas.microsoft.com/office/drawing/2014/main" id="{90945BA4-585A-FAA2-0FE1-206F6E558A67}"/>
              </a:ext>
            </a:extLst>
          </p:cNvPr>
          <p:cNvCxnSpPr>
            <a:cxnSpLocks/>
            <a:stCxn id="27" idx="3"/>
            <a:endCxn id="28" idx="1"/>
          </p:cNvCxnSpPr>
          <p:nvPr/>
        </p:nvCxnSpPr>
        <p:spPr>
          <a:xfrm flipV="1">
            <a:off x="6553200" y="2837064"/>
            <a:ext cx="431068" cy="285902"/>
          </a:xfrm>
          <a:prstGeom prst="line">
            <a:avLst/>
          </a:prstGeom>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7EAD2471-E64C-E005-1BDB-14A1AF677912}"/>
              </a:ext>
            </a:extLst>
          </p:cNvPr>
          <p:cNvSpPr txBox="1"/>
          <p:nvPr/>
        </p:nvSpPr>
        <p:spPr>
          <a:xfrm>
            <a:off x="6851111" y="3048163"/>
            <a:ext cx="1141982" cy="600164"/>
          </a:xfrm>
          <a:prstGeom prst="rect">
            <a:avLst/>
          </a:prstGeom>
          <a:noFill/>
        </p:spPr>
        <p:txBody>
          <a:bodyPr wrap="square" lIns="0" tIns="0" rIns="0" bIns="0" rtlCol="0">
            <a:spAutoFit/>
          </a:bodyPr>
          <a:lstStyle/>
          <a:p>
            <a:pPr algn="ctr"/>
            <a:r>
              <a:rPr kumimoji="1" lang="en-US" altLang="ja-JP" sz="900" dirty="0">
                <a:latin typeface="+mj-lt"/>
              </a:rPr>
              <a:t>X-axis:</a:t>
            </a:r>
            <a:r>
              <a:rPr kumimoji="1" lang="ja-JP" altLang="en-US" sz="900" dirty="0">
                <a:latin typeface="+mj-lt"/>
              </a:rPr>
              <a:t> </a:t>
            </a:r>
            <a:r>
              <a:rPr kumimoji="1" lang="en-US" altLang="ja-JP" sz="900" dirty="0">
                <a:latin typeface="+mj-lt"/>
              </a:rPr>
              <a:t>IP-correlation</a:t>
            </a:r>
          </a:p>
          <a:p>
            <a:pPr algn="ctr"/>
            <a:r>
              <a:rPr lang="en-US" altLang="ja-JP" sz="900" dirty="0">
                <a:latin typeface="+mj-lt"/>
              </a:rPr>
              <a:t>Y-axis:</a:t>
            </a:r>
            <a:r>
              <a:rPr lang="ja-JP" altLang="en-US" sz="900" dirty="0">
                <a:latin typeface="+mj-lt"/>
              </a:rPr>
              <a:t> </a:t>
            </a:r>
            <a:r>
              <a:rPr lang="en-US" altLang="ja-JP" sz="900" dirty="0">
                <a:latin typeface="+mj-lt"/>
              </a:rPr>
              <a:t>QP-correlation</a:t>
            </a:r>
          </a:p>
          <a:p>
            <a:pPr algn="ctr"/>
            <a:r>
              <a:rPr lang="en-US" altLang="ja-JP" sz="800" dirty="0">
                <a:latin typeface="+mj-lt"/>
              </a:rPr>
              <a:t>Large</a:t>
            </a:r>
            <a:r>
              <a:rPr lang="ja-JP" altLang="en-US" sz="800" dirty="0">
                <a:latin typeface="+mj-lt"/>
              </a:rPr>
              <a:t> </a:t>
            </a:r>
            <a:r>
              <a:rPr lang="en-US" altLang="ja-JP" sz="800" dirty="0">
                <a:latin typeface="+mj-lt"/>
              </a:rPr>
              <a:t>dot:</a:t>
            </a:r>
          </a:p>
          <a:p>
            <a:pPr algn="ctr"/>
            <a:r>
              <a:rPr lang="en-US" altLang="ja-JP" sz="800" dirty="0">
                <a:latin typeface="+mj-lt"/>
              </a:rPr>
              <a:t>current</a:t>
            </a:r>
            <a:r>
              <a:rPr lang="ja-JP" altLang="en-US" sz="800" dirty="0">
                <a:latin typeface="+mj-lt"/>
              </a:rPr>
              <a:t> </a:t>
            </a:r>
            <a:r>
              <a:rPr lang="en-US" altLang="ja-JP" sz="800" dirty="0">
                <a:latin typeface="+mj-lt"/>
              </a:rPr>
              <a:t>correlation</a:t>
            </a:r>
          </a:p>
          <a:p>
            <a:pPr algn="ctr"/>
            <a:endParaRPr kumimoji="1" lang="en-US" altLang="ja-JP" sz="500" dirty="0">
              <a:latin typeface="+mj-lt"/>
            </a:endParaRPr>
          </a:p>
        </p:txBody>
      </p:sp>
      <p:sp>
        <p:nvSpPr>
          <p:cNvPr id="34" name="正方形/長方形 33">
            <a:extLst>
              <a:ext uri="{FF2B5EF4-FFF2-40B4-BE49-F238E27FC236}">
                <a16:creationId xmlns:a16="http://schemas.microsoft.com/office/drawing/2014/main" id="{018F0F57-61B4-85EB-24A1-EDC9EA7E56FA}"/>
              </a:ext>
            </a:extLst>
          </p:cNvPr>
          <p:cNvSpPr/>
          <p:nvPr/>
        </p:nvSpPr>
        <p:spPr>
          <a:xfrm>
            <a:off x="2586822" y="3750060"/>
            <a:ext cx="3966377" cy="122116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BDD098E4-98C3-A06D-65A0-28F02ECFFF61}"/>
              </a:ext>
            </a:extLst>
          </p:cNvPr>
          <p:cNvSpPr txBox="1"/>
          <p:nvPr/>
        </p:nvSpPr>
        <p:spPr>
          <a:xfrm>
            <a:off x="1193184" y="4556835"/>
            <a:ext cx="767441" cy="369332"/>
          </a:xfrm>
          <a:prstGeom prst="rect">
            <a:avLst/>
          </a:prstGeom>
          <a:noFill/>
        </p:spPr>
        <p:txBody>
          <a:bodyPr wrap="square" lIns="0" tIns="0" rIns="0" bIns="0" rtlCol="0">
            <a:spAutoFit/>
          </a:bodyPr>
          <a:lstStyle/>
          <a:p>
            <a:pPr algn="ctr"/>
            <a:r>
              <a:rPr kumimoji="1" lang="en-US" altLang="ja-JP" sz="1200" dirty="0">
                <a:latin typeface="+mj-lt"/>
              </a:rPr>
              <a:t>Correlation</a:t>
            </a:r>
          </a:p>
          <a:p>
            <a:pPr algn="ctr"/>
            <a:r>
              <a:rPr lang="en-US" altLang="ja-JP" sz="1200" dirty="0">
                <a:latin typeface="+mj-lt"/>
              </a:rPr>
              <a:t>History</a:t>
            </a:r>
            <a:r>
              <a:rPr lang="ja-JP" altLang="en-US" sz="1200" dirty="0">
                <a:latin typeface="+mj-lt"/>
              </a:rPr>
              <a:t> </a:t>
            </a:r>
            <a:r>
              <a:rPr lang="en-US" altLang="ja-JP" sz="1200" dirty="0">
                <a:latin typeface="+mj-lt"/>
              </a:rPr>
              <a:t>Plot</a:t>
            </a:r>
            <a:endParaRPr kumimoji="1" lang="en-US" altLang="ja-JP" sz="900" dirty="0">
              <a:latin typeface="+mj-lt"/>
            </a:endParaRPr>
          </a:p>
        </p:txBody>
      </p:sp>
      <p:cxnSp>
        <p:nvCxnSpPr>
          <p:cNvPr id="36" name="直線コネクタ 35">
            <a:extLst>
              <a:ext uri="{FF2B5EF4-FFF2-40B4-BE49-F238E27FC236}">
                <a16:creationId xmlns:a16="http://schemas.microsoft.com/office/drawing/2014/main" id="{15D8A6CF-8D8F-EC28-5F64-DABC8745AFB4}"/>
              </a:ext>
            </a:extLst>
          </p:cNvPr>
          <p:cNvCxnSpPr>
            <a:cxnSpLocks/>
            <a:stCxn id="35" idx="3"/>
            <a:endCxn id="34" idx="1"/>
          </p:cNvCxnSpPr>
          <p:nvPr/>
        </p:nvCxnSpPr>
        <p:spPr>
          <a:xfrm flipV="1">
            <a:off x="1960625" y="4360641"/>
            <a:ext cx="626197" cy="380860"/>
          </a:xfrm>
          <a:prstGeom prst="line">
            <a:avLst/>
          </a:prstGeom>
        </p:spPr>
        <p:style>
          <a:lnRef idx="1">
            <a:schemeClr val="accent1"/>
          </a:lnRef>
          <a:fillRef idx="0">
            <a:schemeClr val="accent1"/>
          </a:fillRef>
          <a:effectRef idx="0">
            <a:schemeClr val="accent1"/>
          </a:effectRef>
          <a:fontRef idx="minor">
            <a:schemeClr val="tx1"/>
          </a:fontRef>
        </p:style>
      </p:cxnSp>
      <p:sp>
        <p:nvSpPr>
          <p:cNvPr id="41" name="テキスト ボックス 40">
            <a:extLst>
              <a:ext uri="{FF2B5EF4-FFF2-40B4-BE49-F238E27FC236}">
                <a16:creationId xmlns:a16="http://schemas.microsoft.com/office/drawing/2014/main" id="{B3D44BE4-073D-8B4A-D556-9CFCDFC97C86}"/>
              </a:ext>
            </a:extLst>
          </p:cNvPr>
          <p:cNvSpPr txBox="1"/>
          <p:nvPr/>
        </p:nvSpPr>
        <p:spPr>
          <a:xfrm>
            <a:off x="910830" y="4971221"/>
            <a:ext cx="1332148" cy="276999"/>
          </a:xfrm>
          <a:prstGeom prst="rect">
            <a:avLst/>
          </a:prstGeom>
          <a:noFill/>
        </p:spPr>
        <p:txBody>
          <a:bodyPr wrap="square" lIns="0" tIns="0" rIns="0" bIns="0" rtlCol="0">
            <a:spAutoFit/>
          </a:bodyPr>
          <a:lstStyle/>
          <a:p>
            <a:pPr algn="ctr"/>
            <a:r>
              <a:rPr kumimoji="1" lang="en-US" altLang="ja-JP" sz="900" dirty="0">
                <a:latin typeface="+mj-lt"/>
              </a:rPr>
              <a:t>X-axis:</a:t>
            </a:r>
            <a:r>
              <a:rPr kumimoji="1" lang="ja-JP" altLang="en-US" sz="900" dirty="0">
                <a:latin typeface="+mj-lt"/>
              </a:rPr>
              <a:t> </a:t>
            </a:r>
            <a:r>
              <a:rPr lang="en-US" altLang="ja-JP" sz="900" dirty="0">
                <a:latin typeface="+mj-lt"/>
              </a:rPr>
              <a:t>receiver</a:t>
            </a:r>
            <a:r>
              <a:rPr lang="ja-JP" altLang="en-US" sz="900" dirty="0">
                <a:latin typeface="+mj-lt"/>
              </a:rPr>
              <a:t> </a:t>
            </a:r>
            <a:r>
              <a:rPr lang="en-US" altLang="ja-JP" sz="900" dirty="0">
                <a:latin typeface="+mj-lt"/>
              </a:rPr>
              <a:t>t</a:t>
            </a:r>
            <a:r>
              <a:rPr kumimoji="1" lang="en-US" altLang="ja-JP" sz="900" dirty="0">
                <a:latin typeface="+mj-lt"/>
              </a:rPr>
              <a:t>ime</a:t>
            </a:r>
            <a:r>
              <a:rPr kumimoji="1" lang="ja-JP" altLang="en-US" sz="900" dirty="0">
                <a:latin typeface="+mj-lt"/>
              </a:rPr>
              <a:t> </a:t>
            </a:r>
            <a:r>
              <a:rPr kumimoji="1" lang="en-US" altLang="ja-JP" sz="900" dirty="0">
                <a:latin typeface="+mj-lt"/>
              </a:rPr>
              <a:t>(s)</a:t>
            </a:r>
          </a:p>
          <a:p>
            <a:pPr algn="ctr"/>
            <a:r>
              <a:rPr lang="en-US" altLang="ja-JP" sz="900" dirty="0">
                <a:latin typeface="+mj-lt"/>
              </a:rPr>
              <a:t>Y-axis:</a:t>
            </a:r>
            <a:r>
              <a:rPr lang="ja-JP" altLang="en-US" sz="900" dirty="0">
                <a:latin typeface="+mj-lt"/>
              </a:rPr>
              <a:t> </a:t>
            </a:r>
            <a:r>
              <a:rPr lang="en-US" altLang="ja-JP" sz="900" dirty="0">
                <a:latin typeface="+mj-lt"/>
              </a:rPr>
              <a:t>IP</a:t>
            </a:r>
            <a:r>
              <a:rPr lang="ja-JP" altLang="en-US" sz="900" dirty="0">
                <a:latin typeface="+mj-lt"/>
              </a:rPr>
              <a:t> </a:t>
            </a:r>
            <a:r>
              <a:rPr lang="en-US" altLang="ja-JP" sz="900" dirty="0">
                <a:latin typeface="+mj-lt"/>
              </a:rPr>
              <a:t>or</a:t>
            </a:r>
            <a:r>
              <a:rPr lang="ja-JP" altLang="en-US" sz="900" dirty="0">
                <a:latin typeface="+mj-lt"/>
              </a:rPr>
              <a:t> </a:t>
            </a:r>
            <a:r>
              <a:rPr lang="en-US" altLang="ja-JP" sz="900" dirty="0">
                <a:latin typeface="+mj-lt"/>
              </a:rPr>
              <a:t>QP-correlation</a:t>
            </a:r>
            <a:endParaRPr kumimoji="1" lang="en-US" altLang="ja-JP" sz="500" dirty="0">
              <a:latin typeface="+mj-lt"/>
            </a:endParaRPr>
          </a:p>
        </p:txBody>
      </p:sp>
      <p:cxnSp>
        <p:nvCxnSpPr>
          <p:cNvPr id="42" name="直線コネクタ 41">
            <a:extLst>
              <a:ext uri="{FF2B5EF4-FFF2-40B4-BE49-F238E27FC236}">
                <a16:creationId xmlns:a16="http://schemas.microsoft.com/office/drawing/2014/main" id="{BC138A92-D490-0AE9-4FEE-9EABF516C7F2}"/>
              </a:ext>
            </a:extLst>
          </p:cNvPr>
          <p:cNvCxnSpPr>
            <a:cxnSpLocks/>
            <a:endCxn id="45" idx="1"/>
          </p:cNvCxnSpPr>
          <p:nvPr/>
        </p:nvCxnSpPr>
        <p:spPr>
          <a:xfrm>
            <a:off x="5724128" y="3928131"/>
            <a:ext cx="1176894" cy="862671"/>
          </a:xfrm>
          <a:prstGeom prst="line">
            <a:avLst/>
          </a:prstGeom>
        </p:spPr>
        <p:style>
          <a:lnRef idx="1">
            <a:schemeClr val="accent1"/>
          </a:lnRef>
          <a:fillRef idx="0">
            <a:schemeClr val="accent1"/>
          </a:fillRef>
          <a:effectRef idx="0">
            <a:schemeClr val="accent1"/>
          </a:effectRef>
          <a:fontRef idx="minor">
            <a:schemeClr val="tx1"/>
          </a:fontRef>
        </p:style>
      </p:cxnSp>
      <p:sp>
        <p:nvSpPr>
          <p:cNvPr id="45" name="テキスト ボックス 44">
            <a:extLst>
              <a:ext uri="{FF2B5EF4-FFF2-40B4-BE49-F238E27FC236}">
                <a16:creationId xmlns:a16="http://schemas.microsoft.com/office/drawing/2014/main" id="{86C7D5D5-2035-14E1-B5DD-B3D856968D3C}"/>
              </a:ext>
            </a:extLst>
          </p:cNvPr>
          <p:cNvSpPr txBox="1"/>
          <p:nvPr/>
        </p:nvSpPr>
        <p:spPr>
          <a:xfrm>
            <a:off x="6901022" y="4236804"/>
            <a:ext cx="983346" cy="1107996"/>
          </a:xfrm>
          <a:prstGeom prst="rect">
            <a:avLst/>
          </a:prstGeom>
          <a:noFill/>
        </p:spPr>
        <p:txBody>
          <a:bodyPr wrap="square" lIns="0" tIns="0" rIns="0" bIns="0" rtlCol="0">
            <a:spAutoFit/>
          </a:bodyPr>
          <a:lstStyle/>
          <a:p>
            <a:pPr algn="ctr"/>
            <a:r>
              <a:rPr kumimoji="1" lang="en-US" altLang="ja-JP" sz="900" dirty="0">
                <a:latin typeface="+mj-lt"/>
              </a:rPr>
              <a:t>C/N0,</a:t>
            </a:r>
            <a:r>
              <a:rPr kumimoji="1" lang="ja-JP" altLang="en-US" sz="900" dirty="0">
                <a:latin typeface="+mj-lt"/>
              </a:rPr>
              <a:t> </a:t>
            </a:r>
            <a:r>
              <a:rPr kumimoji="1" lang="en-US" altLang="ja-JP" sz="900" dirty="0">
                <a:latin typeface="+mj-lt"/>
              </a:rPr>
              <a:t>code</a:t>
            </a:r>
            <a:r>
              <a:rPr kumimoji="1" lang="ja-JP" altLang="en-US" sz="900" dirty="0">
                <a:latin typeface="+mj-lt"/>
              </a:rPr>
              <a:t> </a:t>
            </a:r>
            <a:r>
              <a:rPr kumimoji="1" lang="en-US" altLang="ja-JP" sz="900" dirty="0">
                <a:latin typeface="+mj-lt"/>
              </a:rPr>
              <a:t>offset,</a:t>
            </a:r>
            <a:r>
              <a:rPr kumimoji="1" lang="ja-JP" altLang="en-US" sz="900" dirty="0">
                <a:latin typeface="+mj-lt"/>
              </a:rPr>
              <a:t>　</a:t>
            </a:r>
            <a:r>
              <a:rPr kumimoji="1" lang="en-US" altLang="ja-JP" sz="900" dirty="0">
                <a:latin typeface="+mj-lt"/>
              </a:rPr>
              <a:t>Doppler</a:t>
            </a:r>
            <a:r>
              <a:rPr lang="ja-JP" altLang="en-US" sz="900" dirty="0">
                <a:latin typeface="+mj-lt"/>
              </a:rPr>
              <a:t> </a:t>
            </a:r>
            <a:r>
              <a:rPr kumimoji="1" lang="en-US" altLang="ja-JP" sz="900" dirty="0">
                <a:latin typeface="+mj-lt"/>
              </a:rPr>
              <a:t>Frequency,</a:t>
            </a:r>
            <a:r>
              <a:rPr kumimoji="1" lang="ja-JP" altLang="en-US" sz="900" dirty="0">
                <a:latin typeface="+mj-lt"/>
              </a:rPr>
              <a:t>　</a:t>
            </a:r>
            <a:r>
              <a:rPr lang="en-US" altLang="ja-JP" sz="900" dirty="0">
                <a:latin typeface="+mj-lt"/>
              </a:rPr>
              <a:t>a</a:t>
            </a:r>
            <a:r>
              <a:rPr kumimoji="1" lang="en-US" altLang="ja-JP" sz="900" dirty="0">
                <a:latin typeface="+mj-lt"/>
              </a:rPr>
              <a:t>ccumulated</a:t>
            </a:r>
            <a:r>
              <a:rPr kumimoji="1" lang="ja-JP" altLang="en-US" sz="900" dirty="0">
                <a:latin typeface="+mj-lt"/>
              </a:rPr>
              <a:t>　</a:t>
            </a:r>
            <a:r>
              <a:rPr kumimoji="1" lang="en-US" altLang="ja-JP" sz="900" dirty="0">
                <a:latin typeface="+mj-lt"/>
              </a:rPr>
              <a:t>Doppler</a:t>
            </a:r>
            <a:r>
              <a:rPr lang="ja-JP" altLang="en-US" sz="900" dirty="0">
                <a:latin typeface="+mj-lt"/>
              </a:rPr>
              <a:t> </a:t>
            </a:r>
            <a:r>
              <a:rPr lang="en-US" altLang="ja-JP" sz="900" dirty="0">
                <a:latin typeface="+mj-lt"/>
              </a:rPr>
              <a:t>r</a:t>
            </a:r>
            <a:r>
              <a:rPr kumimoji="1" lang="en-US" altLang="ja-JP" sz="900" dirty="0">
                <a:latin typeface="+mj-lt"/>
              </a:rPr>
              <a:t>ange,</a:t>
            </a:r>
            <a:r>
              <a:rPr kumimoji="1" lang="ja-JP" altLang="en-US" sz="900" dirty="0">
                <a:latin typeface="+mj-lt"/>
              </a:rPr>
              <a:t>　</a:t>
            </a:r>
            <a:r>
              <a:rPr lang="en-US" altLang="ja-JP" sz="900" dirty="0">
                <a:latin typeface="+mj-lt"/>
              </a:rPr>
              <a:t>s</a:t>
            </a:r>
            <a:r>
              <a:rPr kumimoji="1" lang="en-US" altLang="ja-JP" sz="900" dirty="0">
                <a:latin typeface="+mj-lt"/>
              </a:rPr>
              <a:t>ynchronization</a:t>
            </a:r>
            <a:r>
              <a:rPr kumimoji="1" lang="ja-JP" altLang="en-US" sz="900" dirty="0">
                <a:latin typeface="+mj-lt"/>
              </a:rPr>
              <a:t>　</a:t>
            </a:r>
            <a:r>
              <a:rPr lang="en-US" altLang="ja-JP" sz="900" dirty="0">
                <a:latin typeface="+mj-lt"/>
              </a:rPr>
              <a:t>s</a:t>
            </a:r>
            <a:r>
              <a:rPr kumimoji="1" lang="en-US" altLang="ja-JP" sz="900" dirty="0">
                <a:latin typeface="+mj-lt"/>
              </a:rPr>
              <a:t>tatus,</a:t>
            </a:r>
            <a:r>
              <a:rPr kumimoji="1" lang="ja-JP" altLang="en-US" sz="900" dirty="0">
                <a:latin typeface="+mj-lt"/>
              </a:rPr>
              <a:t>　</a:t>
            </a:r>
            <a:r>
              <a:rPr lang="en-US" altLang="ja-JP" sz="900" dirty="0">
                <a:latin typeface="+mj-lt"/>
              </a:rPr>
              <a:t>d</a:t>
            </a:r>
            <a:r>
              <a:rPr kumimoji="1" lang="en-US" altLang="ja-JP" sz="900" dirty="0">
                <a:latin typeface="+mj-lt"/>
              </a:rPr>
              <a:t>ecoded</a:t>
            </a:r>
            <a:r>
              <a:rPr kumimoji="1" lang="ja-JP" altLang="en-US" sz="900" dirty="0">
                <a:latin typeface="+mj-lt"/>
              </a:rPr>
              <a:t>　</a:t>
            </a:r>
            <a:r>
              <a:rPr kumimoji="1" lang="en-US" altLang="ja-JP" sz="900" dirty="0">
                <a:latin typeface="+mj-lt"/>
              </a:rPr>
              <a:t>subframe</a:t>
            </a:r>
            <a:r>
              <a:rPr kumimoji="1" lang="ja-JP" altLang="en-US" sz="900" dirty="0">
                <a:latin typeface="+mj-lt"/>
              </a:rPr>
              <a:t> </a:t>
            </a:r>
            <a:r>
              <a:rPr kumimoji="1" lang="en-US" altLang="ja-JP" sz="900" dirty="0">
                <a:latin typeface="+mj-lt"/>
              </a:rPr>
              <a:t>or</a:t>
            </a:r>
            <a:r>
              <a:rPr kumimoji="1" lang="ja-JP" altLang="en-US" sz="900" dirty="0">
                <a:latin typeface="+mj-lt"/>
              </a:rPr>
              <a:t> </a:t>
            </a:r>
            <a:r>
              <a:rPr kumimoji="1" lang="en-US" altLang="ja-JP" sz="900" dirty="0">
                <a:latin typeface="+mj-lt"/>
              </a:rPr>
              <a:t>message</a:t>
            </a:r>
            <a:r>
              <a:rPr kumimoji="1" lang="ja-JP" altLang="en-US" sz="900" dirty="0">
                <a:latin typeface="+mj-lt"/>
              </a:rPr>
              <a:t> </a:t>
            </a:r>
            <a:r>
              <a:rPr kumimoji="1" lang="en-US" altLang="ja-JP" sz="900" dirty="0">
                <a:latin typeface="+mj-lt"/>
              </a:rPr>
              <a:t>count</a:t>
            </a:r>
            <a:endParaRPr kumimoji="1" lang="en-US" altLang="ja-JP" sz="500" dirty="0">
              <a:latin typeface="+mj-lt"/>
            </a:endParaRPr>
          </a:p>
        </p:txBody>
      </p:sp>
      <p:sp>
        <p:nvSpPr>
          <p:cNvPr id="50" name="正方形/長方形 49">
            <a:extLst>
              <a:ext uri="{FF2B5EF4-FFF2-40B4-BE49-F238E27FC236}">
                <a16:creationId xmlns:a16="http://schemas.microsoft.com/office/drawing/2014/main" id="{37AFCE23-5CF8-E6DA-DE0B-E236B1F3B2E1}"/>
              </a:ext>
            </a:extLst>
          </p:cNvPr>
          <p:cNvSpPr/>
          <p:nvPr/>
        </p:nvSpPr>
        <p:spPr>
          <a:xfrm>
            <a:off x="5492568" y="2384884"/>
            <a:ext cx="315775"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テキスト ボックス 50">
            <a:extLst>
              <a:ext uri="{FF2B5EF4-FFF2-40B4-BE49-F238E27FC236}">
                <a16:creationId xmlns:a16="http://schemas.microsoft.com/office/drawing/2014/main" id="{9A841D3F-5672-6DB5-BDDB-E60012197D4F}"/>
              </a:ext>
            </a:extLst>
          </p:cNvPr>
          <p:cNvSpPr txBox="1"/>
          <p:nvPr/>
        </p:nvSpPr>
        <p:spPr>
          <a:xfrm>
            <a:off x="4394082" y="1342368"/>
            <a:ext cx="1010102" cy="369332"/>
          </a:xfrm>
          <a:prstGeom prst="rect">
            <a:avLst/>
          </a:prstGeom>
          <a:noFill/>
        </p:spPr>
        <p:txBody>
          <a:bodyPr wrap="square" lIns="0" tIns="0" rIns="0" bIns="0" rtlCol="0">
            <a:spAutoFit/>
          </a:bodyPr>
          <a:lstStyle/>
          <a:p>
            <a:pPr algn="ctr"/>
            <a:r>
              <a:rPr kumimoji="1" lang="en-US" altLang="ja-JP" sz="1200" dirty="0">
                <a:latin typeface="+mj-lt"/>
              </a:rPr>
              <a:t>Correlation</a:t>
            </a:r>
            <a:r>
              <a:rPr kumimoji="1" lang="ja-JP" altLang="en-US" sz="1200" dirty="0">
                <a:latin typeface="+mj-lt"/>
              </a:rPr>
              <a:t> </a:t>
            </a:r>
            <a:r>
              <a:rPr kumimoji="1" lang="en-US" altLang="ja-JP" sz="1200" dirty="0">
                <a:latin typeface="+mj-lt"/>
              </a:rPr>
              <a:t>Plot</a:t>
            </a:r>
            <a:r>
              <a:rPr kumimoji="1" lang="ja-JP" altLang="en-US" sz="1200" dirty="0">
                <a:latin typeface="+mj-lt"/>
              </a:rPr>
              <a:t> </a:t>
            </a:r>
            <a:r>
              <a:rPr kumimoji="1" lang="en-US" altLang="ja-JP" sz="1200" dirty="0">
                <a:latin typeface="+mj-lt"/>
              </a:rPr>
              <a:t>Type</a:t>
            </a:r>
            <a:r>
              <a:rPr kumimoji="1" lang="ja-JP" altLang="en-US" sz="1200" dirty="0">
                <a:latin typeface="+mj-lt"/>
              </a:rPr>
              <a:t> </a:t>
            </a:r>
            <a:r>
              <a:rPr kumimoji="1" lang="en-US" altLang="ja-JP" sz="1200" dirty="0">
                <a:latin typeface="+mj-lt"/>
              </a:rPr>
              <a:t>Selection</a:t>
            </a:r>
            <a:endParaRPr kumimoji="1" lang="en-US" altLang="ja-JP" sz="900" dirty="0">
              <a:latin typeface="+mj-lt"/>
            </a:endParaRPr>
          </a:p>
        </p:txBody>
      </p:sp>
      <p:cxnSp>
        <p:nvCxnSpPr>
          <p:cNvPr id="52" name="直線コネクタ 51">
            <a:extLst>
              <a:ext uri="{FF2B5EF4-FFF2-40B4-BE49-F238E27FC236}">
                <a16:creationId xmlns:a16="http://schemas.microsoft.com/office/drawing/2014/main" id="{D13A6739-2840-AB87-3BB8-C59A5C81E71A}"/>
              </a:ext>
            </a:extLst>
          </p:cNvPr>
          <p:cNvCxnSpPr>
            <a:cxnSpLocks/>
            <a:stCxn id="51" idx="2"/>
            <a:endCxn id="50" idx="1"/>
          </p:cNvCxnSpPr>
          <p:nvPr/>
        </p:nvCxnSpPr>
        <p:spPr>
          <a:xfrm>
            <a:off x="4899133" y="1711700"/>
            <a:ext cx="593435" cy="745192"/>
          </a:xfrm>
          <a:prstGeom prst="line">
            <a:avLst/>
          </a:prstGeom>
        </p:spPr>
        <p:style>
          <a:lnRef idx="1">
            <a:schemeClr val="accent1"/>
          </a:lnRef>
          <a:fillRef idx="0">
            <a:schemeClr val="accent1"/>
          </a:fillRef>
          <a:effectRef idx="0">
            <a:schemeClr val="accent1"/>
          </a:effectRef>
          <a:fontRef idx="minor">
            <a:schemeClr val="tx1"/>
          </a:fontRef>
        </p:style>
      </p:cxnSp>
      <p:sp>
        <p:nvSpPr>
          <p:cNvPr id="55" name="正方形/長方形 54">
            <a:extLst>
              <a:ext uri="{FF2B5EF4-FFF2-40B4-BE49-F238E27FC236}">
                <a16:creationId xmlns:a16="http://schemas.microsoft.com/office/drawing/2014/main" id="{B4E6FFDD-7F14-BF8C-6CC8-D49DDDF49BD6}"/>
              </a:ext>
            </a:extLst>
          </p:cNvPr>
          <p:cNvSpPr/>
          <p:nvPr/>
        </p:nvSpPr>
        <p:spPr>
          <a:xfrm>
            <a:off x="6039902" y="2384884"/>
            <a:ext cx="232213"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テキスト ボックス 55">
            <a:extLst>
              <a:ext uri="{FF2B5EF4-FFF2-40B4-BE49-F238E27FC236}">
                <a16:creationId xmlns:a16="http://schemas.microsoft.com/office/drawing/2014/main" id="{C52348EC-D19A-3A73-2BE7-7B245A5364D6}"/>
              </a:ext>
            </a:extLst>
          </p:cNvPr>
          <p:cNvSpPr txBox="1"/>
          <p:nvPr/>
        </p:nvSpPr>
        <p:spPr>
          <a:xfrm>
            <a:off x="6619606" y="1330752"/>
            <a:ext cx="1428222" cy="553998"/>
          </a:xfrm>
          <a:prstGeom prst="rect">
            <a:avLst/>
          </a:prstGeom>
          <a:noFill/>
        </p:spPr>
        <p:txBody>
          <a:bodyPr wrap="square" lIns="0" tIns="0" rIns="0" bIns="0" rtlCol="0">
            <a:spAutoFit/>
          </a:bodyPr>
          <a:lstStyle/>
          <a:p>
            <a:pPr algn="ctr"/>
            <a:r>
              <a:rPr kumimoji="1" lang="en-US" altLang="ja-JP" sz="1200" dirty="0">
                <a:latin typeface="+mj-lt"/>
              </a:rPr>
              <a:t>Time</a:t>
            </a:r>
            <a:r>
              <a:rPr kumimoji="1" lang="ja-JP" altLang="en-US" sz="1200" dirty="0">
                <a:latin typeface="+mj-lt"/>
              </a:rPr>
              <a:t> </a:t>
            </a:r>
            <a:r>
              <a:rPr kumimoji="1" lang="en-US" altLang="ja-JP" sz="1200" dirty="0">
                <a:latin typeface="+mj-lt"/>
              </a:rPr>
              <a:t>Span</a:t>
            </a:r>
            <a:r>
              <a:rPr kumimoji="1" lang="ja-JP" altLang="en-US" sz="1200" dirty="0">
                <a:latin typeface="+mj-lt"/>
              </a:rPr>
              <a:t> </a:t>
            </a:r>
            <a:r>
              <a:rPr kumimoji="1" lang="en-US" altLang="ja-JP" sz="1200" dirty="0">
                <a:latin typeface="+mj-lt"/>
              </a:rPr>
              <a:t>Selection</a:t>
            </a:r>
            <a:r>
              <a:rPr kumimoji="1" lang="ja-JP" altLang="en-US" sz="1200" dirty="0">
                <a:latin typeface="+mj-lt"/>
              </a:rPr>
              <a:t> </a:t>
            </a:r>
            <a:r>
              <a:rPr kumimoji="1" lang="en-US" altLang="ja-JP" sz="1200" dirty="0">
                <a:latin typeface="+mj-lt"/>
              </a:rPr>
              <a:t>for</a:t>
            </a:r>
            <a:r>
              <a:rPr kumimoji="1" lang="ja-JP" altLang="en-US" sz="1200" dirty="0">
                <a:latin typeface="+mj-lt"/>
              </a:rPr>
              <a:t> </a:t>
            </a:r>
            <a:r>
              <a:rPr kumimoji="1" lang="en-US" altLang="ja-JP" sz="1200" dirty="0">
                <a:latin typeface="+mj-lt"/>
              </a:rPr>
              <a:t>Correlation</a:t>
            </a:r>
            <a:r>
              <a:rPr kumimoji="1" lang="ja-JP" altLang="en-US" sz="1200" dirty="0">
                <a:latin typeface="+mj-lt"/>
              </a:rPr>
              <a:t> </a:t>
            </a:r>
            <a:r>
              <a:rPr kumimoji="1" lang="en-US" altLang="ja-JP" sz="1200" dirty="0">
                <a:latin typeface="+mj-lt"/>
              </a:rPr>
              <a:t>History</a:t>
            </a:r>
            <a:r>
              <a:rPr kumimoji="1" lang="ja-JP" altLang="en-US" sz="1200" dirty="0">
                <a:latin typeface="+mj-lt"/>
              </a:rPr>
              <a:t> </a:t>
            </a:r>
            <a:r>
              <a:rPr kumimoji="1" lang="en-US" altLang="ja-JP" sz="1200" dirty="0">
                <a:latin typeface="+mj-lt"/>
              </a:rPr>
              <a:t>or</a:t>
            </a:r>
            <a:r>
              <a:rPr kumimoji="1" lang="ja-JP" altLang="en-US" sz="1200" dirty="0">
                <a:latin typeface="+mj-lt"/>
              </a:rPr>
              <a:t> </a:t>
            </a:r>
            <a:r>
              <a:rPr kumimoji="1" lang="en-US" altLang="ja-JP" sz="1200" dirty="0">
                <a:latin typeface="+mj-lt"/>
              </a:rPr>
              <a:t>Constellation</a:t>
            </a:r>
            <a:r>
              <a:rPr kumimoji="1" lang="ja-JP" altLang="en-US" sz="1200" dirty="0">
                <a:latin typeface="+mj-lt"/>
              </a:rPr>
              <a:t> </a:t>
            </a:r>
            <a:r>
              <a:rPr kumimoji="1" lang="en-US" altLang="ja-JP" sz="1200" dirty="0">
                <a:latin typeface="+mj-lt"/>
              </a:rPr>
              <a:t>Plot</a:t>
            </a:r>
            <a:endParaRPr kumimoji="1" lang="en-US" altLang="ja-JP" sz="900" dirty="0">
              <a:latin typeface="+mj-lt"/>
            </a:endParaRPr>
          </a:p>
        </p:txBody>
      </p:sp>
      <p:cxnSp>
        <p:nvCxnSpPr>
          <p:cNvPr id="57" name="直線コネクタ 56">
            <a:extLst>
              <a:ext uri="{FF2B5EF4-FFF2-40B4-BE49-F238E27FC236}">
                <a16:creationId xmlns:a16="http://schemas.microsoft.com/office/drawing/2014/main" id="{1BAE03B0-27B6-6F12-4BC0-7C9E680D9666}"/>
              </a:ext>
            </a:extLst>
          </p:cNvPr>
          <p:cNvCxnSpPr>
            <a:cxnSpLocks/>
            <a:stCxn id="56" idx="2"/>
            <a:endCxn id="55" idx="0"/>
          </p:cNvCxnSpPr>
          <p:nvPr/>
        </p:nvCxnSpPr>
        <p:spPr>
          <a:xfrm flipH="1">
            <a:off x="6156009" y="1884750"/>
            <a:ext cx="1177708" cy="500134"/>
          </a:xfrm>
          <a:prstGeom prst="line">
            <a:avLst/>
          </a:prstGeom>
        </p:spPr>
        <p:style>
          <a:lnRef idx="1">
            <a:schemeClr val="accent1"/>
          </a:lnRef>
          <a:fillRef idx="0">
            <a:schemeClr val="accent1"/>
          </a:fillRef>
          <a:effectRef idx="0">
            <a:schemeClr val="accent1"/>
          </a:effectRef>
          <a:fontRef idx="minor">
            <a:schemeClr val="tx1"/>
          </a:fontRef>
        </p:style>
      </p:cxnSp>
      <p:sp>
        <p:nvSpPr>
          <p:cNvPr id="61" name="正方形/長方形 60">
            <a:extLst>
              <a:ext uri="{FF2B5EF4-FFF2-40B4-BE49-F238E27FC236}">
                <a16:creationId xmlns:a16="http://schemas.microsoft.com/office/drawing/2014/main" id="{AD9F7C4A-81D6-7710-98AF-364EB9401744}"/>
              </a:ext>
            </a:extLst>
          </p:cNvPr>
          <p:cNvSpPr/>
          <p:nvPr/>
        </p:nvSpPr>
        <p:spPr>
          <a:xfrm>
            <a:off x="6275740" y="2384965"/>
            <a:ext cx="232213"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テキスト ボックス 61">
            <a:extLst>
              <a:ext uri="{FF2B5EF4-FFF2-40B4-BE49-F238E27FC236}">
                <a16:creationId xmlns:a16="http://schemas.microsoft.com/office/drawing/2014/main" id="{0B4BCDE6-491E-79C8-6FC0-A2E940B26093}"/>
              </a:ext>
            </a:extLst>
          </p:cNvPr>
          <p:cNvSpPr txBox="1"/>
          <p:nvPr/>
        </p:nvSpPr>
        <p:spPr>
          <a:xfrm>
            <a:off x="6942645" y="2209970"/>
            <a:ext cx="900100" cy="369332"/>
          </a:xfrm>
          <a:prstGeom prst="rect">
            <a:avLst/>
          </a:prstGeom>
          <a:noFill/>
        </p:spPr>
        <p:txBody>
          <a:bodyPr wrap="square" lIns="0" tIns="0" rIns="0" bIns="0" rtlCol="0">
            <a:spAutoFit/>
          </a:bodyPr>
          <a:lstStyle/>
          <a:p>
            <a:pPr algn="ctr"/>
            <a:r>
              <a:rPr kumimoji="1" lang="en-US" altLang="ja-JP" sz="1200" dirty="0">
                <a:latin typeface="+mj-lt"/>
              </a:rPr>
              <a:t>Y-axis</a:t>
            </a:r>
            <a:r>
              <a:rPr kumimoji="1" lang="ja-JP" altLang="en-US" sz="1200" dirty="0">
                <a:latin typeface="+mj-lt"/>
              </a:rPr>
              <a:t> </a:t>
            </a:r>
            <a:r>
              <a:rPr kumimoji="1" lang="en-US" altLang="ja-JP" sz="1200" dirty="0">
                <a:latin typeface="+mj-lt"/>
              </a:rPr>
              <a:t>Range</a:t>
            </a:r>
            <a:r>
              <a:rPr kumimoji="1" lang="ja-JP" altLang="en-US" sz="1200" dirty="0">
                <a:latin typeface="+mj-lt"/>
              </a:rPr>
              <a:t> </a:t>
            </a:r>
            <a:r>
              <a:rPr kumimoji="1" lang="en-US" altLang="ja-JP" sz="1200" dirty="0">
                <a:latin typeface="+mj-lt"/>
              </a:rPr>
              <a:t>Selection</a:t>
            </a:r>
            <a:r>
              <a:rPr kumimoji="1" lang="ja-JP" altLang="en-US" sz="1200" dirty="0">
                <a:latin typeface="+mj-lt"/>
              </a:rPr>
              <a:t> </a:t>
            </a:r>
            <a:endParaRPr kumimoji="1" lang="en-US" altLang="ja-JP" sz="900" dirty="0">
              <a:latin typeface="+mj-lt"/>
            </a:endParaRPr>
          </a:p>
        </p:txBody>
      </p:sp>
      <p:cxnSp>
        <p:nvCxnSpPr>
          <p:cNvPr id="64" name="直線コネクタ 63">
            <a:extLst>
              <a:ext uri="{FF2B5EF4-FFF2-40B4-BE49-F238E27FC236}">
                <a16:creationId xmlns:a16="http://schemas.microsoft.com/office/drawing/2014/main" id="{37E19CDA-771F-0074-7A14-1E4BEFA2F3CD}"/>
              </a:ext>
            </a:extLst>
          </p:cNvPr>
          <p:cNvCxnSpPr>
            <a:cxnSpLocks/>
            <a:stCxn id="61" idx="3"/>
            <a:endCxn id="62" idx="1"/>
          </p:cNvCxnSpPr>
          <p:nvPr/>
        </p:nvCxnSpPr>
        <p:spPr>
          <a:xfrm flipV="1">
            <a:off x="6507953" y="2394636"/>
            <a:ext cx="434692" cy="62337"/>
          </a:xfrm>
          <a:prstGeom prst="line">
            <a:avLst/>
          </a:prstGeom>
        </p:spPr>
        <p:style>
          <a:lnRef idx="1">
            <a:schemeClr val="accent1"/>
          </a:lnRef>
          <a:fillRef idx="0">
            <a:schemeClr val="accent1"/>
          </a:fillRef>
          <a:effectRef idx="0">
            <a:schemeClr val="accent1"/>
          </a:effectRef>
          <a:fontRef idx="minor">
            <a:schemeClr val="tx1"/>
          </a:fontRef>
        </p:style>
      </p:cxnSp>
      <p:sp>
        <p:nvSpPr>
          <p:cNvPr id="73" name="テキスト ボックス 72">
            <a:extLst>
              <a:ext uri="{FF2B5EF4-FFF2-40B4-BE49-F238E27FC236}">
                <a16:creationId xmlns:a16="http://schemas.microsoft.com/office/drawing/2014/main" id="{2ABF249E-CAFD-1B40-EC26-742BC680FAC2}"/>
              </a:ext>
            </a:extLst>
          </p:cNvPr>
          <p:cNvSpPr txBox="1"/>
          <p:nvPr/>
        </p:nvSpPr>
        <p:spPr>
          <a:xfrm>
            <a:off x="2375756" y="5920722"/>
            <a:ext cx="4248472" cy="415498"/>
          </a:xfrm>
          <a:prstGeom prst="rect">
            <a:avLst/>
          </a:prstGeom>
          <a:noFill/>
        </p:spPr>
        <p:txBody>
          <a:bodyPr wrap="square" lIns="0" tIns="0" rIns="0" bIns="0" rtlCol="0">
            <a:spAutoFit/>
          </a:bodyPr>
          <a:lstStyle/>
          <a:p>
            <a:pPr algn="ctr"/>
            <a:r>
              <a:rPr lang="ja-JP" altLang="en-US" sz="900" dirty="0">
                <a:latin typeface="+mj-lt"/>
              </a:rPr>
              <a:t>*</a:t>
            </a:r>
            <a:r>
              <a:rPr lang="en-US" altLang="ja-JP" sz="900" dirty="0">
                <a:latin typeface="+mj-lt"/>
              </a:rPr>
              <a:t>1</a:t>
            </a:r>
            <a:r>
              <a:rPr lang="ja-JP" altLang="en-US" sz="900" dirty="0">
                <a:latin typeface="+mj-lt"/>
              </a:rPr>
              <a:t>  </a:t>
            </a:r>
            <a:r>
              <a:rPr lang="en-US" altLang="ja-JP" sz="900" dirty="0">
                <a:latin typeface="+mj-lt"/>
              </a:rPr>
              <a:t>BB</a:t>
            </a:r>
            <a:r>
              <a:rPr lang="ja-JP" altLang="en-US" sz="900" dirty="0">
                <a:latin typeface="+mj-lt"/>
              </a:rPr>
              <a:t> </a:t>
            </a:r>
            <a:r>
              <a:rPr lang="en-US" altLang="ja-JP" sz="900" dirty="0">
                <a:latin typeface="+mj-lt"/>
              </a:rPr>
              <a:t>CH</a:t>
            </a:r>
            <a:r>
              <a:rPr lang="ja-JP" altLang="en-US" sz="900" dirty="0">
                <a:latin typeface="+mj-lt"/>
              </a:rPr>
              <a:t> </a:t>
            </a:r>
            <a:r>
              <a:rPr lang="en-US" altLang="ja-JP" sz="900" dirty="0">
                <a:latin typeface="+mj-lt"/>
              </a:rPr>
              <a:t>can</a:t>
            </a:r>
            <a:r>
              <a:rPr lang="ja-JP" altLang="en-US" sz="900" dirty="0">
                <a:latin typeface="+mj-lt"/>
              </a:rPr>
              <a:t> </a:t>
            </a:r>
            <a:r>
              <a:rPr lang="en-US" altLang="ja-JP" sz="900" dirty="0">
                <a:latin typeface="+mj-lt"/>
              </a:rPr>
              <a:t>be</a:t>
            </a:r>
            <a:r>
              <a:rPr lang="ja-JP" altLang="en-US" sz="900" dirty="0">
                <a:latin typeface="+mj-lt"/>
              </a:rPr>
              <a:t> </a:t>
            </a:r>
            <a:r>
              <a:rPr lang="en-US" altLang="ja-JP" sz="900" dirty="0">
                <a:latin typeface="+mj-lt"/>
              </a:rPr>
              <a:t>selected</a:t>
            </a:r>
            <a:r>
              <a:rPr lang="ja-JP" altLang="en-US" sz="900" dirty="0">
                <a:latin typeface="+mj-lt"/>
              </a:rPr>
              <a:t> </a:t>
            </a:r>
            <a:r>
              <a:rPr lang="en-US" altLang="ja-JP" sz="900" dirty="0">
                <a:latin typeface="+mj-lt"/>
              </a:rPr>
              <a:t>by</a:t>
            </a:r>
            <a:r>
              <a:rPr lang="ja-JP" altLang="en-US" sz="900" dirty="0">
                <a:latin typeface="+mj-lt"/>
              </a:rPr>
              <a:t> </a:t>
            </a:r>
            <a:r>
              <a:rPr lang="en-US" altLang="ja-JP" sz="900" dirty="0">
                <a:latin typeface="+mj-lt"/>
              </a:rPr>
              <a:t>clicking</a:t>
            </a:r>
            <a:r>
              <a:rPr lang="ja-JP" altLang="en-US" sz="900" dirty="0">
                <a:latin typeface="+mj-lt"/>
              </a:rPr>
              <a:t> </a:t>
            </a:r>
            <a:r>
              <a:rPr lang="en-US" altLang="ja-JP" sz="900" dirty="0">
                <a:latin typeface="+mj-lt"/>
              </a:rPr>
              <a:t>BB</a:t>
            </a:r>
            <a:r>
              <a:rPr lang="ja-JP" altLang="en-US" sz="900" dirty="0">
                <a:latin typeface="+mj-lt"/>
              </a:rPr>
              <a:t> </a:t>
            </a:r>
            <a:r>
              <a:rPr lang="en-US" altLang="ja-JP" sz="900" dirty="0">
                <a:latin typeface="+mj-lt"/>
              </a:rPr>
              <a:t>CH</a:t>
            </a:r>
            <a:r>
              <a:rPr lang="ja-JP" altLang="en-US" sz="900" dirty="0">
                <a:latin typeface="+mj-lt"/>
              </a:rPr>
              <a:t> </a:t>
            </a:r>
            <a:r>
              <a:rPr lang="en-US" altLang="ja-JP" sz="900" dirty="0">
                <a:latin typeface="+mj-lt"/>
              </a:rPr>
              <a:t>Status</a:t>
            </a:r>
            <a:r>
              <a:rPr lang="ja-JP" altLang="en-US" sz="900" dirty="0">
                <a:latin typeface="+mj-lt"/>
              </a:rPr>
              <a:t> </a:t>
            </a:r>
            <a:r>
              <a:rPr lang="en-US" altLang="ja-JP" sz="900" dirty="0">
                <a:latin typeface="+mj-lt"/>
              </a:rPr>
              <a:t>row</a:t>
            </a:r>
            <a:r>
              <a:rPr lang="ja-JP" altLang="en-US" sz="900" dirty="0">
                <a:latin typeface="+mj-lt"/>
              </a:rPr>
              <a:t> </a:t>
            </a:r>
            <a:r>
              <a:rPr lang="en-US" altLang="ja-JP" sz="900" dirty="0">
                <a:latin typeface="+mj-lt"/>
              </a:rPr>
              <a:t>in</a:t>
            </a:r>
            <a:r>
              <a:rPr lang="ja-JP" altLang="en-US" sz="900" dirty="0">
                <a:latin typeface="+mj-lt"/>
              </a:rPr>
              <a:t> </a:t>
            </a:r>
            <a:r>
              <a:rPr lang="en-US" altLang="ja-JP" sz="900" dirty="0">
                <a:latin typeface="+mj-lt"/>
              </a:rPr>
              <a:t>BB</a:t>
            </a:r>
            <a:r>
              <a:rPr lang="ja-JP" altLang="en-US" sz="900" dirty="0">
                <a:latin typeface="+mj-lt"/>
              </a:rPr>
              <a:t> </a:t>
            </a:r>
            <a:r>
              <a:rPr lang="en-US" altLang="ja-JP" sz="900" dirty="0">
                <a:latin typeface="+mj-lt"/>
              </a:rPr>
              <a:t>CH</a:t>
            </a:r>
            <a:r>
              <a:rPr lang="ja-JP" altLang="en-US" sz="900" dirty="0">
                <a:latin typeface="+mj-lt"/>
              </a:rPr>
              <a:t> </a:t>
            </a:r>
            <a:r>
              <a:rPr lang="en-US" altLang="ja-JP" sz="900" dirty="0">
                <a:latin typeface="+mj-lt"/>
              </a:rPr>
              <a:t>Page</a:t>
            </a:r>
          </a:p>
          <a:p>
            <a:pPr algn="ctr"/>
            <a:r>
              <a:rPr lang="ja-JP" altLang="en-US" sz="900" dirty="0">
                <a:latin typeface="+mj-lt"/>
              </a:rPr>
              <a:t>*</a:t>
            </a:r>
            <a:r>
              <a:rPr lang="en-US" altLang="ja-JP" sz="900" dirty="0">
                <a:latin typeface="+mj-lt"/>
              </a:rPr>
              <a:t>2</a:t>
            </a:r>
            <a:r>
              <a:rPr lang="ja-JP" altLang="en-US" sz="900" dirty="0">
                <a:latin typeface="+mj-lt"/>
              </a:rPr>
              <a:t>  </a:t>
            </a:r>
            <a:r>
              <a:rPr lang="en-US" altLang="ja-JP" sz="900" dirty="0">
                <a:latin typeface="+mj-lt"/>
              </a:rPr>
              <a:t>Integration</a:t>
            </a:r>
            <a:r>
              <a:rPr lang="ja-JP" altLang="en-US" sz="900" dirty="0">
                <a:latin typeface="+mj-lt"/>
              </a:rPr>
              <a:t> </a:t>
            </a:r>
            <a:r>
              <a:rPr lang="en-US" altLang="ja-JP" sz="900" dirty="0">
                <a:latin typeface="+mj-lt"/>
              </a:rPr>
              <a:t>time</a:t>
            </a:r>
            <a:r>
              <a:rPr lang="ja-JP" altLang="en-US" sz="900" dirty="0">
                <a:latin typeface="+mj-lt"/>
              </a:rPr>
              <a:t> </a:t>
            </a:r>
            <a:r>
              <a:rPr lang="en-US" altLang="ja-JP" sz="900" dirty="0">
                <a:latin typeface="+mj-lt"/>
              </a:rPr>
              <a:t>is</a:t>
            </a:r>
            <a:r>
              <a:rPr lang="ja-JP" altLang="en-US" sz="900" dirty="0">
                <a:latin typeface="+mj-lt"/>
              </a:rPr>
              <a:t> </a:t>
            </a:r>
            <a:r>
              <a:rPr lang="en-US" altLang="ja-JP" sz="900" dirty="0">
                <a:latin typeface="+mj-lt"/>
              </a:rPr>
              <a:t>based</a:t>
            </a:r>
            <a:r>
              <a:rPr lang="ja-JP" altLang="en-US" sz="900" dirty="0">
                <a:latin typeface="+mj-lt"/>
              </a:rPr>
              <a:t> </a:t>
            </a:r>
            <a:r>
              <a:rPr lang="en-US" altLang="ja-JP" sz="900" dirty="0">
                <a:latin typeface="+mj-lt"/>
              </a:rPr>
              <a:t>on</a:t>
            </a:r>
            <a:r>
              <a:rPr lang="ja-JP" altLang="en-US" sz="900" dirty="0">
                <a:latin typeface="+mj-lt"/>
              </a:rPr>
              <a:t> </a:t>
            </a:r>
            <a:r>
              <a:rPr lang="en-US" altLang="ja-JP" sz="900" dirty="0">
                <a:latin typeface="+mj-lt"/>
              </a:rPr>
              <a:t>non-coherent</a:t>
            </a:r>
            <a:r>
              <a:rPr lang="ja-JP" altLang="en-US" sz="900" dirty="0">
                <a:latin typeface="+mj-lt"/>
              </a:rPr>
              <a:t> </a:t>
            </a:r>
            <a:r>
              <a:rPr lang="en-US" altLang="ja-JP" sz="900" dirty="0">
                <a:latin typeface="+mj-lt"/>
              </a:rPr>
              <a:t>integration</a:t>
            </a:r>
            <a:r>
              <a:rPr lang="ja-JP" altLang="en-US" sz="900" dirty="0">
                <a:latin typeface="+mj-lt"/>
              </a:rPr>
              <a:t> </a:t>
            </a:r>
            <a:r>
              <a:rPr lang="en-US" altLang="ja-JP" sz="900" dirty="0">
                <a:latin typeface="+mj-lt"/>
              </a:rPr>
              <a:t>time</a:t>
            </a:r>
            <a:r>
              <a:rPr lang="ja-JP" altLang="en-US" sz="900" dirty="0">
                <a:latin typeface="+mj-lt"/>
              </a:rPr>
              <a:t> </a:t>
            </a:r>
            <a:r>
              <a:rPr lang="en-US" altLang="ja-JP" sz="900" dirty="0">
                <a:latin typeface="+mj-lt"/>
              </a:rPr>
              <a:t>for</a:t>
            </a:r>
            <a:r>
              <a:rPr lang="ja-JP" altLang="en-US" sz="900" dirty="0">
                <a:latin typeface="+mj-lt"/>
              </a:rPr>
              <a:t> </a:t>
            </a:r>
            <a:r>
              <a:rPr lang="en-US" altLang="ja-JP" sz="900" dirty="0">
                <a:latin typeface="+mj-lt"/>
              </a:rPr>
              <a:t>DLL</a:t>
            </a:r>
          </a:p>
          <a:p>
            <a:pPr algn="ctr"/>
            <a:r>
              <a:rPr lang="ja-JP" altLang="en-US" sz="900" dirty="0">
                <a:latin typeface="+mj-lt"/>
              </a:rPr>
              <a:t>*</a:t>
            </a:r>
            <a:r>
              <a:rPr lang="en-US" altLang="ja-JP" sz="900" dirty="0">
                <a:latin typeface="+mj-lt"/>
              </a:rPr>
              <a:t>3</a:t>
            </a:r>
            <a:r>
              <a:rPr lang="ja-JP" altLang="en-US" sz="900" dirty="0">
                <a:latin typeface="+mj-lt"/>
              </a:rPr>
              <a:t>  </a:t>
            </a:r>
            <a:r>
              <a:rPr lang="en-US" altLang="ja-JP" sz="900" dirty="0">
                <a:latin typeface="+mj-lt"/>
              </a:rPr>
              <a:t>VE</a:t>
            </a:r>
            <a:r>
              <a:rPr lang="ja-JP" altLang="en-US" sz="900" dirty="0">
                <a:latin typeface="+mj-lt"/>
              </a:rPr>
              <a:t> </a:t>
            </a:r>
            <a:r>
              <a:rPr lang="en-US" altLang="ja-JP" sz="900" dirty="0">
                <a:latin typeface="+mj-lt"/>
              </a:rPr>
              <a:t>and</a:t>
            </a:r>
            <a:r>
              <a:rPr lang="ja-JP" altLang="en-US" sz="900" dirty="0">
                <a:latin typeface="+mj-lt"/>
              </a:rPr>
              <a:t> </a:t>
            </a:r>
            <a:r>
              <a:rPr lang="en-US" altLang="ja-JP" sz="900" dirty="0">
                <a:latin typeface="+mj-lt"/>
              </a:rPr>
              <a:t>VL</a:t>
            </a:r>
            <a:r>
              <a:rPr lang="ja-JP" altLang="en-US" sz="900" dirty="0">
                <a:latin typeface="+mj-lt"/>
              </a:rPr>
              <a:t> </a:t>
            </a:r>
            <a:r>
              <a:rPr lang="en-US" altLang="ja-JP" sz="900" dirty="0">
                <a:latin typeface="+mj-lt"/>
              </a:rPr>
              <a:t>are</a:t>
            </a:r>
            <a:r>
              <a:rPr lang="ja-JP" altLang="en-US" sz="900" dirty="0">
                <a:latin typeface="+mj-lt"/>
              </a:rPr>
              <a:t> </a:t>
            </a:r>
            <a:r>
              <a:rPr lang="en-US" altLang="ja-JP" sz="900" dirty="0">
                <a:latin typeface="+mj-lt"/>
              </a:rPr>
              <a:t>only</a:t>
            </a:r>
            <a:r>
              <a:rPr lang="ja-JP" altLang="en-US" sz="900" dirty="0">
                <a:latin typeface="+mj-lt"/>
              </a:rPr>
              <a:t> </a:t>
            </a:r>
            <a:r>
              <a:rPr lang="en-US" altLang="ja-JP" sz="900" dirty="0">
                <a:latin typeface="+mj-lt"/>
              </a:rPr>
              <a:t>shown</a:t>
            </a:r>
            <a:r>
              <a:rPr lang="ja-JP" altLang="en-US" sz="900" dirty="0">
                <a:latin typeface="+mj-lt"/>
              </a:rPr>
              <a:t> </a:t>
            </a:r>
            <a:r>
              <a:rPr lang="en-US" altLang="ja-JP" sz="900" dirty="0">
                <a:latin typeface="+mj-lt"/>
              </a:rPr>
              <a:t>in</a:t>
            </a:r>
            <a:r>
              <a:rPr lang="ja-JP" altLang="en-US" sz="900" dirty="0">
                <a:latin typeface="+mj-lt"/>
              </a:rPr>
              <a:t> </a:t>
            </a:r>
            <a:r>
              <a:rPr lang="en-US" altLang="ja-JP" sz="900" dirty="0">
                <a:latin typeface="+mj-lt"/>
              </a:rPr>
              <a:t>case</a:t>
            </a:r>
            <a:r>
              <a:rPr lang="ja-JP" altLang="en-US" sz="900" dirty="0">
                <a:latin typeface="+mj-lt"/>
              </a:rPr>
              <a:t> </a:t>
            </a:r>
            <a:r>
              <a:rPr lang="en-US" altLang="ja-JP" sz="900" dirty="0">
                <a:latin typeface="+mj-lt"/>
              </a:rPr>
              <a:t>of</a:t>
            </a:r>
            <a:r>
              <a:rPr lang="ja-JP" altLang="en-US" sz="900" dirty="0">
                <a:latin typeface="+mj-lt"/>
              </a:rPr>
              <a:t> </a:t>
            </a:r>
            <a:r>
              <a:rPr lang="en-US" altLang="ja-JP" sz="900" dirty="0">
                <a:latin typeface="+mj-lt"/>
              </a:rPr>
              <a:t>BOC-modulation</a:t>
            </a:r>
            <a:r>
              <a:rPr lang="ja-JP" altLang="en-US" sz="900" dirty="0">
                <a:latin typeface="+mj-lt"/>
              </a:rPr>
              <a:t> </a:t>
            </a:r>
            <a:r>
              <a:rPr lang="en-US" altLang="ja-JP" sz="900" dirty="0">
                <a:latin typeface="+mj-lt"/>
              </a:rPr>
              <a:t>and</a:t>
            </a:r>
            <a:r>
              <a:rPr lang="ja-JP" altLang="en-US" sz="900" dirty="0">
                <a:latin typeface="+mj-lt"/>
              </a:rPr>
              <a:t> </a:t>
            </a:r>
            <a:r>
              <a:rPr lang="en-US" altLang="ja-JP" sz="900" dirty="0">
                <a:latin typeface="+mj-lt"/>
              </a:rPr>
              <a:t>Bump-Jump</a:t>
            </a:r>
            <a:r>
              <a:rPr lang="ja-JP" altLang="en-US" sz="900" dirty="0">
                <a:latin typeface="+mj-lt"/>
              </a:rPr>
              <a:t> </a:t>
            </a:r>
            <a:r>
              <a:rPr lang="en-US" altLang="ja-JP" sz="900" dirty="0">
                <a:latin typeface="+mj-lt"/>
              </a:rPr>
              <a:t>enabled</a:t>
            </a:r>
            <a:r>
              <a:rPr lang="ja-JP" altLang="en-US" sz="900" dirty="0">
                <a:latin typeface="+mj-lt"/>
              </a:rPr>
              <a:t> </a:t>
            </a:r>
            <a:endParaRPr lang="en-US" altLang="ja-JP" sz="900" dirty="0">
              <a:latin typeface="+mj-lt"/>
            </a:endParaRPr>
          </a:p>
        </p:txBody>
      </p:sp>
      <p:sp>
        <p:nvSpPr>
          <p:cNvPr id="12" name="正方形/長方形 11">
            <a:extLst>
              <a:ext uri="{FF2B5EF4-FFF2-40B4-BE49-F238E27FC236}">
                <a16:creationId xmlns:a16="http://schemas.microsoft.com/office/drawing/2014/main" id="{7C1E251C-8999-FD87-8FC0-B2A48157FCAE}"/>
              </a:ext>
            </a:extLst>
          </p:cNvPr>
          <p:cNvSpPr/>
          <p:nvPr/>
        </p:nvSpPr>
        <p:spPr>
          <a:xfrm>
            <a:off x="5805877" y="2384885"/>
            <a:ext cx="232213"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9469FB84-602F-1C54-FCAA-CA0C82959B91}"/>
              </a:ext>
            </a:extLst>
          </p:cNvPr>
          <p:cNvSpPr txBox="1"/>
          <p:nvPr/>
        </p:nvSpPr>
        <p:spPr>
          <a:xfrm>
            <a:off x="5397771" y="1327834"/>
            <a:ext cx="1221835" cy="553998"/>
          </a:xfrm>
          <a:prstGeom prst="rect">
            <a:avLst/>
          </a:prstGeom>
          <a:noFill/>
        </p:spPr>
        <p:txBody>
          <a:bodyPr wrap="square" lIns="0" tIns="0" rIns="0" bIns="0" rtlCol="0">
            <a:spAutoFit/>
          </a:bodyPr>
          <a:lstStyle/>
          <a:p>
            <a:pPr algn="ctr"/>
            <a:r>
              <a:rPr kumimoji="1" lang="en-US" altLang="ja-JP" sz="1200" dirty="0">
                <a:latin typeface="+mj-lt"/>
              </a:rPr>
              <a:t>X-axis</a:t>
            </a:r>
            <a:r>
              <a:rPr kumimoji="1" lang="ja-JP" altLang="en-US" sz="1200" dirty="0">
                <a:latin typeface="+mj-lt"/>
              </a:rPr>
              <a:t> </a:t>
            </a:r>
            <a:r>
              <a:rPr kumimoji="1" lang="en-US" altLang="ja-JP" sz="1200" dirty="0">
                <a:latin typeface="+mj-lt"/>
              </a:rPr>
              <a:t>Range</a:t>
            </a:r>
            <a:r>
              <a:rPr kumimoji="1" lang="ja-JP" altLang="en-US" sz="1200" dirty="0">
                <a:latin typeface="+mj-lt"/>
              </a:rPr>
              <a:t> </a:t>
            </a:r>
            <a:r>
              <a:rPr kumimoji="1" lang="en-US" altLang="ja-JP" sz="1200" dirty="0">
                <a:latin typeface="+mj-lt"/>
              </a:rPr>
              <a:t>Selection </a:t>
            </a:r>
            <a:r>
              <a:rPr lang="en-US" altLang="ja-JP" sz="1200" dirty="0">
                <a:latin typeface="+mj-lt"/>
              </a:rPr>
              <a:t>for Correlation Plot</a:t>
            </a:r>
            <a:r>
              <a:rPr kumimoji="1" lang="ja-JP" altLang="en-US" sz="1200" dirty="0">
                <a:latin typeface="+mj-lt"/>
              </a:rPr>
              <a:t> </a:t>
            </a:r>
            <a:endParaRPr kumimoji="1" lang="en-US" altLang="ja-JP" sz="900" dirty="0">
              <a:latin typeface="+mj-lt"/>
            </a:endParaRPr>
          </a:p>
        </p:txBody>
      </p:sp>
      <p:cxnSp>
        <p:nvCxnSpPr>
          <p:cNvPr id="17" name="直線コネクタ 16">
            <a:extLst>
              <a:ext uri="{FF2B5EF4-FFF2-40B4-BE49-F238E27FC236}">
                <a16:creationId xmlns:a16="http://schemas.microsoft.com/office/drawing/2014/main" id="{23930EDB-523F-DFF2-70A1-CA407F7C45BF}"/>
              </a:ext>
            </a:extLst>
          </p:cNvPr>
          <p:cNvCxnSpPr>
            <a:cxnSpLocks/>
            <a:stCxn id="12" idx="0"/>
            <a:endCxn id="14" idx="2"/>
          </p:cNvCxnSpPr>
          <p:nvPr/>
        </p:nvCxnSpPr>
        <p:spPr>
          <a:xfrm flipV="1">
            <a:off x="5921984" y="1881832"/>
            <a:ext cx="86705" cy="50305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35960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81C27-95ED-9920-7201-85ED07204616}"/>
            </a:ext>
          </a:extLst>
        </p:cNvPr>
        <p:cNvGrpSpPr/>
        <p:nvPr/>
      </p:nvGrpSpPr>
      <p:grpSpPr>
        <a:xfrm>
          <a:off x="0" y="0"/>
          <a:ext cx="0" cy="0"/>
          <a:chOff x="0" y="0"/>
          <a:chExt cx="0" cy="0"/>
        </a:xfrm>
      </p:grpSpPr>
      <p:pic>
        <p:nvPicPr>
          <p:cNvPr id="8" name="図 7">
            <a:extLst>
              <a:ext uri="{FF2B5EF4-FFF2-40B4-BE49-F238E27FC236}">
                <a16:creationId xmlns:a16="http://schemas.microsoft.com/office/drawing/2014/main" id="{BE1DBD48-31FE-2089-5D24-FDB0A30C0360}"/>
              </a:ext>
            </a:extLst>
          </p:cNvPr>
          <p:cNvPicPr>
            <a:picLocks noChangeAspect="1"/>
          </p:cNvPicPr>
          <p:nvPr/>
        </p:nvPicPr>
        <p:blipFill>
          <a:blip r:embed="rId2"/>
          <a:stretch>
            <a:fillRect/>
          </a:stretch>
        </p:blipFill>
        <p:spPr>
          <a:xfrm>
            <a:off x="2585847" y="1967582"/>
            <a:ext cx="3972306" cy="3130296"/>
          </a:xfrm>
          <a:prstGeom prst="rect">
            <a:avLst/>
          </a:prstGeom>
        </p:spPr>
      </p:pic>
      <p:sp>
        <p:nvSpPr>
          <p:cNvPr id="4" name="スライド番号プレースホルダー 3">
            <a:extLst>
              <a:ext uri="{FF2B5EF4-FFF2-40B4-BE49-F238E27FC236}">
                <a16:creationId xmlns:a16="http://schemas.microsoft.com/office/drawing/2014/main" id="{4927309D-C9A9-E6FE-F72D-B369BEC447B4}"/>
              </a:ext>
            </a:extLst>
          </p:cNvPr>
          <p:cNvSpPr>
            <a:spLocks noGrp="1"/>
          </p:cNvSpPr>
          <p:nvPr>
            <p:ph type="sldNum" sz="quarter" idx="11"/>
          </p:nvPr>
        </p:nvSpPr>
        <p:spPr/>
        <p:txBody>
          <a:bodyPr/>
          <a:lstStyle/>
          <a:p>
            <a:pPr>
              <a:defRPr/>
            </a:pPr>
            <a:fld id="{76B10B91-6492-4C08-AE87-F344306858DA}" type="slidenum">
              <a:rPr lang="ja-JP" altLang="en-US" smtClean="0"/>
              <a:pPr>
                <a:defRPr/>
              </a:pPr>
              <a:t>6</a:t>
            </a:fld>
            <a:endParaRPr lang="ja-JP" altLang="en-US" dirty="0"/>
          </a:p>
        </p:txBody>
      </p:sp>
      <p:sp>
        <p:nvSpPr>
          <p:cNvPr id="5" name="タイトル 1">
            <a:extLst>
              <a:ext uri="{FF2B5EF4-FFF2-40B4-BE49-F238E27FC236}">
                <a16:creationId xmlns:a16="http://schemas.microsoft.com/office/drawing/2014/main" id="{2E5D2E21-0C45-0C35-BE9F-398B7C1C9620}"/>
              </a:ext>
            </a:extLst>
          </p:cNvPr>
          <p:cNvSpPr>
            <a:spLocks noGrp="1"/>
          </p:cNvSpPr>
          <p:nvPr>
            <p:ph type="title"/>
          </p:nvPr>
        </p:nvSpPr>
        <p:spPr>
          <a:xfrm>
            <a:off x="457200" y="512676"/>
            <a:ext cx="8229600" cy="598078"/>
          </a:xfrm>
        </p:spPr>
        <p:txBody>
          <a:bodyPr/>
          <a:lstStyle/>
          <a:p>
            <a:r>
              <a:rPr kumimoji="1" lang="en-US" altLang="ja-JP" sz="2000" dirty="0">
                <a:solidFill>
                  <a:schemeClr val="tx1"/>
                </a:solidFill>
              </a:rPr>
              <a:t>Satellites</a:t>
            </a:r>
            <a:r>
              <a:rPr kumimoji="1" lang="ja-JP" altLang="en-US" sz="2000" dirty="0">
                <a:solidFill>
                  <a:schemeClr val="tx1"/>
                </a:solidFill>
              </a:rPr>
              <a:t> </a:t>
            </a:r>
            <a:r>
              <a:rPr kumimoji="1" lang="en-US" altLang="ja-JP" sz="2000" dirty="0">
                <a:solidFill>
                  <a:schemeClr val="tx1"/>
                </a:solidFill>
              </a:rPr>
              <a:t>Page</a:t>
            </a:r>
            <a:endParaRPr kumimoji="1" lang="ja-JP" altLang="en-US" sz="2000" dirty="0">
              <a:solidFill>
                <a:schemeClr val="tx1"/>
              </a:solidFill>
            </a:endParaRPr>
          </a:p>
        </p:txBody>
      </p:sp>
      <p:sp>
        <p:nvSpPr>
          <p:cNvPr id="2" name="正方形/長方形 1">
            <a:extLst>
              <a:ext uri="{FF2B5EF4-FFF2-40B4-BE49-F238E27FC236}">
                <a16:creationId xmlns:a16="http://schemas.microsoft.com/office/drawing/2014/main" id="{FFC72D0E-E1DC-081C-1226-D3BD13616336}"/>
              </a:ext>
            </a:extLst>
          </p:cNvPr>
          <p:cNvSpPr/>
          <p:nvPr/>
        </p:nvSpPr>
        <p:spPr>
          <a:xfrm>
            <a:off x="2585848" y="2528900"/>
            <a:ext cx="3967352" cy="244827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5703ABB8-D5E0-06F3-BBB1-76CFF1F16DE4}"/>
              </a:ext>
            </a:extLst>
          </p:cNvPr>
          <p:cNvSpPr txBox="1"/>
          <p:nvPr/>
        </p:nvSpPr>
        <p:spPr>
          <a:xfrm>
            <a:off x="899592" y="2159568"/>
            <a:ext cx="1072574" cy="369332"/>
          </a:xfrm>
          <a:prstGeom prst="rect">
            <a:avLst/>
          </a:prstGeom>
          <a:noFill/>
        </p:spPr>
        <p:txBody>
          <a:bodyPr wrap="square" lIns="0" tIns="0" rIns="0" bIns="0" rtlCol="0">
            <a:spAutoFit/>
          </a:bodyPr>
          <a:lstStyle/>
          <a:p>
            <a:pPr algn="ctr"/>
            <a:r>
              <a:rPr kumimoji="1" lang="en-US" altLang="ja-JP" sz="1200" dirty="0">
                <a:latin typeface="+mj-lt"/>
              </a:rPr>
              <a:t>Status</a:t>
            </a:r>
            <a:r>
              <a:rPr kumimoji="1" lang="ja-JP" altLang="en-US" sz="1200" dirty="0">
                <a:latin typeface="+mj-lt"/>
              </a:rPr>
              <a:t> </a:t>
            </a:r>
            <a:r>
              <a:rPr kumimoji="1" lang="en-US" altLang="ja-JP" sz="1200" dirty="0">
                <a:latin typeface="+mj-lt"/>
              </a:rPr>
              <a:t>for</a:t>
            </a:r>
            <a:r>
              <a:rPr kumimoji="1" lang="ja-JP" altLang="en-US" sz="1200" dirty="0">
                <a:latin typeface="+mj-lt"/>
              </a:rPr>
              <a:t> </a:t>
            </a:r>
            <a:r>
              <a:rPr kumimoji="1" lang="en-US" altLang="ja-JP" sz="1200" dirty="0">
                <a:latin typeface="+mj-lt"/>
              </a:rPr>
              <a:t>each</a:t>
            </a:r>
            <a:r>
              <a:rPr kumimoji="1" lang="ja-JP" altLang="en-US" sz="1200" dirty="0">
                <a:latin typeface="+mj-lt"/>
              </a:rPr>
              <a:t> </a:t>
            </a:r>
            <a:r>
              <a:rPr kumimoji="1" lang="en-US" altLang="ja-JP" sz="1200" dirty="0">
                <a:latin typeface="+mj-lt"/>
              </a:rPr>
              <a:t>Satellite:</a:t>
            </a:r>
            <a:endParaRPr kumimoji="1" lang="en-US" altLang="ja-JP" sz="900" dirty="0">
              <a:latin typeface="+mj-lt"/>
            </a:endParaRPr>
          </a:p>
        </p:txBody>
      </p:sp>
      <p:sp>
        <p:nvSpPr>
          <p:cNvPr id="7" name="テキスト ボックス 6">
            <a:extLst>
              <a:ext uri="{FF2B5EF4-FFF2-40B4-BE49-F238E27FC236}">
                <a16:creationId xmlns:a16="http://schemas.microsoft.com/office/drawing/2014/main" id="{0E462476-09C6-0EDC-2609-FB0B2348E2BD}"/>
              </a:ext>
            </a:extLst>
          </p:cNvPr>
          <p:cNvSpPr txBox="1"/>
          <p:nvPr/>
        </p:nvSpPr>
        <p:spPr>
          <a:xfrm>
            <a:off x="590976" y="2707534"/>
            <a:ext cx="432048" cy="2492990"/>
          </a:xfrm>
          <a:prstGeom prst="rect">
            <a:avLst/>
          </a:prstGeom>
          <a:noFill/>
        </p:spPr>
        <p:txBody>
          <a:bodyPr wrap="square" lIns="0" tIns="0" rIns="0" bIns="0" rtlCol="0">
            <a:spAutoFit/>
          </a:bodyPr>
          <a:lstStyle/>
          <a:p>
            <a:r>
              <a:rPr kumimoji="1" lang="en-US" altLang="ja-JP" sz="900" dirty="0">
                <a:latin typeface="+mj-lt"/>
              </a:rPr>
              <a:t>SAT</a:t>
            </a:r>
            <a:endParaRPr lang="en-US" altLang="ja-JP" sz="900" dirty="0">
              <a:latin typeface="+mj-lt"/>
            </a:endParaRPr>
          </a:p>
          <a:p>
            <a:r>
              <a:rPr lang="en-US" altLang="ja-JP" sz="900" dirty="0">
                <a:latin typeface="+mj-lt"/>
              </a:rPr>
              <a:t>FCN</a:t>
            </a:r>
            <a:endParaRPr kumimoji="1" lang="en-US" altLang="ja-JP" sz="900" dirty="0">
              <a:latin typeface="+mj-lt"/>
            </a:endParaRPr>
          </a:p>
          <a:p>
            <a:endParaRPr lang="en-US" altLang="ja-JP" sz="900" dirty="0">
              <a:latin typeface="+mj-lt"/>
            </a:endParaRPr>
          </a:p>
          <a:p>
            <a:r>
              <a:rPr lang="en-US" altLang="ja-JP" sz="900" dirty="0">
                <a:latin typeface="+mj-lt"/>
              </a:rPr>
              <a:t>PVT</a:t>
            </a:r>
          </a:p>
          <a:p>
            <a:endParaRPr lang="en-US" altLang="ja-JP" sz="900" dirty="0">
              <a:latin typeface="+mj-lt"/>
            </a:endParaRPr>
          </a:p>
          <a:p>
            <a:r>
              <a:rPr lang="en-US" altLang="ja-JP" sz="900" dirty="0">
                <a:latin typeface="+mj-lt"/>
              </a:rPr>
              <a:t>OBS</a:t>
            </a:r>
            <a:endParaRPr kumimoji="1" lang="en-US" altLang="ja-JP" sz="900" dirty="0">
              <a:latin typeface="+mj-lt"/>
            </a:endParaRPr>
          </a:p>
          <a:p>
            <a:r>
              <a:rPr lang="en-US" altLang="ja-JP" sz="900" dirty="0">
                <a:latin typeface="+mj-lt"/>
              </a:rPr>
              <a:t>EPH</a:t>
            </a:r>
          </a:p>
          <a:p>
            <a:r>
              <a:rPr lang="en-US" altLang="ja-JP" sz="900" dirty="0">
                <a:latin typeface="+mj-lt"/>
              </a:rPr>
              <a:t>SVH</a:t>
            </a:r>
          </a:p>
          <a:p>
            <a:endParaRPr lang="en-US" altLang="ja-JP" sz="900" dirty="0">
              <a:latin typeface="+mj-lt"/>
            </a:endParaRPr>
          </a:p>
          <a:p>
            <a:r>
              <a:rPr lang="en-US" altLang="ja-JP" sz="900" dirty="0">
                <a:latin typeface="+mj-lt"/>
              </a:rPr>
              <a:t>AZ</a:t>
            </a:r>
          </a:p>
          <a:p>
            <a:r>
              <a:rPr lang="en-US" altLang="ja-JP" sz="900" dirty="0">
                <a:latin typeface="+mj-lt"/>
              </a:rPr>
              <a:t>EL</a:t>
            </a:r>
            <a:endParaRPr kumimoji="1" lang="en-US" altLang="ja-JP" sz="900" dirty="0">
              <a:latin typeface="+mj-lt"/>
            </a:endParaRPr>
          </a:p>
          <a:p>
            <a:r>
              <a:rPr lang="en-US" altLang="ja-JP" sz="900" dirty="0">
                <a:latin typeface="+mj-lt"/>
              </a:rPr>
              <a:t>SIG1</a:t>
            </a:r>
          </a:p>
          <a:p>
            <a:r>
              <a:rPr lang="en-US" altLang="ja-JP" sz="900" dirty="0">
                <a:latin typeface="+mj-lt"/>
              </a:rPr>
              <a:t>C/N0</a:t>
            </a:r>
          </a:p>
          <a:p>
            <a:r>
              <a:rPr lang="en-US" altLang="ja-JP" sz="900" dirty="0">
                <a:latin typeface="+mj-lt"/>
              </a:rPr>
              <a:t>SIG2</a:t>
            </a:r>
          </a:p>
          <a:p>
            <a:r>
              <a:rPr lang="en-US" altLang="ja-JP" sz="900" dirty="0">
                <a:latin typeface="+mj-lt"/>
              </a:rPr>
              <a:t>C/N0</a:t>
            </a:r>
          </a:p>
          <a:p>
            <a:r>
              <a:rPr lang="en-US" altLang="ja-JP" sz="900" dirty="0">
                <a:latin typeface="+mj-lt"/>
              </a:rPr>
              <a:t>SIG3</a:t>
            </a:r>
          </a:p>
          <a:p>
            <a:r>
              <a:rPr lang="en-US" altLang="ja-JP" sz="900" dirty="0">
                <a:latin typeface="+mj-lt"/>
              </a:rPr>
              <a:t>C/N0</a:t>
            </a:r>
          </a:p>
          <a:p>
            <a:r>
              <a:rPr kumimoji="1" lang="en-US" altLang="ja-JP" sz="900" dirty="0">
                <a:latin typeface="+mj-lt"/>
              </a:rPr>
              <a:t>...</a:t>
            </a:r>
          </a:p>
        </p:txBody>
      </p:sp>
      <p:sp>
        <p:nvSpPr>
          <p:cNvPr id="10" name="テキスト ボックス 9">
            <a:extLst>
              <a:ext uri="{FF2B5EF4-FFF2-40B4-BE49-F238E27FC236}">
                <a16:creationId xmlns:a16="http://schemas.microsoft.com/office/drawing/2014/main" id="{9D2B072F-70DB-C085-1EDC-B67BADD0A177}"/>
              </a:ext>
            </a:extLst>
          </p:cNvPr>
          <p:cNvSpPr txBox="1"/>
          <p:nvPr/>
        </p:nvSpPr>
        <p:spPr>
          <a:xfrm>
            <a:off x="952955" y="2707534"/>
            <a:ext cx="1566817" cy="2492990"/>
          </a:xfrm>
          <a:prstGeom prst="rect">
            <a:avLst/>
          </a:prstGeom>
          <a:noFill/>
        </p:spPr>
        <p:txBody>
          <a:bodyPr wrap="square" lIns="0" tIns="0" rIns="0" bIns="0" rtlCol="0">
            <a:spAutoFit/>
          </a:bodyPr>
          <a:lstStyle/>
          <a:p>
            <a:r>
              <a:rPr kumimoji="1" lang="en-US" altLang="ja-JP" sz="900" dirty="0">
                <a:latin typeface="+mj-lt"/>
              </a:rPr>
              <a:t>:</a:t>
            </a:r>
            <a:r>
              <a:rPr kumimoji="1" lang="ja-JP" altLang="en-US" sz="900" dirty="0">
                <a:latin typeface="+mj-lt"/>
              </a:rPr>
              <a:t> </a:t>
            </a:r>
            <a:r>
              <a:rPr lang="en-US" altLang="ja-JP" sz="900" dirty="0">
                <a:latin typeface="+mj-lt"/>
              </a:rPr>
              <a:t>Satellite</a:t>
            </a:r>
            <a:r>
              <a:rPr lang="ja-JP" altLang="en-US" sz="900" dirty="0">
                <a:latin typeface="+mj-lt"/>
              </a:rPr>
              <a:t> </a:t>
            </a:r>
            <a:r>
              <a:rPr lang="en-US" altLang="ja-JP" sz="900" dirty="0">
                <a:latin typeface="+mj-lt"/>
              </a:rPr>
              <a:t>ID</a:t>
            </a:r>
            <a:endParaRPr kumimoji="1" lang="en-US" altLang="ja-JP" sz="900" dirty="0">
              <a:latin typeface="+mj-lt"/>
            </a:endParaRPr>
          </a:p>
          <a:p>
            <a:r>
              <a:rPr lang="en-US" altLang="ja-JP" sz="900" dirty="0">
                <a:latin typeface="+mj-lt"/>
              </a:rPr>
              <a:t>:</a:t>
            </a:r>
            <a:r>
              <a:rPr lang="ja-JP" altLang="en-US" sz="900" dirty="0">
                <a:latin typeface="+mj-lt"/>
              </a:rPr>
              <a:t> </a:t>
            </a:r>
            <a:r>
              <a:rPr lang="en-US" altLang="ja-JP" sz="900" dirty="0">
                <a:latin typeface="+mj-lt"/>
              </a:rPr>
              <a:t>Frequency</a:t>
            </a:r>
            <a:r>
              <a:rPr lang="ja-JP" altLang="en-US" sz="900" dirty="0">
                <a:latin typeface="+mj-lt"/>
              </a:rPr>
              <a:t> </a:t>
            </a:r>
            <a:r>
              <a:rPr lang="en-US" altLang="ja-JP" sz="900" dirty="0">
                <a:latin typeface="+mj-lt"/>
              </a:rPr>
              <a:t>channel</a:t>
            </a:r>
            <a:r>
              <a:rPr lang="ja-JP" altLang="en-US" sz="900" dirty="0">
                <a:latin typeface="+mj-lt"/>
              </a:rPr>
              <a:t> </a:t>
            </a:r>
            <a:r>
              <a:rPr lang="en-US" altLang="ja-JP" sz="900" dirty="0">
                <a:latin typeface="+mj-lt"/>
              </a:rPr>
              <a:t>no</a:t>
            </a:r>
            <a:r>
              <a:rPr lang="ja-JP" altLang="en-US" sz="900" dirty="0">
                <a:latin typeface="+mj-lt"/>
              </a:rPr>
              <a:t> </a:t>
            </a:r>
            <a:r>
              <a:rPr lang="en-US" altLang="ja-JP" sz="900" dirty="0">
                <a:latin typeface="+mj-lt"/>
              </a:rPr>
              <a:t>(FCN) for</a:t>
            </a:r>
          </a:p>
          <a:p>
            <a:r>
              <a:rPr lang="ja-JP" altLang="en-US" sz="900" dirty="0">
                <a:latin typeface="+mj-lt"/>
              </a:rPr>
              <a:t>  </a:t>
            </a:r>
            <a:r>
              <a:rPr lang="en-US" altLang="ja-JP" sz="900" dirty="0">
                <a:latin typeface="+mj-lt"/>
              </a:rPr>
              <a:t>GLONASS</a:t>
            </a:r>
            <a:r>
              <a:rPr lang="ja-JP" altLang="en-US" sz="900" dirty="0">
                <a:latin typeface="+mj-lt"/>
              </a:rPr>
              <a:t> </a:t>
            </a:r>
            <a:r>
              <a:rPr lang="en-US" altLang="ja-JP" sz="900" dirty="0">
                <a:latin typeface="+mj-lt"/>
              </a:rPr>
              <a:t>FDMA</a:t>
            </a:r>
            <a:r>
              <a:rPr lang="ja-JP" altLang="en-US" sz="900" dirty="0">
                <a:latin typeface="+mj-lt"/>
              </a:rPr>
              <a:t> </a:t>
            </a:r>
            <a:r>
              <a:rPr lang="en-US" altLang="ja-JP" sz="900" dirty="0">
                <a:latin typeface="+mj-lt"/>
              </a:rPr>
              <a:t>signals</a:t>
            </a:r>
          </a:p>
          <a:p>
            <a:r>
              <a:rPr lang="en-US" altLang="ja-JP" sz="900" dirty="0">
                <a:latin typeface="+mj-lt"/>
              </a:rPr>
              <a:t>:</a:t>
            </a:r>
            <a:r>
              <a:rPr lang="ja-JP" altLang="en-US" sz="900" dirty="0">
                <a:latin typeface="+mj-lt"/>
              </a:rPr>
              <a:t> </a:t>
            </a:r>
            <a:r>
              <a:rPr lang="en-US" altLang="ja-JP" sz="900" dirty="0">
                <a:latin typeface="+mj-lt"/>
              </a:rPr>
              <a:t>Satellite</a:t>
            </a:r>
            <a:r>
              <a:rPr lang="ja-JP" altLang="en-US" sz="900" dirty="0">
                <a:latin typeface="+mj-lt"/>
              </a:rPr>
              <a:t> </a:t>
            </a:r>
            <a:r>
              <a:rPr lang="en-US" altLang="ja-JP" sz="900" dirty="0">
                <a:latin typeface="+mj-lt"/>
              </a:rPr>
              <a:t>used</a:t>
            </a:r>
            <a:r>
              <a:rPr lang="ja-JP" altLang="en-US" sz="900" dirty="0">
                <a:latin typeface="+mj-lt"/>
              </a:rPr>
              <a:t> </a:t>
            </a:r>
            <a:r>
              <a:rPr lang="en-US" altLang="ja-JP" sz="900" dirty="0">
                <a:latin typeface="+mj-lt"/>
              </a:rPr>
              <a:t>in</a:t>
            </a:r>
            <a:r>
              <a:rPr lang="ja-JP" altLang="en-US" sz="900" dirty="0">
                <a:latin typeface="+mj-lt"/>
              </a:rPr>
              <a:t> </a:t>
            </a:r>
            <a:r>
              <a:rPr lang="en-US" altLang="ja-JP" sz="900" dirty="0">
                <a:latin typeface="+mj-lt"/>
              </a:rPr>
              <a:t>PVT</a:t>
            </a:r>
            <a:r>
              <a:rPr lang="ja-JP" altLang="en-US" sz="900" dirty="0">
                <a:latin typeface="+mj-lt"/>
              </a:rPr>
              <a:t> </a:t>
            </a:r>
            <a:r>
              <a:rPr lang="en-US" altLang="ja-JP" sz="900" dirty="0">
                <a:latin typeface="+mj-lt"/>
              </a:rPr>
              <a:t>solution</a:t>
            </a:r>
            <a:r>
              <a:rPr lang="ja-JP" altLang="en-US" sz="900" dirty="0">
                <a:latin typeface="+mj-lt"/>
              </a:rPr>
              <a:t> </a:t>
            </a:r>
            <a:r>
              <a:rPr lang="en-US" altLang="ja-JP" sz="900" dirty="0">
                <a:latin typeface="+mj-lt"/>
              </a:rPr>
              <a:t>or</a:t>
            </a:r>
          </a:p>
          <a:p>
            <a:r>
              <a:rPr lang="ja-JP" altLang="en-US" sz="900" dirty="0">
                <a:latin typeface="+mj-lt"/>
              </a:rPr>
              <a:t>  </a:t>
            </a:r>
            <a:r>
              <a:rPr lang="en-US" altLang="ja-JP" sz="900" dirty="0">
                <a:latin typeface="+mj-lt"/>
              </a:rPr>
              <a:t>not</a:t>
            </a:r>
          </a:p>
          <a:p>
            <a:r>
              <a:rPr kumimoji="1" lang="en-US" altLang="ja-JP" sz="900" dirty="0">
                <a:latin typeface="+mj-lt"/>
              </a:rPr>
              <a:t>:</a:t>
            </a:r>
            <a:r>
              <a:rPr kumimoji="1" lang="ja-JP" altLang="en-US" sz="900" dirty="0">
                <a:latin typeface="+mj-lt"/>
              </a:rPr>
              <a:t> </a:t>
            </a:r>
            <a:r>
              <a:rPr kumimoji="1" lang="en-US" altLang="ja-JP" sz="900" dirty="0">
                <a:latin typeface="+mj-lt"/>
              </a:rPr>
              <a:t>Satellite</a:t>
            </a:r>
            <a:r>
              <a:rPr kumimoji="1" lang="ja-JP" altLang="en-US" sz="900" dirty="0">
                <a:latin typeface="+mj-lt"/>
              </a:rPr>
              <a:t> </a:t>
            </a:r>
            <a:r>
              <a:rPr kumimoji="1" lang="en-US" altLang="ja-JP" sz="900" dirty="0">
                <a:latin typeface="+mj-lt"/>
              </a:rPr>
              <a:t>L1</a:t>
            </a:r>
            <a:r>
              <a:rPr kumimoji="1" lang="ja-JP" altLang="en-US" sz="900" dirty="0">
                <a:latin typeface="+mj-lt"/>
              </a:rPr>
              <a:t> </a:t>
            </a:r>
            <a:r>
              <a:rPr kumimoji="1" lang="en-US" altLang="ja-JP" sz="900" dirty="0">
                <a:latin typeface="+mj-lt"/>
              </a:rPr>
              <a:t>OBS</a:t>
            </a:r>
            <a:r>
              <a:rPr kumimoji="1" lang="ja-JP" altLang="en-US" sz="900" dirty="0">
                <a:latin typeface="+mj-lt"/>
              </a:rPr>
              <a:t> </a:t>
            </a:r>
            <a:r>
              <a:rPr kumimoji="1" lang="en-US" altLang="ja-JP" sz="900" dirty="0">
                <a:latin typeface="+mj-lt"/>
              </a:rPr>
              <a:t>data</a:t>
            </a:r>
            <a:r>
              <a:rPr kumimoji="1" lang="ja-JP" altLang="en-US" sz="900" dirty="0">
                <a:latin typeface="+mj-lt"/>
              </a:rPr>
              <a:t> </a:t>
            </a:r>
            <a:r>
              <a:rPr kumimoji="1" lang="en-US" altLang="ja-JP" sz="900" dirty="0">
                <a:latin typeface="+mj-lt"/>
              </a:rPr>
              <a:t>availability</a:t>
            </a:r>
          </a:p>
          <a:p>
            <a:r>
              <a:rPr lang="en-US" altLang="ja-JP" sz="900" dirty="0">
                <a:latin typeface="+mj-lt"/>
              </a:rPr>
              <a:t>:</a:t>
            </a:r>
            <a:r>
              <a:rPr lang="ja-JP" altLang="en-US" sz="900" dirty="0">
                <a:latin typeface="+mj-lt"/>
              </a:rPr>
              <a:t> </a:t>
            </a:r>
            <a:r>
              <a:rPr lang="en-US" altLang="ja-JP" sz="900" dirty="0">
                <a:latin typeface="+mj-lt"/>
              </a:rPr>
              <a:t>Satellite</a:t>
            </a:r>
            <a:r>
              <a:rPr lang="ja-JP" altLang="en-US" sz="900" dirty="0">
                <a:latin typeface="+mj-lt"/>
              </a:rPr>
              <a:t> </a:t>
            </a:r>
            <a:r>
              <a:rPr lang="en-US" altLang="ja-JP" sz="900" dirty="0">
                <a:latin typeface="+mj-lt"/>
              </a:rPr>
              <a:t>ephemeris</a:t>
            </a:r>
            <a:r>
              <a:rPr lang="ja-JP" altLang="en-US" sz="900" dirty="0">
                <a:latin typeface="+mj-lt"/>
              </a:rPr>
              <a:t> </a:t>
            </a:r>
            <a:r>
              <a:rPr lang="en-US" altLang="ja-JP" sz="900" dirty="0">
                <a:latin typeface="+mj-lt"/>
              </a:rPr>
              <a:t>availability</a:t>
            </a:r>
          </a:p>
          <a:p>
            <a:r>
              <a:rPr lang="en-US" altLang="ja-JP" sz="900" dirty="0">
                <a:latin typeface="+mj-lt"/>
              </a:rPr>
              <a:t>:</a:t>
            </a:r>
            <a:r>
              <a:rPr lang="ja-JP" altLang="en-US" sz="900" dirty="0">
                <a:latin typeface="+mj-lt"/>
              </a:rPr>
              <a:t> </a:t>
            </a:r>
            <a:r>
              <a:rPr lang="en-US" altLang="ja-JP" sz="900" dirty="0">
                <a:latin typeface="+mj-lt"/>
              </a:rPr>
              <a:t>Satellite</a:t>
            </a:r>
            <a:r>
              <a:rPr lang="ja-JP" altLang="en-US" sz="900" dirty="0">
                <a:latin typeface="+mj-lt"/>
              </a:rPr>
              <a:t> </a:t>
            </a:r>
            <a:r>
              <a:rPr lang="en-US" altLang="ja-JP" sz="900" dirty="0">
                <a:latin typeface="+mj-lt"/>
              </a:rPr>
              <a:t>health</a:t>
            </a:r>
            <a:r>
              <a:rPr lang="ja-JP" altLang="en-US" sz="900" dirty="0">
                <a:latin typeface="+mj-lt"/>
              </a:rPr>
              <a:t> </a:t>
            </a:r>
            <a:r>
              <a:rPr lang="en-US" altLang="ja-JP" sz="900" dirty="0">
                <a:latin typeface="+mj-lt"/>
              </a:rPr>
              <a:t>flag</a:t>
            </a:r>
            <a:r>
              <a:rPr lang="ja-JP" altLang="en-US" sz="900" dirty="0">
                <a:latin typeface="+mj-lt"/>
              </a:rPr>
              <a:t> </a:t>
            </a:r>
            <a:r>
              <a:rPr lang="en-US" altLang="ja-JP" sz="900" dirty="0">
                <a:latin typeface="+mj-lt"/>
              </a:rPr>
              <a:t>in</a:t>
            </a:r>
            <a:r>
              <a:rPr lang="ja-JP" altLang="en-US" sz="900" dirty="0">
                <a:latin typeface="+mj-lt"/>
              </a:rPr>
              <a:t> </a:t>
            </a:r>
            <a:endParaRPr lang="en-US" altLang="ja-JP" sz="900" dirty="0">
              <a:latin typeface="+mj-lt"/>
            </a:endParaRPr>
          </a:p>
          <a:p>
            <a:r>
              <a:rPr lang="ja-JP" altLang="en-US" sz="900" dirty="0">
                <a:latin typeface="+mj-lt"/>
              </a:rPr>
              <a:t>  </a:t>
            </a:r>
            <a:r>
              <a:rPr lang="en-US" altLang="ja-JP" sz="900" dirty="0">
                <a:latin typeface="+mj-lt"/>
              </a:rPr>
              <a:t>ephemeris</a:t>
            </a:r>
            <a:r>
              <a:rPr lang="ja-JP" altLang="en-US" sz="900" dirty="0">
                <a:latin typeface="+mj-lt"/>
              </a:rPr>
              <a:t> </a:t>
            </a:r>
            <a:r>
              <a:rPr lang="en-US" altLang="ja-JP" sz="900" dirty="0">
                <a:latin typeface="+mj-lt"/>
              </a:rPr>
              <a:t>(HEX)</a:t>
            </a:r>
          </a:p>
          <a:p>
            <a:r>
              <a:rPr kumimoji="1" lang="en-US" altLang="ja-JP" sz="900" dirty="0">
                <a:latin typeface="+mj-lt"/>
              </a:rPr>
              <a:t>:</a:t>
            </a:r>
            <a:r>
              <a:rPr kumimoji="1" lang="ja-JP" altLang="en-US" sz="900" dirty="0">
                <a:latin typeface="+mj-lt"/>
              </a:rPr>
              <a:t> </a:t>
            </a:r>
            <a:r>
              <a:rPr lang="en-US" altLang="ja-JP" sz="900" dirty="0">
                <a:latin typeface="+mj-lt"/>
              </a:rPr>
              <a:t>Azimuth</a:t>
            </a:r>
            <a:r>
              <a:rPr lang="ja-JP" altLang="en-US" sz="900" dirty="0">
                <a:latin typeface="+mj-lt"/>
              </a:rPr>
              <a:t> </a:t>
            </a:r>
            <a:r>
              <a:rPr lang="en-US" altLang="ja-JP" sz="900" dirty="0">
                <a:latin typeface="+mj-lt"/>
              </a:rPr>
              <a:t>angle</a:t>
            </a:r>
            <a:r>
              <a:rPr lang="ja-JP" altLang="en-US" sz="900" dirty="0">
                <a:latin typeface="+mj-lt"/>
              </a:rPr>
              <a:t> </a:t>
            </a:r>
            <a:r>
              <a:rPr lang="en-US" altLang="ja-JP" sz="900" dirty="0">
                <a:latin typeface="+mj-lt"/>
              </a:rPr>
              <a:t>(deg)</a:t>
            </a:r>
          </a:p>
          <a:p>
            <a:r>
              <a:rPr kumimoji="1" lang="en-US" altLang="ja-JP" sz="900" dirty="0">
                <a:latin typeface="+mj-lt"/>
              </a:rPr>
              <a:t>:</a:t>
            </a:r>
            <a:r>
              <a:rPr kumimoji="1" lang="ja-JP" altLang="en-US" sz="900" dirty="0">
                <a:latin typeface="+mj-lt"/>
              </a:rPr>
              <a:t> </a:t>
            </a:r>
            <a:r>
              <a:rPr kumimoji="1" lang="en-US" altLang="ja-JP" sz="900" dirty="0">
                <a:latin typeface="+mj-lt"/>
              </a:rPr>
              <a:t>Elevation</a:t>
            </a:r>
            <a:r>
              <a:rPr kumimoji="1" lang="ja-JP" altLang="en-US" sz="900" dirty="0">
                <a:latin typeface="+mj-lt"/>
              </a:rPr>
              <a:t> </a:t>
            </a:r>
            <a:r>
              <a:rPr kumimoji="1" lang="en-US" altLang="ja-JP" sz="900" dirty="0">
                <a:latin typeface="+mj-lt"/>
              </a:rPr>
              <a:t>angle</a:t>
            </a:r>
            <a:r>
              <a:rPr kumimoji="1" lang="ja-JP" altLang="en-US" sz="900" dirty="0">
                <a:latin typeface="+mj-lt"/>
              </a:rPr>
              <a:t> </a:t>
            </a:r>
            <a:r>
              <a:rPr kumimoji="1" lang="en-US" altLang="ja-JP" sz="900" dirty="0">
                <a:latin typeface="+mj-lt"/>
              </a:rPr>
              <a:t>(deg)</a:t>
            </a:r>
          </a:p>
          <a:p>
            <a:r>
              <a:rPr kumimoji="1" lang="en-US" altLang="ja-JP" sz="900" dirty="0">
                <a:latin typeface="+mj-lt"/>
              </a:rPr>
              <a:t>:</a:t>
            </a:r>
            <a:r>
              <a:rPr kumimoji="1" lang="ja-JP" altLang="en-US" sz="900" dirty="0">
                <a:latin typeface="+mj-lt"/>
              </a:rPr>
              <a:t> </a:t>
            </a:r>
            <a:r>
              <a:rPr kumimoji="1" lang="en-US" altLang="ja-JP" sz="900" dirty="0">
                <a:latin typeface="+mj-lt"/>
              </a:rPr>
              <a:t>Signal</a:t>
            </a:r>
            <a:r>
              <a:rPr kumimoji="1" lang="ja-JP" altLang="en-US" sz="900" dirty="0">
                <a:latin typeface="+mj-lt"/>
              </a:rPr>
              <a:t> </a:t>
            </a:r>
            <a:r>
              <a:rPr kumimoji="1" lang="en-US" altLang="ja-JP" sz="900" dirty="0">
                <a:latin typeface="+mj-lt"/>
              </a:rPr>
              <a:t>1</a:t>
            </a:r>
            <a:r>
              <a:rPr kumimoji="1" lang="ja-JP" altLang="en-US" sz="900" dirty="0">
                <a:latin typeface="+mj-lt"/>
              </a:rPr>
              <a:t> </a:t>
            </a:r>
            <a:r>
              <a:rPr kumimoji="1" lang="en-US" altLang="ja-JP" sz="900" dirty="0">
                <a:latin typeface="+mj-lt"/>
              </a:rPr>
              <a:t>ID</a:t>
            </a:r>
          </a:p>
          <a:p>
            <a:r>
              <a:rPr lang="en-US" altLang="ja-JP" sz="900" dirty="0">
                <a:latin typeface="+mj-lt"/>
              </a:rPr>
              <a:t>:</a:t>
            </a:r>
            <a:r>
              <a:rPr lang="ja-JP" altLang="en-US" sz="900" dirty="0">
                <a:latin typeface="+mj-lt"/>
              </a:rPr>
              <a:t> </a:t>
            </a:r>
            <a:r>
              <a:rPr lang="en-US" altLang="ja-JP" sz="900" dirty="0">
                <a:latin typeface="+mj-lt"/>
              </a:rPr>
              <a:t>C/N0</a:t>
            </a:r>
            <a:r>
              <a:rPr lang="ja-JP" altLang="en-US" sz="900" dirty="0">
                <a:latin typeface="+mj-lt"/>
              </a:rPr>
              <a:t> </a:t>
            </a:r>
            <a:r>
              <a:rPr lang="en-US" altLang="ja-JP" sz="900" dirty="0">
                <a:latin typeface="+mj-lt"/>
              </a:rPr>
              <a:t>of</a:t>
            </a:r>
            <a:r>
              <a:rPr lang="ja-JP" altLang="en-US" sz="900" dirty="0">
                <a:latin typeface="+mj-lt"/>
              </a:rPr>
              <a:t> </a:t>
            </a:r>
            <a:r>
              <a:rPr lang="en-US" altLang="ja-JP" sz="900" dirty="0">
                <a:latin typeface="+mj-lt"/>
              </a:rPr>
              <a:t>signal</a:t>
            </a:r>
            <a:r>
              <a:rPr lang="ja-JP" altLang="en-US" sz="900" dirty="0">
                <a:latin typeface="+mj-lt"/>
              </a:rPr>
              <a:t> </a:t>
            </a:r>
            <a:r>
              <a:rPr lang="en-US" altLang="ja-JP" sz="900" dirty="0">
                <a:latin typeface="+mj-lt"/>
              </a:rPr>
              <a:t>1</a:t>
            </a:r>
            <a:r>
              <a:rPr lang="ja-JP" altLang="en-US" sz="900" dirty="0">
                <a:latin typeface="+mj-lt"/>
              </a:rPr>
              <a:t> </a:t>
            </a:r>
            <a:r>
              <a:rPr lang="en-US" altLang="ja-JP" sz="900" dirty="0">
                <a:latin typeface="+mj-lt"/>
              </a:rPr>
              <a:t>(dB-Hz)</a:t>
            </a:r>
          </a:p>
          <a:p>
            <a:r>
              <a:rPr kumimoji="1" lang="en-US" altLang="ja-JP" sz="900" dirty="0">
                <a:latin typeface="+mj-lt"/>
              </a:rPr>
              <a:t>:</a:t>
            </a:r>
            <a:r>
              <a:rPr kumimoji="1" lang="ja-JP" altLang="en-US" sz="900" dirty="0">
                <a:latin typeface="+mj-lt"/>
              </a:rPr>
              <a:t> </a:t>
            </a:r>
            <a:r>
              <a:rPr kumimoji="1" lang="en-US" altLang="ja-JP" sz="900" dirty="0">
                <a:latin typeface="+mj-lt"/>
              </a:rPr>
              <a:t>Signal</a:t>
            </a:r>
            <a:r>
              <a:rPr kumimoji="1" lang="ja-JP" altLang="en-US" sz="900" dirty="0">
                <a:latin typeface="+mj-lt"/>
              </a:rPr>
              <a:t> </a:t>
            </a:r>
            <a:r>
              <a:rPr kumimoji="1" lang="en-US" altLang="ja-JP" sz="900" dirty="0">
                <a:latin typeface="+mj-lt"/>
              </a:rPr>
              <a:t>2</a:t>
            </a:r>
            <a:r>
              <a:rPr kumimoji="1" lang="ja-JP" altLang="en-US" sz="900" dirty="0">
                <a:latin typeface="+mj-lt"/>
              </a:rPr>
              <a:t> </a:t>
            </a:r>
            <a:r>
              <a:rPr kumimoji="1" lang="en-US" altLang="ja-JP" sz="900" dirty="0">
                <a:latin typeface="+mj-lt"/>
              </a:rPr>
              <a:t>ID</a:t>
            </a:r>
            <a:r>
              <a:rPr kumimoji="1" lang="ja-JP" altLang="en-US" sz="900" dirty="0">
                <a:latin typeface="+mj-lt"/>
              </a:rPr>
              <a:t> </a:t>
            </a:r>
            <a:endParaRPr kumimoji="1" lang="en-US" altLang="ja-JP" sz="900" dirty="0">
              <a:latin typeface="+mj-lt"/>
            </a:endParaRPr>
          </a:p>
          <a:p>
            <a:r>
              <a:rPr lang="en-US" altLang="ja-JP" sz="900" dirty="0">
                <a:latin typeface="+mj-lt"/>
              </a:rPr>
              <a:t>:</a:t>
            </a:r>
            <a:r>
              <a:rPr lang="ja-JP" altLang="en-US" sz="900" dirty="0">
                <a:latin typeface="+mj-lt"/>
              </a:rPr>
              <a:t> </a:t>
            </a:r>
            <a:r>
              <a:rPr lang="en-US" altLang="ja-JP" sz="900" dirty="0">
                <a:latin typeface="+mj-lt"/>
              </a:rPr>
              <a:t>C/N0</a:t>
            </a:r>
            <a:r>
              <a:rPr lang="ja-JP" altLang="en-US" sz="900" dirty="0">
                <a:latin typeface="+mj-lt"/>
              </a:rPr>
              <a:t> </a:t>
            </a:r>
            <a:r>
              <a:rPr lang="en-US" altLang="ja-JP" sz="900" dirty="0">
                <a:latin typeface="+mj-lt"/>
              </a:rPr>
              <a:t>for</a:t>
            </a:r>
            <a:r>
              <a:rPr lang="ja-JP" altLang="en-US" sz="900" dirty="0">
                <a:latin typeface="+mj-lt"/>
              </a:rPr>
              <a:t> </a:t>
            </a:r>
            <a:r>
              <a:rPr lang="en-US" altLang="ja-JP" sz="900" dirty="0">
                <a:latin typeface="+mj-lt"/>
              </a:rPr>
              <a:t>signal</a:t>
            </a:r>
            <a:r>
              <a:rPr lang="ja-JP" altLang="en-US" sz="900" dirty="0">
                <a:latin typeface="+mj-lt"/>
              </a:rPr>
              <a:t> </a:t>
            </a:r>
            <a:r>
              <a:rPr lang="en-US" altLang="ja-JP" sz="900" dirty="0">
                <a:latin typeface="+mj-lt"/>
              </a:rPr>
              <a:t>2</a:t>
            </a:r>
            <a:r>
              <a:rPr lang="ja-JP" altLang="en-US" sz="900" dirty="0">
                <a:latin typeface="+mj-lt"/>
              </a:rPr>
              <a:t> </a:t>
            </a:r>
            <a:r>
              <a:rPr lang="en-US" altLang="ja-JP" sz="900" dirty="0">
                <a:latin typeface="+mj-lt"/>
              </a:rPr>
              <a:t>(dB-Hz)</a:t>
            </a:r>
            <a:endParaRPr kumimoji="1" lang="en-US" altLang="ja-JP" sz="900" dirty="0">
              <a:latin typeface="+mj-lt"/>
            </a:endParaRPr>
          </a:p>
          <a:p>
            <a:r>
              <a:rPr kumimoji="1" lang="en-US" altLang="ja-JP" sz="900" dirty="0">
                <a:latin typeface="+mj-lt"/>
              </a:rPr>
              <a:t>:</a:t>
            </a:r>
            <a:r>
              <a:rPr kumimoji="1" lang="ja-JP" altLang="en-US" sz="900" dirty="0">
                <a:latin typeface="+mj-lt"/>
              </a:rPr>
              <a:t> </a:t>
            </a:r>
            <a:r>
              <a:rPr kumimoji="1" lang="en-US" altLang="ja-JP" sz="900" dirty="0">
                <a:latin typeface="+mj-lt"/>
              </a:rPr>
              <a:t>Signal</a:t>
            </a:r>
            <a:r>
              <a:rPr kumimoji="1" lang="ja-JP" altLang="en-US" sz="900" dirty="0">
                <a:latin typeface="+mj-lt"/>
              </a:rPr>
              <a:t> </a:t>
            </a:r>
            <a:r>
              <a:rPr kumimoji="1" lang="en-US" altLang="ja-JP" sz="900" dirty="0">
                <a:latin typeface="+mj-lt"/>
              </a:rPr>
              <a:t>3</a:t>
            </a:r>
            <a:r>
              <a:rPr kumimoji="1" lang="ja-JP" altLang="en-US" sz="900" dirty="0">
                <a:latin typeface="+mj-lt"/>
              </a:rPr>
              <a:t> </a:t>
            </a:r>
            <a:r>
              <a:rPr kumimoji="1" lang="en-US" altLang="ja-JP" sz="900" dirty="0">
                <a:latin typeface="+mj-lt"/>
              </a:rPr>
              <a:t>ID</a:t>
            </a:r>
            <a:r>
              <a:rPr kumimoji="1" lang="ja-JP" altLang="en-US" sz="900" dirty="0">
                <a:latin typeface="+mj-lt"/>
              </a:rPr>
              <a:t> </a:t>
            </a:r>
            <a:endParaRPr kumimoji="1" lang="en-US" altLang="ja-JP" sz="900" dirty="0">
              <a:latin typeface="+mj-lt"/>
            </a:endParaRPr>
          </a:p>
          <a:p>
            <a:r>
              <a:rPr lang="en-US" altLang="ja-JP" sz="900" dirty="0">
                <a:latin typeface="+mj-lt"/>
              </a:rPr>
              <a:t>:</a:t>
            </a:r>
            <a:r>
              <a:rPr lang="ja-JP" altLang="en-US" sz="900" dirty="0">
                <a:latin typeface="+mj-lt"/>
              </a:rPr>
              <a:t> </a:t>
            </a:r>
            <a:r>
              <a:rPr lang="en-US" altLang="ja-JP" sz="900" dirty="0">
                <a:latin typeface="+mj-lt"/>
              </a:rPr>
              <a:t>C/N0</a:t>
            </a:r>
            <a:r>
              <a:rPr lang="ja-JP" altLang="en-US" sz="900" dirty="0">
                <a:latin typeface="+mj-lt"/>
              </a:rPr>
              <a:t> </a:t>
            </a:r>
            <a:r>
              <a:rPr lang="en-US" altLang="ja-JP" sz="900" dirty="0">
                <a:latin typeface="+mj-lt"/>
              </a:rPr>
              <a:t>for</a:t>
            </a:r>
            <a:r>
              <a:rPr lang="ja-JP" altLang="en-US" sz="900" dirty="0">
                <a:latin typeface="+mj-lt"/>
              </a:rPr>
              <a:t> </a:t>
            </a:r>
            <a:r>
              <a:rPr lang="en-US" altLang="ja-JP" sz="900" dirty="0">
                <a:latin typeface="+mj-lt"/>
              </a:rPr>
              <a:t>signal</a:t>
            </a:r>
            <a:r>
              <a:rPr lang="ja-JP" altLang="en-US" sz="900" dirty="0">
                <a:latin typeface="+mj-lt"/>
              </a:rPr>
              <a:t> </a:t>
            </a:r>
            <a:r>
              <a:rPr lang="en-US" altLang="ja-JP" sz="900" dirty="0">
                <a:latin typeface="+mj-lt"/>
              </a:rPr>
              <a:t>3</a:t>
            </a:r>
            <a:r>
              <a:rPr lang="ja-JP" altLang="en-US" sz="900" dirty="0">
                <a:latin typeface="+mj-lt"/>
              </a:rPr>
              <a:t> </a:t>
            </a:r>
            <a:r>
              <a:rPr lang="en-US" altLang="ja-JP" sz="900" dirty="0">
                <a:latin typeface="+mj-lt"/>
              </a:rPr>
              <a:t>(dB-Hz)</a:t>
            </a:r>
            <a:endParaRPr kumimoji="1" lang="en-US" altLang="ja-JP" sz="900" dirty="0">
              <a:latin typeface="+mj-lt"/>
            </a:endParaRPr>
          </a:p>
          <a:p>
            <a:r>
              <a:rPr lang="en-US" altLang="ja-JP" sz="900" dirty="0">
                <a:latin typeface="+mj-lt"/>
              </a:rPr>
              <a:t>...</a:t>
            </a:r>
          </a:p>
        </p:txBody>
      </p:sp>
      <p:cxnSp>
        <p:nvCxnSpPr>
          <p:cNvPr id="12" name="直線コネクタ 11">
            <a:extLst>
              <a:ext uri="{FF2B5EF4-FFF2-40B4-BE49-F238E27FC236}">
                <a16:creationId xmlns:a16="http://schemas.microsoft.com/office/drawing/2014/main" id="{5D0BC4FD-6E4B-1A9F-F284-75E342C4DAB6}"/>
              </a:ext>
            </a:extLst>
          </p:cNvPr>
          <p:cNvCxnSpPr>
            <a:cxnSpLocks/>
            <a:endCxn id="6" idx="3"/>
          </p:cNvCxnSpPr>
          <p:nvPr/>
        </p:nvCxnSpPr>
        <p:spPr>
          <a:xfrm flipH="1" flipV="1">
            <a:off x="1972166" y="2344234"/>
            <a:ext cx="613681" cy="184666"/>
          </a:xfrm>
          <a:prstGeom prst="line">
            <a:avLst/>
          </a:prstGeom>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CA7A4622-236D-7E54-13C4-F7538F7AE71E}"/>
              </a:ext>
            </a:extLst>
          </p:cNvPr>
          <p:cNvSpPr txBox="1"/>
          <p:nvPr/>
        </p:nvSpPr>
        <p:spPr>
          <a:xfrm>
            <a:off x="6861271" y="4356567"/>
            <a:ext cx="1376431" cy="415498"/>
          </a:xfrm>
          <a:prstGeom prst="rect">
            <a:avLst/>
          </a:prstGeom>
          <a:noFill/>
        </p:spPr>
        <p:txBody>
          <a:bodyPr wrap="square" lIns="0" tIns="0" rIns="0" bIns="0" rtlCol="0">
            <a:spAutoFit/>
          </a:bodyPr>
          <a:lstStyle/>
          <a:p>
            <a:pPr algn="ctr"/>
            <a:r>
              <a:rPr kumimoji="1" lang="en-US" altLang="ja-JP" sz="900" dirty="0">
                <a:solidFill>
                  <a:srgbClr val="FF5050"/>
                </a:solidFill>
                <a:latin typeface="+mj-lt"/>
              </a:rPr>
              <a:t>Red:</a:t>
            </a:r>
            <a:r>
              <a:rPr kumimoji="1" lang="ja-JP" altLang="en-US" sz="900" dirty="0">
                <a:solidFill>
                  <a:srgbClr val="FF5050"/>
                </a:solidFill>
                <a:latin typeface="+mj-lt"/>
              </a:rPr>
              <a:t> </a:t>
            </a:r>
            <a:r>
              <a:rPr kumimoji="1" lang="en-US" altLang="ja-JP" sz="900" dirty="0">
                <a:solidFill>
                  <a:srgbClr val="FF5050"/>
                </a:solidFill>
                <a:latin typeface="+mj-lt"/>
              </a:rPr>
              <a:t>unhealthy</a:t>
            </a:r>
            <a:r>
              <a:rPr kumimoji="1" lang="ja-JP" altLang="en-US" sz="900" dirty="0">
                <a:solidFill>
                  <a:srgbClr val="FF5050"/>
                </a:solidFill>
                <a:latin typeface="+mj-lt"/>
              </a:rPr>
              <a:t> </a:t>
            </a:r>
            <a:r>
              <a:rPr kumimoji="1" lang="en-US" altLang="ja-JP" sz="900" dirty="0">
                <a:solidFill>
                  <a:srgbClr val="FF5050"/>
                </a:solidFill>
                <a:latin typeface="+mj-lt"/>
              </a:rPr>
              <a:t>satellite</a:t>
            </a:r>
          </a:p>
          <a:p>
            <a:pPr algn="ctr"/>
            <a:r>
              <a:rPr lang="en-US" altLang="ja-JP" sz="900" dirty="0">
                <a:solidFill>
                  <a:schemeClr val="bg1">
                    <a:lumMod val="50000"/>
                  </a:schemeClr>
                </a:solidFill>
                <a:latin typeface="+mj-lt"/>
              </a:rPr>
              <a:t>Grey:</a:t>
            </a:r>
            <a:r>
              <a:rPr lang="ja-JP" altLang="en-US" sz="900" dirty="0">
                <a:solidFill>
                  <a:schemeClr val="bg1">
                    <a:lumMod val="50000"/>
                  </a:schemeClr>
                </a:solidFill>
                <a:latin typeface="+mj-lt"/>
              </a:rPr>
              <a:t> </a:t>
            </a:r>
            <a:r>
              <a:rPr lang="en-US" altLang="ja-JP" sz="900" dirty="0">
                <a:solidFill>
                  <a:schemeClr val="bg1">
                    <a:lumMod val="50000"/>
                  </a:schemeClr>
                </a:solidFill>
                <a:latin typeface="+mj-lt"/>
              </a:rPr>
              <a:t>unused</a:t>
            </a:r>
            <a:r>
              <a:rPr lang="ja-JP" altLang="en-US" sz="900" dirty="0">
                <a:solidFill>
                  <a:schemeClr val="bg1">
                    <a:lumMod val="50000"/>
                  </a:schemeClr>
                </a:solidFill>
                <a:latin typeface="+mj-lt"/>
              </a:rPr>
              <a:t> </a:t>
            </a:r>
            <a:r>
              <a:rPr lang="en-US" altLang="ja-JP" sz="900" dirty="0">
                <a:solidFill>
                  <a:schemeClr val="bg1">
                    <a:lumMod val="50000"/>
                  </a:schemeClr>
                </a:solidFill>
                <a:latin typeface="+mj-lt"/>
              </a:rPr>
              <a:t>satellite</a:t>
            </a:r>
            <a:r>
              <a:rPr lang="ja-JP" altLang="en-US" sz="900" dirty="0">
                <a:solidFill>
                  <a:schemeClr val="bg1">
                    <a:lumMod val="50000"/>
                  </a:schemeClr>
                </a:solidFill>
                <a:latin typeface="+mj-lt"/>
              </a:rPr>
              <a:t> </a:t>
            </a:r>
            <a:r>
              <a:rPr lang="en-US" altLang="ja-JP" sz="900" dirty="0">
                <a:solidFill>
                  <a:schemeClr val="bg1">
                    <a:lumMod val="50000"/>
                  </a:schemeClr>
                </a:solidFill>
                <a:latin typeface="+mj-lt"/>
              </a:rPr>
              <a:t>for</a:t>
            </a:r>
            <a:r>
              <a:rPr lang="ja-JP" altLang="en-US" sz="900" dirty="0">
                <a:solidFill>
                  <a:schemeClr val="bg1">
                    <a:lumMod val="50000"/>
                  </a:schemeClr>
                </a:solidFill>
                <a:latin typeface="+mj-lt"/>
              </a:rPr>
              <a:t> </a:t>
            </a:r>
            <a:r>
              <a:rPr lang="en-US" altLang="ja-JP" sz="900" dirty="0">
                <a:solidFill>
                  <a:schemeClr val="bg1">
                    <a:lumMod val="50000"/>
                  </a:schemeClr>
                </a:solidFill>
                <a:latin typeface="+mj-lt"/>
              </a:rPr>
              <a:t>PVT</a:t>
            </a:r>
            <a:r>
              <a:rPr lang="ja-JP" altLang="en-US" sz="900" dirty="0">
                <a:solidFill>
                  <a:schemeClr val="bg1">
                    <a:lumMod val="50000"/>
                  </a:schemeClr>
                </a:solidFill>
                <a:latin typeface="+mj-lt"/>
              </a:rPr>
              <a:t> </a:t>
            </a:r>
            <a:r>
              <a:rPr lang="en-US" altLang="ja-JP" sz="900" dirty="0">
                <a:solidFill>
                  <a:schemeClr val="bg1">
                    <a:lumMod val="50000"/>
                  </a:schemeClr>
                </a:solidFill>
                <a:latin typeface="+mj-lt"/>
              </a:rPr>
              <a:t>solution</a:t>
            </a:r>
            <a:endParaRPr kumimoji="1" lang="en-US" altLang="ja-JP" sz="900" dirty="0">
              <a:solidFill>
                <a:schemeClr val="bg1">
                  <a:lumMod val="50000"/>
                </a:schemeClr>
              </a:solidFill>
              <a:latin typeface="+mj-lt"/>
            </a:endParaRPr>
          </a:p>
        </p:txBody>
      </p:sp>
      <p:cxnSp>
        <p:nvCxnSpPr>
          <p:cNvPr id="16" name="直線コネクタ 15">
            <a:extLst>
              <a:ext uri="{FF2B5EF4-FFF2-40B4-BE49-F238E27FC236}">
                <a16:creationId xmlns:a16="http://schemas.microsoft.com/office/drawing/2014/main" id="{DA736342-E1F1-CA96-3DA8-47E5ECB2AEC2}"/>
              </a:ext>
            </a:extLst>
          </p:cNvPr>
          <p:cNvCxnSpPr>
            <a:cxnSpLocks/>
            <a:endCxn id="14" idx="1"/>
          </p:cNvCxnSpPr>
          <p:nvPr/>
        </p:nvCxnSpPr>
        <p:spPr>
          <a:xfrm>
            <a:off x="6298335" y="4122541"/>
            <a:ext cx="562936" cy="441775"/>
          </a:xfrm>
          <a:prstGeom prst="line">
            <a:avLst/>
          </a:prstGeom>
        </p:spPr>
        <p:style>
          <a:lnRef idx="1">
            <a:schemeClr val="accent1"/>
          </a:lnRef>
          <a:fillRef idx="0">
            <a:schemeClr val="accent1"/>
          </a:fillRef>
          <a:effectRef idx="0">
            <a:schemeClr val="accent1"/>
          </a:effectRef>
          <a:fontRef idx="minor">
            <a:schemeClr val="tx1"/>
          </a:fontRef>
        </p:style>
      </p:cxnSp>
      <p:sp>
        <p:nvSpPr>
          <p:cNvPr id="17" name="正方形/長方形 16">
            <a:extLst>
              <a:ext uri="{FF2B5EF4-FFF2-40B4-BE49-F238E27FC236}">
                <a16:creationId xmlns:a16="http://schemas.microsoft.com/office/drawing/2014/main" id="{38D3EEB7-AC9E-0F92-7A54-D700F2E6D58A}"/>
              </a:ext>
            </a:extLst>
          </p:cNvPr>
          <p:cNvSpPr/>
          <p:nvPr/>
        </p:nvSpPr>
        <p:spPr>
          <a:xfrm>
            <a:off x="2588324" y="2384884"/>
            <a:ext cx="723536"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B1EFE90B-75A6-EBC5-8F3F-1C1971DCCB0E}"/>
              </a:ext>
            </a:extLst>
          </p:cNvPr>
          <p:cNvSpPr txBox="1"/>
          <p:nvPr/>
        </p:nvSpPr>
        <p:spPr>
          <a:xfrm>
            <a:off x="1960961" y="1575457"/>
            <a:ext cx="1206883" cy="184666"/>
          </a:xfrm>
          <a:prstGeom prst="rect">
            <a:avLst/>
          </a:prstGeom>
          <a:noFill/>
        </p:spPr>
        <p:txBody>
          <a:bodyPr wrap="square" lIns="0" tIns="0" rIns="0" bIns="0" rtlCol="0">
            <a:spAutoFit/>
          </a:bodyPr>
          <a:lstStyle/>
          <a:p>
            <a:pPr algn="ctr"/>
            <a:r>
              <a:rPr kumimoji="1" lang="en-US" altLang="ja-JP" sz="1200" dirty="0">
                <a:latin typeface="+mj-lt"/>
              </a:rPr>
              <a:t>System</a:t>
            </a:r>
            <a:r>
              <a:rPr kumimoji="1" lang="ja-JP" altLang="en-US" sz="1200" dirty="0">
                <a:latin typeface="+mj-lt"/>
              </a:rPr>
              <a:t> </a:t>
            </a:r>
            <a:r>
              <a:rPr kumimoji="1" lang="en-US" altLang="ja-JP" sz="1200" dirty="0">
                <a:latin typeface="+mj-lt"/>
              </a:rPr>
              <a:t>Selection</a:t>
            </a:r>
          </a:p>
        </p:txBody>
      </p:sp>
      <p:cxnSp>
        <p:nvCxnSpPr>
          <p:cNvPr id="19" name="直線コネクタ 18">
            <a:extLst>
              <a:ext uri="{FF2B5EF4-FFF2-40B4-BE49-F238E27FC236}">
                <a16:creationId xmlns:a16="http://schemas.microsoft.com/office/drawing/2014/main" id="{613DFB2C-73F8-E137-9769-A5BE12946BB1}"/>
              </a:ext>
            </a:extLst>
          </p:cNvPr>
          <p:cNvCxnSpPr>
            <a:cxnSpLocks/>
            <a:stCxn id="17" idx="0"/>
            <a:endCxn id="18" idx="2"/>
          </p:cNvCxnSpPr>
          <p:nvPr/>
        </p:nvCxnSpPr>
        <p:spPr>
          <a:xfrm flipH="1" flipV="1">
            <a:off x="2564403" y="1760123"/>
            <a:ext cx="385689" cy="624761"/>
          </a:xfrm>
          <a:prstGeom prst="line">
            <a:avLst/>
          </a:prstGeom>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88B3464C-1BAB-6BB7-427E-9B599177C3D8}"/>
              </a:ext>
            </a:extLst>
          </p:cNvPr>
          <p:cNvSpPr/>
          <p:nvPr/>
        </p:nvSpPr>
        <p:spPr>
          <a:xfrm>
            <a:off x="5184068" y="2384884"/>
            <a:ext cx="1369132"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13AEB72B-3C3C-1119-8ED2-1B31A48692E4}"/>
              </a:ext>
            </a:extLst>
          </p:cNvPr>
          <p:cNvSpPr txBox="1"/>
          <p:nvPr/>
        </p:nvSpPr>
        <p:spPr>
          <a:xfrm>
            <a:off x="6861272" y="1947436"/>
            <a:ext cx="1383136" cy="553998"/>
          </a:xfrm>
          <a:prstGeom prst="rect">
            <a:avLst/>
          </a:prstGeom>
          <a:noFill/>
        </p:spPr>
        <p:txBody>
          <a:bodyPr wrap="square" lIns="0" tIns="0" rIns="0" bIns="0" rtlCol="0">
            <a:spAutoFit/>
          </a:bodyPr>
          <a:lstStyle/>
          <a:p>
            <a:pPr algn="ctr"/>
            <a:r>
              <a:rPr kumimoji="1" lang="en-US" altLang="ja-JP" sz="900" dirty="0">
                <a:latin typeface="+mj-lt"/>
              </a:rPr>
              <a:t>Number</a:t>
            </a:r>
            <a:r>
              <a:rPr kumimoji="1" lang="ja-JP" altLang="en-US" sz="900" dirty="0">
                <a:latin typeface="+mj-lt"/>
              </a:rPr>
              <a:t> </a:t>
            </a:r>
            <a:r>
              <a:rPr kumimoji="1" lang="en-US" altLang="ja-JP" sz="900" dirty="0">
                <a:latin typeface="+mj-lt"/>
              </a:rPr>
              <a:t>of</a:t>
            </a:r>
            <a:r>
              <a:rPr kumimoji="1" lang="ja-JP" altLang="en-US" sz="900" dirty="0">
                <a:latin typeface="+mj-lt"/>
              </a:rPr>
              <a:t> </a:t>
            </a:r>
            <a:r>
              <a:rPr kumimoji="1" lang="en-US" altLang="ja-JP" sz="900" dirty="0">
                <a:latin typeface="+mj-lt"/>
              </a:rPr>
              <a:t>satellites</a:t>
            </a:r>
            <a:r>
              <a:rPr kumimoji="1" lang="ja-JP" altLang="en-US" sz="900" dirty="0">
                <a:latin typeface="+mj-lt"/>
              </a:rPr>
              <a:t> </a:t>
            </a:r>
            <a:r>
              <a:rPr kumimoji="1" lang="en-US" altLang="ja-JP" sz="900" dirty="0">
                <a:latin typeface="+mj-lt"/>
              </a:rPr>
              <a:t>used</a:t>
            </a:r>
            <a:r>
              <a:rPr kumimoji="1" lang="ja-JP" altLang="en-US" sz="900" dirty="0">
                <a:latin typeface="+mj-lt"/>
              </a:rPr>
              <a:t> </a:t>
            </a:r>
            <a:r>
              <a:rPr kumimoji="1" lang="en-US" altLang="ja-JP" sz="900" dirty="0">
                <a:latin typeface="+mj-lt"/>
              </a:rPr>
              <a:t>for</a:t>
            </a:r>
            <a:r>
              <a:rPr kumimoji="1" lang="ja-JP" altLang="en-US" sz="900" dirty="0">
                <a:latin typeface="+mj-lt"/>
              </a:rPr>
              <a:t> </a:t>
            </a:r>
            <a:r>
              <a:rPr kumimoji="1" lang="en-US" altLang="ja-JP" sz="900" dirty="0">
                <a:latin typeface="+mj-lt"/>
              </a:rPr>
              <a:t>PVT</a:t>
            </a:r>
            <a:r>
              <a:rPr kumimoji="1" lang="ja-JP" altLang="en-US" sz="900" dirty="0">
                <a:latin typeface="+mj-lt"/>
              </a:rPr>
              <a:t> </a:t>
            </a:r>
            <a:r>
              <a:rPr kumimoji="1" lang="en-US" altLang="ja-JP" sz="900" dirty="0">
                <a:latin typeface="+mj-lt"/>
              </a:rPr>
              <a:t>solution,</a:t>
            </a:r>
            <a:r>
              <a:rPr kumimoji="1" lang="ja-JP" altLang="en-US" sz="900" dirty="0">
                <a:latin typeface="+mj-lt"/>
              </a:rPr>
              <a:t> </a:t>
            </a:r>
            <a:r>
              <a:rPr kumimoji="1" lang="en-US" altLang="ja-JP" sz="900" dirty="0">
                <a:latin typeface="+mj-lt"/>
              </a:rPr>
              <a:t>number</a:t>
            </a:r>
            <a:r>
              <a:rPr kumimoji="1" lang="ja-JP" altLang="en-US" sz="900" dirty="0">
                <a:latin typeface="+mj-lt"/>
              </a:rPr>
              <a:t> </a:t>
            </a:r>
            <a:r>
              <a:rPr kumimoji="1" lang="en-US" altLang="ja-JP" sz="900" dirty="0">
                <a:latin typeface="+mj-lt"/>
              </a:rPr>
              <a:t>of</a:t>
            </a:r>
            <a:r>
              <a:rPr kumimoji="1" lang="ja-JP" altLang="en-US" sz="900" dirty="0">
                <a:latin typeface="+mj-lt"/>
              </a:rPr>
              <a:t> </a:t>
            </a:r>
            <a:r>
              <a:rPr kumimoji="1" lang="en-US" altLang="ja-JP" sz="900" dirty="0">
                <a:latin typeface="+mj-lt"/>
              </a:rPr>
              <a:t>satellites</a:t>
            </a:r>
            <a:r>
              <a:rPr kumimoji="1" lang="ja-JP" altLang="en-US" sz="900" dirty="0">
                <a:latin typeface="+mj-lt"/>
              </a:rPr>
              <a:t> </a:t>
            </a:r>
            <a:r>
              <a:rPr kumimoji="1" lang="en-US" altLang="ja-JP" sz="900" dirty="0">
                <a:latin typeface="+mj-lt"/>
              </a:rPr>
              <a:t>tracked,</a:t>
            </a:r>
            <a:r>
              <a:rPr kumimoji="1" lang="ja-JP" altLang="en-US" sz="900" dirty="0">
                <a:latin typeface="+mj-lt"/>
              </a:rPr>
              <a:t> </a:t>
            </a:r>
            <a:r>
              <a:rPr kumimoji="1" lang="en-US" altLang="ja-JP" sz="900" dirty="0">
                <a:latin typeface="+mj-lt"/>
              </a:rPr>
              <a:t>number</a:t>
            </a:r>
            <a:r>
              <a:rPr kumimoji="1" lang="ja-JP" altLang="en-US" sz="900" dirty="0">
                <a:latin typeface="+mj-lt"/>
              </a:rPr>
              <a:t> </a:t>
            </a:r>
            <a:r>
              <a:rPr kumimoji="1" lang="en-US" altLang="ja-JP" sz="900" dirty="0">
                <a:latin typeface="+mj-lt"/>
              </a:rPr>
              <a:t>of</a:t>
            </a:r>
            <a:r>
              <a:rPr kumimoji="1" lang="ja-JP" altLang="en-US" sz="900" dirty="0">
                <a:latin typeface="+mj-lt"/>
              </a:rPr>
              <a:t> </a:t>
            </a:r>
            <a:r>
              <a:rPr kumimoji="1" lang="en-US" altLang="ja-JP" sz="900" dirty="0">
                <a:latin typeface="+mj-lt"/>
              </a:rPr>
              <a:t>all</a:t>
            </a:r>
            <a:r>
              <a:rPr kumimoji="1" lang="ja-JP" altLang="en-US" sz="900" dirty="0">
                <a:latin typeface="+mj-lt"/>
              </a:rPr>
              <a:t> </a:t>
            </a:r>
            <a:r>
              <a:rPr kumimoji="1" lang="en-US" altLang="ja-JP" sz="900" dirty="0">
                <a:latin typeface="+mj-lt"/>
              </a:rPr>
              <a:t>tracked</a:t>
            </a:r>
            <a:r>
              <a:rPr kumimoji="1" lang="ja-JP" altLang="en-US" sz="900" dirty="0">
                <a:latin typeface="+mj-lt"/>
              </a:rPr>
              <a:t> </a:t>
            </a:r>
            <a:r>
              <a:rPr kumimoji="1" lang="en-US" altLang="ja-JP" sz="900" dirty="0">
                <a:latin typeface="+mj-lt"/>
              </a:rPr>
              <a:t>signals</a:t>
            </a:r>
          </a:p>
        </p:txBody>
      </p:sp>
      <p:cxnSp>
        <p:nvCxnSpPr>
          <p:cNvPr id="26" name="直線コネクタ 25">
            <a:extLst>
              <a:ext uri="{FF2B5EF4-FFF2-40B4-BE49-F238E27FC236}">
                <a16:creationId xmlns:a16="http://schemas.microsoft.com/office/drawing/2014/main" id="{803800FB-BF12-BD29-6DB3-A8B51879B0DB}"/>
              </a:ext>
            </a:extLst>
          </p:cNvPr>
          <p:cNvCxnSpPr>
            <a:cxnSpLocks/>
            <a:stCxn id="23" idx="3"/>
            <a:endCxn id="24" idx="1"/>
          </p:cNvCxnSpPr>
          <p:nvPr/>
        </p:nvCxnSpPr>
        <p:spPr>
          <a:xfrm flipV="1">
            <a:off x="6553200" y="2224435"/>
            <a:ext cx="308072" cy="23245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84127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535D0-9E72-8C62-5912-6019BBDED159}"/>
            </a:ext>
          </a:extLst>
        </p:cNvPr>
        <p:cNvGrpSpPr/>
        <p:nvPr/>
      </p:nvGrpSpPr>
      <p:grpSpPr>
        <a:xfrm>
          <a:off x="0" y="0"/>
          <a:ext cx="0" cy="0"/>
          <a:chOff x="0" y="0"/>
          <a:chExt cx="0" cy="0"/>
        </a:xfrm>
      </p:grpSpPr>
      <p:pic>
        <p:nvPicPr>
          <p:cNvPr id="11" name="図 10">
            <a:extLst>
              <a:ext uri="{FF2B5EF4-FFF2-40B4-BE49-F238E27FC236}">
                <a16:creationId xmlns:a16="http://schemas.microsoft.com/office/drawing/2014/main" id="{551291EB-6937-4870-923E-1576EC93DF06}"/>
              </a:ext>
            </a:extLst>
          </p:cNvPr>
          <p:cNvPicPr>
            <a:picLocks noChangeAspect="1"/>
          </p:cNvPicPr>
          <p:nvPr/>
        </p:nvPicPr>
        <p:blipFill>
          <a:blip r:embed="rId2"/>
          <a:stretch>
            <a:fillRect/>
          </a:stretch>
        </p:blipFill>
        <p:spPr>
          <a:xfrm>
            <a:off x="2585234" y="1977104"/>
            <a:ext cx="3972860" cy="3130733"/>
          </a:xfrm>
          <a:prstGeom prst="rect">
            <a:avLst/>
          </a:prstGeom>
        </p:spPr>
      </p:pic>
      <p:sp>
        <p:nvSpPr>
          <p:cNvPr id="4" name="スライド番号プレースホルダー 3">
            <a:extLst>
              <a:ext uri="{FF2B5EF4-FFF2-40B4-BE49-F238E27FC236}">
                <a16:creationId xmlns:a16="http://schemas.microsoft.com/office/drawing/2014/main" id="{A53A6519-0A4C-38E7-5DFF-5C322724C96E}"/>
              </a:ext>
            </a:extLst>
          </p:cNvPr>
          <p:cNvSpPr>
            <a:spLocks noGrp="1"/>
          </p:cNvSpPr>
          <p:nvPr>
            <p:ph type="sldNum" sz="quarter" idx="11"/>
          </p:nvPr>
        </p:nvSpPr>
        <p:spPr/>
        <p:txBody>
          <a:bodyPr/>
          <a:lstStyle/>
          <a:p>
            <a:pPr>
              <a:defRPr/>
            </a:pPr>
            <a:fld id="{76B10B91-6492-4C08-AE87-F344306858DA}" type="slidenum">
              <a:rPr lang="ja-JP" altLang="en-US" smtClean="0"/>
              <a:pPr>
                <a:defRPr/>
              </a:pPr>
              <a:t>7</a:t>
            </a:fld>
            <a:endParaRPr lang="ja-JP" altLang="en-US" dirty="0"/>
          </a:p>
        </p:txBody>
      </p:sp>
      <p:sp>
        <p:nvSpPr>
          <p:cNvPr id="5" name="タイトル 1">
            <a:extLst>
              <a:ext uri="{FF2B5EF4-FFF2-40B4-BE49-F238E27FC236}">
                <a16:creationId xmlns:a16="http://schemas.microsoft.com/office/drawing/2014/main" id="{5E23B9A3-088B-E9AC-F573-12B1DE72C4A1}"/>
              </a:ext>
            </a:extLst>
          </p:cNvPr>
          <p:cNvSpPr>
            <a:spLocks noGrp="1"/>
          </p:cNvSpPr>
          <p:nvPr>
            <p:ph type="title"/>
          </p:nvPr>
        </p:nvSpPr>
        <p:spPr>
          <a:xfrm>
            <a:off x="457200" y="512676"/>
            <a:ext cx="8229600" cy="598078"/>
          </a:xfrm>
        </p:spPr>
        <p:txBody>
          <a:bodyPr/>
          <a:lstStyle/>
          <a:p>
            <a:r>
              <a:rPr kumimoji="1" lang="en-US" altLang="ja-JP" sz="2000" dirty="0">
                <a:solidFill>
                  <a:schemeClr val="tx1"/>
                </a:solidFill>
              </a:rPr>
              <a:t>Solution</a:t>
            </a:r>
            <a:r>
              <a:rPr kumimoji="1" lang="ja-JP" altLang="en-US" sz="2000" dirty="0">
                <a:solidFill>
                  <a:schemeClr val="tx1"/>
                </a:solidFill>
              </a:rPr>
              <a:t> </a:t>
            </a:r>
            <a:r>
              <a:rPr kumimoji="1" lang="en-US" altLang="ja-JP" sz="2000" dirty="0">
                <a:solidFill>
                  <a:schemeClr val="tx1"/>
                </a:solidFill>
              </a:rPr>
              <a:t>Page</a:t>
            </a:r>
            <a:endParaRPr kumimoji="1" lang="ja-JP" altLang="en-US" sz="2000" dirty="0">
              <a:solidFill>
                <a:schemeClr val="tx1"/>
              </a:solidFill>
            </a:endParaRPr>
          </a:p>
        </p:txBody>
      </p:sp>
      <p:sp>
        <p:nvSpPr>
          <p:cNvPr id="2" name="正方形/長方形 1">
            <a:extLst>
              <a:ext uri="{FF2B5EF4-FFF2-40B4-BE49-F238E27FC236}">
                <a16:creationId xmlns:a16="http://schemas.microsoft.com/office/drawing/2014/main" id="{866281B3-135F-0104-503C-21493EAB560E}"/>
              </a:ext>
            </a:extLst>
          </p:cNvPr>
          <p:cNvSpPr/>
          <p:nvPr/>
        </p:nvSpPr>
        <p:spPr>
          <a:xfrm>
            <a:off x="2585848" y="2528900"/>
            <a:ext cx="3967352" cy="244827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399AAA80-DC23-70B2-C38A-9C11134185B1}"/>
              </a:ext>
            </a:extLst>
          </p:cNvPr>
          <p:cNvSpPr/>
          <p:nvPr/>
        </p:nvSpPr>
        <p:spPr>
          <a:xfrm>
            <a:off x="2580894" y="2384884"/>
            <a:ext cx="658958"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8D69B133-80E7-19EE-D2BB-48EC4A2915BC}"/>
              </a:ext>
            </a:extLst>
          </p:cNvPr>
          <p:cNvSpPr txBox="1"/>
          <p:nvPr/>
        </p:nvSpPr>
        <p:spPr>
          <a:xfrm>
            <a:off x="1960961" y="1390181"/>
            <a:ext cx="1206883" cy="507831"/>
          </a:xfrm>
          <a:prstGeom prst="rect">
            <a:avLst/>
          </a:prstGeom>
          <a:noFill/>
        </p:spPr>
        <p:txBody>
          <a:bodyPr wrap="square" lIns="0" tIns="0" rIns="0" bIns="0" rtlCol="0">
            <a:spAutoFit/>
          </a:bodyPr>
          <a:lstStyle/>
          <a:p>
            <a:pPr algn="ctr"/>
            <a:r>
              <a:rPr kumimoji="1" lang="en-US" altLang="ja-JP" sz="1200" dirty="0">
                <a:latin typeface="+mj-lt"/>
              </a:rPr>
              <a:t>PVT Solution</a:t>
            </a:r>
            <a:r>
              <a:rPr kumimoji="1" lang="ja-JP" altLang="en-US" sz="1200" dirty="0">
                <a:latin typeface="+mj-lt"/>
              </a:rPr>
              <a:t> </a:t>
            </a:r>
            <a:r>
              <a:rPr kumimoji="1" lang="en-US" altLang="ja-JP" sz="1200" dirty="0">
                <a:latin typeface="+mj-lt"/>
              </a:rPr>
              <a:t>Plot</a:t>
            </a:r>
            <a:r>
              <a:rPr kumimoji="1" lang="ja-JP" altLang="en-US" sz="1200" dirty="0">
                <a:latin typeface="+mj-lt"/>
              </a:rPr>
              <a:t> </a:t>
            </a:r>
            <a:r>
              <a:rPr kumimoji="1" lang="en-US" altLang="ja-JP" sz="1200" dirty="0">
                <a:latin typeface="+mj-lt"/>
              </a:rPr>
              <a:t>Selection:</a:t>
            </a:r>
          </a:p>
          <a:p>
            <a:pPr algn="ctr"/>
            <a:r>
              <a:rPr lang="en-US" altLang="ja-JP" sz="900" dirty="0">
                <a:latin typeface="+mj-lt"/>
              </a:rPr>
              <a:t>Pos</a:t>
            </a:r>
            <a:r>
              <a:rPr lang="ja-JP" altLang="en-US" sz="900" dirty="0">
                <a:latin typeface="+mj-lt"/>
              </a:rPr>
              <a:t> </a:t>
            </a:r>
            <a:r>
              <a:rPr lang="en-US" altLang="ja-JP" sz="900" dirty="0">
                <a:latin typeface="+mj-lt"/>
              </a:rPr>
              <a:t>ENU</a:t>
            </a:r>
            <a:r>
              <a:rPr lang="ja-JP" altLang="en-US" sz="900" dirty="0">
                <a:latin typeface="+mj-lt"/>
              </a:rPr>
              <a:t> </a:t>
            </a:r>
            <a:r>
              <a:rPr lang="en-US" altLang="ja-JP" sz="900" dirty="0">
                <a:latin typeface="+mj-lt"/>
              </a:rPr>
              <a:t>or</a:t>
            </a:r>
            <a:r>
              <a:rPr lang="ja-JP" altLang="en-US" sz="900" dirty="0">
                <a:latin typeface="+mj-lt"/>
              </a:rPr>
              <a:t> </a:t>
            </a:r>
            <a:r>
              <a:rPr lang="en-US" altLang="ja-JP" sz="900" dirty="0">
                <a:latin typeface="+mj-lt"/>
              </a:rPr>
              <a:t>Pos</a:t>
            </a:r>
            <a:r>
              <a:rPr lang="ja-JP" altLang="en-US" sz="900" dirty="0">
                <a:latin typeface="+mj-lt"/>
              </a:rPr>
              <a:t> </a:t>
            </a:r>
            <a:r>
              <a:rPr lang="en-US" altLang="ja-JP" sz="900" dirty="0" err="1">
                <a:latin typeface="+mj-lt"/>
              </a:rPr>
              <a:t>Horiz</a:t>
            </a:r>
            <a:endParaRPr kumimoji="1" lang="en-US" altLang="ja-JP" sz="900" dirty="0">
              <a:latin typeface="+mj-lt"/>
            </a:endParaRPr>
          </a:p>
        </p:txBody>
      </p:sp>
      <p:cxnSp>
        <p:nvCxnSpPr>
          <p:cNvPr id="8" name="直線コネクタ 7">
            <a:extLst>
              <a:ext uri="{FF2B5EF4-FFF2-40B4-BE49-F238E27FC236}">
                <a16:creationId xmlns:a16="http://schemas.microsoft.com/office/drawing/2014/main" id="{E812B10B-C566-1121-CC05-7DAA474737CF}"/>
              </a:ext>
            </a:extLst>
          </p:cNvPr>
          <p:cNvCxnSpPr>
            <a:cxnSpLocks/>
            <a:stCxn id="3" idx="0"/>
            <a:endCxn id="7" idx="2"/>
          </p:cNvCxnSpPr>
          <p:nvPr/>
        </p:nvCxnSpPr>
        <p:spPr>
          <a:xfrm flipH="1" flipV="1">
            <a:off x="2564403" y="1898012"/>
            <a:ext cx="345970" cy="486872"/>
          </a:xfrm>
          <a:prstGeom prst="line">
            <a:avLst/>
          </a:prstGeom>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B49F9534-34DA-6FD6-FD11-8AE9138DF388}"/>
              </a:ext>
            </a:extLst>
          </p:cNvPr>
          <p:cNvSpPr txBox="1"/>
          <p:nvPr/>
        </p:nvSpPr>
        <p:spPr>
          <a:xfrm>
            <a:off x="899592" y="3282829"/>
            <a:ext cx="1260140" cy="1431161"/>
          </a:xfrm>
          <a:prstGeom prst="rect">
            <a:avLst/>
          </a:prstGeom>
          <a:noFill/>
        </p:spPr>
        <p:txBody>
          <a:bodyPr wrap="square" lIns="0" tIns="0" rIns="0" bIns="0" rtlCol="0">
            <a:spAutoFit/>
          </a:bodyPr>
          <a:lstStyle/>
          <a:p>
            <a:pPr algn="ctr"/>
            <a:r>
              <a:rPr kumimoji="1" lang="en-US" altLang="ja-JP" sz="1200" dirty="0">
                <a:latin typeface="+mj-lt"/>
              </a:rPr>
              <a:t>PVT Solution</a:t>
            </a:r>
            <a:r>
              <a:rPr kumimoji="1" lang="ja-JP" altLang="en-US" sz="1200" dirty="0">
                <a:latin typeface="+mj-lt"/>
              </a:rPr>
              <a:t> </a:t>
            </a:r>
            <a:r>
              <a:rPr kumimoji="1" lang="en-US" altLang="ja-JP" sz="1200" dirty="0">
                <a:latin typeface="+mj-lt"/>
              </a:rPr>
              <a:t>Plot:</a:t>
            </a:r>
          </a:p>
          <a:p>
            <a:pPr algn="ctr"/>
            <a:r>
              <a:rPr lang="en-US" altLang="ja-JP" sz="900" dirty="0">
                <a:latin typeface="+mj-lt"/>
              </a:rPr>
              <a:t>Pos</a:t>
            </a:r>
            <a:r>
              <a:rPr lang="ja-JP" altLang="en-US" sz="900" dirty="0">
                <a:latin typeface="+mj-lt"/>
              </a:rPr>
              <a:t> </a:t>
            </a:r>
            <a:r>
              <a:rPr lang="en-US" altLang="ja-JP" sz="900" dirty="0">
                <a:latin typeface="+mj-lt"/>
              </a:rPr>
              <a:t>E,</a:t>
            </a:r>
            <a:r>
              <a:rPr lang="ja-JP" altLang="en-US" sz="900" dirty="0">
                <a:latin typeface="+mj-lt"/>
              </a:rPr>
              <a:t> </a:t>
            </a:r>
            <a:r>
              <a:rPr lang="en-US" altLang="ja-JP" sz="900" dirty="0">
                <a:latin typeface="+mj-lt"/>
              </a:rPr>
              <a:t>N,</a:t>
            </a:r>
            <a:r>
              <a:rPr lang="ja-JP" altLang="en-US" sz="900" dirty="0">
                <a:latin typeface="+mj-lt"/>
              </a:rPr>
              <a:t> </a:t>
            </a:r>
            <a:r>
              <a:rPr lang="en-US" altLang="ja-JP" sz="900" dirty="0">
                <a:latin typeface="+mj-lt"/>
              </a:rPr>
              <a:t>U:</a:t>
            </a:r>
            <a:r>
              <a:rPr lang="ja-JP" altLang="en-US" sz="900" dirty="0">
                <a:latin typeface="+mj-lt"/>
              </a:rPr>
              <a:t> </a:t>
            </a:r>
            <a:r>
              <a:rPr lang="en-US" altLang="ja-JP" sz="900" dirty="0">
                <a:latin typeface="+mj-lt"/>
              </a:rPr>
              <a:t>position</a:t>
            </a:r>
            <a:r>
              <a:rPr lang="ja-JP" altLang="en-US" sz="900" dirty="0">
                <a:latin typeface="+mj-lt"/>
              </a:rPr>
              <a:t> </a:t>
            </a:r>
            <a:r>
              <a:rPr lang="en-US" altLang="ja-JP" sz="900" dirty="0">
                <a:latin typeface="+mj-lt"/>
              </a:rPr>
              <a:t>errors</a:t>
            </a:r>
            <a:r>
              <a:rPr lang="ja-JP" altLang="en-US" sz="900" dirty="0">
                <a:latin typeface="+mj-lt"/>
              </a:rPr>
              <a:t> </a:t>
            </a:r>
            <a:r>
              <a:rPr lang="en-US" altLang="ja-JP" sz="900" dirty="0">
                <a:latin typeface="+mj-lt"/>
              </a:rPr>
              <a:t>east-west,</a:t>
            </a:r>
            <a:r>
              <a:rPr lang="ja-JP" altLang="en-US" sz="900" dirty="0">
                <a:latin typeface="+mj-lt"/>
              </a:rPr>
              <a:t> </a:t>
            </a:r>
            <a:r>
              <a:rPr lang="en-US" altLang="ja-JP" sz="900" dirty="0">
                <a:latin typeface="+mj-lt"/>
              </a:rPr>
              <a:t>north-south,</a:t>
            </a:r>
            <a:r>
              <a:rPr lang="ja-JP" altLang="en-US" sz="900" dirty="0">
                <a:latin typeface="+mj-lt"/>
              </a:rPr>
              <a:t> </a:t>
            </a:r>
            <a:r>
              <a:rPr lang="en-US" altLang="ja-JP" sz="900" dirty="0">
                <a:latin typeface="+mj-lt"/>
              </a:rPr>
              <a:t>up-down</a:t>
            </a:r>
            <a:r>
              <a:rPr lang="ja-JP" altLang="en-US" sz="900" baseline="30000" dirty="0">
                <a:latin typeface="+mj-lt"/>
              </a:rPr>
              <a:t> *</a:t>
            </a:r>
            <a:r>
              <a:rPr lang="en-US" altLang="ja-JP" sz="900" baseline="30000" dirty="0">
                <a:latin typeface="+mj-lt"/>
              </a:rPr>
              <a:t>1</a:t>
            </a:r>
            <a:r>
              <a:rPr lang="en-US" altLang="ja-JP" sz="900" dirty="0">
                <a:latin typeface="+mj-lt"/>
              </a:rPr>
              <a:t>,</a:t>
            </a:r>
          </a:p>
          <a:p>
            <a:pPr algn="ctr"/>
            <a:r>
              <a:rPr kumimoji="1" lang="en-US" altLang="ja-JP" sz="900" dirty="0">
                <a:latin typeface="+mj-lt"/>
              </a:rPr>
              <a:t>#</a:t>
            </a:r>
            <a:r>
              <a:rPr kumimoji="1" lang="ja-JP" altLang="en-US" sz="900" dirty="0">
                <a:latin typeface="+mj-lt"/>
              </a:rPr>
              <a:t> </a:t>
            </a:r>
            <a:r>
              <a:rPr kumimoji="1" lang="en-US" altLang="ja-JP" sz="900" dirty="0">
                <a:latin typeface="+mj-lt"/>
              </a:rPr>
              <a:t>Sats:</a:t>
            </a:r>
            <a:r>
              <a:rPr kumimoji="1" lang="ja-JP" altLang="en-US" sz="900" dirty="0">
                <a:latin typeface="+mj-lt"/>
              </a:rPr>
              <a:t> </a:t>
            </a:r>
            <a:r>
              <a:rPr kumimoji="1" lang="en-US" altLang="ja-JP" sz="900" dirty="0">
                <a:latin typeface="+mj-lt"/>
              </a:rPr>
              <a:t>Number</a:t>
            </a:r>
            <a:r>
              <a:rPr kumimoji="1" lang="ja-JP" altLang="en-US" sz="900" dirty="0">
                <a:latin typeface="+mj-lt"/>
              </a:rPr>
              <a:t> </a:t>
            </a:r>
            <a:r>
              <a:rPr kumimoji="1" lang="en-US" altLang="ja-JP" sz="900" dirty="0">
                <a:latin typeface="+mj-lt"/>
              </a:rPr>
              <a:t>of</a:t>
            </a:r>
            <a:r>
              <a:rPr kumimoji="1" lang="ja-JP" altLang="en-US" sz="900" dirty="0">
                <a:latin typeface="+mj-lt"/>
              </a:rPr>
              <a:t> </a:t>
            </a:r>
            <a:r>
              <a:rPr kumimoji="1" lang="en-US" altLang="ja-JP" sz="900" dirty="0">
                <a:latin typeface="+mj-lt"/>
              </a:rPr>
              <a:t>used</a:t>
            </a:r>
            <a:r>
              <a:rPr lang="en-US" altLang="ja-JP" sz="900" dirty="0">
                <a:latin typeface="+mj-lt"/>
              </a:rPr>
              <a:t>/</a:t>
            </a:r>
            <a:r>
              <a:rPr kumimoji="1" lang="en-US" altLang="ja-JP" sz="900" dirty="0">
                <a:latin typeface="+mj-lt"/>
              </a:rPr>
              <a:t>all</a:t>
            </a:r>
            <a:r>
              <a:rPr kumimoji="1" lang="ja-JP" altLang="en-US" sz="900" dirty="0">
                <a:latin typeface="+mj-lt"/>
              </a:rPr>
              <a:t> </a:t>
            </a:r>
            <a:r>
              <a:rPr kumimoji="1" lang="en-US" altLang="ja-JP" sz="900" dirty="0">
                <a:latin typeface="+mj-lt"/>
              </a:rPr>
              <a:t>satellites</a:t>
            </a:r>
          </a:p>
          <a:p>
            <a:pPr algn="ctr"/>
            <a:r>
              <a:rPr lang="en-US" altLang="ja-JP" sz="900" dirty="0">
                <a:latin typeface="+mj-lt"/>
              </a:rPr>
              <a:t>or</a:t>
            </a:r>
          </a:p>
          <a:p>
            <a:pPr algn="ctr"/>
            <a:r>
              <a:rPr kumimoji="1" lang="en-US" altLang="ja-JP" sz="900" dirty="0">
                <a:latin typeface="+mj-lt"/>
              </a:rPr>
              <a:t>Position</a:t>
            </a:r>
            <a:r>
              <a:rPr kumimoji="1" lang="ja-JP" altLang="en-US" sz="900" dirty="0">
                <a:latin typeface="+mj-lt"/>
              </a:rPr>
              <a:t> </a:t>
            </a:r>
            <a:r>
              <a:rPr kumimoji="1" lang="en-US" altLang="ja-JP" sz="900" dirty="0">
                <a:latin typeface="+mj-lt"/>
              </a:rPr>
              <a:t>error</a:t>
            </a:r>
            <a:r>
              <a:rPr kumimoji="1" lang="ja-JP" altLang="en-US" sz="900" dirty="0">
                <a:latin typeface="+mj-lt"/>
              </a:rPr>
              <a:t> </a:t>
            </a:r>
            <a:r>
              <a:rPr kumimoji="1" lang="en-US" altLang="ja-JP" sz="900" dirty="0">
                <a:latin typeface="+mj-lt"/>
              </a:rPr>
              <a:t>horizontal</a:t>
            </a:r>
            <a:r>
              <a:rPr kumimoji="1" lang="ja-JP" altLang="en-US" sz="900" dirty="0">
                <a:latin typeface="+mj-lt"/>
              </a:rPr>
              <a:t> </a:t>
            </a:r>
            <a:r>
              <a:rPr kumimoji="1" lang="ja-JP" altLang="en-US" sz="900" baseline="30000" dirty="0">
                <a:latin typeface="+mj-lt"/>
              </a:rPr>
              <a:t>*</a:t>
            </a:r>
            <a:r>
              <a:rPr kumimoji="1" lang="en-US" altLang="ja-JP" sz="900" baseline="30000" dirty="0">
                <a:latin typeface="+mj-lt"/>
              </a:rPr>
              <a:t>1</a:t>
            </a:r>
            <a:r>
              <a:rPr kumimoji="1" lang="ja-JP" altLang="en-US" sz="900" dirty="0">
                <a:latin typeface="+mj-lt"/>
              </a:rPr>
              <a:t> </a:t>
            </a:r>
            <a:r>
              <a:rPr kumimoji="1" lang="en-US" altLang="ja-JP" sz="900" dirty="0">
                <a:latin typeface="+mj-lt"/>
              </a:rPr>
              <a:t>(east-west</a:t>
            </a:r>
            <a:r>
              <a:rPr kumimoji="1" lang="ja-JP" altLang="en-US" sz="900" dirty="0">
                <a:latin typeface="+mj-lt"/>
              </a:rPr>
              <a:t> </a:t>
            </a:r>
            <a:r>
              <a:rPr kumimoji="1" lang="en-US" altLang="ja-JP" sz="900" dirty="0">
                <a:latin typeface="+mj-lt"/>
              </a:rPr>
              <a:t>and</a:t>
            </a:r>
            <a:r>
              <a:rPr kumimoji="1" lang="ja-JP" altLang="en-US" sz="900" dirty="0">
                <a:latin typeface="+mj-lt"/>
              </a:rPr>
              <a:t> </a:t>
            </a:r>
            <a:r>
              <a:rPr kumimoji="1" lang="en-US" altLang="ja-JP" sz="900" dirty="0">
                <a:latin typeface="+mj-lt"/>
              </a:rPr>
              <a:t>north-west,</a:t>
            </a:r>
            <a:r>
              <a:rPr kumimoji="1" lang="ja-JP" altLang="en-US" sz="900" dirty="0">
                <a:latin typeface="+mj-lt"/>
              </a:rPr>
              <a:t> </a:t>
            </a:r>
            <a:r>
              <a:rPr kumimoji="1" lang="en-US" altLang="ja-JP" sz="900" dirty="0">
                <a:latin typeface="+mj-lt"/>
              </a:rPr>
              <a:t>horizontal</a:t>
            </a:r>
            <a:r>
              <a:rPr kumimoji="1" lang="ja-JP" altLang="en-US" sz="900" dirty="0">
                <a:latin typeface="+mj-lt"/>
              </a:rPr>
              <a:t> </a:t>
            </a:r>
            <a:r>
              <a:rPr lang="en-US" altLang="ja-JP" sz="900" dirty="0">
                <a:latin typeface="+mj-lt"/>
              </a:rPr>
              <a:t>s</a:t>
            </a:r>
            <a:r>
              <a:rPr kumimoji="1" lang="en-US" altLang="ja-JP" sz="900" dirty="0">
                <a:latin typeface="+mj-lt"/>
              </a:rPr>
              <a:t>catter</a:t>
            </a:r>
            <a:r>
              <a:rPr kumimoji="1" lang="ja-JP" altLang="en-US" sz="900" dirty="0">
                <a:latin typeface="+mj-lt"/>
              </a:rPr>
              <a:t> </a:t>
            </a:r>
            <a:r>
              <a:rPr kumimoji="1" lang="en-US" altLang="ja-JP" sz="900" dirty="0">
                <a:latin typeface="+mj-lt"/>
              </a:rPr>
              <a:t>plot)</a:t>
            </a:r>
          </a:p>
        </p:txBody>
      </p:sp>
      <p:cxnSp>
        <p:nvCxnSpPr>
          <p:cNvPr id="14" name="直線コネクタ 13">
            <a:extLst>
              <a:ext uri="{FF2B5EF4-FFF2-40B4-BE49-F238E27FC236}">
                <a16:creationId xmlns:a16="http://schemas.microsoft.com/office/drawing/2014/main" id="{580890B6-1487-0211-A210-3BD61412F526}"/>
              </a:ext>
            </a:extLst>
          </p:cNvPr>
          <p:cNvCxnSpPr>
            <a:cxnSpLocks/>
            <a:stCxn id="2" idx="1"/>
            <a:endCxn id="13" idx="3"/>
          </p:cNvCxnSpPr>
          <p:nvPr/>
        </p:nvCxnSpPr>
        <p:spPr>
          <a:xfrm flipH="1">
            <a:off x="2159732" y="3753036"/>
            <a:ext cx="426116" cy="245374"/>
          </a:xfrm>
          <a:prstGeom prst="line">
            <a:avLst/>
          </a:prstGeom>
        </p:spPr>
        <p:style>
          <a:lnRef idx="1">
            <a:schemeClr val="accent1"/>
          </a:lnRef>
          <a:fillRef idx="0">
            <a:schemeClr val="accent1"/>
          </a:fillRef>
          <a:effectRef idx="0">
            <a:schemeClr val="accent1"/>
          </a:effectRef>
          <a:fontRef idx="minor">
            <a:schemeClr val="tx1"/>
          </a:fontRef>
        </p:style>
      </p:cxnSp>
      <p:sp>
        <p:nvSpPr>
          <p:cNvPr id="18" name="正方形/長方形 17">
            <a:extLst>
              <a:ext uri="{FF2B5EF4-FFF2-40B4-BE49-F238E27FC236}">
                <a16:creationId xmlns:a16="http://schemas.microsoft.com/office/drawing/2014/main" id="{C3466CF4-1672-18D0-EF83-7E6056F7ED31}"/>
              </a:ext>
            </a:extLst>
          </p:cNvPr>
          <p:cNvSpPr/>
          <p:nvPr/>
        </p:nvSpPr>
        <p:spPr>
          <a:xfrm>
            <a:off x="4731708" y="2384236"/>
            <a:ext cx="330277"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0B24D2B-BF22-DE41-59C4-EC731DFAEE8B}"/>
              </a:ext>
            </a:extLst>
          </p:cNvPr>
          <p:cNvSpPr/>
          <p:nvPr/>
        </p:nvSpPr>
        <p:spPr>
          <a:xfrm>
            <a:off x="5061188" y="2384236"/>
            <a:ext cx="302900"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1" name="図 20">
            <a:extLst>
              <a:ext uri="{FF2B5EF4-FFF2-40B4-BE49-F238E27FC236}">
                <a16:creationId xmlns:a16="http://schemas.microsoft.com/office/drawing/2014/main" id="{D2BF7CB7-EFDE-2E06-B831-E9C0DEEAEB4D}"/>
              </a:ext>
            </a:extLst>
          </p:cNvPr>
          <p:cNvPicPr>
            <a:picLocks noChangeAspect="1"/>
          </p:cNvPicPr>
          <p:nvPr/>
        </p:nvPicPr>
        <p:blipFill>
          <a:blip r:embed="rId3"/>
          <a:stretch>
            <a:fillRect/>
          </a:stretch>
        </p:blipFill>
        <p:spPr>
          <a:xfrm>
            <a:off x="6876256" y="3897052"/>
            <a:ext cx="1297686" cy="901446"/>
          </a:xfrm>
          <a:prstGeom prst="rect">
            <a:avLst/>
          </a:prstGeom>
        </p:spPr>
      </p:pic>
      <p:sp>
        <p:nvSpPr>
          <p:cNvPr id="22" name="正方形/長方形 21">
            <a:extLst>
              <a:ext uri="{FF2B5EF4-FFF2-40B4-BE49-F238E27FC236}">
                <a16:creationId xmlns:a16="http://schemas.microsoft.com/office/drawing/2014/main" id="{D8251132-0F73-0769-C8AB-62407C57ABEC}"/>
              </a:ext>
            </a:extLst>
          </p:cNvPr>
          <p:cNvSpPr/>
          <p:nvPr/>
        </p:nvSpPr>
        <p:spPr>
          <a:xfrm>
            <a:off x="5365102" y="2384236"/>
            <a:ext cx="1188098"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B7917C59-CFF7-4284-22E6-41A3376B379F}"/>
              </a:ext>
            </a:extLst>
          </p:cNvPr>
          <p:cNvSpPr txBox="1"/>
          <p:nvPr/>
        </p:nvSpPr>
        <p:spPr>
          <a:xfrm>
            <a:off x="3836731" y="1396346"/>
            <a:ext cx="1206883" cy="369332"/>
          </a:xfrm>
          <a:prstGeom prst="rect">
            <a:avLst/>
          </a:prstGeom>
          <a:noFill/>
        </p:spPr>
        <p:txBody>
          <a:bodyPr wrap="square" lIns="0" tIns="0" rIns="0" bIns="0" rtlCol="0">
            <a:spAutoFit/>
          </a:bodyPr>
          <a:lstStyle/>
          <a:p>
            <a:pPr algn="ctr"/>
            <a:r>
              <a:rPr kumimoji="1" lang="en-US" altLang="ja-JP" sz="1200" dirty="0">
                <a:latin typeface="+mj-lt"/>
              </a:rPr>
              <a:t>Show</a:t>
            </a:r>
            <a:r>
              <a:rPr kumimoji="1" lang="ja-JP" altLang="en-US" sz="1200" dirty="0">
                <a:latin typeface="+mj-lt"/>
              </a:rPr>
              <a:t> </a:t>
            </a:r>
            <a:r>
              <a:rPr kumimoji="1" lang="en-US" altLang="ja-JP" sz="1200" dirty="0">
                <a:latin typeface="+mj-lt"/>
              </a:rPr>
              <a:t>Ref</a:t>
            </a:r>
            <a:r>
              <a:rPr kumimoji="1" lang="ja-JP" altLang="en-US" sz="1200" dirty="0">
                <a:latin typeface="+mj-lt"/>
              </a:rPr>
              <a:t> </a:t>
            </a:r>
            <a:r>
              <a:rPr kumimoji="1" lang="en-US" altLang="ja-JP" sz="1200" dirty="0">
                <a:latin typeface="+mj-lt"/>
              </a:rPr>
              <a:t>Pos</a:t>
            </a:r>
          </a:p>
          <a:p>
            <a:pPr algn="ctr"/>
            <a:r>
              <a:rPr lang="en-US" altLang="ja-JP" sz="1200" dirty="0">
                <a:latin typeface="+mj-lt"/>
              </a:rPr>
              <a:t>Dialog</a:t>
            </a:r>
            <a:r>
              <a:rPr lang="ja-JP" altLang="en-US" sz="1200" dirty="0">
                <a:latin typeface="+mj-lt"/>
              </a:rPr>
              <a:t> </a:t>
            </a:r>
            <a:r>
              <a:rPr lang="en-US" altLang="ja-JP" sz="1200" dirty="0">
                <a:latin typeface="+mj-lt"/>
              </a:rPr>
              <a:t>Button</a:t>
            </a:r>
            <a:endParaRPr kumimoji="1" lang="en-US" altLang="ja-JP" sz="900" dirty="0">
              <a:latin typeface="+mj-lt"/>
            </a:endParaRPr>
          </a:p>
        </p:txBody>
      </p:sp>
      <p:cxnSp>
        <p:nvCxnSpPr>
          <p:cNvPr id="25" name="直線コネクタ 24">
            <a:extLst>
              <a:ext uri="{FF2B5EF4-FFF2-40B4-BE49-F238E27FC236}">
                <a16:creationId xmlns:a16="http://schemas.microsoft.com/office/drawing/2014/main" id="{96F3F87E-8DED-84FB-A640-F4AF7B3E8FC4}"/>
              </a:ext>
            </a:extLst>
          </p:cNvPr>
          <p:cNvCxnSpPr>
            <a:cxnSpLocks/>
            <a:stCxn id="18" idx="0"/>
            <a:endCxn id="24" idx="2"/>
          </p:cNvCxnSpPr>
          <p:nvPr/>
        </p:nvCxnSpPr>
        <p:spPr>
          <a:xfrm flipH="1" flipV="1">
            <a:off x="4440173" y="1765678"/>
            <a:ext cx="456674" cy="618558"/>
          </a:xfrm>
          <a:prstGeom prst="line">
            <a:avLst/>
          </a:prstGeom>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8C4B84ED-3E25-225F-CBE4-083F93FD10A8}"/>
              </a:ext>
            </a:extLst>
          </p:cNvPr>
          <p:cNvSpPr txBox="1"/>
          <p:nvPr/>
        </p:nvSpPr>
        <p:spPr>
          <a:xfrm>
            <a:off x="4942166" y="1396346"/>
            <a:ext cx="911998" cy="369332"/>
          </a:xfrm>
          <a:prstGeom prst="rect">
            <a:avLst/>
          </a:prstGeom>
          <a:noFill/>
        </p:spPr>
        <p:txBody>
          <a:bodyPr wrap="square" lIns="0" tIns="0" rIns="0" bIns="0" rtlCol="0">
            <a:spAutoFit/>
          </a:bodyPr>
          <a:lstStyle/>
          <a:p>
            <a:pPr algn="ctr"/>
            <a:r>
              <a:rPr lang="en-US" altLang="ja-JP" sz="1200" dirty="0">
                <a:latin typeface="+mj-lt"/>
              </a:rPr>
              <a:t>PVT Solution</a:t>
            </a:r>
            <a:r>
              <a:rPr lang="ja-JP" altLang="en-US" sz="1200" dirty="0">
                <a:latin typeface="+mj-lt"/>
              </a:rPr>
              <a:t> </a:t>
            </a:r>
            <a:r>
              <a:rPr lang="en-US" altLang="ja-JP" sz="1200" dirty="0">
                <a:latin typeface="+mj-lt"/>
              </a:rPr>
              <a:t>Clear</a:t>
            </a:r>
            <a:r>
              <a:rPr lang="ja-JP" altLang="en-US" sz="1200" dirty="0">
                <a:latin typeface="+mj-lt"/>
              </a:rPr>
              <a:t> </a:t>
            </a:r>
            <a:r>
              <a:rPr lang="en-US" altLang="ja-JP" sz="1200" dirty="0">
                <a:latin typeface="+mj-lt"/>
              </a:rPr>
              <a:t>Button</a:t>
            </a:r>
            <a:endParaRPr kumimoji="1" lang="en-US" altLang="ja-JP" sz="900" dirty="0">
              <a:latin typeface="+mj-lt"/>
            </a:endParaRPr>
          </a:p>
        </p:txBody>
      </p:sp>
      <p:cxnSp>
        <p:nvCxnSpPr>
          <p:cNvPr id="29" name="直線コネクタ 28">
            <a:extLst>
              <a:ext uri="{FF2B5EF4-FFF2-40B4-BE49-F238E27FC236}">
                <a16:creationId xmlns:a16="http://schemas.microsoft.com/office/drawing/2014/main" id="{3529741C-F62F-4AB5-D2E3-2E78228EC539}"/>
              </a:ext>
            </a:extLst>
          </p:cNvPr>
          <p:cNvCxnSpPr>
            <a:cxnSpLocks/>
            <a:endCxn id="28" idx="2"/>
          </p:cNvCxnSpPr>
          <p:nvPr/>
        </p:nvCxnSpPr>
        <p:spPr>
          <a:xfrm flipV="1">
            <a:off x="5226326" y="1765678"/>
            <a:ext cx="171839" cy="617910"/>
          </a:xfrm>
          <a:prstGeom prst="line">
            <a:avLst/>
          </a:prstGeom>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963438C7-0793-75CF-736B-C8915321B4F5}"/>
              </a:ext>
            </a:extLst>
          </p:cNvPr>
          <p:cNvSpPr txBox="1"/>
          <p:nvPr/>
        </p:nvSpPr>
        <p:spPr>
          <a:xfrm>
            <a:off x="5970648" y="1400647"/>
            <a:ext cx="1373660" cy="369332"/>
          </a:xfrm>
          <a:prstGeom prst="rect">
            <a:avLst/>
          </a:prstGeom>
          <a:noFill/>
        </p:spPr>
        <p:txBody>
          <a:bodyPr wrap="square" lIns="0" tIns="0" rIns="0" bIns="0" rtlCol="0">
            <a:spAutoFit/>
          </a:bodyPr>
          <a:lstStyle/>
          <a:p>
            <a:pPr algn="ctr"/>
            <a:r>
              <a:rPr lang="en-US" altLang="ja-JP" sz="1200" dirty="0">
                <a:latin typeface="+mj-lt"/>
              </a:rPr>
              <a:t>Time</a:t>
            </a:r>
            <a:r>
              <a:rPr lang="ja-JP" altLang="en-US" sz="1200" dirty="0">
                <a:latin typeface="+mj-lt"/>
              </a:rPr>
              <a:t> </a:t>
            </a:r>
            <a:r>
              <a:rPr lang="en-US" altLang="ja-JP" sz="1200" dirty="0">
                <a:latin typeface="+mj-lt"/>
              </a:rPr>
              <a:t>Span</a:t>
            </a:r>
            <a:r>
              <a:rPr lang="ja-JP" altLang="en-US" sz="1200" dirty="0">
                <a:latin typeface="+mj-lt"/>
              </a:rPr>
              <a:t> </a:t>
            </a:r>
            <a:r>
              <a:rPr lang="en-US" altLang="ja-JP" sz="1200" dirty="0">
                <a:latin typeface="+mj-lt"/>
              </a:rPr>
              <a:t>and</a:t>
            </a:r>
            <a:r>
              <a:rPr lang="ja-JP" altLang="en-US" sz="1200" dirty="0">
                <a:latin typeface="+mj-lt"/>
              </a:rPr>
              <a:t> </a:t>
            </a:r>
            <a:r>
              <a:rPr lang="en-US" altLang="ja-JP" sz="1200" dirty="0">
                <a:latin typeface="+mj-lt"/>
              </a:rPr>
              <a:t>Y-axis</a:t>
            </a:r>
            <a:r>
              <a:rPr lang="ja-JP" altLang="en-US" sz="1200" dirty="0">
                <a:latin typeface="+mj-lt"/>
              </a:rPr>
              <a:t> </a:t>
            </a:r>
            <a:r>
              <a:rPr lang="en-US" altLang="ja-JP" sz="1200" dirty="0">
                <a:latin typeface="+mj-lt"/>
              </a:rPr>
              <a:t>Range</a:t>
            </a:r>
            <a:r>
              <a:rPr lang="ja-JP" altLang="en-US" sz="1200" dirty="0">
                <a:latin typeface="+mj-lt"/>
              </a:rPr>
              <a:t> </a:t>
            </a:r>
            <a:r>
              <a:rPr lang="en-US" altLang="ja-JP" sz="1200" dirty="0">
                <a:latin typeface="+mj-lt"/>
              </a:rPr>
              <a:t>Selections</a:t>
            </a:r>
            <a:endParaRPr kumimoji="1" lang="en-US" altLang="ja-JP" sz="900" dirty="0">
              <a:latin typeface="+mj-lt"/>
            </a:endParaRPr>
          </a:p>
        </p:txBody>
      </p:sp>
      <p:cxnSp>
        <p:nvCxnSpPr>
          <p:cNvPr id="34" name="直線コネクタ 33">
            <a:extLst>
              <a:ext uri="{FF2B5EF4-FFF2-40B4-BE49-F238E27FC236}">
                <a16:creationId xmlns:a16="http://schemas.microsoft.com/office/drawing/2014/main" id="{EBCFBC3E-F637-A8A8-D13B-246EF189149A}"/>
              </a:ext>
            </a:extLst>
          </p:cNvPr>
          <p:cNvCxnSpPr>
            <a:cxnSpLocks/>
            <a:endCxn id="33" idx="2"/>
          </p:cNvCxnSpPr>
          <p:nvPr/>
        </p:nvCxnSpPr>
        <p:spPr>
          <a:xfrm flipV="1">
            <a:off x="5936571" y="1769979"/>
            <a:ext cx="720907" cy="621993"/>
          </a:xfrm>
          <a:prstGeom prst="line">
            <a:avLst/>
          </a:prstGeom>
        </p:spPr>
        <p:style>
          <a:lnRef idx="1">
            <a:schemeClr val="accent1"/>
          </a:lnRef>
          <a:fillRef idx="0">
            <a:schemeClr val="accent1"/>
          </a:fillRef>
          <a:effectRef idx="0">
            <a:schemeClr val="accent1"/>
          </a:effectRef>
          <a:fontRef idx="minor">
            <a:schemeClr val="tx1"/>
          </a:fontRef>
        </p:style>
      </p:cxnSp>
      <p:sp>
        <p:nvSpPr>
          <p:cNvPr id="37" name="テキスト ボックス 36">
            <a:extLst>
              <a:ext uri="{FF2B5EF4-FFF2-40B4-BE49-F238E27FC236}">
                <a16:creationId xmlns:a16="http://schemas.microsoft.com/office/drawing/2014/main" id="{E18DD7FE-9CBD-3AD9-51BF-31A95BAF0230}"/>
              </a:ext>
            </a:extLst>
          </p:cNvPr>
          <p:cNvSpPr txBox="1"/>
          <p:nvPr/>
        </p:nvSpPr>
        <p:spPr>
          <a:xfrm>
            <a:off x="6896524" y="3671047"/>
            <a:ext cx="1206883" cy="184666"/>
          </a:xfrm>
          <a:prstGeom prst="rect">
            <a:avLst/>
          </a:prstGeom>
          <a:noFill/>
        </p:spPr>
        <p:txBody>
          <a:bodyPr wrap="square" lIns="0" tIns="0" rIns="0" bIns="0" rtlCol="0">
            <a:spAutoFit/>
          </a:bodyPr>
          <a:lstStyle/>
          <a:p>
            <a:pPr algn="ctr"/>
            <a:r>
              <a:rPr kumimoji="1" lang="en-US" altLang="ja-JP" sz="1200" dirty="0">
                <a:latin typeface="+mj-lt"/>
              </a:rPr>
              <a:t>Ref</a:t>
            </a:r>
            <a:r>
              <a:rPr kumimoji="1" lang="ja-JP" altLang="en-US" sz="1200" dirty="0">
                <a:latin typeface="+mj-lt"/>
              </a:rPr>
              <a:t> </a:t>
            </a:r>
            <a:r>
              <a:rPr kumimoji="1" lang="en-US" altLang="ja-JP" sz="1200" dirty="0">
                <a:latin typeface="+mj-lt"/>
              </a:rPr>
              <a:t>Pos</a:t>
            </a:r>
            <a:r>
              <a:rPr kumimoji="1" lang="ja-JP" altLang="en-US" sz="1200" dirty="0">
                <a:latin typeface="+mj-lt"/>
              </a:rPr>
              <a:t> </a:t>
            </a:r>
            <a:r>
              <a:rPr kumimoji="1" lang="en-US" altLang="ja-JP" sz="1200" dirty="0">
                <a:latin typeface="+mj-lt"/>
              </a:rPr>
              <a:t>Dialog</a:t>
            </a:r>
            <a:endParaRPr kumimoji="1" lang="en-US" altLang="ja-JP" sz="900" dirty="0">
              <a:latin typeface="+mj-lt"/>
            </a:endParaRPr>
          </a:p>
        </p:txBody>
      </p:sp>
      <p:sp>
        <p:nvSpPr>
          <p:cNvPr id="38" name="テキスト ボックス 37">
            <a:extLst>
              <a:ext uri="{FF2B5EF4-FFF2-40B4-BE49-F238E27FC236}">
                <a16:creationId xmlns:a16="http://schemas.microsoft.com/office/drawing/2014/main" id="{779E5DAC-6EA7-3A50-0AE6-B11E0A15BBB8}"/>
              </a:ext>
            </a:extLst>
          </p:cNvPr>
          <p:cNvSpPr txBox="1"/>
          <p:nvPr/>
        </p:nvSpPr>
        <p:spPr>
          <a:xfrm>
            <a:off x="2447764" y="5920722"/>
            <a:ext cx="4176464" cy="276999"/>
          </a:xfrm>
          <a:prstGeom prst="rect">
            <a:avLst/>
          </a:prstGeom>
          <a:noFill/>
        </p:spPr>
        <p:txBody>
          <a:bodyPr wrap="square" lIns="0" tIns="0" rIns="0" bIns="0" rtlCol="0">
            <a:spAutoFit/>
          </a:bodyPr>
          <a:lstStyle/>
          <a:p>
            <a:pPr algn="ctr"/>
            <a:r>
              <a:rPr lang="ja-JP" altLang="en-US" sz="900" dirty="0">
                <a:latin typeface="+mj-lt"/>
              </a:rPr>
              <a:t>*</a:t>
            </a:r>
            <a:r>
              <a:rPr lang="en-US" altLang="ja-JP" sz="900" dirty="0">
                <a:latin typeface="+mj-lt"/>
              </a:rPr>
              <a:t>1</a:t>
            </a:r>
            <a:r>
              <a:rPr lang="ja-JP" altLang="en-US" sz="900" dirty="0">
                <a:latin typeface="+mj-lt"/>
              </a:rPr>
              <a:t> </a:t>
            </a:r>
            <a:r>
              <a:rPr lang="en-US" altLang="ja-JP" sz="900" dirty="0">
                <a:latin typeface="+mj-lt"/>
              </a:rPr>
              <a:t>The</a:t>
            </a:r>
            <a:r>
              <a:rPr lang="ja-JP" altLang="en-US" sz="900" dirty="0">
                <a:latin typeface="+mj-lt"/>
              </a:rPr>
              <a:t> </a:t>
            </a:r>
            <a:r>
              <a:rPr lang="en-US" altLang="ja-JP" sz="900" dirty="0">
                <a:latin typeface="+mj-lt"/>
              </a:rPr>
              <a:t>reference</a:t>
            </a:r>
            <a:r>
              <a:rPr lang="ja-JP" altLang="en-US" sz="900" dirty="0">
                <a:latin typeface="+mj-lt"/>
              </a:rPr>
              <a:t> </a:t>
            </a:r>
            <a:r>
              <a:rPr lang="en-US" altLang="ja-JP" sz="900" dirty="0">
                <a:latin typeface="+mj-lt"/>
              </a:rPr>
              <a:t>position</a:t>
            </a:r>
            <a:r>
              <a:rPr lang="ja-JP" altLang="en-US" sz="900" dirty="0">
                <a:latin typeface="+mj-lt"/>
              </a:rPr>
              <a:t> </a:t>
            </a:r>
            <a:r>
              <a:rPr lang="en-US" altLang="ja-JP" sz="900" dirty="0">
                <a:latin typeface="+mj-lt"/>
              </a:rPr>
              <a:t>is</a:t>
            </a:r>
            <a:r>
              <a:rPr lang="ja-JP" altLang="en-US" sz="900" dirty="0">
                <a:latin typeface="+mj-lt"/>
              </a:rPr>
              <a:t> </a:t>
            </a:r>
            <a:r>
              <a:rPr lang="en-US" altLang="ja-JP" sz="900" dirty="0">
                <a:latin typeface="+mj-lt"/>
              </a:rPr>
              <a:t>automatically</a:t>
            </a:r>
            <a:r>
              <a:rPr lang="ja-JP" altLang="en-US" sz="900" dirty="0">
                <a:latin typeface="+mj-lt"/>
              </a:rPr>
              <a:t> </a:t>
            </a:r>
            <a:r>
              <a:rPr lang="en-US" altLang="ja-JP" sz="900" dirty="0">
                <a:latin typeface="+mj-lt"/>
              </a:rPr>
              <a:t>selected</a:t>
            </a:r>
            <a:r>
              <a:rPr lang="ja-JP" altLang="en-US" sz="900" dirty="0">
                <a:latin typeface="+mj-lt"/>
              </a:rPr>
              <a:t> </a:t>
            </a:r>
            <a:r>
              <a:rPr lang="en-US" altLang="ja-JP" sz="900" dirty="0">
                <a:latin typeface="+mj-lt"/>
              </a:rPr>
              <a:t>from</a:t>
            </a:r>
            <a:r>
              <a:rPr lang="ja-JP" altLang="en-US" sz="900" dirty="0">
                <a:latin typeface="+mj-lt"/>
              </a:rPr>
              <a:t> </a:t>
            </a:r>
            <a:r>
              <a:rPr lang="en-US" altLang="ja-JP" sz="900" dirty="0">
                <a:latin typeface="+mj-lt"/>
              </a:rPr>
              <a:t>the</a:t>
            </a:r>
            <a:r>
              <a:rPr lang="ja-JP" altLang="en-US" sz="900" dirty="0">
                <a:latin typeface="+mj-lt"/>
              </a:rPr>
              <a:t> </a:t>
            </a:r>
            <a:r>
              <a:rPr lang="en-US" altLang="ja-JP" sz="900" dirty="0">
                <a:latin typeface="+mj-lt"/>
              </a:rPr>
              <a:t>first</a:t>
            </a:r>
            <a:r>
              <a:rPr lang="ja-JP" altLang="en-US" sz="900" dirty="0">
                <a:latin typeface="+mj-lt"/>
              </a:rPr>
              <a:t> </a:t>
            </a:r>
            <a:r>
              <a:rPr lang="en-US" altLang="ja-JP" sz="900" dirty="0">
                <a:latin typeface="+mj-lt"/>
              </a:rPr>
              <a:t>epoch</a:t>
            </a:r>
            <a:r>
              <a:rPr lang="ja-JP" altLang="en-US" sz="900" dirty="0">
                <a:latin typeface="+mj-lt"/>
              </a:rPr>
              <a:t> </a:t>
            </a:r>
            <a:r>
              <a:rPr lang="en-US" altLang="ja-JP" sz="900" dirty="0">
                <a:latin typeface="+mj-lt"/>
              </a:rPr>
              <a:t>solution.</a:t>
            </a:r>
          </a:p>
          <a:p>
            <a:pPr algn="ctr"/>
            <a:r>
              <a:rPr lang="en-US" altLang="ja-JP" sz="900" dirty="0">
                <a:latin typeface="+mj-lt"/>
              </a:rPr>
              <a:t>It</a:t>
            </a:r>
            <a:r>
              <a:rPr lang="ja-JP" altLang="en-US" sz="900" dirty="0">
                <a:latin typeface="+mj-lt"/>
              </a:rPr>
              <a:t> </a:t>
            </a:r>
            <a:r>
              <a:rPr lang="en-US" altLang="ja-JP" sz="900" dirty="0">
                <a:latin typeface="+mj-lt"/>
              </a:rPr>
              <a:t>can</a:t>
            </a:r>
            <a:r>
              <a:rPr lang="ja-JP" altLang="en-US" sz="900" dirty="0">
                <a:latin typeface="+mj-lt"/>
              </a:rPr>
              <a:t> </a:t>
            </a:r>
            <a:r>
              <a:rPr lang="en-US" altLang="ja-JP" sz="900" dirty="0">
                <a:latin typeface="+mj-lt"/>
              </a:rPr>
              <a:t>be</a:t>
            </a:r>
            <a:r>
              <a:rPr lang="ja-JP" altLang="en-US" sz="900" dirty="0">
                <a:latin typeface="+mj-lt"/>
              </a:rPr>
              <a:t> </a:t>
            </a:r>
            <a:r>
              <a:rPr lang="en-US" altLang="ja-JP" sz="900" dirty="0">
                <a:latin typeface="+mj-lt"/>
              </a:rPr>
              <a:t>modified</a:t>
            </a:r>
            <a:r>
              <a:rPr lang="ja-JP" altLang="en-US" sz="900" dirty="0">
                <a:latin typeface="+mj-lt"/>
              </a:rPr>
              <a:t> </a:t>
            </a:r>
            <a:r>
              <a:rPr lang="en-US" altLang="ja-JP" sz="900" dirty="0">
                <a:latin typeface="+mj-lt"/>
              </a:rPr>
              <a:t>by</a:t>
            </a:r>
            <a:r>
              <a:rPr lang="ja-JP" altLang="en-US" sz="900" dirty="0">
                <a:latin typeface="+mj-lt"/>
              </a:rPr>
              <a:t> </a:t>
            </a:r>
            <a:r>
              <a:rPr lang="en-US" altLang="ja-JP" sz="900" dirty="0">
                <a:latin typeface="+mj-lt"/>
              </a:rPr>
              <a:t>using Ref</a:t>
            </a:r>
            <a:r>
              <a:rPr lang="ja-JP" altLang="en-US" sz="900" dirty="0">
                <a:latin typeface="+mj-lt"/>
              </a:rPr>
              <a:t> </a:t>
            </a:r>
            <a:r>
              <a:rPr lang="en-US" altLang="ja-JP" sz="900" dirty="0">
                <a:latin typeface="+mj-lt"/>
              </a:rPr>
              <a:t>Pos</a:t>
            </a:r>
            <a:r>
              <a:rPr lang="ja-JP" altLang="en-US" sz="900" dirty="0">
                <a:latin typeface="+mj-lt"/>
              </a:rPr>
              <a:t> </a:t>
            </a:r>
            <a:r>
              <a:rPr lang="en-US" altLang="ja-JP" sz="900" dirty="0">
                <a:latin typeface="+mj-lt"/>
              </a:rPr>
              <a:t>Dialog</a:t>
            </a:r>
          </a:p>
        </p:txBody>
      </p:sp>
      <p:sp>
        <p:nvSpPr>
          <p:cNvPr id="40" name="テキスト ボックス 39">
            <a:extLst>
              <a:ext uri="{FF2B5EF4-FFF2-40B4-BE49-F238E27FC236}">
                <a16:creationId xmlns:a16="http://schemas.microsoft.com/office/drawing/2014/main" id="{0C7B1273-0063-8D53-7B2D-95FC5109D38A}"/>
              </a:ext>
            </a:extLst>
          </p:cNvPr>
          <p:cNvSpPr txBox="1"/>
          <p:nvPr/>
        </p:nvSpPr>
        <p:spPr>
          <a:xfrm>
            <a:off x="6800282" y="2592527"/>
            <a:ext cx="1373660" cy="553998"/>
          </a:xfrm>
          <a:prstGeom prst="rect">
            <a:avLst/>
          </a:prstGeom>
          <a:noFill/>
        </p:spPr>
        <p:txBody>
          <a:bodyPr wrap="square" lIns="0" tIns="0" rIns="0" bIns="0" rtlCol="0">
            <a:spAutoFit/>
          </a:bodyPr>
          <a:lstStyle/>
          <a:p>
            <a:pPr algn="ctr"/>
            <a:r>
              <a:rPr lang="en-US" altLang="ja-JP" sz="1200" dirty="0">
                <a:latin typeface="+mj-lt"/>
              </a:rPr>
              <a:t>Current</a:t>
            </a:r>
            <a:r>
              <a:rPr lang="ja-JP" altLang="en-US" sz="1200" dirty="0">
                <a:latin typeface="+mj-lt"/>
              </a:rPr>
              <a:t> </a:t>
            </a:r>
            <a:r>
              <a:rPr lang="en-US" altLang="ja-JP" sz="1200" dirty="0">
                <a:latin typeface="+mj-lt"/>
              </a:rPr>
              <a:t>Solution</a:t>
            </a:r>
            <a:r>
              <a:rPr lang="ja-JP" altLang="en-US" sz="1200" dirty="0">
                <a:latin typeface="+mj-lt"/>
              </a:rPr>
              <a:t> </a:t>
            </a:r>
            <a:r>
              <a:rPr lang="en-US" altLang="ja-JP" sz="1200" dirty="0">
                <a:latin typeface="+mj-lt"/>
              </a:rPr>
              <a:t>and</a:t>
            </a:r>
            <a:r>
              <a:rPr lang="ja-JP" altLang="en-US" sz="1200" dirty="0">
                <a:latin typeface="+mj-lt"/>
              </a:rPr>
              <a:t> </a:t>
            </a:r>
            <a:r>
              <a:rPr lang="en-US" altLang="ja-JP" sz="1200" dirty="0">
                <a:latin typeface="+mj-lt"/>
              </a:rPr>
              <a:t>Number</a:t>
            </a:r>
            <a:r>
              <a:rPr lang="ja-JP" altLang="en-US" sz="1200" dirty="0">
                <a:latin typeface="+mj-lt"/>
              </a:rPr>
              <a:t> </a:t>
            </a:r>
            <a:r>
              <a:rPr lang="en-US" altLang="ja-JP" sz="1200" dirty="0">
                <a:latin typeface="+mj-lt"/>
              </a:rPr>
              <a:t>of</a:t>
            </a:r>
            <a:r>
              <a:rPr lang="ja-JP" altLang="en-US" sz="1200" dirty="0">
                <a:latin typeface="+mj-lt"/>
              </a:rPr>
              <a:t> </a:t>
            </a:r>
            <a:r>
              <a:rPr lang="en-US" altLang="ja-JP" sz="1200" dirty="0">
                <a:latin typeface="+mj-lt"/>
              </a:rPr>
              <a:t>Used/All</a:t>
            </a:r>
            <a:r>
              <a:rPr lang="ja-JP" altLang="en-US" sz="1200" dirty="0">
                <a:latin typeface="+mj-lt"/>
              </a:rPr>
              <a:t> </a:t>
            </a:r>
            <a:r>
              <a:rPr lang="en-US" altLang="ja-JP" sz="1200" dirty="0">
                <a:latin typeface="+mj-lt"/>
              </a:rPr>
              <a:t>Satellites</a:t>
            </a:r>
            <a:endParaRPr kumimoji="1" lang="en-US" altLang="ja-JP" sz="900" dirty="0">
              <a:latin typeface="+mj-lt"/>
            </a:endParaRPr>
          </a:p>
        </p:txBody>
      </p:sp>
      <p:cxnSp>
        <p:nvCxnSpPr>
          <p:cNvPr id="41" name="直線コネクタ 40">
            <a:extLst>
              <a:ext uri="{FF2B5EF4-FFF2-40B4-BE49-F238E27FC236}">
                <a16:creationId xmlns:a16="http://schemas.microsoft.com/office/drawing/2014/main" id="{AF2A8310-6DA3-8DDD-8271-2E11884B51BE}"/>
              </a:ext>
            </a:extLst>
          </p:cNvPr>
          <p:cNvCxnSpPr>
            <a:cxnSpLocks/>
            <a:endCxn id="40" idx="1"/>
          </p:cNvCxnSpPr>
          <p:nvPr/>
        </p:nvCxnSpPr>
        <p:spPr>
          <a:xfrm>
            <a:off x="5854164" y="2584240"/>
            <a:ext cx="946118" cy="285286"/>
          </a:xfrm>
          <a:prstGeom prst="line">
            <a:avLst/>
          </a:prstGeom>
        </p:spPr>
        <p:style>
          <a:lnRef idx="1">
            <a:schemeClr val="accent1"/>
          </a:lnRef>
          <a:fillRef idx="0">
            <a:schemeClr val="accent1"/>
          </a:fillRef>
          <a:effectRef idx="0">
            <a:schemeClr val="accent1"/>
          </a:effectRef>
          <a:fontRef idx="minor">
            <a:schemeClr val="tx1"/>
          </a:fontRef>
        </p:style>
      </p:cxnSp>
      <p:sp>
        <p:nvSpPr>
          <p:cNvPr id="9" name="正方形/長方形 8">
            <a:extLst>
              <a:ext uri="{FF2B5EF4-FFF2-40B4-BE49-F238E27FC236}">
                <a16:creationId xmlns:a16="http://schemas.microsoft.com/office/drawing/2014/main" id="{1C6E9188-7A35-07CD-8B4B-8DD04C0665F9}"/>
              </a:ext>
            </a:extLst>
          </p:cNvPr>
          <p:cNvSpPr/>
          <p:nvPr/>
        </p:nvSpPr>
        <p:spPr>
          <a:xfrm>
            <a:off x="4319972" y="2546863"/>
            <a:ext cx="120201" cy="799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9E9420CA-F6EA-AE87-FA2E-9219329EC9A2}"/>
              </a:ext>
            </a:extLst>
          </p:cNvPr>
          <p:cNvSpPr/>
          <p:nvPr/>
        </p:nvSpPr>
        <p:spPr>
          <a:xfrm>
            <a:off x="4776645" y="2542569"/>
            <a:ext cx="120201" cy="799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9488328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CF161-E686-7ED7-C791-817512F45A2B}"/>
            </a:ext>
          </a:extLst>
        </p:cNvPr>
        <p:cNvGrpSpPr/>
        <p:nvPr/>
      </p:nvGrpSpPr>
      <p:grpSpPr>
        <a:xfrm>
          <a:off x="0" y="0"/>
          <a:ext cx="0" cy="0"/>
          <a:chOff x="0" y="0"/>
          <a:chExt cx="0" cy="0"/>
        </a:xfrm>
      </p:grpSpPr>
      <p:pic>
        <p:nvPicPr>
          <p:cNvPr id="9" name="図 8">
            <a:extLst>
              <a:ext uri="{FF2B5EF4-FFF2-40B4-BE49-F238E27FC236}">
                <a16:creationId xmlns:a16="http://schemas.microsoft.com/office/drawing/2014/main" id="{3863A8F9-D59B-3BFD-897E-5DCC1170739C}"/>
              </a:ext>
            </a:extLst>
          </p:cNvPr>
          <p:cNvPicPr>
            <a:picLocks noChangeAspect="1"/>
          </p:cNvPicPr>
          <p:nvPr/>
        </p:nvPicPr>
        <p:blipFill>
          <a:blip r:embed="rId2"/>
          <a:stretch>
            <a:fillRect/>
          </a:stretch>
        </p:blipFill>
        <p:spPr>
          <a:xfrm>
            <a:off x="2579914" y="1988840"/>
            <a:ext cx="3972306" cy="3130296"/>
          </a:xfrm>
          <a:prstGeom prst="rect">
            <a:avLst/>
          </a:prstGeom>
        </p:spPr>
      </p:pic>
      <p:sp>
        <p:nvSpPr>
          <p:cNvPr id="4" name="スライド番号プレースホルダー 3">
            <a:extLst>
              <a:ext uri="{FF2B5EF4-FFF2-40B4-BE49-F238E27FC236}">
                <a16:creationId xmlns:a16="http://schemas.microsoft.com/office/drawing/2014/main" id="{C0E7DB77-4824-D7C0-EA11-2D1B228D73CC}"/>
              </a:ext>
            </a:extLst>
          </p:cNvPr>
          <p:cNvSpPr>
            <a:spLocks noGrp="1"/>
          </p:cNvSpPr>
          <p:nvPr>
            <p:ph type="sldNum" sz="quarter" idx="11"/>
          </p:nvPr>
        </p:nvSpPr>
        <p:spPr/>
        <p:txBody>
          <a:bodyPr/>
          <a:lstStyle/>
          <a:p>
            <a:pPr>
              <a:defRPr/>
            </a:pPr>
            <a:fld id="{76B10B91-6492-4C08-AE87-F344306858DA}" type="slidenum">
              <a:rPr lang="ja-JP" altLang="en-US" smtClean="0"/>
              <a:pPr>
                <a:defRPr/>
              </a:pPr>
              <a:t>8</a:t>
            </a:fld>
            <a:endParaRPr lang="ja-JP" altLang="en-US" dirty="0"/>
          </a:p>
        </p:txBody>
      </p:sp>
      <p:sp>
        <p:nvSpPr>
          <p:cNvPr id="5" name="タイトル 1">
            <a:extLst>
              <a:ext uri="{FF2B5EF4-FFF2-40B4-BE49-F238E27FC236}">
                <a16:creationId xmlns:a16="http://schemas.microsoft.com/office/drawing/2014/main" id="{B8F610E0-E6F5-D162-6254-37D78555CE63}"/>
              </a:ext>
            </a:extLst>
          </p:cNvPr>
          <p:cNvSpPr>
            <a:spLocks noGrp="1"/>
          </p:cNvSpPr>
          <p:nvPr>
            <p:ph type="title"/>
          </p:nvPr>
        </p:nvSpPr>
        <p:spPr>
          <a:xfrm>
            <a:off x="457200" y="512676"/>
            <a:ext cx="8229600" cy="598078"/>
          </a:xfrm>
        </p:spPr>
        <p:txBody>
          <a:bodyPr/>
          <a:lstStyle/>
          <a:p>
            <a:r>
              <a:rPr kumimoji="1" lang="en-US" altLang="ja-JP" sz="2000" dirty="0">
                <a:solidFill>
                  <a:schemeClr val="tx1"/>
                </a:solidFill>
              </a:rPr>
              <a:t>Array</a:t>
            </a:r>
            <a:r>
              <a:rPr kumimoji="1" lang="ja-JP" altLang="en-US" sz="2000" dirty="0">
                <a:solidFill>
                  <a:schemeClr val="tx1"/>
                </a:solidFill>
              </a:rPr>
              <a:t> </a:t>
            </a:r>
            <a:r>
              <a:rPr kumimoji="1" lang="en-US" altLang="ja-JP" sz="2000" dirty="0">
                <a:solidFill>
                  <a:schemeClr val="tx1"/>
                </a:solidFill>
              </a:rPr>
              <a:t>Page</a:t>
            </a:r>
            <a:endParaRPr kumimoji="1" lang="ja-JP" altLang="en-US" sz="2000" dirty="0">
              <a:solidFill>
                <a:schemeClr val="tx1"/>
              </a:solidFill>
            </a:endParaRPr>
          </a:p>
        </p:txBody>
      </p:sp>
      <p:sp>
        <p:nvSpPr>
          <p:cNvPr id="2" name="正方形/長方形 1">
            <a:extLst>
              <a:ext uri="{FF2B5EF4-FFF2-40B4-BE49-F238E27FC236}">
                <a16:creationId xmlns:a16="http://schemas.microsoft.com/office/drawing/2014/main" id="{C817328C-4C26-0EA7-3557-A1E321C8FF50}"/>
              </a:ext>
            </a:extLst>
          </p:cNvPr>
          <p:cNvSpPr/>
          <p:nvPr/>
        </p:nvSpPr>
        <p:spPr>
          <a:xfrm>
            <a:off x="2585848" y="2528900"/>
            <a:ext cx="3967352" cy="244827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3BF31B6D-987D-3DAB-05B1-CC84240D83B7}"/>
              </a:ext>
            </a:extLst>
          </p:cNvPr>
          <p:cNvSpPr/>
          <p:nvPr/>
        </p:nvSpPr>
        <p:spPr>
          <a:xfrm>
            <a:off x="2580893" y="2384884"/>
            <a:ext cx="1320873"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554089B0-1978-6AA4-5003-DB1D60B499DA}"/>
              </a:ext>
            </a:extLst>
          </p:cNvPr>
          <p:cNvSpPr txBox="1"/>
          <p:nvPr/>
        </p:nvSpPr>
        <p:spPr>
          <a:xfrm>
            <a:off x="2051720" y="1187160"/>
            <a:ext cx="1494915" cy="461665"/>
          </a:xfrm>
          <a:prstGeom prst="rect">
            <a:avLst/>
          </a:prstGeom>
          <a:noFill/>
        </p:spPr>
        <p:txBody>
          <a:bodyPr wrap="square" lIns="0" tIns="0" rIns="0" bIns="0" rtlCol="0">
            <a:spAutoFit/>
          </a:bodyPr>
          <a:lstStyle/>
          <a:p>
            <a:pPr algn="ctr"/>
            <a:r>
              <a:rPr kumimoji="1" lang="en-US" altLang="ja-JP" sz="1200" dirty="0">
                <a:latin typeface="+mj-lt"/>
              </a:rPr>
              <a:t>Array Calibration Status:</a:t>
            </a:r>
          </a:p>
          <a:p>
            <a:pPr algn="ctr"/>
            <a:r>
              <a:rPr lang="en-US" altLang="ja-JP" sz="900" dirty="0">
                <a:latin typeface="+mj-lt"/>
              </a:rPr>
              <a:t>STOP or RUN, Total epochs for calibration and RMS residuals</a:t>
            </a:r>
            <a:endParaRPr kumimoji="1" lang="en-US" altLang="ja-JP" sz="900" dirty="0">
              <a:latin typeface="+mj-lt"/>
            </a:endParaRPr>
          </a:p>
        </p:txBody>
      </p:sp>
      <p:cxnSp>
        <p:nvCxnSpPr>
          <p:cNvPr id="8" name="直線コネクタ 7">
            <a:extLst>
              <a:ext uri="{FF2B5EF4-FFF2-40B4-BE49-F238E27FC236}">
                <a16:creationId xmlns:a16="http://schemas.microsoft.com/office/drawing/2014/main" id="{F0553618-6753-68BC-7A69-1C598A3D81C6}"/>
              </a:ext>
            </a:extLst>
          </p:cNvPr>
          <p:cNvCxnSpPr>
            <a:cxnSpLocks/>
            <a:stCxn id="3" idx="0"/>
            <a:endCxn id="7" idx="2"/>
          </p:cNvCxnSpPr>
          <p:nvPr/>
        </p:nvCxnSpPr>
        <p:spPr>
          <a:xfrm flipH="1" flipV="1">
            <a:off x="2799178" y="1648825"/>
            <a:ext cx="442152" cy="736059"/>
          </a:xfrm>
          <a:prstGeom prst="line">
            <a:avLst/>
          </a:prstGeom>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D27E7C11-58C6-DE6A-36CB-56BDE284C6BA}"/>
              </a:ext>
            </a:extLst>
          </p:cNvPr>
          <p:cNvSpPr txBox="1"/>
          <p:nvPr/>
        </p:nvSpPr>
        <p:spPr>
          <a:xfrm>
            <a:off x="899592" y="3825044"/>
            <a:ext cx="1260140" cy="1061829"/>
          </a:xfrm>
          <a:prstGeom prst="rect">
            <a:avLst/>
          </a:prstGeom>
          <a:noFill/>
        </p:spPr>
        <p:txBody>
          <a:bodyPr wrap="square" lIns="0" tIns="0" rIns="0" bIns="0" rtlCol="0">
            <a:spAutoFit/>
          </a:bodyPr>
          <a:lstStyle/>
          <a:p>
            <a:pPr algn="ctr"/>
            <a:r>
              <a:rPr kumimoji="1" lang="en-US" altLang="ja-JP" sz="1200" dirty="0">
                <a:latin typeface="+mj-lt"/>
              </a:rPr>
              <a:t>ARRAY CH BEAM DIRECTION:</a:t>
            </a:r>
          </a:p>
          <a:p>
            <a:pPr algn="ctr"/>
            <a:r>
              <a:rPr lang="en-US" altLang="ja-JP" sz="900" dirty="0">
                <a:latin typeface="+mj-lt"/>
              </a:rPr>
              <a:t>Beam direction control for each Array CH. Set AZ (azimuth) and EL (elevation) angles and push Update Button.</a:t>
            </a:r>
            <a:endParaRPr kumimoji="1" lang="en-US" altLang="ja-JP" sz="900" dirty="0">
              <a:latin typeface="+mj-lt"/>
            </a:endParaRPr>
          </a:p>
        </p:txBody>
      </p:sp>
      <p:cxnSp>
        <p:nvCxnSpPr>
          <p:cNvPr id="14" name="直線コネクタ 13">
            <a:extLst>
              <a:ext uri="{FF2B5EF4-FFF2-40B4-BE49-F238E27FC236}">
                <a16:creationId xmlns:a16="http://schemas.microsoft.com/office/drawing/2014/main" id="{5092B502-D18F-11DA-0A6E-49C4F4580266}"/>
              </a:ext>
            </a:extLst>
          </p:cNvPr>
          <p:cNvCxnSpPr>
            <a:cxnSpLocks/>
            <a:endCxn id="13" idx="3"/>
          </p:cNvCxnSpPr>
          <p:nvPr/>
        </p:nvCxnSpPr>
        <p:spPr>
          <a:xfrm flipH="1">
            <a:off x="2159732" y="4152151"/>
            <a:ext cx="972108" cy="203808"/>
          </a:xfrm>
          <a:prstGeom prst="line">
            <a:avLst/>
          </a:prstGeom>
        </p:spPr>
        <p:style>
          <a:lnRef idx="1">
            <a:schemeClr val="accent1"/>
          </a:lnRef>
          <a:fillRef idx="0">
            <a:schemeClr val="accent1"/>
          </a:fillRef>
          <a:effectRef idx="0">
            <a:schemeClr val="accent1"/>
          </a:effectRef>
          <a:fontRef idx="minor">
            <a:schemeClr val="tx1"/>
          </a:fontRef>
        </p:style>
      </p:cxnSp>
      <p:sp>
        <p:nvSpPr>
          <p:cNvPr id="19" name="正方形/長方形 18">
            <a:extLst>
              <a:ext uri="{FF2B5EF4-FFF2-40B4-BE49-F238E27FC236}">
                <a16:creationId xmlns:a16="http://schemas.microsoft.com/office/drawing/2014/main" id="{EB384E0C-3226-F2CA-5B6C-17517D623A41}"/>
              </a:ext>
            </a:extLst>
          </p:cNvPr>
          <p:cNvSpPr/>
          <p:nvPr/>
        </p:nvSpPr>
        <p:spPr>
          <a:xfrm>
            <a:off x="5061188" y="2384236"/>
            <a:ext cx="302900"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643FB008-C359-A5F3-6DD1-72665ED11C43}"/>
              </a:ext>
            </a:extLst>
          </p:cNvPr>
          <p:cNvSpPr/>
          <p:nvPr/>
        </p:nvSpPr>
        <p:spPr>
          <a:xfrm>
            <a:off x="5365102" y="2384236"/>
            <a:ext cx="1188098"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ECB1AFB6-8CB1-0096-5486-4953D89060C6}"/>
              </a:ext>
            </a:extLst>
          </p:cNvPr>
          <p:cNvSpPr txBox="1"/>
          <p:nvPr/>
        </p:nvSpPr>
        <p:spPr>
          <a:xfrm>
            <a:off x="3731562" y="1181437"/>
            <a:ext cx="1704533" cy="646331"/>
          </a:xfrm>
          <a:prstGeom prst="rect">
            <a:avLst/>
          </a:prstGeom>
          <a:noFill/>
        </p:spPr>
        <p:txBody>
          <a:bodyPr wrap="square" lIns="0" tIns="0" rIns="0" bIns="0" rtlCol="0">
            <a:spAutoFit/>
          </a:bodyPr>
          <a:lstStyle/>
          <a:p>
            <a:pPr algn="ctr"/>
            <a:r>
              <a:rPr lang="en-US" altLang="ja-JP" sz="1200" dirty="0">
                <a:latin typeface="+mj-lt"/>
              </a:rPr>
              <a:t>Array Calibration Targets:</a:t>
            </a:r>
          </a:p>
          <a:p>
            <a:pPr algn="ctr"/>
            <a:r>
              <a:rPr lang="en-US" altLang="ja-JP" sz="1000" dirty="0">
                <a:latin typeface="+mj-lt"/>
              </a:rPr>
              <a:t>Both: Dealy and </a:t>
            </a:r>
            <a:r>
              <a:rPr lang="en-US" altLang="ja-JP" sz="1000" dirty="0" err="1">
                <a:latin typeface="+mj-lt"/>
              </a:rPr>
              <a:t>Attiude</a:t>
            </a:r>
            <a:endParaRPr lang="en-US" altLang="ja-JP" sz="1000" dirty="0">
              <a:latin typeface="+mj-lt"/>
            </a:endParaRPr>
          </a:p>
          <a:p>
            <a:pPr algn="ctr"/>
            <a:r>
              <a:rPr kumimoji="1" lang="en-US" altLang="ja-JP" sz="1000" dirty="0">
                <a:latin typeface="+mj-lt"/>
              </a:rPr>
              <a:t>Delay: Delay only</a:t>
            </a:r>
          </a:p>
          <a:p>
            <a:pPr algn="ctr"/>
            <a:r>
              <a:rPr lang="en-US" altLang="ja-JP" sz="1000" dirty="0" err="1">
                <a:latin typeface="+mj-lt"/>
              </a:rPr>
              <a:t>Att</a:t>
            </a:r>
            <a:r>
              <a:rPr lang="en-US" altLang="ja-JP" sz="1000" dirty="0">
                <a:latin typeface="+mj-lt"/>
              </a:rPr>
              <a:t>: Attitude only</a:t>
            </a:r>
            <a:endParaRPr kumimoji="1" lang="en-US" altLang="ja-JP" sz="600" dirty="0">
              <a:latin typeface="+mj-lt"/>
            </a:endParaRPr>
          </a:p>
        </p:txBody>
      </p:sp>
      <p:cxnSp>
        <p:nvCxnSpPr>
          <p:cNvPr id="29" name="直線コネクタ 28">
            <a:extLst>
              <a:ext uri="{FF2B5EF4-FFF2-40B4-BE49-F238E27FC236}">
                <a16:creationId xmlns:a16="http://schemas.microsoft.com/office/drawing/2014/main" id="{32756E27-144A-F6DA-615D-7899121CCF36}"/>
              </a:ext>
            </a:extLst>
          </p:cNvPr>
          <p:cNvCxnSpPr>
            <a:cxnSpLocks/>
            <a:stCxn id="19" idx="0"/>
            <a:endCxn id="28" idx="2"/>
          </p:cNvCxnSpPr>
          <p:nvPr/>
        </p:nvCxnSpPr>
        <p:spPr>
          <a:xfrm flipH="1" flipV="1">
            <a:off x="4583829" y="1827768"/>
            <a:ext cx="628809" cy="556468"/>
          </a:xfrm>
          <a:prstGeom prst="line">
            <a:avLst/>
          </a:prstGeom>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3EF5D8C2-ECC8-1FB2-0F63-EC6581DBC044}"/>
              </a:ext>
            </a:extLst>
          </p:cNvPr>
          <p:cNvSpPr txBox="1"/>
          <p:nvPr/>
        </p:nvSpPr>
        <p:spPr>
          <a:xfrm>
            <a:off x="5499310" y="1158965"/>
            <a:ext cx="1373660" cy="646331"/>
          </a:xfrm>
          <a:prstGeom prst="rect">
            <a:avLst/>
          </a:prstGeom>
          <a:noFill/>
        </p:spPr>
        <p:txBody>
          <a:bodyPr wrap="square" lIns="0" tIns="0" rIns="0" bIns="0" rtlCol="0">
            <a:spAutoFit/>
          </a:bodyPr>
          <a:lstStyle/>
          <a:p>
            <a:pPr algn="ctr"/>
            <a:r>
              <a:rPr kumimoji="1" lang="en-US" altLang="ja-JP" sz="1200" dirty="0">
                <a:latin typeface="+mj-lt"/>
              </a:rPr>
              <a:t>Array Calibration Operation Buttons:</a:t>
            </a:r>
          </a:p>
          <a:p>
            <a:pPr algn="ctr"/>
            <a:r>
              <a:rPr lang="en-US" altLang="ja-JP" sz="900" dirty="0">
                <a:latin typeface="+mj-lt"/>
              </a:rPr>
              <a:t>Start or Stop, Clear, Load and Save</a:t>
            </a:r>
            <a:endParaRPr kumimoji="1" lang="en-US" altLang="ja-JP" sz="500" dirty="0">
              <a:latin typeface="+mj-lt"/>
            </a:endParaRPr>
          </a:p>
        </p:txBody>
      </p:sp>
      <p:cxnSp>
        <p:nvCxnSpPr>
          <p:cNvPr id="34" name="直線コネクタ 33">
            <a:extLst>
              <a:ext uri="{FF2B5EF4-FFF2-40B4-BE49-F238E27FC236}">
                <a16:creationId xmlns:a16="http://schemas.microsoft.com/office/drawing/2014/main" id="{F0CDD50A-86BD-26B5-72DA-D5EB026B80FC}"/>
              </a:ext>
            </a:extLst>
          </p:cNvPr>
          <p:cNvCxnSpPr>
            <a:cxnSpLocks/>
            <a:stCxn id="22" idx="0"/>
            <a:endCxn id="33" idx="2"/>
          </p:cNvCxnSpPr>
          <p:nvPr/>
        </p:nvCxnSpPr>
        <p:spPr>
          <a:xfrm flipV="1">
            <a:off x="5959151" y="1805296"/>
            <a:ext cx="226989" cy="578940"/>
          </a:xfrm>
          <a:prstGeom prst="line">
            <a:avLst/>
          </a:prstGeom>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D078E197-7B0B-0160-D6B7-CA8452F85A2B}"/>
              </a:ext>
            </a:extLst>
          </p:cNvPr>
          <p:cNvSpPr txBox="1"/>
          <p:nvPr/>
        </p:nvSpPr>
        <p:spPr>
          <a:xfrm>
            <a:off x="6800282" y="2592527"/>
            <a:ext cx="1373660" cy="461665"/>
          </a:xfrm>
          <a:prstGeom prst="rect">
            <a:avLst/>
          </a:prstGeom>
          <a:noFill/>
        </p:spPr>
        <p:txBody>
          <a:bodyPr wrap="square" lIns="0" tIns="0" rIns="0" bIns="0" rtlCol="0">
            <a:spAutoFit/>
          </a:bodyPr>
          <a:lstStyle/>
          <a:p>
            <a:pPr algn="ctr"/>
            <a:r>
              <a:rPr lang="en-US" altLang="ja-JP" sz="1200" dirty="0">
                <a:latin typeface="+mj-lt"/>
              </a:rPr>
              <a:t>RF CH DELAY:</a:t>
            </a:r>
            <a:br>
              <a:rPr lang="en-US" altLang="ja-JP" sz="1200" dirty="0">
                <a:latin typeface="+mj-lt"/>
              </a:rPr>
            </a:br>
            <a:r>
              <a:rPr lang="en-US" altLang="ja-JP" sz="900" dirty="0">
                <a:latin typeface="+mj-lt"/>
              </a:rPr>
              <a:t>RF CH delay calibration results referenced to RF </a:t>
            </a:r>
            <a:r>
              <a:rPr lang="en-US" altLang="ja-JP" sz="900" dirty="0" err="1">
                <a:latin typeface="+mj-lt"/>
              </a:rPr>
              <a:t>CH1</a:t>
            </a:r>
            <a:endParaRPr kumimoji="1" lang="en-US" altLang="ja-JP" sz="900" dirty="0">
              <a:latin typeface="+mj-lt"/>
            </a:endParaRPr>
          </a:p>
        </p:txBody>
      </p:sp>
      <p:cxnSp>
        <p:nvCxnSpPr>
          <p:cNvPr id="41" name="直線コネクタ 40">
            <a:extLst>
              <a:ext uri="{FF2B5EF4-FFF2-40B4-BE49-F238E27FC236}">
                <a16:creationId xmlns:a16="http://schemas.microsoft.com/office/drawing/2014/main" id="{E2169ADD-D657-90B0-32A0-A61C9F6FA672}"/>
              </a:ext>
            </a:extLst>
          </p:cNvPr>
          <p:cNvCxnSpPr>
            <a:cxnSpLocks/>
            <a:endCxn id="40" idx="1"/>
          </p:cNvCxnSpPr>
          <p:nvPr/>
        </p:nvCxnSpPr>
        <p:spPr>
          <a:xfrm>
            <a:off x="6084168" y="2790931"/>
            <a:ext cx="716114" cy="32429"/>
          </a:xfrm>
          <a:prstGeom prst="line">
            <a:avLst/>
          </a:prstGeom>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82AAA0C7-5EBC-D077-0430-B502122295F3}"/>
              </a:ext>
            </a:extLst>
          </p:cNvPr>
          <p:cNvSpPr/>
          <p:nvPr/>
        </p:nvSpPr>
        <p:spPr>
          <a:xfrm>
            <a:off x="4776645" y="2542569"/>
            <a:ext cx="120201" cy="799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4DBFA7F5-7951-243C-EF74-EBF5B6EF10A1}"/>
              </a:ext>
            </a:extLst>
          </p:cNvPr>
          <p:cNvSpPr txBox="1"/>
          <p:nvPr/>
        </p:nvSpPr>
        <p:spPr>
          <a:xfrm>
            <a:off x="6800283" y="3413487"/>
            <a:ext cx="1444126" cy="600164"/>
          </a:xfrm>
          <a:prstGeom prst="rect">
            <a:avLst/>
          </a:prstGeom>
          <a:noFill/>
        </p:spPr>
        <p:txBody>
          <a:bodyPr wrap="square" lIns="0" tIns="0" rIns="0" bIns="0" rtlCol="0">
            <a:spAutoFit/>
          </a:bodyPr>
          <a:lstStyle/>
          <a:p>
            <a:pPr algn="ctr"/>
            <a:r>
              <a:rPr lang="en-US" altLang="ja-JP" sz="1200" dirty="0">
                <a:latin typeface="+mj-lt"/>
              </a:rPr>
              <a:t>ARRAY ATTITUDE:</a:t>
            </a:r>
          </a:p>
          <a:p>
            <a:pPr algn="ctr"/>
            <a:r>
              <a:rPr lang="en-US" altLang="ja-JP" sz="900" dirty="0">
                <a:latin typeface="+mj-lt"/>
              </a:rPr>
              <a:t>Array attitude calibration results (ROLL, PITCH, YAW angles)</a:t>
            </a:r>
            <a:endParaRPr kumimoji="1" lang="en-US" altLang="ja-JP" sz="500" dirty="0">
              <a:latin typeface="+mj-lt"/>
            </a:endParaRPr>
          </a:p>
        </p:txBody>
      </p:sp>
      <p:cxnSp>
        <p:nvCxnSpPr>
          <p:cNvPr id="36" name="直線コネクタ 35">
            <a:extLst>
              <a:ext uri="{FF2B5EF4-FFF2-40B4-BE49-F238E27FC236}">
                <a16:creationId xmlns:a16="http://schemas.microsoft.com/office/drawing/2014/main" id="{CCC1F912-E54C-AC1B-6EE1-23D92D20CD58}"/>
              </a:ext>
            </a:extLst>
          </p:cNvPr>
          <p:cNvCxnSpPr>
            <a:cxnSpLocks/>
            <a:endCxn id="35" idx="1"/>
          </p:cNvCxnSpPr>
          <p:nvPr/>
        </p:nvCxnSpPr>
        <p:spPr>
          <a:xfrm>
            <a:off x="6120172" y="3251023"/>
            <a:ext cx="680111" cy="462546"/>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15772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E42E7-54EE-63CA-AD1A-BA4B08FE9699}"/>
            </a:ext>
          </a:extLst>
        </p:cNvPr>
        <p:cNvGrpSpPr/>
        <p:nvPr/>
      </p:nvGrpSpPr>
      <p:grpSpPr>
        <a:xfrm>
          <a:off x="0" y="0"/>
          <a:ext cx="0" cy="0"/>
          <a:chOff x="0" y="0"/>
          <a:chExt cx="0" cy="0"/>
        </a:xfrm>
      </p:grpSpPr>
      <p:pic>
        <p:nvPicPr>
          <p:cNvPr id="9" name="図 8">
            <a:extLst>
              <a:ext uri="{FF2B5EF4-FFF2-40B4-BE49-F238E27FC236}">
                <a16:creationId xmlns:a16="http://schemas.microsoft.com/office/drawing/2014/main" id="{0B7D5334-39BC-7ED1-A7E6-0D8D5DA90A56}"/>
              </a:ext>
            </a:extLst>
          </p:cNvPr>
          <p:cNvPicPr>
            <a:picLocks noChangeAspect="1"/>
          </p:cNvPicPr>
          <p:nvPr/>
        </p:nvPicPr>
        <p:blipFill>
          <a:blip r:embed="rId2"/>
          <a:stretch>
            <a:fillRect/>
          </a:stretch>
        </p:blipFill>
        <p:spPr>
          <a:xfrm>
            <a:off x="2579914" y="1990892"/>
            <a:ext cx="3972306" cy="3130296"/>
          </a:xfrm>
          <a:prstGeom prst="rect">
            <a:avLst/>
          </a:prstGeom>
        </p:spPr>
      </p:pic>
      <p:sp>
        <p:nvSpPr>
          <p:cNvPr id="4" name="スライド番号プレースホルダー 3">
            <a:extLst>
              <a:ext uri="{FF2B5EF4-FFF2-40B4-BE49-F238E27FC236}">
                <a16:creationId xmlns:a16="http://schemas.microsoft.com/office/drawing/2014/main" id="{B6B5CA05-B35F-2F50-A3AB-E8BAE9F85F30}"/>
              </a:ext>
            </a:extLst>
          </p:cNvPr>
          <p:cNvSpPr>
            <a:spLocks noGrp="1"/>
          </p:cNvSpPr>
          <p:nvPr>
            <p:ph type="sldNum" sz="quarter" idx="11"/>
          </p:nvPr>
        </p:nvSpPr>
        <p:spPr/>
        <p:txBody>
          <a:bodyPr/>
          <a:lstStyle/>
          <a:p>
            <a:pPr>
              <a:defRPr/>
            </a:pPr>
            <a:fld id="{76B10B91-6492-4C08-AE87-F344306858DA}" type="slidenum">
              <a:rPr lang="ja-JP" altLang="en-US" smtClean="0"/>
              <a:pPr>
                <a:defRPr/>
              </a:pPr>
              <a:t>9</a:t>
            </a:fld>
            <a:endParaRPr lang="ja-JP" altLang="en-US" dirty="0"/>
          </a:p>
        </p:txBody>
      </p:sp>
      <p:sp>
        <p:nvSpPr>
          <p:cNvPr id="5" name="タイトル 1">
            <a:extLst>
              <a:ext uri="{FF2B5EF4-FFF2-40B4-BE49-F238E27FC236}">
                <a16:creationId xmlns:a16="http://schemas.microsoft.com/office/drawing/2014/main" id="{BF2E140A-47CF-8442-83F8-9CE49870A635}"/>
              </a:ext>
            </a:extLst>
          </p:cNvPr>
          <p:cNvSpPr>
            <a:spLocks noGrp="1"/>
          </p:cNvSpPr>
          <p:nvPr>
            <p:ph type="title"/>
          </p:nvPr>
        </p:nvSpPr>
        <p:spPr>
          <a:xfrm>
            <a:off x="457200" y="512676"/>
            <a:ext cx="8229600" cy="598078"/>
          </a:xfrm>
        </p:spPr>
        <p:txBody>
          <a:bodyPr/>
          <a:lstStyle/>
          <a:p>
            <a:r>
              <a:rPr kumimoji="1" lang="en-US" altLang="ja-JP" sz="2000" dirty="0">
                <a:solidFill>
                  <a:schemeClr val="tx1"/>
                </a:solidFill>
              </a:rPr>
              <a:t>Log</a:t>
            </a:r>
            <a:r>
              <a:rPr kumimoji="1" lang="ja-JP" altLang="en-US" sz="2000" dirty="0">
                <a:solidFill>
                  <a:schemeClr val="tx1"/>
                </a:solidFill>
              </a:rPr>
              <a:t> </a:t>
            </a:r>
            <a:r>
              <a:rPr kumimoji="1" lang="en-US" altLang="ja-JP" sz="2000" dirty="0">
                <a:solidFill>
                  <a:schemeClr val="tx1"/>
                </a:solidFill>
              </a:rPr>
              <a:t>Page</a:t>
            </a:r>
            <a:endParaRPr kumimoji="1" lang="ja-JP" altLang="en-US" sz="2000" dirty="0">
              <a:solidFill>
                <a:schemeClr val="tx1"/>
              </a:solidFill>
            </a:endParaRPr>
          </a:p>
        </p:txBody>
      </p:sp>
      <p:sp>
        <p:nvSpPr>
          <p:cNvPr id="2" name="正方形/長方形 1">
            <a:extLst>
              <a:ext uri="{FF2B5EF4-FFF2-40B4-BE49-F238E27FC236}">
                <a16:creationId xmlns:a16="http://schemas.microsoft.com/office/drawing/2014/main" id="{6A495381-8F6A-4CB6-391D-A6B9CAC4B7C2}"/>
              </a:ext>
            </a:extLst>
          </p:cNvPr>
          <p:cNvSpPr/>
          <p:nvPr/>
        </p:nvSpPr>
        <p:spPr>
          <a:xfrm>
            <a:off x="2580894" y="2384884"/>
            <a:ext cx="622954"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83D7CED6-44BC-1774-E218-9810B6B8BF5B}"/>
              </a:ext>
            </a:extLst>
          </p:cNvPr>
          <p:cNvSpPr/>
          <p:nvPr/>
        </p:nvSpPr>
        <p:spPr>
          <a:xfrm>
            <a:off x="3203848" y="2384884"/>
            <a:ext cx="576064"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D18B9878-1E67-9DB5-322F-1A6B645DA9FE}"/>
              </a:ext>
            </a:extLst>
          </p:cNvPr>
          <p:cNvSpPr/>
          <p:nvPr/>
        </p:nvSpPr>
        <p:spPr>
          <a:xfrm>
            <a:off x="2585848" y="2528900"/>
            <a:ext cx="3967352" cy="244827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C2F088EE-3BD3-7B7F-1FA8-551D22605474}"/>
              </a:ext>
            </a:extLst>
          </p:cNvPr>
          <p:cNvSpPr txBox="1"/>
          <p:nvPr/>
        </p:nvSpPr>
        <p:spPr>
          <a:xfrm>
            <a:off x="1184419" y="2021069"/>
            <a:ext cx="1026863" cy="507831"/>
          </a:xfrm>
          <a:prstGeom prst="rect">
            <a:avLst/>
          </a:prstGeom>
          <a:noFill/>
        </p:spPr>
        <p:txBody>
          <a:bodyPr wrap="square" lIns="0" tIns="0" rIns="0" bIns="0" rtlCol="0">
            <a:spAutoFit/>
          </a:bodyPr>
          <a:lstStyle/>
          <a:p>
            <a:pPr algn="ctr"/>
            <a:r>
              <a:rPr kumimoji="1" lang="en-US" altLang="ja-JP" sz="1200" dirty="0">
                <a:latin typeface="+mj-lt"/>
              </a:rPr>
              <a:t>Receiver</a:t>
            </a:r>
            <a:r>
              <a:rPr kumimoji="1" lang="ja-JP" altLang="en-US" sz="1200" dirty="0">
                <a:latin typeface="+mj-lt"/>
              </a:rPr>
              <a:t> </a:t>
            </a:r>
            <a:r>
              <a:rPr kumimoji="1" lang="en-US" altLang="ja-JP" sz="1200" dirty="0">
                <a:latin typeface="+mj-lt"/>
              </a:rPr>
              <a:t>Log</a:t>
            </a:r>
            <a:r>
              <a:rPr kumimoji="1" lang="ja-JP" altLang="en-US" sz="1200" dirty="0">
                <a:latin typeface="+mj-lt"/>
              </a:rPr>
              <a:t> </a:t>
            </a:r>
            <a:r>
              <a:rPr kumimoji="1" lang="en-US" altLang="ja-JP" sz="1200" dirty="0">
                <a:latin typeface="+mj-lt"/>
              </a:rPr>
              <a:t>Type</a:t>
            </a:r>
            <a:r>
              <a:rPr kumimoji="1" lang="ja-JP" altLang="en-US" sz="1200" dirty="0">
                <a:latin typeface="+mj-lt"/>
              </a:rPr>
              <a:t> </a:t>
            </a:r>
            <a:r>
              <a:rPr kumimoji="1" lang="en-US" altLang="ja-JP" sz="1200" dirty="0">
                <a:latin typeface="+mj-lt"/>
              </a:rPr>
              <a:t>Selection:</a:t>
            </a:r>
          </a:p>
          <a:p>
            <a:pPr algn="ctr"/>
            <a:r>
              <a:rPr lang="en-US" altLang="ja-JP" sz="900" dirty="0">
                <a:latin typeface="+mj-lt"/>
              </a:rPr>
              <a:t>Blank:</a:t>
            </a:r>
            <a:r>
              <a:rPr lang="ja-JP" altLang="en-US" sz="900" dirty="0">
                <a:latin typeface="+mj-lt"/>
              </a:rPr>
              <a:t> </a:t>
            </a:r>
            <a:r>
              <a:rPr lang="en-US" altLang="ja-JP" sz="900" dirty="0">
                <a:latin typeface="+mj-lt"/>
              </a:rPr>
              <a:t>all</a:t>
            </a:r>
            <a:r>
              <a:rPr lang="ja-JP" altLang="en-US" sz="900" dirty="0">
                <a:latin typeface="+mj-lt"/>
              </a:rPr>
              <a:t> </a:t>
            </a:r>
            <a:r>
              <a:rPr lang="en-US" altLang="ja-JP" sz="900" dirty="0">
                <a:latin typeface="+mj-lt"/>
              </a:rPr>
              <a:t>log</a:t>
            </a:r>
            <a:endParaRPr kumimoji="1" lang="en-US" altLang="ja-JP" sz="900" dirty="0">
              <a:latin typeface="+mj-lt"/>
            </a:endParaRPr>
          </a:p>
        </p:txBody>
      </p:sp>
      <p:cxnSp>
        <p:nvCxnSpPr>
          <p:cNvPr id="12" name="直線コネクタ 11">
            <a:extLst>
              <a:ext uri="{FF2B5EF4-FFF2-40B4-BE49-F238E27FC236}">
                <a16:creationId xmlns:a16="http://schemas.microsoft.com/office/drawing/2014/main" id="{470C4B50-5A24-8E0A-2CC2-7F4C97D11AB6}"/>
              </a:ext>
            </a:extLst>
          </p:cNvPr>
          <p:cNvCxnSpPr>
            <a:cxnSpLocks/>
            <a:stCxn id="2" idx="1"/>
            <a:endCxn id="8" idx="3"/>
          </p:cNvCxnSpPr>
          <p:nvPr/>
        </p:nvCxnSpPr>
        <p:spPr>
          <a:xfrm flipH="1" flipV="1">
            <a:off x="2211282" y="2274985"/>
            <a:ext cx="369612" cy="181907"/>
          </a:xfrm>
          <a:prstGeom prst="line">
            <a:avLst/>
          </a:prstGeom>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C9A3A6D4-461C-7FD0-ED41-2179B9CDDDAE}"/>
              </a:ext>
            </a:extLst>
          </p:cNvPr>
          <p:cNvSpPr txBox="1"/>
          <p:nvPr/>
        </p:nvSpPr>
        <p:spPr>
          <a:xfrm>
            <a:off x="1259632" y="3599202"/>
            <a:ext cx="774835" cy="369332"/>
          </a:xfrm>
          <a:prstGeom prst="rect">
            <a:avLst/>
          </a:prstGeom>
          <a:noFill/>
        </p:spPr>
        <p:txBody>
          <a:bodyPr wrap="square" lIns="0" tIns="0" rIns="0" bIns="0" rtlCol="0">
            <a:spAutoFit/>
          </a:bodyPr>
          <a:lstStyle/>
          <a:p>
            <a:pPr algn="ctr"/>
            <a:r>
              <a:rPr kumimoji="1" lang="en-US" altLang="ja-JP" sz="1200" dirty="0">
                <a:latin typeface="+mj-lt"/>
              </a:rPr>
              <a:t>Receiver</a:t>
            </a:r>
            <a:r>
              <a:rPr kumimoji="1" lang="ja-JP" altLang="en-US" sz="1200" dirty="0">
                <a:latin typeface="+mj-lt"/>
              </a:rPr>
              <a:t> </a:t>
            </a:r>
            <a:r>
              <a:rPr kumimoji="1" lang="en-US" altLang="ja-JP" sz="1200" dirty="0">
                <a:latin typeface="+mj-lt"/>
              </a:rPr>
              <a:t>Logs</a:t>
            </a:r>
            <a:r>
              <a:rPr kumimoji="1" lang="ja-JP" altLang="en-US" sz="1200" baseline="30000" dirty="0">
                <a:latin typeface="+mj-lt"/>
              </a:rPr>
              <a:t> *</a:t>
            </a:r>
            <a:r>
              <a:rPr kumimoji="1" lang="en-US" altLang="ja-JP" sz="1200" baseline="30000" dirty="0">
                <a:latin typeface="+mj-lt"/>
              </a:rPr>
              <a:t>1</a:t>
            </a:r>
            <a:r>
              <a:rPr kumimoji="1" lang="ja-JP" altLang="en-US" sz="1200" baseline="30000" dirty="0">
                <a:latin typeface="+mj-lt"/>
              </a:rPr>
              <a:t> *</a:t>
            </a:r>
            <a:r>
              <a:rPr kumimoji="1" lang="en-US" altLang="ja-JP" sz="1200" baseline="30000" dirty="0">
                <a:latin typeface="+mj-lt"/>
              </a:rPr>
              <a:t>2</a:t>
            </a:r>
            <a:endParaRPr kumimoji="1" lang="en-US" altLang="ja-JP" sz="900" baseline="30000" dirty="0">
              <a:latin typeface="+mj-lt"/>
            </a:endParaRPr>
          </a:p>
        </p:txBody>
      </p:sp>
      <p:cxnSp>
        <p:nvCxnSpPr>
          <p:cNvPr id="14" name="直線コネクタ 13">
            <a:extLst>
              <a:ext uri="{FF2B5EF4-FFF2-40B4-BE49-F238E27FC236}">
                <a16:creationId xmlns:a16="http://schemas.microsoft.com/office/drawing/2014/main" id="{BDCC3504-6E2F-5E73-4FC4-46ACD8184DF1}"/>
              </a:ext>
            </a:extLst>
          </p:cNvPr>
          <p:cNvCxnSpPr>
            <a:cxnSpLocks/>
            <a:stCxn id="7" idx="1"/>
            <a:endCxn id="13" idx="3"/>
          </p:cNvCxnSpPr>
          <p:nvPr/>
        </p:nvCxnSpPr>
        <p:spPr>
          <a:xfrm flipH="1">
            <a:off x="2034467" y="3753036"/>
            <a:ext cx="551381" cy="308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B6A286AE-3ECE-4119-10FA-D6BB3E60AAA1}"/>
              </a:ext>
            </a:extLst>
          </p:cNvPr>
          <p:cNvCxnSpPr>
            <a:cxnSpLocks/>
            <a:stCxn id="3" idx="0"/>
            <a:endCxn id="21" idx="2"/>
          </p:cNvCxnSpPr>
          <p:nvPr/>
        </p:nvCxnSpPr>
        <p:spPr>
          <a:xfrm flipH="1" flipV="1">
            <a:off x="3246116" y="1959632"/>
            <a:ext cx="245764" cy="425252"/>
          </a:xfrm>
          <a:prstGeom prst="line">
            <a:avLst/>
          </a:prstGeom>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28A48BF6-CF6F-1D21-1177-9AE9861070B3}"/>
              </a:ext>
            </a:extLst>
          </p:cNvPr>
          <p:cNvSpPr txBox="1"/>
          <p:nvPr/>
        </p:nvSpPr>
        <p:spPr>
          <a:xfrm>
            <a:off x="2310012" y="1359468"/>
            <a:ext cx="1872208" cy="600164"/>
          </a:xfrm>
          <a:prstGeom prst="rect">
            <a:avLst/>
          </a:prstGeom>
          <a:noFill/>
        </p:spPr>
        <p:txBody>
          <a:bodyPr wrap="square" lIns="0" tIns="0" rIns="0" bIns="0" rtlCol="0">
            <a:spAutoFit/>
          </a:bodyPr>
          <a:lstStyle/>
          <a:p>
            <a:pPr algn="ctr"/>
            <a:r>
              <a:rPr kumimoji="1" lang="en-US" altLang="ja-JP" sz="1200" dirty="0">
                <a:latin typeface="+mj-lt"/>
              </a:rPr>
              <a:t>Additional</a:t>
            </a:r>
            <a:r>
              <a:rPr kumimoji="1" lang="ja-JP" altLang="en-US" sz="1200" dirty="0">
                <a:latin typeface="+mj-lt"/>
              </a:rPr>
              <a:t> </a:t>
            </a:r>
            <a:r>
              <a:rPr kumimoji="1" lang="en-US" altLang="ja-JP" sz="1200" dirty="0">
                <a:latin typeface="+mj-lt"/>
              </a:rPr>
              <a:t>Receiver</a:t>
            </a:r>
            <a:r>
              <a:rPr kumimoji="1" lang="ja-JP" altLang="en-US" sz="1200" dirty="0">
                <a:latin typeface="+mj-lt"/>
              </a:rPr>
              <a:t> </a:t>
            </a:r>
            <a:r>
              <a:rPr kumimoji="1" lang="en-US" altLang="ja-JP" sz="1200" dirty="0">
                <a:latin typeface="+mj-lt"/>
              </a:rPr>
              <a:t>Log</a:t>
            </a:r>
            <a:r>
              <a:rPr kumimoji="1" lang="ja-JP" altLang="en-US" sz="1200" dirty="0">
                <a:latin typeface="+mj-lt"/>
              </a:rPr>
              <a:t> </a:t>
            </a:r>
            <a:r>
              <a:rPr kumimoji="1" lang="en-US" altLang="ja-JP" sz="1200" dirty="0">
                <a:latin typeface="+mj-lt"/>
              </a:rPr>
              <a:t>Filter:</a:t>
            </a:r>
          </a:p>
          <a:p>
            <a:pPr algn="ctr"/>
            <a:r>
              <a:rPr lang="en-US" altLang="ja-JP" sz="900" dirty="0">
                <a:latin typeface="+mj-lt"/>
              </a:rPr>
              <a:t>filter</a:t>
            </a:r>
            <a:r>
              <a:rPr kumimoji="1" lang="ja-JP" altLang="en-US" sz="900" dirty="0">
                <a:latin typeface="+mj-lt"/>
              </a:rPr>
              <a:t> </a:t>
            </a:r>
            <a:r>
              <a:rPr kumimoji="1" lang="en-US" altLang="ja-JP" sz="900" dirty="0">
                <a:latin typeface="+mj-lt"/>
              </a:rPr>
              <a:t>string,</a:t>
            </a:r>
            <a:r>
              <a:rPr kumimoji="1" lang="ja-JP" altLang="en-US" sz="900" dirty="0">
                <a:latin typeface="+mj-lt"/>
              </a:rPr>
              <a:t> </a:t>
            </a:r>
            <a:r>
              <a:rPr kumimoji="1" lang="en-US" altLang="ja-JP" sz="900" dirty="0">
                <a:latin typeface="+mj-lt"/>
              </a:rPr>
              <a:t>like</a:t>
            </a:r>
            <a:r>
              <a:rPr kumimoji="1" lang="ja-JP" altLang="en-US" sz="900" dirty="0">
                <a:latin typeface="+mj-lt"/>
              </a:rPr>
              <a:t> </a:t>
            </a:r>
            <a:r>
              <a:rPr kumimoji="1" lang="en-US" altLang="ja-JP" sz="900" dirty="0">
                <a:latin typeface="+mj-lt"/>
              </a:rPr>
              <a:t>G01</a:t>
            </a:r>
            <a:r>
              <a:rPr kumimoji="1" lang="ja-JP" altLang="en-US" sz="900" dirty="0">
                <a:latin typeface="+mj-lt"/>
              </a:rPr>
              <a:t> </a:t>
            </a:r>
            <a:r>
              <a:rPr kumimoji="1" lang="en-US" altLang="ja-JP" sz="900" dirty="0">
                <a:latin typeface="+mj-lt"/>
              </a:rPr>
              <a:t>or</a:t>
            </a:r>
            <a:r>
              <a:rPr kumimoji="1" lang="ja-JP" altLang="en-US" sz="900" dirty="0">
                <a:latin typeface="+mj-lt"/>
              </a:rPr>
              <a:t> </a:t>
            </a:r>
            <a:r>
              <a:rPr kumimoji="1" lang="en-US" altLang="ja-JP" sz="900" dirty="0">
                <a:latin typeface="+mj-lt"/>
              </a:rPr>
              <a:t>L1CA,</a:t>
            </a:r>
            <a:r>
              <a:rPr kumimoji="1" lang="ja-JP" altLang="en-US" sz="900" dirty="0">
                <a:latin typeface="+mj-lt"/>
              </a:rPr>
              <a:t> </a:t>
            </a:r>
            <a:r>
              <a:rPr kumimoji="1" lang="en-US" altLang="ja-JP" sz="900" dirty="0">
                <a:latin typeface="+mj-lt"/>
              </a:rPr>
              <a:t>separated</a:t>
            </a:r>
            <a:r>
              <a:rPr kumimoji="1" lang="ja-JP" altLang="en-US" sz="900" dirty="0">
                <a:latin typeface="+mj-lt"/>
              </a:rPr>
              <a:t> </a:t>
            </a:r>
            <a:r>
              <a:rPr kumimoji="1" lang="en-US" altLang="ja-JP" sz="900" dirty="0">
                <a:latin typeface="+mj-lt"/>
              </a:rPr>
              <a:t>by</a:t>
            </a:r>
            <a:r>
              <a:rPr kumimoji="1" lang="ja-JP" altLang="en-US" sz="900" dirty="0">
                <a:latin typeface="+mj-lt"/>
              </a:rPr>
              <a:t> </a:t>
            </a:r>
            <a:r>
              <a:rPr kumimoji="1" lang="en-US" altLang="ja-JP" sz="900" dirty="0">
                <a:latin typeface="+mj-lt"/>
              </a:rPr>
              <a:t>spaces,</a:t>
            </a:r>
            <a:r>
              <a:rPr kumimoji="1" lang="ja-JP" altLang="en-US" sz="900" dirty="0">
                <a:latin typeface="+mj-lt"/>
              </a:rPr>
              <a:t> </a:t>
            </a:r>
            <a:r>
              <a:rPr lang="en-US" altLang="ja-JP" sz="900" dirty="0">
                <a:latin typeface="+mj-lt"/>
              </a:rPr>
              <a:t>|</a:t>
            </a:r>
            <a:r>
              <a:rPr lang="ja-JP" altLang="en-US" sz="900" dirty="0">
                <a:latin typeface="+mj-lt"/>
              </a:rPr>
              <a:t> </a:t>
            </a:r>
            <a:r>
              <a:rPr lang="en-US" altLang="ja-JP" sz="900" dirty="0">
                <a:latin typeface="+mj-lt"/>
              </a:rPr>
              <a:t>indicates</a:t>
            </a:r>
            <a:r>
              <a:rPr lang="ja-JP" altLang="en-US" sz="900" dirty="0">
                <a:latin typeface="+mj-lt"/>
              </a:rPr>
              <a:t> </a:t>
            </a:r>
            <a:r>
              <a:rPr lang="en-US" altLang="ja-JP" sz="900" dirty="0">
                <a:latin typeface="+mj-lt"/>
              </a:rPr>
              <a:t>OR</a:t>
            </a:r>
            <a:r>
              <a:rPr lang="ja-JP" altLang="en-US" sz="900" dirty="0">
                <a:latin typeface="+mj-lt"/>
              </a:rPr>
              <a:t> </a:t>
            </a:r>
            <a:r>
              <a:rPr lang="en-US" altLang="ja-JP" sz="900" dirty="0">
                <a:latin typeface="+mj-lt"/>
              </a:rPr>
              <a:t>condition</a:t>
            </a:r>
          </a:p>
          <a:p>
            <a:pPr algn="ctr"/>
            <a:r>
              <a:rPr lang="en-US" altLang="ja-JP" sz="900" dirty="0">
                <a:latin typeface="+mj-lt"/>
              </a:rPr>
              <a:t>(e.g.,</a:t>
            </a:r>
            <a:r>
              <a:rPr lang="ja-JP" altLang="en-US" sz="900" dirty="0">
                <a:latin typeface="+mj-lt"/>
              </a:rPr>
              <a:t> </a:t>
            </a:r>
            <a:r>
              <a:rPr lang="en-US" altLang="ja-JP" sz="900" dirty="0">
                <a:latin typeface="+mj-lt"/>
              </a:rPr>
              <a:t>G10|G02|G03)</a:t>
            </a:r>
            <a:endParaRPr kumimoji="1" lang="en-US" altLang="ja-JP" sz="900" dirty="0">
              <a:latin typeface="+mj-lt"/>
            </a:endParaRPr>
          </a:p>
        </p:txBody>
      </p:sp>
      <p:sp>
        <p:nvSpPr>
          <p:cNvPr id="27" name="正方形/長方形 26">
            <a:extLst>
              <a:ext uri="{FF2B5EF4-FFF2-40B4-BE49-F238E27FC236}">
                <a16:creationId xmlns:a16="http://schemas.microsoft.com/office/drawing/2014/main" id="{A13AF5E2-DE8E-E98F-7BF5-097000A5338F}"/>
              </a:ext>
            </a:extLst>
          </p:cNvPr>
          <p:cNvSpPr/>
          <p:nvPr/>
        </p:nvSpPr>
        <p:spPr>
          <a:xfrm>
            <a:off x="5760132" y="2384884"/>
            <a:ext cx="360040"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C40FB01A-1AD1-8A59-A56C-671192F707E4}"/>
              </a:ext>
            </a:extLst>
          </p:cNvPr>
          <p:cNvSpPr txBox="1"/>
          <p:nvPr/>
        </p:nvSpPr>
        <p:spPr>
          <a:xfrm>
            <a:off x="5093309" y="1405634"/>
            <a:ext cx="1026863" cy="369332"/>
          </a:xfrm>
          <a:prstGeom prst="rect">
            <a:avLst/>
          </a:prstGeom>
          <a:noFill/>
        </p:spPr>
        <p:txBody>
          <a:bodyPr wrap="square" lIns="0" tIns="0" rIns="0" bIns="0" rtlCol="0">
            <a:spAutoFit/>
          </a:bodyPr>
          <a:lstStyle/>
          <a:p>
            <a:pPr algn="ctr"/>
            <a:r>
              <a:rPr kumimoji="1" lang="en-US" altLang="ja-JP" sz="1200" dirty="0">
                <a:latin typeface="+mj-lt"/>
              </a:rPr>
              <a:t>Receiver</a:t>
            </a:r>
            <a:r>
              <a:rPr kumimoji="1" lang="ja-JP" altLang="en-US" sz="1200" dirty="0">
                <a:latin typeface="+mj-lt"/>
              </a:rPr>
              <a:t> </a:t>
            </a:r>
            <a:r>
              <a:rPr kumimoji="1" lang="en-US" altLang="ja-JP" sz="1200" dirty="0">
                <a:latin typeface="+mj-lt"/>
              </a:rPr>
              <a:t>Log</a:t>
            </a:r>
            <a:r>
              <a:rPr kumimoji="1" lang="ja-JP" altLang="en-US" sz="1200" dirty="0">
                <a:latin typeface="+mj-lt"/>
              </a:rPr>
              <a:t> </a:t>
            </a:r>
            <a:r>
              <a:rPr kumimoji="1" lang="en-US" altLang="ja-JP" sz="1200" dirty="0">
                <a:latin typeface="+mj-lt"/>
              </a:rPr>
              <a:t>Pause</a:t>
            </a:r>
            <a:r>
              <a:rPr kumimoji="1" lang="ja-JP" altLang="en-US" sz="1200" dirty="0">
                <a:latin typeface="+mj-lt"/>
              </a:rPr>
              <a:t> </a:t>
            </a:r>
            <a:r>
              <a:rPr kumimoji="1" lang="en-US" altLang="ja-JP" sz="1200" dirty="0">
                <a:latin typeface="+mj-lt"/>
              </a:rPr>
              <a:t>Button</a:t>
            </a:r>
            <a:endParaRPr kumimoji="1" lang="en-US" altLang="ja-JP" sz="900" dirty="0">
              <a:latin typeface="+mj-lt"/>
            </a:endParaRPr>
          </a:p>
        </p:txBody>
      </p:sp>
      <p:sp>
        <p:nvSpPr>
          <p:cNvPr id="29" name="テキスト ボックス 28">
            <a:extLst>
              <a:ext uri="{FF2B5EF4-FFF2-40B4-BE49-F238E27FC236}">
                <a16:creationId xmlns:a16="http://schemas.microsoft.com/office/drawing/2014/main" id="{1B6B022B-831F-BCEB-4D79-947DEFFFDB9B}"/>
              </a:ext>
            </a:extLst>
          </p:cNvPr>
          <p:cNvSpPr txBox="1"/>
          <p:nvPr/>
        </p:nvSpPr>
        <p:spPr>
          <a:xfrm>
            <a:off x="6192180" y="1407697"/>
            <a:ext cx="1026863" cy="369332"/>
          </a:xfrm>
          <a:prstGeom prst="rect">
            <a:avLst/>
          </a:prstGeom>
          <a:noFill/>
        </p:spPr>
        <p:txBody>
          <a:bodyPr wrap="square" lIns="0" tIns="0" rIns="0" bIns="0" rtlCol="0">
            <a:spAutoFit/>
          </a:bodyPr>
          <a:lstStyle/>
          <a:p>
            <a:pPr algn="ctr"/>
            <a:r>
              <a:rPr kumimoji="1" lang="en-US" altLang="ja-JP" sz="1200" dirty="0">
                <a:latin typeface="+mj-lt"/>
              </a:rPr>
              <a:t>Receiver</a:t>
            </a:r>
            <a:r>
              <a:rPr kumimoji="1" lang="ja-JP" altLang="en-US" sz="1200" dirty="0">
                <a:latin typeface="+mj-lt"/>
              </a:rPr>
              <a:t> </a:t>
            </a:r>
            <a:r>
              <a:rPr kumimoji="1" lang="en-US" altLang="ja-JP" sz="1200" dirty="0">
                <a:latin typeface="+mj-lt"/>
              </a:rPr>
              <a:t>Log</a:t>
            </a:r>
            <a:r>
              <a:rPr kumimoji="1" lang="ja-JP" altLang="en-US" sz="1200" dirty="0">
                <a:latin typeface="+mj-lt"/>
              </a:rPr>
              <a:t> </a:t>
            </a:r>
            <a:r>
              <a:rPr kumimoji="1" lang="en-US" altLang="ja-JP" sz="1200" dirty="0">
                <a:latin typeface="+mj-lt"/>
              </a:rPr>
              <a:t>Clear</a:t>
            </a:r>
            <a:r>
              <a:rPr kumimoji="1" lang="ja-JP" altLang="en-US" sz="1200" dirty="0">
                <a:latin typeface="+mj-lt"/>
              </a:rPr>
              <a:t> </a:t>
            </a:r>
            <a:r>
              <a:rPr kumimoji="1" lang="en-US" altLang="ja-JP" sz="1200" dirty="0">
                <a:latin typeface="+mj-lt"/>
              </a:rPr>
              <a:t>Button</a:t>
            </a:r>
            <a:endParaRPr kumimoji="1" lang="en-US" altLang="ja-JP" sz="900" dirty="0">
              <a:latin typeface="+mj-lt"/>
            </a:endParaRPr>
          </a:p>
        </p:txBody>
      </p:sp>
      <p:sp>
        <p:nvSpPr>
          <p:cNvPr id="30" name="正方形/長方形 29">
            <a:extLst>
              <a:ext uri="{FF2B5EF4-FFF2-40B4-BE49-F238E27FC236}">
                <a16:creationId xmlns:a16="http://schemas.microsoft.com/office/drawing/2014/main" id="{B69706E4-7069-7019-F7C3-F2F296409A63}"/>
              </a:ext>
            </a:extLst>
          </p:cNvPr>
          <p:cNvSpPr/>
          <p:nvPr/>
        </p:nvSpPr>
        <p:spPr>
          <a:xfrm>
            <a:off x="6120172" y="2384884"/>
            <a:ext cx="360040"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1" name="直線コネクタ 30">
            <a:extLst>
              <a:ext uri="{FF2B5EF4-FFF2-40B4-BE49-F238E27FC236}">
                <a16:creationId xmlns:a16="http://schemas.microsoft.com/office/drawing/2014/main" id="{846F0BB7-D549-0074-4E8E-EA98128CB7CF}"/>
              </a:ext>
            </a:extLst>
          </p:cNvPr>
          <p:cNvCxnSpPr>
            <a:cxnSpLocks/>
            <a:stCxn id="27" idx="0"/>
            <a:endCxn id="28" idx="2"/>
          </p:cNvCxnSpPr>
          <p:nvPr/>
        </p:nvCxnSpPr>
        <p:spPr>
          <a:xfrm flipH="1" flipV="1">
            <a:off x="5606741" y="1774966"/>
            <a:ext cx="333411" cy="609918"/>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39C9F900-4888-4EF8-276C-57F012B57A72}"/>
              </a:ext>
            </a:extLst>
          </p:cNvPr>
          <p:cNvCxnSpPr>
            <a:cxnSpLocks/>
            <a:stCxn id="30" idx="0"/>
            <a:endCxn id="29" idx="2"/>
          </p:cNvCxnSpPr>
          <p:nvPr/>
        </p:nvCxnSpPr>
        <p:spPr>
          <a:xfrm flipV="1">
            <a:off x="6300192" y="1777029"/>
            <a:ext cx="405420" cy="607855"/>
          </a:xfrm>
          <a:prstGeom prst="line">
            <a:avLst/>
          </a:prstGeom>
        </p:spPr>
        <p:style>
          <a:lnRef idx="1">
            <a:schemeClr val="accent1"/>
          </a:lnRef>
          <a:fillRef idx="0">
            <a:schemeClr val="accent1"/>
          </a:fillRef>
          <a:effectRef idx="0">
            <a:schemeClr val="accent1"/>
          </a:effectRef>
          <a:fontRef idx="minor">
            <a:schemeClr val="tx1"/>
          </a:fontRef>
        </p:style>
      </p:cxnSp>
      <p:sp>
        <p:nvSpPr>
          <p:cNvPr id="37" name="テキスト ボックス 36">
            <a:extLst>
              <a:ext uri="{FF2B5EF4-FFF2-40B4-BE49-F238E27FC236}">
                <a16:creationId xmlns:a16="http://schemas.microsoft.com/office/drawing/2014/main" id="{AC1F9EAA-CB2B-8249-C096-6A31D800E5A8}"/>
              </a:ext>
            </a:extLst>
          </p:cNvPr>
          <p:cNvSpPr txBox="1"/>
          <p:nvPr/>
        </p:nvSpPr>
        <p:spPr>
          <a:xfrm>
            <a:off x="2447764" y="5920722"/>
            <a:ext cx="4176464" cy="415498"/>
          </a:xfrm>
          <a:prstGeom prst="rect">
            <a:avLst/>
          </a:prstGeom>
          <a:noFill/>
        </p:spPr>
        <p:txBody>
          <a:bodyPr wrap="square" lIns="0" tIns="0" rIns="0" bIns="0" rtlCol="0">
            <a:spAutoFit/>
          </a:bodyPr>
          <a:lstStyle/>
          <a:p>
            <a:pPr algn="ctr"/>
            <a:r>
              <a:rPr lang="ja-JP" altLang="en-US" sz="900" dirty="0">
                <a:latin typeface="+mj-lt"/>
              </a:rPr>
              <a:t>*</a:t>
            </a:r>
            <a:r>
              <a:rPr lang="en-US" altLang="ja-JP" sz="900" dirty="0">
                <a:latin typeface="+mj-lt"/>
              </a:rPr>
              <a:t>1</a:t>
            </a:r>
            <a:r>
              <a:rPr lang="ja-JP" altLang="en-US" sz="900" dirty="0">
                <a:latin typeface="+mj-lt"/>
              </a:rPr>
              <a:t>   </a:t>
            </a:r>
            <a:r>
              <a:rPr lang="en-US" altLang="ja-JP" sz="900" dirty="0">
                <a:latin typeface="+mj-lt"/>
              </a:rPr>
              <a:t>Refer</a:t>
            </a:r>
            <a:r>
              <a:rPr lang="ja-JP" altLang="en-US" sz="900" dirty="0">
                <a:latin typeface="+mj-lt"/>
              </a:rPr>
              <a:t> </a:t>
            </a:r>
            <a:r>
              <a:rPr lang="en-US" altLang="ja-JP" sz="900" dirty="0" err="1">
                <a:latin typeface="+mj-lt"/>
              </a:rPr>
              <a:t>p.16</a:t>
            </a:r>
            <a:r>
              <a:rPr lang="ja-JP" altLang="en-US" sz="900" dirty="0">
                <a:latin typeface="+mj-lt"/>
              </a:rPr>
              <a:t> </a:t>
            </a:r>
            <a:r>
              <a:rPr lang="en-US" altLang="ja-JP" sz="900" dirty="0">
                <a:latin typeface="+mj-lt"/>
              </a:rPr>
              <a:t>for</a:t>
            </a:r>
            <a:r>
              <a:rPr lang="ja-JP" altLang="en-US" sz="900" dirty="0">
                <a:latin typeface="+mj-lt"/>
              </a:rPr>
              <a:t> </a:t>
            </a:r>
            <a:r>
              <a:rPr lang="en-US" altLang="ja-JP" sz="900" dirty="0">
                <a:latin typeface="+mj-lt"/>
              </a:rPr>
              <a:t>the</a:t>
            </a:r>
            <a:r>
              <a:rPr lang="ja-JP" altLang="en-US" sz="900" dirty="0">
                <a:latin typeface="+mj-lt"/>
              </a:rPr>
              <a:t> </a:t>
            </a:r>
            <a:r>
              <a:rPr lang="en-US" altLang="ja-JP" sz="900" dirty="0">
                <a:latin typeface="+mj-lt"/>
              </a:rPr>
              <a:t>receiver</a:t>
            </a:r>
            <a:r>
              <a:rPr lang="ja-JP" altLang="en-US" sz="900" dirty="0">
                <a:latin typeface="+mj-lt"/>
              </a:rPr>
              <a:t> </a:t>
            </a:r>
            <a:r>
              <a:rPr lang="en-US" altLang="ja-JP" sz="900" dirty="0">
                <a:latin typeface="+mj-lt"/>
              </a:rPr>
              <a:t>log</a:t>
            </a:r>
            <a:r>
              <a:rPr lang="ja-JP" altLang="en-US" sz="900" dirty="0">
                <a:latin typeface="+mj-lt"/>
              </a:rPr>
              <a:t> </a:t>
            </a:r>
            <a:r>
              <a:rPr lang="en-US" altLang="ja-JP" sz="900" dirty="0">
                <a:latin typeface="+mj-lt"/>
              </a:rPr>
              <a:t>formats</a:t>
            </a:r>
          </a:p>
          <a:p>
            <a:pPr algn="ctr"/>
            <a:r>
              <a:rPr lang="ja-JP" altLang="en-US" sz="900" dirty="0">
                <a:latin typeface="+mj-lt"/>
              </a:rPr>
              <a:t>*</a:t>
            </a:r>
            <a:r>
              <a:rPr lang="en-US" altLang="ja-JP" sz="900" dirty="0">
                <a:latin typeface="+mj-lt"/>
              </a:rPr>
              <a:t>2</a:t>
            </a:r>
            <a:r>
              <a:rPr lang="ja-JP" altLang="en-US" sz="900" dirty="0">
                <a:latin typeface="+mj-lt"/>
              </a:rPr>
              <a:t>   </a:t>
            </a:r>
            <a:r>
              <a:rPr lang="en-US" altLang="ja-JP" sz="900" dirty="0">
                <a:latin typeface="+mj-lt"/>
              </a:rPr>
              <a:t>To</a:t>
            </a:r>
            <a:r>
              <a:rPr lang="ja-JP" altLang="en-US" sz="900" dirty="0">
                <a:latin typeface="+mj-lt"/>
              </a:rPr>
              <a:t> </a:t>
            </a:r>
            <a:r>
              <a:rPr lang="en-US" altLang="ja-JP" sz="900" dirty="0">
                <a:latin typeface="+mj-lt"/>
              </a:rPr>
              <a:t>copy</a:t>
            </a:r>
            <a:r>
              <a:rPr lang="ja-JP" altLang="en-US" sz="900" dirty="0">
                <a:latin typeface="+mj-lt"/>
              </a:rPr>
              <a:t> </a:t>
            </a:r>
            <a:r>
              <a:rPr lang="en-US" altLang="ja-JP" sz="900" dirty="0">
                <a:latin typeface="+mj-lt"/>
              </a:rPr>
              <a:t>the</a:t>
            </a:r>
            <a:r>
              <a:rPr lang="ja-JP" altLang="en-US" sz="900" dirty="0">
                <a:latin typeface="+mj-lt"/>
              </a:rPr>
              <a:t> </a:t>
            </a:r>
            <a:r>
              <a:rPr lang="en-US" altLang="ja-JP" sz="900" dirty="0">
                <a:latin typeface="+mj-lt"/>
              </a:rPr>
              <a:t>logs</a:t>
            </a:r>
            <a:r>
              <a:rPr lang="ja-JP" altLang="en-US" sz="900" dirty="0">
                <a:latin typeface="+mj-lt"/>
              </a:rPr>
              <a:t> </a:t>
            </a:r>
            <a:r>
              <a:rPr lang="en-US" altLang="ja-JP" sz="900" dirty="0">
                <a:latin typeface="+mj-lt"/>
              </a:rPr>
              <a:t>to</a:t>
            </a:r>
            <a:r>
              <a:rPr lang="ja-JP" altLang="en-US" sz="900" dirty="0">
                <a:latin typeface="+mj-lt"/>
              </a:rPr>
              <a:t> </a:t>
            </a:r>
            <a:r>
              <a:rPr lang="en-US" altLang="ja-JP" sz="900" dirty="0">
                <a:latin typeface="+mj-lt"/>
              </a:rPr>
              <a:t>Clip-board,</a:t>
            </a:r>
            <a:r>
              <a:rPr lang="ja-JP" altLang="en-US" sz="900" dirty="0">
                <a:latin typeface="+mj-lt"/>
              </a:rPr>
              <a:t> </a:t>
            </a:r>
            <a:r>
              <a:rPr lang="en-US" altLang="ja-JP" sz="900" dirty="0">
                <a:latin typeface="+mj-lt"/>
              </a:rPr>
              <a:t>push</a:t>
            </a:r>
            <a:r>
              <a:rPr lang="ja-JP" altLang="en-US" sz="900" dirty="0">
                <a:latin typeface="+mj-lt"/>
              </a:rPr>
              <a:t> </a:t>
            </a:r>
            <a:r>
              <a:rPr lang="en-US" altLang="ja-JP" sz="900" dirty="0">
                <a:latin typeface="+mj-lt"/>
              </a:rPr>
              <a:t>Pause</a:t>
            </a:r>
            <a:r>
              <a:rPr lang="ja-JP" altLang="en-US" sz="900" dirty="0">
                <a:latin typeface="+mj-lt"/>
              </a:rPr>
              <a:t> </a:t>
            </a:r>
            <a:r>
              <a:rPr lang="en-US" altLang="ja-JP" sz="900" dirty="0">
                <a:latin typeface="+mj-lt"/>
              </a:rPr>
              <a:t>button,</a:t>
            </a:r>
            <a:r>
              <a:rPr lang="ja-JP" altLang="en-US" sz="900" dirty="0">
                <a:latin typeface="+mj-lt"/>
              </a:rPr>
              <a:t> </a:t>
            </a:r>
            <a:r>
              <a:rPr lang="en-US" altLang="ja-JP" sz="900" dirty="0">
                <a:latin typeface="+mj-lt"/>
              </a:rPr>
              <a:t>select</a:t>
            </a:r>
            <a:r>
              <a:rPr lang="ja-JP" altLang="en-US" sz="900" dirty="0">
                <a:latin typeface="+mj-lt"/>
              </a:rPr>
              <a:t> </a:t>
            </a:r>
            <a:r>
              <a:rPr lang="en-US" altLang="ja-JP" sz="900" dirty="0">
                <a:latin typeface="+mj-lt"/>
              </a:rPr>
              <a:t>the</a:t>
            </a:r>
            <a:r>
              <a:rPr lang="ja-JP" altLang="en-US" sz="900" dirty="0">
                <a:latin typeface="+mj-lt"/>
              </a:rPr>
              <a:t> </a:t>
            </a:r>
            <a:r>
              <a:rPr lang="en-US" altLang="ja-JP" sz="900" dirty="0">
                <a:latin typeface="+mj-lt"/>
              </a:rPr>
              <a:t>logs</a:t>
            </a:r>
            <a:r>
              <a:rPr lang="ja-JP" altLang="en-US" sz="900" dirty="0">
                <a:latin typeface="+mj-lt"/>
              </a:rPr>
              <a:t> </a:t>
            </a:r>
            <a:r>
              <a:rPr lang="en-US" altLang="ja-JP" sz="900" dirty="0">
                <a:latin typeface="+mj-lt"/>
              </a:rPr>
              <a:t>and</a:t>
            </a:r>
            <a:r>
              <a:rPr lang="ja-JP" altLang="en-US" sz="900" dirty="0">
                <a:latin typeface="+mj-lt"/>
              </a:rPr>
              <a:t> </a:t>
            </a:r>
            <a:r>
              <a:rPr lang="en-US" altLang="ja-JP" sz="900" dirty="0">
                <a:latin typeface="+mj-lt"/>
              </a:rPr>
              <a:t>push</a:t>
            </a:r>
            <a:r>
              <a:rPr lang="ja-JP" altLang="en-US" sz="900" dirty="0">
                <a:latin typeface="+mj-lt"/>
              </a:rPr>
              <a:t> </a:t>
            </a:r>
            <a:r>
              <a:rPr lang="en-US" altLang="ja-JP" sz="900" dirty="0">
                <a:latin typeface="+mj-lt"/>
              </a:rPr>
              <a:t>Ctrl-C</a:t>
            </a:r>
            <a:r>
              <a:rPr lang="ja-JP" altLang="en-US" sz="900" dirty="0">
                <a:latin typeface="+mj-lt"/>
              </a:rPr>
              <a:t> </a:t>
            </a:r>
            <a:r>
              <a:rPr lang="en-US" altLang="ja-JP" sz="900" dirty="0">
                <a:latin typeface="+mj-lt"/>
              </a:rPr>
              <a:t>of</a:t>
            </a:r>
            <a:r>
              <a:rPr lang="ja-JP" altLang="en-US" sz="900" dirty="0">
                <a:latin typeface="+mj-lt"/>
              </a:rPr>
              <a:t> </a:t>
            </a:r>
            <a:r>
              <a:rPr lang="en-US" altLang="ja-JP" sz="900" dirty="0">
                <a:latin typeface="+mj-lt"/>
              </a:rPr>
              <a:t>the</a:t>
            </a:r>
            <a:r>
              <a:rPr lang="ja-JP" altLang="en-US" sz="900" dirty="0">
                <a:latin typeface="+mj-lt"/>
              </a:rPr>
              <a:t> </a:t>
            </a:r>
            <a:r>
              <a:rPr lang="en-US" altLang="ja-JP" sz="900" dirty="0">
                <a:latin typeface="+mj-lt"/>
              </a:rPr>
              <a:t>keyboard</a:t>
            </a:r>
          </a:p>
        </p:txBody>
      </p:sp>
    </p:spTree>
    <p:extLst>
      <p:ext uri="{BB962C8B-B14F-4D97-AF65-F5344CB8AC3E}">
        <p14:creationId xmlns:p14="http://schemas.microsoft.com/office/powerpoint/2010/main" val="22736852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12DAC-F9B4-CB60-DF90-96A6FC88BCC5}"/>
            </a:ext>
          </a:extLst>
        </p:cNvPr>
        <p:cNvGrpSpPr/>
        <p:nvPr/>
      </p:nvGrpSpPr>
      <p:grpSpPr>
        <a:xfrm>
          <a:off x="0" y="0"/>
          <a:ext cx="0" cy="0"/>
          <a:chOff x="0" y="0"/>
          <a:chExt cx="0" cy="0"/>
        </a:xfrm>
      </p:grpSpPr>
      <p:pic>
        <p:nvPicPr>
          <p:cNvPr id="7" name="図 6">
            <a:extLst>
              <a:ext uri="{FF2B5EF4-FFF2-40B4-BE49-F238E27FC236}">
                <a16:creationId xmlns:a16="http://schemas.microsoft.com/office/drawing/2014/main" id="{FECA0B25-1242-AD5E-9A1D-4059931E1BE1}"/>
              </a:ext>
            </a:extLst>
          </p:cNvPr>
          <p:cNvPicPr>
            <a:picLocks noChangeAspect="1"/>
          </p:cNvPicPr>
          <p:nvPr/>
        </p:nvPicPr>
        <p:blipFill>
          <a:blip r:embed="rId2"/>
          <a:stretch>
            <a:fillRect/>
          </a:stretch>
        </p:blipFill>
        <p:spPr>
          <a:xfrm>
            <a:off x="3300991" y="1968136"/>
            <a:ext cx="2535936" cy="3130296"/>
          </a:xfrm>
          <a:prstGeom prst="rect">
            <a:avLst/>
          </a:prstGeom>
        </p:spPr>
      </p:pic>
      <p:sp>
        <p:nvSpPr>
          <p:cNvPr id="4" name="スライド番号プレースホルダー 3">
            <a:extLst>
              <a:ext uri="{FF2B5EF4-FFF2-40B4-BE49-F238E27FC236}">
                <a16:creationId xmlns:a16="http://schemas.microsoft.com/office/drawing/2014/main" id="{730C0844-46F4-5F07-3833-F2771B898DAC}"/>
              </a:ext>
            </a:extLst>
          </p:cNvPr>
          <p:cNvSpPr>
            <a:spLocks noGrp="1"/>
          </p:cNvSpPr>
          <p:nvPr>
            <p:ph type="sldNum" sz="quarter" idx="11"/>
          </p:nvPr>
        </p:nvSpPr>
        <p:spPr/>
        <p:txBody>
          <a:bodyPr/>
          <a:lstStyle/>
          <a:p>
            <a:pPr>
              <a:defRPr/>
            </a:pPr>
            <a:fld id="{76B10B91-6492-4C08-AE87-F344306858DA}" type="slidenum">
              <a:rPr lang="ja-JP" altLang="en-US" smtClean="0"/>
              <a:pPr>
                <a:defRPr/>
              </a:pPr>
              <a:t>10</a:t>
            </a:fld>
            <a:endParaRPr lang="ja-JP" altLang="en-US" dirty="0"/>
          </a:p>
        </p:txBody>
      </p:sp>
      <p:sp>
        <p:nvSpPr>
          <p:cNvPr id="5" name="タイトル 1">
            <a:extLst>
              <a:ext uri="{FF2B5EF4-FFF2-40B4-BE49-F238E27FC236}">
                <a16:creationId xmlns:a16="http://schemas.microsoft.com/office/drawing/2014/main" id="{8EC9DD4E-E681-B0BF-7BF6-6CDCE8D34098}"/>
              </a:ext>
            </a:extLst>
          </p:cNvPr>
          <p:cNvSpPr>
            <a:spLocks noGrp="1"/>
          </p:cNvSpPr>
          <p:nvPr>
            <p:ph type="title"/>
          </p:nvPr>
        </p:nvSpPr>
        <p:spPr>
          <a:xfrm>
            <a:off x="457200" y="512676"/>
            <a:ext cx="8229600" cy="598078"/>
          </a:xfrm>
        </p:spPr>
        <p:txBody>
          <a:bodyPr/>
          <a:lstStyle/>
          <a:p>
            <a:r>
              <a:rPr kumimoji="1" lang="en-US" altLang="ja-JP" sz="2000" dirty="0">
                <a:solidFill>
                  <a:schemeClr val="tx1"/>
                </a:solidFill>
              </a:rPr>
              <a:t>Input</a:t>
            </a:r>
            <a:r>
              <a:rPr kumimoji="1" lang="ja-JP" altLang="en-US" sz="2000" dirty="0">
                <a:solidFill>
                  <a:schemeClr val="tx1"/>
                </a:solidFill>
              </a:rPr>
              <a:t> </a:t>
            </a:r>
            <a:r>
              <a:rPr kumimoji="1" lang="en-US" altLang="ja-JP" sz="2000" dirty="0">
                <a:solidFill>
                  <a:schemeClr val="tx1"/>
                </a:solidFill>
              </a:rPr>
              <a:t>Options</a:t>
            </a:r>
            <a:r>
              <a:rPr kumimoji="1" lang="ja-JP" altLang="en-US" sz="2000" dirty="0">
                <a:solidFill>
                  <a:schemeClr val="tx1"/>
                </a:solidFill>
              </a:rPr>
              <a:t> </a:t>
            </a:r>
            <a:r>
              <a:rPr kumimoji="1" lang="en-US" altLang="ja-JP" sz="2000" dirty="0">
                <a:solidFill>
                  <a:schemeClr val="tx1"/>
                </a:solidFill>
              </a:rPr>
              <a:t>Dialog</a:t>
            </a:r>
            <a:endParaRPr kumimoji="1" lang="ja-JP" altLang="en-US" sz="2000" dirty="0">
              <a:solidFill>
                <a:schemeClr val="tx1"/>
              </a:solidFill>
            </a:endParaRPr>
          </a:p>
        </p:txBody>
      </p:sp>
      <p:sp>
        <p:nvSpPr>
          <p:cNvPr id="2" name="正方形/長方形 1">
            <a:extLst>
              <a:ext uri="{FF2B5EF4-FFF2-40B4-BE49-F238E27FC236}">
                <a16:creationId xmlns:a16="http://schemas.microsoft.com/office/drawing/2014/main" id="{15DA2DAA-9977-A1EB-613D-F1000B93C9DE}"/>
              </a:ext>
            </a:extLst>
          </p:cNvPr>
          <p:cNvSpPr/>
          <p:nvPr/>
        </p:nvSpPr>
        <p:spPr>
          <a:xfrm>
            <a:off x="3419872" y="2204864"/>
            <a:ext cx="2304256"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014494DF-EEB0-0402-BB35-8F87CE0C55C5}"/>
              </a:ext>
            </a:extLst>
          </p:cNvPr>
          <p:cNvSpPr txBox="1"/>
          <p:nvPr/>
        </p:nvSpPr>
        <p:spPr>
          <a:xfrm>
            <a:off x="1474054" y="1697033"/>
            <a:ext cx="1191337" cy="507831"/>
          </a:xfrm>
          <a:prstGeom prst="rect">
            <a:avLst/>
          </a:prstGeom>
          <a:noFill/>
        </p:spPr>
        <p:txBody>
          <a:bodyPr wrap="square" lIns="0" tIns="0" rIns="0" bIns="0" rtlCol="0">
            <a:spAutoFit/>
          </a:bodyPr>
          <a:lstStyle/>
          <a:p>
            <a:pPr algn="ctr"/>
            <a:r>
              <a:rPr kumimoji="1" lang="en-US" altLang="ja-JP" sz="1200" dirty="0">
                <a:latin typeface="+mj-lt"/>
              </a:rPr>
              <a:t>Input</a:t>
            </a:r>
            <a:r>
              <a:rPr kumimoji="1" lang="ja-JP" altLang="en-US" sz="1200" dirty="0">
                <a:latin typeface="+mj-lt"/>
              </a:rPr>
              <a:t> </a:t>
            </a:r>
            <a:r>
              <a:rPr kumimoji="1" lang="en-US" altLang="ja-JP" sz="1200" dirty="0">
                <a:latin typeface="+mj-lt"/>
              </a:rPr>
              <a:t>Source</a:t>
            </a:r>
            <a:r>
              <a:rPr kumimoji="1" lang="ja-JP" altLang="en-US" sz="1200" dirty="0">
                <a:latin typeface="+mj-lt"/>
              </a:rPr>
              <a:t> </a:t>
            </a:r>
            <a:r>
              <a:rPr kumimoji="1" lang="en-US" altLang="ja-JP" sz="1200" dirty="0">
                <a:latin typeface="+mj-lt"/>
              </a:rPr>
              <a:t>Selection:</a:t>
            </a:r>
          </a:p>
          <a:p>
            <a:pPr algn="ctr"/>
            <a:r>
              <a:rPr kumimoji="1" lang="en-US" altLang="ja-JP" sz="900" dirty="0">
                <a:latin typeface="+mj-lt"/>
              </a:rPr>
              <a:t>RF</a:t>
            </a:r>
            <a:r>
              <a:rPr kumimoji="1" lang="ja-JP" altLang="en-US" sz="900" dirty="0">
                <a:latin typeface="+mj-lt"/>
              </a:rPr>
              <a:t> </a:t>
            </a:r>
            <a:r>
              <a:rPr kumimoji="1" lang="en-US" altLang="ja-JP" sz="900" dirty="0">
                <a:latin typeface="+mj-lt"/>
              </a:rPr>
              <a:t>Frontend</a:t>
            </a:r>
            <a:r>
              <a:rPr kumimoji="1" lang="ja-JP" altLang="en-US" sz="900" dirty="0">
                <a:latin typeface="+mj-lt"/>
              </a:rPr>
              <a:t> </a:t>
            </a:r>
            <a:r>
              <a:rPr kumimoji="1" lang="en-US" altLang="ja-JP" sz="900" dirty="0">
                <a:latin typeface="+mj-lt"/>
              </a:rPr>
              <a:t>or</a:t>
            </a:r>
            <a:r>
              <a:rPr kumimoji="1" lang="ja-JP" altLang="en-US" sz="900" dirty="0">
                <a:latin typeface="+mj-lt"/>
              </a:rPr>
              <a:t> </a:t>
            </a:r>
            <a:r>
              <a:rPr kumimoji="1" lang="en-US" altLang="ja-JP" sz="900" dirty="0">
                <a:latin typeface="+mj-lt"/>
              </a:rPr>
              <a:t>IF</a:t>
            </a:r>
            <a:r>
              <a:rPr kumimoji="1" lang="ja-JP" altLang="en-US" sz="900" dirty="0">
                <a:latin typeface="+mj-lt"/>
              </a:rPr>
              <a:t> </a:t>
            </a:r>
            <a:r>
              <a:rPr kumimoji="1" lang="en-US" altLang="ja-JP" sz="900" dirty="0">
                <a:latin typeface="+mj-lt"/>
              </a:rPr>
              <a:t>Data</a:t>
            </a:r>
          </a:p>
        </p:txBody>
      </p:sp>
      <p:cxnSp>
        <p:nvCxnSpPr>
          <p:cNvPr id="9" name="直線コネクタ 8">
            <a:extLst>
              <a:ext uri="{FF2B5EF4-FFF2-40B4-BE49-F238E27FC236}">
                <a16:creationId xmlns:a16="http://schemas.microsoft.com/office/drawing/2014/main" id="{DED1BD8D-6CA8-BEDF-3DC5-A1768ECFFA95}"/>
              </a:ext>
            </a:extLst>
          </p:cNvPr>
          <p:cNvCxnSpPr>
            <a:cxnSpLocks/>
            <a:stCxn id="6" idx="3"/>
            <a:endCxn id="2" idx="1"/>
          </p:cNvCxnSpPr>
          <p:nvPr/>
        </p:nvCxnSpPr>
        <p:spPr>
          <a:xfrm>
            <a:off x="2665391" y="1950949"/>
            <a:ext cx="754481" cy="325923"/>
          </a:xfrm>
          <a:prstGeom prst="line">
            <a:avLst/>
          </a:prstGeom>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F670D38A-E5D1-A01C-B644-F24F24DAF3DA}"/>
              </a:ext>
            </a:extLst>
          </p:cNvPr>
          <p:cNvSpPr txBox="1"/>
          <p:nvPr/>
        </p:nvSpPr>
        <p:spPr>
          <a:xfrm>
            <a:off x="5846737" y="970207"/>
            <a:ext cx="2361667" cy="1431161"/>
          </a:xfrm>
          <a:prstGeom prst="rect">
            <a:avLst/>
          </a:prstGeom>
          <a:noFill/>
        </p:spPr>
        <p:txBody>
          <a:bodyPr wrap="square" lIns="0" tIns="0" rIns="0" bIns="0" rtlCol="0">
            <a:spAutoFit/>
          </a:bodyPr>
          <a:lstStyle/>
          <a:p>
            <a:pPr algn="ctr"/>
            <a:r>
              <a:rPr kumimoji="1" lang="en-US" altLang="ja-JP" sz="1200" dirty="0">
                <a:latin typeface="+mj-lt"/>
              </a:rPr>
              <a:t>RF</a:t>
            </a:r>
            <a:r>
              <a:rPr kumimoji="1" lang="ja-JP" altLang="en-US" sz="1200" dirty="0">
                <a:latin typeface="+mj-lt"/>
              </a:rPr>
              <a:t> </a:t>
            </a:r>
            <a:r>
              <a:rPr kumimoji="1" lang="en-US" altLang="ja-JP" sz="1200" dirty="0">
                <a:latin typeface="+mj-lt"/>
              </a:rPr>
              <a:t>Frontend</a:t>
            </a:r>
            <a:r>
              <a:rPr kumimoji="1" lang="ja-JP" altLang="en-US" sz="1200" dirty="0">
                <a:latin typeface="+mj-lt"/>
              </a:rPr>
              <a:t> </a:t>
            </a:r>
            <a:r>
              <a:rPr kumimoji="1" lang="en-US" altLang="ja-JP" sz="1200" dirty="0">
                <a:latin typeface="+mj-lt"/>
              </a:rPr>
              <a:t>Type</a:t>
            </a:r>
            <a:r>
              <a:rPr kumimoji="1" lang="ja-JP" altLang="en-US" sz="1200" dirty="0">
                <a:latin typeface="+mj-lt"/>
              </a:rPr>
              <a:t> </a:t>
            </a:r>
            <a:r>
              <a:rPr kumimoji="1" lang="en-US" altLang="ja-JP" sz="1200" dirty="0">
                <a:latin typeface="+mj-lt"/>
              </a:rPr>
              <a:t>Selection:</a:t>
            </a:r>
          </a:p>
          <a:p>
            <a:pPr algn="ctr"/>
            <a:r>
              <a:rPr lang="en-US" altLang="ja-JP" sz="900" dirty="0">
                <a:latin typeface="+mj-lt"/>
              </a:rPr>
              <a:t>Pocket </a:t>
            </a:r>
            <a:r>
              <a:rPr lang="en-US" altLang="ja-JP" sz="900" dirty="0" err="1">
                <a:latin typeface="+mj-lt"/>
              </a:rPr>
              <a:t>SDR</a:t>
            </a:r>
            <a:r>
              <a:rPr lang="en-US" altLang="ja-JP" sz="900" dirty="0">
                <a:latin typeface="+mj-lt"/>
              </a:rPr>
              <a:t> FE:</a:t>
            </a:r>
            <a:r>
              <a:rPr lang="ja-JP" altLang="en-US" sz="900" dirty="0">
                <a:latin typeface="+mj-lt"/>
              </a:rPr>
              <a:t> </a:t>
            </a:r>
            <a:r>
              <a:rPr lang="en-US" altLang="ja-JP" sz="900" dirty="0">
                <a:latin typeface="+mj-lt"/>
              </a:rPr>
              <a:t>Pocket </a:t>
            </a:r>
            <a:r>
              <a:rPr lang="en-US" altLang="ja-JP" sz="900" dirty="0" err="1">
                <a:latin typeface="+mj-lt"/>
              </a:rPr>
              <a:t>SDR</a:t>
            </a:r>
            <a:r>
              <a:rPr lang="en-US" altLang="ja-JP" sz="900" dirty="0">
                <a:latin typeface="+mj-lt"/>
              </a:rPr>
              <a:t> FE</a:t>
            </a:r>
            <a:r>
              <a:rPr lang="ja-JP" altLang="en-US" sz="900" dirty="0">
                <a:latin typeface="+mj-lt"/>
              </a:rPr>
              <a:t> </a:t>
            </a:r>
            <a:r>
              <a:rPr lang="en-US" altLang="ja-JP" sz="900" dirty="0" err="1">
                <a:latin typeface="+mj-lt"/>
              </a:rPr>
              <a:t>2CH</a:t>
            </a:r>
            <a:r>
              <a:rPr lang="en-US" altLang="ja-JP" sz="900" dirty="0">
                <a:latin typeface="+mj-lt"/>
              </a:rPr>
              <a:t>,</a:t>
            </a:r>
            <a:r>
              <a:rPr lang="ja-JP" altLang="en-US" sz="900" dirty="0">
                <a:latin typeface="+mj-lt"/>
              </a:rPr>
              <a:t> </a:t>
            </a:r>
            <a:r>
              <a:rPr lang="en-US" altLang="ja-JP" sz="900" dirty="0" err="1">
                <a:latin typeface="+mj-lt"/>
              </a:rPr>
              <a:t>4CH</a:t>
            </a:r>
            <a:r>
              <a:rPr lang="en-US" altLang="ja-JP" sz="900" dirty="0">
                <a:latin typeface="+mj-lt"/>
              </a:rPr>
              <a:t>,</a:t>
            </a:r>
            <a:r>
              <a:rPr lang="ja-JP" altLang="en-US" sz="900" dirty="0">
                <a:latin typeface="+mj-lt"/>
              </a:rPr>
              <a:t> </a:t>
            </a:r>
            <a:r>
              <a:rPr lang="en-US" altLang="ja-JP" sz="900" dirty="0" err="1">
                <a:latin typeface="+mj-lt"/>
              </a:rPr>
              <a:t>8CH</a:t>
            </a:r>
            <a:endParaRPr lang="en-US" altLang="ja-JP" sz="900" dirty="0">
              <a:latin typeface="+mj-lt"/>
            </a:endParaRPr>
          </a:p>
          <a:p>
            <a:pPr algn="ctr"/>
            <a:r>
              <a:rPr kumimoji="1" lang="en-US" altLang="ja-JP" sz="900" dirty="0" err="1">
                <a:latin typeface="+mj-lt"/>
              </a:rPr>
              <a:t>USRP</a:t>
            </a:r>
            <a:r>
              <a:rPr kumimoji="1" lang="en-US" altLang="ja-JP" sz="900" dirty="0">
                <a:latin typeface="+mj-lt"/>
              </a:rPr>
              <a:t> (</a:t>
            </a:r>
            <a:r>
              <a:rPr kumimoji="1" lang="en-US" altLang="ja-JP" sz="900" dirty="0" err="1">
                <a:latin typeface="+mj-lt"/>
              </a:rPr>
              <a:t>uhd</a:t>
            </a:r>
            <a:r>
              <a:rPr kumimoji="1" lang="en-US" altLang="ja-JP" sz="900" dirty="0">
                <a:latin typeface="+mj-lt"/>
              </a:rPr>
              <a:t>): </a:t>
            </a:r>
            <a:r>
              <a:rPr kumimoji="1" lang="en-US" altLang="ja-JP" sz="900" dirty="0" err="1">
                <a:latin typeface="+mj-lt"/>
              </a:rPr>
              <a:t>USRP</a:t>
            </a:r>
            <a:r>
              <a:rPr kumimoji="1" lang="en-US" altLang="ja-JP" sz="900" dirty="0">
                <a:latin typeface="+mj-lt"/>
              </a:rPr>
              <a:t> via Soapy </a:t>
            </a:r>
            <a:r>
              <a:rPr kumimoji="1" lang="en-US" altLang="ja-JP" sz="900" dirty="0" err="1">
                <a:latin typeface="+mj-lt"/>
              </a:rPr>
              <a:t>SDR</a:t>
            </a:r>
            <a:endParaRPr kumimoji="1" lang="en-US" altLang="ja-JP" sz="900" dirty="0">
              <a:latin typeface="+mj-lt"/>
            </a:endParaRPr>
          </a:p>
          <a:p>
            <a:pPr algn="ctr"/>
            <a:r>
              <a:rPr lang="en-US" altLang="ja-JP" sz="900" dirty="0" err="1">
                <a:latin typeface="+mj-lt"/>
              </a:rPr>
              <a:t>LimeSDR</a:t>
            </a:r>
            <a:r>
              <a:rPr lang="en-US" altLang="ja-JP" sz="900" dirty="0">
                <a:latin typeface="+mj-lt"/>
              </a:rPr>
              <a:t> (lime): </a:t>
            </a:r>
            <a:r>
              <a:rPr lang="en-US" altLang="ja-JP" sz="900" dirty="0" err="1">
                <a:latin typeface="+mj-lt"/>
              </a:rPr>
              <a:t>LimeSDR</a:t>
            </a:r>
            <a:r>
              <a:rPr lang="en-US" altLang="ja-JP" sz="900" dirty="0">
                <a:latin typeface="+mj-lt"/>
              </a:rPr>
              <a:t> via Soapy</a:t>
            </a:r>
          </a:p>
          <a:p>
            <a:pPr algn="ctr"/>
            <a:r>
              <a:rPr lang="en-US" altLang="ja-JP" sz="900" dirty="0" err="1">
                <a:latin typeface="+mj-lt"/>
              </a:rPr>
              <a:t>LimeSDR</a:t>
            </a:r>
            <a:r>
              <a:rPr lang="en-US" altLang="ja-JP" sz="900" dirty="0">
                <a:latin typeface="+mj-lt"/>
              </a:rPr>
              <a:t> (</a:t>
            </a:r>
            <a:r>
              <a:rPr lang="en-US" altLang="ja-JP" sz="900" dirty="0" err="1">
                <a:latin typeface="+mj-lt"/>
              </a:rPr>
              <a:t>limesuiteng</a:t>
            </a:r>
            <a:r>
              <a:rPr lang="en-US" altLang="ja-JP" sz="900" dirty="0">
                <a:latin typeface="+mj-lt"/>
              </a:rPr>
              <a:t>): </a:t>
            </a:r>
            <a:r>
              <a:rPr lang="en-US" altLang="ja-JP" sz="900" dirty="0" err="1">
                <a:latin typeface="+mj-lt"/>
              </a:rPr>
              <a:t>LimeSDR</a:t>
            </a:r>
            <a:r>
              <a:rPr lang="en-US" altLang="ja-JP" sz="900" dirty="0">
                <a:latin typeface="+mj-lt"/>
              </a:rPr>
              <a:t> via newer driver with Soapy</a:t>
            </a:r>
          </a:p>
          <a:p>
            <a:pPr algn="ctr"/>
            <a:r>
              <a:rPr lang="en-US" altLang="ja-JP" sz="900" dirty="0" err="1">
                <a:latin typeface="+mj-lt"/>
              </a:rPr>
              <a:t>BladeRF</a:t>
            </a:r>
            <a:r>
              <a:rPr lang="en-US" altLang="ja-JP" sz="900" dirty="0">
                <a:latin typeface="+mj-lt"/>
              </a:rPr>
              <a:t> (</a:t>
            </a:r>
            <a:r>
              <a:rPr lang="en-US" altLang="ja-JP" sz="900" dirty="0" err="1">
                <a:latin typeface="+mj-lt"/>
              </a:rPr>
              <a:t>bladrf</a:t>
            </a:r>
            <a:r>
              <a:rPr lang="en-US" altLang="ja-JP" sz="900" dirty="0">
                <a:latin typeface="+mj-lt"/>
              </a:rPr>
              <a:t>): </a:t>
            </a:r>
            <a:r>
              <a:rPr lang="en-US" altLang="ja-JP" sz="900" dirty="0" err="1">
                <a:latin typeface="+mj-lt"/>
              </a:rPr>
              <a:t>bladeRF</a:t>
            </a:r>
            <a:r>
              <a:rPr lang="en-US" altLang="ja-JP" sz="900" dirty="0">
                <a:latin typeface="+mj-lt"/>
              </a:rPr>
              <a:t> via Soapy</a:t>
            </a:r>
          </a:p>
          <a:p>
            <a:pPr algn="ctr"/>
            <a:r>
              <a:rPr lang="en-US" altLang="ja-JP" sz="900" dirty="0">
                <a:latin typeface="+mj-lt"/>
              </a:rPr>
              <a:t>RTL-</a:t>
            </a:r>
            <a:r>
              <a:rPr lang="en-US" altLang="ja-JP" sz="900" dirty="0" err="1">
                <a:latin typeface="+mj-lt"/>
              </a:rPr>
              <a:t>SDR</a:t>
            </a:r>
            <a:r>
              <a:rPr lang="en-US" altLang="ja-JP" sz="900" dirty="0">
                <a:latin typeface="+mj-lt"/>
              </a:rPr>
              <a:t> (</a:t>
            </a:r>
            <a:r>
              <a:rPr lang="en-US" altLang="ja-JP" sz="900" dirty="0" err="1">
                <a:latin typeface="+mj-lt"/>
              </a:rPr>
              <a:t>rtlsdr</a:t>
            </a:r>
            <a:r>
              <a:rPr lang="en-US" altLang="ja-JP" sz="900" dirty="0">
                <a:latin typeface="+mj-lt"/>
              </a:rPr>
              <a:t>): RTL-</a:t>
            </a:r>
            <a:r>
              <a:rPr lang="en-US" altLang="ja-JP" sz="900" dirty="0" err="1">
                <a:latin typeface="+mj-lt"/>
              </a:rPr>
              <a:t>SDR</a:t>
            </a:r>
            <a:r>
              <a:rPr lang="en-US" altLang="ja-JP" sz="900" dirty="0">
                <a:latin typeface="+mj-lt"/>
              </a:rPr>
              <a:t> via Soapy</a:t>
            </a:r>
          </a:p>
          <a:p>
            <a:pPr algn="ctr"/>
            <a:r>
              <a:rPr lang="en-US" altLang="ja-JP" sz="900" dirty="0">
                <a:latin typeface="+mj-lt"/>
              </a:rPr>
              <a:t>Plute-</a:t>
            </a:r>
            <a:r>
              <a:rPr lang="en-US" altLang="ja-JP" sz="900" dirty="0" err="1">
                <a:latin typeface="+mj-lt"/>
              </a:rPr>
              <a:t>SDR</a:t>
            </a:r>
            <a:r>
              <a:rPr lang="en-US" altLang="ja-JP" sz="900" dirty="0">
                <a:latin typeface="+mj-lt"/>
              </a:rPr>
              <a:t> (</a:t>
            </a:r>
            <a:r>
              <a:rPr lang="en-US" altLang="ja-JP" sz="900" dirty="0" err="1">
                <a:latin typeface="+mj-lt"/>
              </a:rPr>
              <a:t>plutosdr</a:t>
            </a:r>
            <a:r>
              <a:rPr lang="en-US" altLang="ja-JP" sz="900" dirty="0">
                <a:latin typeface="+mj-lt"/>
              </a:rPr>
              <a:t>): </a:t>
            </a:r>
            <a:r>
              <a:rPr lang="en-US" altLang="ja-JP" sz="900" dirty="0" err="1">
                <a:latin typeface="+mj-lt"/>
              </a:rPr>
              <a:t>PlutoSDR</a:t>
            </a:r>
            <a:r>
              <a:rPr lang="en-US" altLang="ja-JP" sz="900" dirty="0">
                <a:latin typeface="+mj-lt"/>
              </a:rPr>
              <a:t> via Soapy</a:t>
            </a:r>
          </a:p>
          <a:p>
            <a:pPr algn="ctr"/>
            <a:r>
              <a:rPr lang="en-US" altLang="ja-JP" sz="900" dirty="0" err="1">
                <a:latin typeface="+mj-lt"/>
              </a:rPr>
              <a:t>Airspy</a:t>
            </a:r>
            <a:r>
              <a:rPr lang="en-US" altLang="ja-JP" sz="900" dirty="0">
                <a:latin typeface="+mj-lt"/>
              </a:rPr>
              <a:t> (</a:t>
            </a:r>
            <a:r>
              <a:rPr lang="en-US" altLang="ja-JP" sz="900" dirty="0" err="1">
                <a:latin typeface="+mj-lt"/>
              </a:rPr>
              <a:t>airspy</a:t>
            </a:r>
            <a:r>
              <a:rPr lang="en-US" altLang="ja-JP" sz="900" dirty="0">
                <a:latin typeface="+mj-lt"/>
              </a:rPr>
              <a:t>): </a:t>
            </a:r>
            <a:r>
              <a:rPr lang="en-US" altLang="ja-JP" sz="900" dirty="0" err="1">
                <a:latin typeface="+mj-lt"/>
              </a:rPr>
              <a:t>Airspy</a:t>
            </a:r>
            <a:r>
              <a:rPr lang="en-US" altLang="ja-JP" sz="900" dirty="0">
                <a:latin typeface="+mj-lt"/>
              </a:rPr>
              <a:t> via Soapy</a:t>
            </a:r>
          </a:p>
        </p:txBody>
      </p:sp>
      <p:sp>
        <p:nvSpPr>
          <p:cNvPr id="13" name="正方形/長方形 12">
            <a:extLst>
              <a:ext uri="{FF2B5EF4-FFF2-40B4-BE49-F238E27FC236}">
                <a16:creationId xmlns:a16="http://schemas.microsoft.com/office/drawing/2014/main" id="{3EA6D024-A098-23DE-4A81-D85DD040EE4A}"/>
              </a:ext>
            </a:extLst>
          </p:cNvPr>
          <p:cNvSpPr/>
          <p:nvPr/>
        </p:nvSpPr>
        <p:spPr>
          <a:xfrm>
            <a:off x="4880623" y="2443932"/>
            <a:ext cx="837423"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 name="直線コネクタ 13">
            <a:extLst>
              <a:ext uri="{FF2B5EF4-FFF2-40B4-BE49-F238E27FC236}">
                <a16:creationId xmlns:a16="http://schemas.microsoft.com/office/drawing/2014/main" id="{1B3DC0CB-8A06-26EA-E406-3215F7A2DBED}"/>
              </a:ext>
            </a:extLst>
          </p:cNvPr>
          <p:cNvCxnSpPr>
            <a:cxnSpLocks/>
            <a:stCxn id="13" idx="0"/>
            <a:endCxn id="11" idx="1"/>
          </p:cNvCxnSpPr>
          <p:nvPr/>
        </p:nvCxnSpPr>
        <p:spPr>
          <a:xfrm flipV="1">
            <a:off x="5299335" y="1685788"/>
            <a:ext cx="547402" cy="758144"/>
          </a:xfrm>
          <a:prstGeom prst="line">
            <a:avLst/>
          </a:prstGeom>
        </p:spPr>
        <p:style>
          <a:lnRef idx="1">
            <a:schemeClr val="accent1"/>
          </a:lnRef>
          <a:fillRef idx="0">
            <a:schemeClr val="accent1"/>
          </a:fillRef>
          <a:effectRef idx="0">
            <a:schemeClr val="accent1"/>
          </a:effectRef>
          <a:fontRef idx="minor">
            <a:schemeClr val="tx1"/>
          </a:fontRef>
        </p:style>
      </p:cxnSp>
      <p:sp>
        <p:nvSpPr>
          <p:cNvPr id="19" name="正方形/長方形 18">
            <a:extLst>
              <a:ext uri="{FF2B5EF4-FFF2-40B4-BE49-F238E27FC236}">
                <a16:creationId xmlns:a16="http://schemas.microsoft.com/office/drawing/2014/main" id="{A880D866-83BF-FD64-F4FD-5AB0BBE3C543}"/>
              </a:ext>
            </a:extLst>
          </p:cNvPr>
          <p:cNvSpPr/>
          <p:nvPr/>
        </p:nvSpPr>
        <p:spPr>
          <a:xfrm>
            <a:off x="4880623" y="2585232"/>
            <a:ext cx="837423"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58061819-4147-2AAD-E68A-1A16A41288C3}"/>
              </a:ext>
            </a:extLst>
          </p:cNvPr>
          <p:cNvSpPr txBox="1"/>
          <p:nvPr/>
        </p:nvSpPr>
        <p:spPr>
          <a:xfrm>
            <a:off x="6300192" y="2484567"/>
            <a:ext cx="1476164" cy="738664"/>
          </a:xfrm>
          <a:prstGeom prst="rect">
            <a:avLst/>
          </a:prstGeom>
          <a:noFill/>
        </p:spPr>
        <p:txBody>
          <a:bodyPr wrap="square" lIns="0" tIns="0" rIns="0" bIns="0" rtlCol="0">
            <a:spAutoFit/>
          </a:bodyPr>
          <a:lstStyle/>
          <a:p>
            <a:pPr algn="ctr"/>
            <a:r>
              <a:rPr kumimoji="1" lang="en-US" altLang="ja-JP" sz="1200" dirty="0">
                <a:latin typeface="+mj-lt"/>
              </a:rPr>
              <a:t>USB</a:t>
            </a:r>
            <a:r>
              <a:rPr kumimoji="1" lang="ja-JP" altLang="en-US" sz="1200" dirty="0">
                <a:latin typeface="+mj-lt"/>
              </a:rPr>
              <a:t> </a:t>
            </a:r>
            <a:r>
              <a:rPr kumimoji="1" lang="en-US" altLang="ja-JP" sz="1200" dirty="0">
                <a:latin typeface="+mj-lt"/>
              </a:rPr>
              <a:t>Bus/Port:</a:t>
            </a:r>
          </a:p>
          <a:p>
            <a:pPr algn="ctr"/>
            <a:r>
              <a:rPr kumimoji="1" lang="en-US" altLang="ja-JP" sz="900" dirty="0">
                <a:latin typeface="+mj-lt"/>
              </a:rPr>
              <a:t>To</a:t>
            </a:r>
            <a:r>
              <a:rPr kumimoji="1" lang="ja-JP" altLang="en-US" sz="900" dirty="0">
                <a:latin typeface="+mj-lt"/>
              </a:rPr>
              <a:t> </a:t>
            </a:r>
            <a:r>
              <a:rPr kumimoji="1" lang="en-US" altLang="ja-JP" sz="900" dirty="0">
                <a:latin typeface="+mj-lt"/>
              </a:rPr>
              <a:t>select</a:t>
            </a:r>
            <a:r>
              <a:rPr kumimoji="1" lang="ja-JP" altLang="en-US" sz="900" dirty="0">
                <a:latin typeface="+mj-lt"/>
              </a:rPr>
              <a:t> </a:t>
            </a:r>
            <a:r>
              <a:rPr kumimoji="1" lang="en-US" altLang="ja-JP" sz="900" dirty="0">
                <a:latin typeface="+mj-lt"/>
              </a:rPr>
              <a:t>Pocket </a:t>
            </a:r>
            <a:r>
              <a:rPr kumimoji="1" lang="en-US" altLang="ja-JP" sz="900" dirty="0" err="1">
                <a:latin typeface="+mj-lt"/>
              </a:rPr>
              <a:t>SDR</a:t>
            </a:r>
            <a:r>
              <a:rPr kumimoji="1" lang="en-US" altLang="ja-JP" sz="900" dirty="0">
                <a:latin typeface="+mj-lt"/>
              </a:rPr>
              <a:t> FE</a:t>
            </a:r>
            <a:r>
              <a:rPr kumimoji="1" lang="ja-JP" altLang="en-US" sz="900" dirty="0">
                <a:latin typeface="+mj-lt"/>
              </a:rPr>
              <a:t> </a:t>
            </a:r>
            <a:r>
              <a:rPr kumimoji="1" lang="en-US" altLang="ja-JP" sz="900" dirty="0">
                <a:latin typeface="+mj-lt"/>
              </a:rPr>
              <a:t>in</a:t>
            </a:r>
            <a:r>
              <a:rPr kumimoji="1" lang="ja-JP" altLang="en-US" sz="900" dirty="0">
                <a:latin typeface="+mj-lt"/>
              </a:rPr>
              <a:t> </a:t>
            </a:r>
            <a:r>
              <a:rPr kumimoji="1" lang="en-US" altLang="ja-JP" sz="900" dirty="0">
                <a:latin typeface="+mj-lt"/>
              </a:rPr>
              <a:t>case</a:t>
            </a:r>
            <a:r>
              <a:rPr kumimoji="1" lang="ja-JP" altLang="en-US" sz="900" dirty="0">
                <a:latin typeface="+mj-lt"/>
              </a:rPr>
              <a:t> </a:t>
            </a:r>
            <a:r>
              <a:rPr kumimoji="1" lang="en-US" altLang="ja-JP" sz="900" dirty="0">
                <a:latin typeface="+mj-lt"/>
              </a:rPr>
              <a:t>of</a:t>
            </a:r>
            <a:r>
              <a:rPr kumimoji="1" lang="ja-JP" altLang="en-US" sz="900" dirty="0">
                <a:latin typeface="+mj-lt"/>
              </a:rPr>
              <a:t> </a:t>
            </a:r>
            <a:r>
              <a:rPr kumimoji="1" lang="en-US" altLang="ja-JP" sz="900" dirty="0">
                <a:latin typeface="+mj-lt"/>
              </a:rPr>
              <a:t>multiple</a:t>
            </a:r>
            <a:r>
              <a:rPr kumimoji="1" lang="ja-JP" altLang="en-US" sz="900" dirty="0">
                <a:latin typeface="+mj-lt"/>
              </a:rPr>
              <a:t> </a:t>
            </a:r>
            <a:r>
              <a:rPr kumimoji="1" lang="en-US" altLang="ja-JP" sz="900" dirty="0">
                <a:latin typeface="+mj-lt"/>
              </a:rPr>
              <a:t>devices</a:t>
            </a:r>
            <a:r>
              <a:rPr kumimoji="1" lang="ja-JP" altLang="en-US" sz="900" dirty="0">
                <a:latin typeface="+mj-lt"/>
              </a:rPr>
              <a:t> </a:t>
            </a:r>
            <a:r>
              <a:rPr kumimoji="1" lang="en-US" altLang="ja-JP" sz="900" dirty="0">
                <a:latin typeface="+mj-lt"/>
              </a:rPr>
              <a:t>connected.</a:t>
            </a:r>
          </a:p>
          <a:p>
            <a:pPr algn="ctr"/>
            <a:r>
              <a:rPr lang="en-US" altLang="ja-JP" sz="900" dirty="0">
                <a:latin typeface="+mj-lt"/>
              </a:rPr>
              <a:t>If</a:t>
            </a:r>
            <a:r>
              <a:rPr lang="ja-JP" altLang="en-US" sz="900" dirty="0">
                <a:latin typeface="+mj-lt"/>
              </a:rPr>
              <a:t> </a:t>
            </a:r>
            <a:r>
              <a:rPr lang="en-US" altLang="ja-JP" sz="900" dirty="0">
                <a:latin typeface="+mj-lt"/>
              </a:rPr>
              <a:t>blank,</a:t>
            </a:r>
            <a:r>
              <a:rPr lang="ja-JP" altLang="en-US" sz="900" dirty="0">
                <a:latin typeface="+mj-lt"/>
              </a:rPr>
              <a:t> </a:t>
            </a:r>
            <a:r>
              <a:rPr lang="en-US" altLang="ja-JP" sz="900" dirty="0">
                <a:latin typeface="+mj-lt"/>
              </a:rPr>
              <a:t>the</a:t>
            </a:r>
            <a:r>
              <a:rPr lang="ja-JP" altLang="en-US" sz="900" dirty="0">
                <a:latin typeface="+mj-lt"/>
              </a:rPr>
              <a:t> </a:t>
            </a:r>
            <a:r>
              <a:rPr lang="en-US" altLang="ja-JP" sz="900" dirty="0">
                <a:latin typeface="+mj-lt"/>
              </a:rPr>
              <a:t>device</a:t>
            </a:r>
            <a:r>
              <a:rPr lang="ja-JP" altLang="en-US" sz="900" dirty="0">
                <a:latin typeface="+mj-lt"/>
              </a:rPr>
              <a:t> </a:t>
            </a:r>
            <a:r>
              <a:rPr lang="en-US" altLang="ja-JP" sz="900" dirty="0">
                <a:latin typeface="+mj-lt"/>
              </a:rPr>
              <a:t>is</a:t>
            </a:r>
            <a:r>
              <a:rPr lang="ja-JP" altLang="en-US" sz="900" dirty="0">
                <a:latin typeface="+mj-lt"/>
              </a:rPr>
              <a:t> </a:t>
            </a:r>
            <a:r>
              <a:rPr lang="en-US" altLang="ja-JP" sz="900" dirty="0">
                <a:latin typeface="+mj-lt"/>
              </a:rPr>
              <a:t>automatically</a:t>
            </a:r>
            <a:r>
              <a:rPr lang="ja-JP" altLang="en-US" sz="900" dirty="0">
                <a:latin typeface="+mj-lt"/>
              </a:rPr>
              <a:t> </a:t>
            </a:r>
            <a:r>
              <a:rPr lang="en-US" altLang="ja-JP" sz="900" dirty="0">
                <a:latin typeface="+mj-lt"/>
              </a:rPr>
              <a:t>selected.</a:t>
            </a:r>
            <a:endParaRPr kumimoji="1" lang="en-US" altLang="ja-JP" sz="900" dirty="0">
              <a:latin typeface="+mj-lt"/>
            </a:endParaRPr>
          </a:p>
        </p:txBody>
      </p:sp>
      <p:cxnSp>
        <p:nvCxnSpPr>
          <p:cNvPr id="22" name="直線コネクタ 21">
            <a:extLst>
              <a:ext uri="{FF2B5EF4-FFF2-40B4-BE49-F238E27FC236}">
                <a16:creationId xmlns:a16="http://schemas.microsoft.com/office/drawing/2014/main" id="{4CE5843B-38E2-C850-3572-A91B6E584847}"/>
              </a:ext>
            </a:extLst>
          </p:cNvPr>
          <p:cNvCxnSpPr>
            <a:cxnSpLocks/>
            <a:stCxn id="19" idx="3"/>
            <a:endCxn id="21" idx="1"/>
          </p:cNvCxnSpPr>
          <p:nvPr/>
        </p:nvCxnSpPr>
        <p:spPr>
          <a:xfrm>
            <a:off x="5718046" y="2657240"/>
            <a:ext cx="582146" cy="196659"/>
          </a:xfrm>
          <a:prstGeom prst="line">
            <a:avLst/>
          </a:prstGeom>
        </p:spPr>
        <p:style>
          <a:lnRef idx="1">
            <a:schemeClr val="accent1"/>
          </a:lnRef>
          <a:fillRef idx="0">
            <a:schemeClr val="accent1"/>
          </a:fillRef>
          <a:effectRef idx="0">
            <a:schemeClr val="accent1"/>
          </a:effectRef>
          <a:fontRef idx="minor">
            <a:schemeClr val="tx1"/>
          </a:fontRef>
        </p:style>
      </p:cxnSp>
      <p:sp>
        <p:nvSpPr>
          <p:cNvPr id="26" name="正方形/長方形 25">
            <a:extLst>
              <a:ext uri="{FF2B5EF4-FFF2-40B4-BE49-F238E27FC236}">
                <a16:creationId xmlns:a16="http://schemas.microsoft.com/office/drawing/2014/main" id="{9404C75C-19B0-81D9-CD87-4933E626610B}"/>
              </a:ext>
            </a:extLst>
          </p:cNvPr>
          <p:cNvSpPr/>
          <p:nvPr/>
        </p:nvSpPr>
        <p:spPr>
          <a:xfrm>
            <a:off x="3419872" y="2716276"/>
            <a:ext cx="2304255" cy="24467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0B4450C6-C45D-823F-B545-1D5DE842E68E}"/>
              </a:ext>
            </a:extLst>
          </p:cNvPr>
          <p:cNvSpPr txBox="1"/>
          <p:nvPr/>
        </p:nvSpPr>
        <p:spPr>
          <a:xfrm>
            <a:off x="1187625" y="2346067"/>
            <a:ext cx="1764196" cy="1154162"/>
          </a:xfrm>
          <a:prstGeom prst="rect">
            <a:avLst/>
          </a:prstGeom>
          <a:noFill/>
        </p:spPr>
        <p:txBody>
          <a:bodyPr wrap="square" lIns="0" tIns="0" rIns="0" bIns="0" rtlCol="0">
            <a:spAutoFit/>
          </a:bodyPr>
          <a:lstStyle/>
          <a:p>
            <a:pPr algn="ctr"/>
            <a:r>
              <a:rPr kumimoji="1" lang="en-US" altLang="ja-JP" sz="1200" dirty="0">
                <a:latin typeface="+mj-lt"/>
              </a:rPr>
              <a:t>Device</a:t>
            </a:r>
            <a:r>
              <a:rPr kumimoji="1" lang="ja-JP" altLang="en-US" sz="1200" dirty="0">
                <a:latin typeface="+mj-lt"/>
              </a:rPr>
              <a:t> </a:t>
            </a:r>
            <a:r>
              <a:rPr kumimoji="1" lang="en-US" altLang="ja-JP" sz="1200" dirty="0">
                <a:latin typeface="+mj-lt"/>
              </a:rPr>
              <a:t>Configuration</a:t>
            </a:r>
            <a:r>
              <a:rPr kumimoji="1" lang="ja-JP" altLang="en-US" sz="1200" dirty="0">
                <a:latin typeface="+mj-lt"/>
              </a:rPr>
              <a:t> </a:t>
            </a:r>
            <a:r>
              <a:rPr kumimoji="1" lang="en-US" altLang="ja-JP" sz="1200" dirty="0">
                <a:latin typeface="+mj-lt"/>
              </a:rPr>
              <a:t>File:</a:t>
            </a:r>
          </a:p>
          <a:p>
            <a:pPr algn="ctr"/>
            <a:r>
              <a:rPr kumimoji="1" lang="en-US" altLang="ja-JP" sz="900" dirty="0">
                <a:latin typeface="+mj-lt"/>
              </a:rPr>
              <a:t>RF</a:t>
            </a:r>
            <a:r>
              <a:rPr kumimoji="1" lang="ja-JP" altLang="en-US" sz="900" dirty="0">
                <a:latin typeface="+mj-lt"/>
              </a:rPr>
              <a:t> </a:t>
            </a:r>
            <a:r>
              <a:rPr lang="en-US" altLang="ja-JP" sz="900" dirty="0">
                <a:latin typeface="+mj-lt"/>
              </a:rPr>
              <a:t>Frontend</a:t>
            </a:r>
            <a:r>
              <a:rPr lang="ja-JP" altLang="en-US" sz="900" dirty="0">
                <a:latin typeface="+mj-lt"/>
              </a:rPr>
              <a:t> </a:t>
            </a:r>
            <a:r>
              <a:rPr lang="en-US" altLang="ja-JP" sz="900" dirty="0">
                <a:latin typeface="+mj-lt"/>
              </a:rPr>
              <a:t>configuration</a:t>
            </a:r>
            <a:r>
              <a:rPr lang="ja-JP" altLang="en-US" sz="900" dirty="0">
                <a:latin typeface="+mj-lt"/>
              </a:rPr>
              <a:t> </a:t>
            </a:r>
            <a:r>
              <a:rPr lang="en-US" altLang="ja-JP" sz="900" dirty="0">
                <a:latin typeface="+mj-lt"/>
              </a:rPr>
              <a:t>settings for Pocket </a:t>
            </a:r>
            <a:r>
              <a:rPr lang="en-US" altLang="ja-JP" sz="900" dirty="0" err="1">
                <a:latin typeface="+mj-lt"/>
              </a:rPr>
              <a:t>SDR</a:t>
            </a:r>
            <a:r>
              <a:rPr lang="en-US" altLang="ja-JP" sz="900" dirty="0">
                <a:latin typeface="+mj-lt"/>
              </a:rPr>
              <a:t> FE (</a:t>
            </a:r>
            <a:r>
              <a:rPr lang="en-US" altLang="ja-JP" sz="900" dirty="0" err="1">
                <a:latin typeface="+mj-lt"/>
              </a:rPr>
              <a:t>MAX2771</a:t>
            </a:r>
            <a:r>
              <a:rPr lang="en-US" altLang="ja-JP" sz="900" dirty="0">
                <a:latin typeface="+mj-lt"/>
              </a:rPr>
              <a:t> register) to be loaded at the receiver started. Check Device Configuration File and fill the file path. If unchecked, the current configuration for the device is used. Ignored for other devices.</a:t>
            </a:r>
          </a:p>
        </p:txBody>
      </p:sp>
      <p:cxnSp>
        <p:nvCxnSpPr>
          <p:cNvPr id="29" name="直線コネクタ 28">
            <a:extLst>
              <a:ext uri="{FF2B5EF4-FFF2-40B4-BE49-F238E27FC236}">
                <a16:creationId xmlns:a16="http://schemas.microsoft.com/office/drawing/2014/main" id="{03962207-03AD-72FD-EBF7-6675F0FF589C}"/>
              </a:ext>
            </a:extLst>
          </p:cNvPr>
          <p:cNvCxnSpPr>
            <a:cxnSpLocks/>
            <a:stCxn id="28" idx="3"/>
            <a:endCxn id="26" idx="1"/>
          </p:cNvCxnSpPr>
          <p:nvPr/>
        </p:nvCxnSpPr>
        <p:spPr>
          <a:xfrm flipV="1">
            <a:off x="2951821" y="2838612"/>
            <a:ext cx="468051" cy="84536"/>
          </a:xfrm>
          <a:prstGeom prst="line">
            <a:avLst/>
          </a:prstGeom>
        </p:spPr>
        <p:style>
          <a:lnRef idx="1">
            <a:schemeClr val="accent1"/>
          </a:lnRef>
          <a:fillRef idx="0">
            <a:schemeClr val="accent1"/>
          </a:fillRef>
          <a:effectRef idx="0">
            <a:schemeClr val="accent1"/>
          </a:effectRef>
          <a:fontRef idx="minor">
            <a:schemeClr val="tx1"/>
          </a:fontRef>
        </p:style>
      </p:cxnSp>
      <p:sp>
        <p:nvSpPr>
          <p:cNvPr id="36" name="正方形/長方形 35">
            <a:extLst>
              <a:ext uri="{FF2B5EF4-FFF2-40B4-BE49-F238E27FC236}">
                <a16:creationId xmlns:a16="http://schemas.microsoft.com/office/drawing/2014/main" id="{64869D02-E441-3785-9D04-8E0CBB98FC31}"/>
              </a:ext>
            </a:extLst>
          </p:cNvPr>
          <p:cNvSpPr/>
          <p:nvPr/>
        </p:nvSpPr>
        <p:spPr>
          <a:xfrm>
            <a:off x="3419872" y="3102807"/>
            <a:ext cx="2298174" cy="256203"/>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テキスト ボックス 36">
            <a:extLst>
              <a:ext uri="{FF2B5EF4-FFF2-40B4-BE49-F238E27FC236}">
                <a16:creationId xmlns:a16="http://schemas.microsoft.com/office/drawing/2014/main" id="{2245BC67-6B76-0A2C-5F5C-3296FF371E20}"/>
              </a:ext>
            </a:extLst>
          </p:cNvPr>
          <p:cNvSpPr txBox="1"/>
          <p:nvPr/>
        </p:nvSpPr>
        <p:spPr>
          <a:xfrm>
            <a:off x="1187625" y="3681794"/>
            <a:ext cx="1764196" cy="738664"/>
          </a:xfrm>
          <a:prstGeom prst="rect">
            <a:avLst/>
          </a:prstGeom>
          <a:noFill/>
        </p:spPr>
        <p:txBody>
          <a:bodyPr wrap="square" lIns="0" tIns="0" rIns="0" bIns="0" rtlCol="0">
            <a:spAutoFit/>
          </a:bodyPr>
          <a:lstStyle/>
          <a:p>
            <a:pPr algn="ctr"/>
            <a:r>
              <a:rPr kumimoji="1" lang="en-US" altLang="ja-JP" sz="1200" dirty="0">
                <a:latin typeface="+mj-lt"/>
              </a:rPr>
              <a:t>IF Data File</a:t>
            </a:r>
            <a:r>
              <a:rPr kumimoji="1" lang="en-US" altLang="ja-JP" sz="1200" baseline="30000" dirty="0">
                <a:latin typeface="+mj-lt"/>
              </a:rPr>
              <a:t> *1</a:t>
            </a:r>
            <a:r>
              <a:rPr kumimoji="1" lang="en-US" altLang="ja-JP" sz="1200" dirty="0">
                <a:latin typeface="+mj-lt"/>
              </a:rPr>
              <a:t>:</a:t>
            </a:r>
          </a:p>
          <a:p>
            <a:pPr algn="ctr"/>
            <a:r>
              <a:rPr kumimoji="1" lang="en-US" altLang="ja-JP" sz="900" dirty="0">
                <a:latin typeface="+mj-lt"/>
              </a:rPr>
              <a:t>IF data file path, if </a:t>
            </a:r>
            <a:r>
              <a:rPr kumimoji="1" lang="en-US" altLang="ja-JP" sz="900" dirty="0" err="1">
                <a:latin typeface="+mj-lt"/>
              </a:rPr>
              <a:t>IF</a:t>
            </a:r>
            <a:r>
              <a:rPr kumimoji="1" lang="en-US" altLang="ja-JP" sz="900" dirty="0">
                <a:latin typeface="+mj-lt"/>
              </a:rPr>
              <a:t> Data selected as the input source. The IF data can be captured by </a:t>
            </a:r>
            <a:r>
              <a:rPr kumimoji="1" lang="en-US" altLang="ja-JP" sz="900" dirty="0" err="1">
                <a:latin typeface="+mj-lt"/>
              </a:rPr>
              <a:t>pocket_dump</a:t>
            </a:r>
            <a:r>
              <a:rPr kumimoji="1" lang="en-US" altLang="ja-JP" sz="900" dirty="0">
                <a:latin typeface="+mj-lt"/>
              </a:rPr>
              <a:t> or as IF data log of the receiver with tag files. </a:t>
            </a:r>
          </a:p>
        </p:txBody>
      </p:sp>
      <p:cxnSp>
        <p:nvCxnSpPr>
          <p:cNvPr id="43" name="直線コネクタ 42">
            <a:extLst>
              <a:ext uri="{FF2B5EF4-FFF2-40B4-BE49-F238E27FC236}">
                <a16:creationId xmlns:a16="http://schemas.microsoft.com/office/drawing/2014/main" id="{E7C8E653-AE3B-A91D-037A-5722914C74B0}"/>
              </a:ext>
            </a:extLst>
          </p:cNvPr>
          <p:cNvCxnSpPr>
            <a:cxnSpLocks/>
            <a:stCxn id="37" idx="3"/>
            <a:endCxn id="36" idx="1"/>
          </p:cNvCxnSpPr>
          <p:nvPr/>
        </p:nvCxnSpPr>
        <p:spPr>
          <a:xfrm flipV="1">
            <a:off x="2951821" y="3230909"/>
            <a:ext cx="468051" cy="820217"/>
          </a:xfrm>
          <a:prstGeom prst="line">
            <a:avLst/>
          </a:prstGeom>
        </p:spPr>
        <p:style>
          <a:lnRef idx="1">
            <a:schemeClr val="accent1"/>
          </a:lnRef>
          <a:fillRef idx="0">
            <a:schemeClr val="accent1"/>
          </a:fillRef>
          <a:effectRef idx="0">
            <a:schemeClr val="accent1"/>
          </a:effectRef>
          <a:fontRef idx="minor">
            <a:schemeClr val="tx1"/>
          </a:fontRef>
        </p:style>
      </p:cxnSp>
      <p:sp>
        <p:nvSpPr>
          <p:cNvPr id="46" name="正方形/長方形 45">
            <a:extLst>
              <a:ext uri="{FF2B5EF4-FFF2-40B4-BE49-F238E27FC236}">
                <a16:creationId xmlns:a16="http://schemas.microsoft.com/office/drawing/2014/main" id="{B8EC57C2-83B7-29A6-1B19-8E4C14C5472A}"/>
              </a:ext>
            </a:extLst>
          </p:cNvPr>
          <p:cNvSpPr/>
          <p:nvPr/>
        </p:nvSpPr>
        <p:spPr>
          <a:xfrm>
            <a:off x="3419872" y="3359011"/>
            <a:ext cx="2298174" cy="13998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テキスト ボックス 47">
            <a:extLst>
              <a:ext uri="{FF2B5EF4-FFF2-40B4-BE49-F238E27FC236}">
                <a16:creationId xmlns:a16="http://schemas.microsoft.com/office/drawing/2014/main" id="{AF6A1411-768E-7DFF-9BCC-7A2760F5C389}"/>
              </a:ext>
            </a:extLst>
          </p:cNvPr>
          <p:cNvSpPr txBox="1"/>
          <p:nvPr/>
        </p:nvSpPr>
        <p:spPr>
          <a:xfrm>
            <a:off x="6286249" y="3339447"/>
            <a:ext cx="1476164" cy="461665"/>
          </a:xfrm>
          <a:prstGeom prst="rect">
            <a:avLst/>
          </a:prstGeom>
          <a:noFill/>
        </p:spPr>
        <p:txBody>
          <a:bodyPr wrap="square" lIns="0" tIns="0" rIns="0" bIns="0" rtlCol="0">
            <a:spAutoFit/>
          </a:bodyPr>
          <a:lstStyle/>
          <a:p>
            <a:pPr algn="ctr"/>
            <a:r>
              <a:rPr kumimoji="1" lang="en-US" altLang="ja-JP" sz="1200" dirty="0">
                <a:latin typeface="+mj-lt"/>
              </a:rPr>
              <a:t>Time Offse</a:t>
            </a:r>
            <a:r>
              <a:rPr lang="en-US" altLang="ja-JP" sz="1200" dirty="0">
                <a:latin typeface="+mj-lt"/>
              </a:rPr>
              <a:t>t and Scale</a:t>
            </a:r>
            <a:r>
              <a:rPr kumimoji="1" lang="en-US" altLang="ja-JP" sz="1200" dirty="0">
                <a:latin typeface="+mj-lt"/>
              </a:rPr>
              <a:t>:</a:t>
            </a:r>
          </a:p>
          <a:p>
            <a:pPr algn="ctr"/>
            <a:r>
              <a:rPr lang="en-US" altLang="ja-JP" sz="900" dirty="0">
                <a:latin typeface="+mj-lt"/>
              </a:rPr>
              <a:t>S</a:t>
            </a:r>
            <a:r>
              <a:rPr kumimoji="1" lang="en-US" altLang="ja-JP" sz="900" dirty="0">
                <a:latin typeface="+mj-lt"/>
              </a:rPr>
              <a:t>tart time offset and time scale to playback the IF Data.</a:t>
            </a:r>
          </a:p>
        </p:txBody>
      </p:sp>
      <p:cxnSp>
        <p:nvCxnSpPr>
          <p:cNvPr id="50" name="直線コネクタ 49">
            <a:extLst>
              <a:ext uri="{FF2B5EF4-FFF2-40B4-BE49-F238E27FC236}">
                <a16:creationId xmlns:a16="http://schemas.microsoft.com/office/drawing/2014/main" id="{DDFC0856-4465-D811-E7E9-3E848180B8B8}"/>
              </a:ext>
            </a:extLst>
          </p:cNvPr>
          <p:cNvCxnSpPr>
            <a:cxnSpLocks/>
            <a:stCxn id="46" idx="3"/>
            <a:endCxn id="48" idx="1"/>
          </p:cNvCxnSpPr>
          <p:nvPr/>
        </p:nvCxnSpPr>
        <p:spPr>
          <a:xfrm>
            <a:off x="5718046" y="3429001"/>
            <a:ext cx="568203" cy="141279"/>
          </a:xfrm>
          <a:prstGeom prst="line">
            <a:avLst/>
          </a:prstGeom>
        </p:spPr>
        <p:style>
          <a:lnRef idx="1">
            <a:schemeClr val="accent1"/>
          </a:lnRef>
          <a:fillRef idx="0">
            <a:schemeClr val="accent1"/>
          </a:fillRef>
          <a:effectRef idx="0">
            <a:schemeClr val="accent1"/>
          </a:effectRef>
          <a:fontRef idx="minor">
            <a:schemeClr val="tx1"/>
          </a:fontRef>
        </p:style>
      </p:cxnSp>
      <p:sp>
        <p:nvSpPr>
          <p:cNvPr id="53" name="正方形/長方形 52">
            <a:extLst>
              <a:ext uri="{FF2B5EF4-FFF2-40B4-BE49-F238E27FC236}">
                <a16:creationId xmlns:a16="http://schemas.microsoft.com/office/drawing/2014/main" id="{AD19258E-21AA-335B-F6B4-3ADC6C635131}"/>
              </a:ext>
            </a:extLst>
          </p:cNvPr>
          <p:cNvSpPr/>
          <p:nvPr/>
        </p:nvSpPr>
        <p:spPr>
          <a:xfrm>
            <a:off x="3419872" y="3498288"/>
            <a:ext cx="2298174" cy="92217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テキスト ボックス 53">
            <a:extLst>
              <a:ext uri="{FF2B5EF4-FFF2-40B4-BE49-F238E27FC236}">
                <a16:creationId xmlns:a16="http://schemas.microsoft.com/office/drawing/2014/main" id="{C37E0885-7853-C458-EFCA-5ADB1093BC3D}"/>
              </a:ext>
            </a:extLst>
          </p:cNvPr>
          <p:cNvSpPr txBox="1"/>
          <p:nvPr/>
        </p:nvSpPr>
        <p:spPr>
          <a:xfrm>
            <a:off x="6300192" y="3934112"/>
            <a:ext cx="1476164" cy="1154162"/>
          </a:xfrm>
          <a:prstGeom prst="rect">
            <a:avLst/>
          </a:prstGeom>
          <a:noFill/>
        </p:spPr>
        <p:txBody>
          <a:bodyPr wrap="square" lIns="0" tIns="0" rIns="0" bIns="0" rtlCol="0">
            <a:spAutoFit/>
          </a:bodyPr>
          <a:lstStyle/>
          <a:p>
            <a:pPr algn="ctr"/>
            <a:r>
              <a:rPr kumimoji="1" lang="en-US" altLang="ja-JP" sz="1200" dirty="0">
                <a:latin typeface="+mj-lt"/>
              </a:rPr>
              <a:t>IF Data File Property</a:t>
            </a:r>
            <a:r>
              <a:rPr kumimoji="1" lang="en-US" altLang="ja-JP" sz="1200" baseline="30000" dirty="0">
                <a:latin typeface="+mj-lt"/>
              </a:rPr>
              <a:t> *1</a:t>
            </a:r>
            <a:r>
              <a:rPr kumimoji="1" lang="en-US" altLang="ja-JP" sz="1200" dirty="0">
                <a:latin typeface="+mj-lt"/>
              </a:rPr>
              <a:t>:</a:t>
            </a:r>
          </a:p>
          <a:p>
            <a:pPr algn="ctr"/>
            <a:r>
              <a:rPr lang="en-US" altLang="ja-JP" sz="900" dirty="0">
                <a:latin typeface="+mj-lt"/>
              </a:rPr>
              <a:t>IF Data Format, Sampling Rate, LO frequency, Sampling Type (I or IQ), Number of sample bits for each RF CH. If the tag file exist for the IF data file, these are automatically configured according to the tag file.</a:t>
            </a:r>
          </a:p>
        </p:txBody>
      </p:sp>
      <p:cxnSp>
        <p:nvCxnSpPr>
          <p:cNvPr id="55" name="直線コネクタ 54">
            <a:extLst>
              <a:ext uri="{FF2B5EF4-FFF2-40B4-BE49-F238E27FC236}">
                <a16:creationId xmlns:a16="http://schemas.microsoft.com/office/drawing/2014/main" id="{A51742C5-B45A-DE0F-76B9-0374A25474BA}"/>
              </a:ext>
            </a:extLst>
          </p:cNvPr>
          <p:cNvCxnSpPr>
            <a:cxnSpLocks/>
            <a:endCxn id="54" idx="1"/>
          </p:cNvCxnSpPr>
          <p:nvPr/>
        </p:nvCxnSpPr>
        <p:spPr>
          <a:xfrm>
            <a:off x="5718045" y="3934112"/>
            <a:ext cx="582147" cy="577081"/>
          </a:xfrm>
          <a:prstGeom prst="line">
            <a:avLst/>
          </a:prstGeom>
        </p:spPr>
        <p:style>
          <a:lnRef idx="1">
            <a:schemeClr val="accent1"/>
          </a:lnRef>
          <a:fillRef idx="0">
            <a:schemeClr val="accent1"/>
          </a:fillRef>
          <a:effectRef idx="0">
            <a:schemeClr val="accent1"/>
          </a:effectRef>
          <a:fontRef idx="minor">
            <a:schemeClr val="tx1"/>
          </a:fontRef>
        </p:style>
      </p:cxnSp>
      <p:sp>
        <p:nvSpPr>
          <p:cNvPr id="58" name="テキスト ボックス 57">
            <a:extLst>
              <a:ext uri="{FF2B5EF4-FFF2-40B4-BE49-F238E27FC236}">
                <a16:creationId xmlns:a16="http://schemas.microsoft.com/office/drawing/2014/main" id="{3519EDE5-EBDA-958F-DA97-BB7CFE77BC12}"/>
              </a:ext>
            </a:extLst>
          </p:cNvPr>
          <p:cNvSpPr txBox="1"/>
          <p:nvPr/>
        </p:nvSpPr>
        <p:spPr>
          <a:xfrm>
            <a:off x="2447764" y="5920722"/>
            <a:ext cx="4176464" cy="138499"/>
          </a:xfrm>
          <a:prstGeom prst="rect">
            <a:avLst/>
          </a:prstGeom>
          <a:noFill/>
        </p:spPr>
        <p:txBody>
          <a:bodyPr wrap="square" lIns="0" tIns="0" rIns="0" bIns="0" rtlCol="0">
            <a:spAutoFit/>
          </a:bodyPr>
          <a:lstStyle/>
          <a:p>
            <a:pPr algn="ctr"/>
            <a:r>
              <a:rPr lang="ja-JP" altLang="en-US" sz="900" dirty="0">
                <a:latin typeface="+mj-lt"/>
              </a:rPr>
              <a:t>*</a:t>
            </a:r>
            <a:r>
              <a:rPr lang="en-US" altLang="ja-JP" sz="900" dirty="0">
                <a:latin typeface="+mj-lt"/>
              </a:rPr>
              <a:t>1</a:t>
            </a:r>
            <a:r>
              <a:rPr lang="ja-JP" altLang="en-US" sz="900" dirty="0">
                <a:latin typeface="+mj-lt"/>
              </a:rPr>
              <a:t>   </a:t>
            </a:r>
            <a:r>
              <a:rPr lang="en-US" altLang="ja-JP" sz="900" dirty="0">
                <a:latin typeface="+mj-lt"/>
              </a:rPr>
              <a:t>Refer</a:t>
            </a:r>
            <a:r>
              <a:rPr lang="ja-JP" altLang="en-US" sz="900" dirty="0">
                <a:latin typeface="+mj-lt"/>
              </a:rPr>
              <a:t> </a:t>
            </a:r>
            <a:r>
              <a:rPr lang="en-US" altLang="ja-JP" sz="900" dirty="0">
                <a:latin typeface="+mj-lt"/>
              </a:rPr>
              <a:t>to </a:t>
            </a:r>
            <a:r>
              <a:rPr lang="en-US" altLang="ja-JP" sz="900" dirty="0" err="1">
                <a:latin typeface="+mj-lt"/>
              </a:rPr>
              <a:t>p.15</a:t>
            </a:r>
            <a:r>
              <a:rPr lang="ja-JP" altLang="en-US" sz="900" dirty="0">
                <a:latin typeface="+mj-lt"/>
              </a:rPr>
              <a:t> </a:t>
            </a:r>
            <a:r>
              <a:rPr lang="en-US" altLang="ja-JP" sz="900" dirty="0">
                <a:latin typeface="+mj-lt"/>
              </a:rPr>
              <a:t>for</a:t>
            </a:r>
            <a:r>
              <a:rPr lang="ja-JP" altLang="en-US" sz="900" dirty="0">
                <a:latin typeface="+mj-lt"/>
              </a:rPr>
              <a:t> </a:t>
            </a:r>
            <a:r>
              <a:rPr lang="en-US" altLang="ja-JP" sz="900" dirty="0">
                <a:latin typeface="+mj-lt"/>
              </a:rPr>
              <a:t>the</a:t>
            </a:r>
            <a:r>
              <a:rPr lang="ja-JP" altLang="en-US" sz="900" dirty="0">
                <a:latin typeface="+mj-lt"/>
              </a:rPr>
              <a:t> </a:t>
            </a:r>
            <a:r>
              <a:rPr lang="en-US" altLang="ja-JP" sz="900" dirty="0">
                <a:latin typeface="+mj-lt"/>
              </a:rPr>
              <a:t>IF data file formats</a:t>
            </a:r>
          </a:p>
        </p:txBody>
      </p:sp>
      <p:sp>
        <p:nvSpPr>
          <p:cNvPr id="35" name="正方形/長方形 34">
            <a:extLst>
              <a:ext uri="{FF2B5EF4-FFF2-40B4-BE49-F238E27FC236}">
                <a16:creationId xmlns:a16="http://schemas.microsoft.com/office/drawing/2014/main" id="{098FC656-397D-55E6-B7E1-8A6325B6397B}"/>
              </a:ext>
            </a:extLst>
          </p:cNvPr>
          <p:cNvSpPr/>
          <p:nvPr/>
        </p:nvSpPr>
        <p:spPr>
          <a:xfrm>
            <a:off x="4362450" y="3982935"/>
            <a:ext cx="173546" cy="437524"/>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正方形/長方形 37">
            <a:extLst>
              <a:ext uri="{FF2B5EF4-FFF2-40B4-BE49-F238E27FC236}">
                <a16:creationId xmlns:a16="http://schemas.microsoft.com/office/drawing/2014/main" id="{D45ADB38-0A3E-E966-90E3-AAD0F61441FD}"/>
              </a:ext>
            </a:extLst>
          </p:cNvPr>
          <p:cNvSpPr/>
          <p:nvPr/>
        </p:nvSpPr>
        <p:spPr>
          <a:xfrm>
            <a:off x="5544500" y="3982934"/>
            <a:ext cx="173545" cy="437524"/>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テキスト ボックス 38">
            <a:extLst>
              <a:ext uri="{FF2B5EF4-FFF2-40B4-BE49-F238E27FC236}">
                <a16:creationId xmlns:a16="http://schemas.microsoft.com/office/drawing/2014/main" id="{E3963B50-D7D5-B09C-7A1E-618DCF13272A}"/>
              </a:ext>
            </a:extLst>
          </p:cNvPr>
          <p:cNvSpPr txBox="1"/>
          <p:nvPr/>
        </p:nvSpPr>
        <p:spPr>
          <a:xfrm>
            <a:off x="6264188" y="5337212"/>
            <a:ext cx="1584176" cy="600164"/>
          </a:xfrm>
          <a:prstGeom prst="rect">
            <a:avLst/>
          </a:prstGeom>
          <a:noFill/>
        </p:spPr>
        <p:txBody>
          <a:bodyPr wrap="square" lIns="0" tIns="0" rIns="0" bIns="0" rtlCol="0">
            <a:spAutoFit/>
          </a:bodyPr>
          <a:lstStyle/>
          <a:p>
            <a:pPr algn="ctr"/>
            <a:r>
              <a:rPr lang="en-US" altLang="ja-JP" sz="1200" dirty="0">
                <a:latin typeface="+mj-lt"/>
              </a:rPr>
              <a:t>Input </a:t>
            </a:r>
            <a:r>
              <a:rPr lang="en-US" altLang="ja-JP" sz="1200" dirty="0" err="1">
                <a:latin typeface="+mj-lt"/>
              </a:rPr>
              <a:t>LPF</a:t>
            </a:r>
            <a:r>
              <a:rPr lang="en-US" altLang="ja-JP" sz="1200" dirty="0">
                <a:latin typeface="+mj-lt"/>
              </a:rPr>
              <a:t> Settings:</a:t>
            </a:r>
          </a:p>
          <a:p>
            <a:pPr algn="ctr"/>
            <a:r>
              <a:rPr lang="en-US" altLang="ja-JP" sz="900" dirty="0">
                <a:latin typeface="+mj-lt"/>
              </a:rPr>
              <a:t>Set two-sided bandwidth (MHz) of </a:t>
            </a:r>
            <a:r>
              <a:rPr lang="en-US" altLang="ja-JP" sz="900" dirty="0" err="1">
                <a:latin typeface="+mj-lt"/>
              </a:rPr>
              <a:t>LPF</a:t>
            </a:r>
            <a:r>
              <a:rPr lang="en-US" altLang="ja-JP" sz="900" dirty="0">
                <a:latin typeface="+mj-lt"/>
              </a:rPr>
              <a:t> for each RF CH. 0 indicates disabled.</a:t>
            </a:r>
            <a:endParaRPr lang="en-US" altLang="ja-JP" sz="500" dirty="0">
              <a:latin typeface="+mj-lt"/>
            </a:endParaRPr>
          </a:p>
        </p:txBody>
      </p:sp>
      <p:cxnSp>
        <p:nvCxnSpPr>
          <p:cNvPr id="40" name="直線コネクタ 39">
            <a:extLst>
              <a:ext uri="{FF2B5EF4-FFF2-40B4-BE49-F238E27FC236}">
                <a16:creationId xmlns:a16="http://schemas.microsoft.com/office/drawing/2014/main" id="{09385F1E-682D-9976-1E3C-B93077315975}"/>
              </a:ext>
            </a:extLst>
          </p:cNvPr>
          <p:cNvCxnSpPr>
            <a:cxnSpLocks/>
            <a:stCxn id="39" idx="1"/>
          </p:cNvCxnSpPr>
          <p:nvPr/>
        </p:nvCxnSpPr>
        <p:spPr>
          <a:xfrm flipH="1" flipV="1">
            <a:off x="5718045" y="4200847"/>
            <a:ext cx="546143" cy="1436447"/>
          </a:xfrm>
          <a:prstGeom prst="line">
            <a:avLst/>
          </a:prstGeom>
        </p:spPr>
        <p:style>
          <a:lnRef idx="1">
            <a:schemeClr val="accent1"/>
          </a:lnRef>
          <a:fillRef idx="0">
            <a:schemeClr val="accent1"/>
          </a:fillRef>
          <a:effectRef idx="0">
            <a:schemeClr val="accent1"/>
          </a:effectRef>
          <a:fontRef idx="minor">
            <a:schemeClr val="tx1"/>
          </a:fontRef>
        </p:style>
      </p:cxnSp>
      <p:sp>
        <p:nvSpPr>
          <p:cNvPr id="47" name="正方形/長方形 46">
            <a:extLst>
              <a:ext uri="{FF2B5EF4-FFF2-40B4-BE49-F238E27FC236}">
                <a16:creationId xmlns:a16="http://schemas.microsoft.com/office/drawing/2014/main" id="{E4960B91-BC82-F7CD-F33E-F7E6B8D9B38A}"/>
              </a:ext>
            </a:extLst>
          </p:cNvPr>
          <p:cNvSpPr/>
          <p:nvPr/>
        </p:nvSpPr>
        <p:spPr>
          <a:xfrm>
            <a:off x="3458706" y="3656546"/>
            <a:ext cx="2229418" cy="222367"/>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テキスト ボックス 59">
            <a:extLst>
              <a:ext uri="{FF2B5EF4-FFF2-40B4-BE49-F238E27FC236}">
                <a16:creationId xmlns:a16="http://schemas.microsoft.com/office/drawing/2014/main" id="{23561142-405F-F83C-6202-2B5E294BBBCB}"/>
              </a:ext>
            </a:extLst>
          </p:cNvPr>
          <p:cNvSpPr txBox="1"/>
          <p:nvPr/>
        </p:nvSpPr>
        <p:spPr>
          <a:xfrm>
            <a:off x="1043880" y="4703886"/>
            <a:ext cx="1944216" cy="784830"/>
          </a:xfrm>
          <a:prstGeom prst="rect">
            <a:avLst/>
          </a:prstGeom>
          <a:noFill/>
        </p:spPr>
        <p:txBody>
          <a:bodyPr wrap="square" lIns="0" tIns="0" rIns="0" bIns="0" rtlCol="0">
            <a:spAutoFit/>
          </a:bodyPr>
          <a:lstStyle/>
          <a:p>
            <a:pPr algn="ctr"/>
            <a:r>
              <a:rPr kumimoji="1" lang="en-US" altLang="ja-JP" sz="1200" dirty="0">
                <a:latin typeface="+mj-lt"/>
              </a:rPr>
              <a:t>Sampling Rate and Device Options for Soapy </a:t>
            </a:r>
            <a:r>
              <a:rPr kumimoji="1" lang="en-US" altLang="ja-JP" sz="1200" dirty="0" err="1">
                <a:latin typeface="+mj-lt"/>
              </a:rPr>
              <a:t>SDR</a:t>
            </a:r>
            <a:r>
              <a:rPr kumimoji="1" lang="en-US" altLang="ja-JP" sz="1200" dirty="0">
                <a:latin typeface="+mj-lt"/>
              </a:rPr>
              <a:t> Devices:</a:t>
            </a:r>
            <a:br>
              <a:rPr kumimoji="1" lang="en-US" altLang="ja-JP" sz="1200" dirty="0">
                <a:latin typeface="+mj-lt"/>
              </a:rPr>
            </a:br>
            <a:r>
              <a:rPr kumimoji="1" lang="en-US" altLang="ja-JP" sz="900" dirty="0">
                <a:latin typeface="+mj-lt"/>
              </a:rPr>
              <a:t>-GAIN=gain (LNA gain),</a:t>
            </a:r>
          </a:p>
          <a:p>
            <a:pPr algn="ctr"/>
            <a:r>
              <a:rPr lang="en-US" altLang="ja-JP" sz="900" dirty="0">
                <a:latin typeface="+mj-lt"/>
              </a:rPr>
              <a:t>-BW=</a:t>
            </a:r>
            <a:r>
              <a:rPr lang="en-US" altLang="ja-JP" sz="900" dirty="0" err="1">
                <a:latin typeface="+mj-lt"/>
              </a:rPr>
              <a:t>bw</a:t>
            </a:r>
            <a:r>
              <a:rPr lang="en-US" altLang="ja-JP" sz="900" dirty="0">
                <a:latin typeface="+mj-lt"/>
              </a:rPr>
              <a:t> (Filter Bandwidth),</a:t>
            </a:r>
            <a:endParaRPr kumimoji="1" lang="en-US" altLang="ja-JP" sz="900" dirty="0">
              <a:latin typeface="+mj-lt"/>
            </a:endParaRPr>
          </a:p>
          <a:p>
            <a:pPr algn="ctr"/>
            <a:r>
              <a:rPr lang="en-US" altLang="ja-JP" sz="900" dirty="0">
                <a:latin typeface="+mj-lt"/>
              </a:rPr>
              <a:t>Options are separated by spaces</a:t>
            </a:r>
            <a:r>
              <a:rPr kumimoji="1" lang="en-US" altLang="ja-JP" sz="900" dirty="0">
                <a:latin typeface="+mj-lt"/>
              </a:rPr>
              <a:t>. </a:t>
            </a:r>
          </a:p>
        </p:txBody>
      </p:sp>
      <p:cxnSp>
        <p:nvCxnSpPr>
          <p:cNvPr id="61" name="直線コネクタ 60">
            <a:extLst>
              <a:ext uri="{FF2B5EF4-FFF2-40B4-BE49-F238E27FC236}">
                <a16:creationId xmlns:a16="http://schemas.microsoft.com/office/drawing/2014/main" id="{B265F31F-C466-5921-7BB7-F2F38E7F7D16}"/>
              </a:ext>
            </a:extLst>
          </p:cNvPr>
          <p:cNvCxnSpPr>
            <a:cxnSpLocks/>
            <a:stCxn id="60" idx="3"/>
            <a:endCxn id="47" idx="1"/>
          </p:cNvCxnSpPr>
          <p:nvPr/>
        </p:nvCxnSpPr>
        <p:spPr>
          <a:xfrm flipV="1">
            <a:off x="2988096" y="3767730"/>
            <a:ext cx="470610" cy="132857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83808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B86CB-D213-CA5D-6BDA-B10B916CEBB9}"/>
            </a:ext>
          </a:extLst>
        </p:cNvPr>
        <p:cNvGrpSpPr/>
        <p:nvPr/>
      </p:nvGrpSpPr>
      <p:grpSpPr>
        <a:xfrm>
          <a:off x="0" y="0"/>
          <a:ext cx="0" cy="0"/>
          <a:chOff x="0" y="0"/>
          <a:chExt cx="0" cy="0"/>
        </a:xfrm>
      </p:grpSpPr>
      <p:pic>
        <p:nvPicPr>
          <p:cNvPr id="6" name="図 5">
            <a:extLst>
              <a:ext uri="{FF2B5EF4-FFF2-40B4-BE49-F238E27FC236}">
                <a16:creationId xmlns:a16="http://schemas.microsoft.com/office/drawing/2014/main" id="{CD60C3EC-9F41-8261-8CC6-ABADFE741B25}"/>
              </a:ext>
            </a:extLst>
          </p:cNvPr>
          <p:cNvPicPr>
            <a:picLocks noChangeAspect="1"/>
          </p:cNvPicPr>
          <p:nvPr/>
        </p:nvPicPr>
        <p:blipFill>
          <a:blip r:embed="rId2"/>
          <a:stretch>
            <a:fillRect/>
          </a:stretch>
        </p:blipFill>
        <p:spPr>
          <a:xfrm>
            <a:off x="3086835" y="1940239"/>
            <a:ext cx="2981706" cy="2634996"/>
          </a:xfrm>
          <a:prstGeom prst="rect">
            <a:avLst/>
          </a:prstGeom>
        </p:spPr>
      </p:pic>
      <p:sp>
        <p:nvSpPr>
          <p:cNvPr id="4" name="スライド番号プレースホルダー 3">
            <a:extLst>
              <a:ext uri="{FF2B5EF4-FFF2-40B4-BE49-F238E27FC236}">
                <a16:creationId xmlns:a16="http://schemas.microsoft.com/office/drawing/2014/main" id="{1D63F8C5-9AC4-EBBE-687F-60D236974017}"/>
              </a:ext>
            </a:extLst>
          </p:cNvPr>
          <p:cNvSpPr>
            <a:spLocks noGrp="1"/>
          </p:cNvSpPr>
          <p:nvPr>
            <p:ph type="sldNum" sz="quarter" idx="11"/>
          </p:nvPr>
        </p:nvSpPr>
        <p:spPr/>
        <p:txBody>
          <a:bodyPr/>
          <a:lstStyle/>
          <a:p>
            <a:pPr>
              <a:defRPr/>
            </a:pPr>
            <a:fld id="{76B10B91-6492-4C08-AE87-F344306858DA}" type="slidenum">
              <a:rPr lang="ja-JP" altLang="en-US" smtClean="0"/>
              <a:pPr>
                <a:defRPr/>
              </a:pPr>
              <a:t>11</a:t>
            </a:fld>
            <a:endParaRPr lang="ja-JP" altLang="en-US" dirty="0"/>
          </a:p>
        </p:txBody>
      </p:sp>
      <p:sp>
        <p:nvSpPr>
          <p:cNvPr id="5" name="タイトル 1">
            <a:extLst>
              <a:ext uri="{FF2B5EF4-FFF2-40B4-BE49-F238E27FC236}">
                <a16:creationId xmlns:a16="http://schemas.microsoft.com/office/drawing/2014/main" id="{36935AE5-1E2D-4BF5-FF10-049CB7A846D1}"/>
              </a:ext>
            </a:extLst>
          </p:cNvPr>
          <p:cNvSpPr>
            <a:spLocks noGrp="1"/>
          </p:cNvSpPr>
          <p:nvPr>
            <p:ph type="title"/>
          </p:nvPr>
        </p:nvSpPr>
        <p:spPr>
          <a:xfrm>
            <a:off x="457200" y="512676"/>
            <a:ext cx="8229600" cy="598078"/>
          </a:xfrm>
        </p:spPr>
        <p:txBody>
          <a:bodyPr/>
          <a:lstStyle/>
          <a:p>
            <a:r>
              <a:rPr kumimoji="1" lang="en-US" altLang="ja-JP" sz="2000" dirty="0">
                <a:solidFill>
                  <a:schemeClr val="tx1"/>
                </a:solidFill>
              </a:rPr>
              <a:t>Output</a:t>
            </a:r>
            <a:r>
              <a:rPr kumimoji="1" lang="ja-JP" altLang="en-US" sz="2000" dirty="0">
                <a:solidFill>
                  <a:schemeClr val="tx1"/>
                </a:solidFill>
              </a:rPr>
              <a:t> </a:t>
            </a:r>
            <a:r>
              <a:rPr kumimoji="1" lang="en-US" altLang="ja-JP" sz="2000" dirty="0">
                <a:solidFill>
                  <a:schemeClr val="tx1"/>
                </a:solidFill>
              </a:rPr>
              <a:t>Options</a:t>
            </a:r>
            <a:r>
              <a:rPr kumimoji="1" lang="ja-JP" altLang="en-US" sz="2000" dirty="0">
                <a:solidFill>
                  <a:schemeClr val="tx1"/>
                </a:solidFill>
              </a:rPr>
              <a:t> </a:t>
            </a:r>
            <a:r>
              <a:rPr kumimoji="1" lang="en-US" altLang="ja-JP" sz="2000" dirty="0">
                <a:solidFill>
                  <a:schemeClr val="tx1"/>
                </a:solidFill>
              </a:rPr>
              <a:t>Dialog</a:t>
            </a:r>
            <a:endParaRPr kumimoji="1" lang="ja-JP" altLang="en-US" sz="2000" dirty="0">
              <a:solidFill>
                <a:schemeClr val="tx1"/>
              </a:solidFill>
            </a:endParaRPr>
          </a:p>
        </p:txBody>
      </p:sp>
      <p:sp>
        <p:nvSpPr>
          <p:cNvPr id="2" name="正方形/長方形 1">
            <a:extLst>
              <a:ext uri="{FF2B5EF4-FFF2-40B4-BE49-F238E27FC236}">
                <a16:creationId xmlns:a16="http://schemas.microsoft.com/office/drawing/2014/main" id="{5785CB1A-776B-AF0F-DDD9-4DF7E28B3E84}"/>
              </a:ext>
            </a:extLst>
          </p:cNvPr>
          <p:cNvSpPr/>
          <p:nvPr/>
        </p:nvSpPr>
        <p:spPr>
          <a:xfrm>
            <a:off x="3194846" y="2302080"/>
            <a:ext cx="2745306" cy="94690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ED72BFF3-3F34-A7B6-3F0A-37BC70B968FB}"/>
              </a:ext>
            </a:extLst>
          </p:cNvPr>
          <p:cNvSpPr txBox="1"/>
          <p:nvPr/>
        </p:nvSpPr>
        <p:spPr>
          <a:xfrm>
            <a:off x="791622" y="2367282"/>
            <a:ext cx="2089960" cy="2400657"/>
          </a:xfrm>
          <a:prstGeom prst="rect">
            <a:avLst/>
          </a:prstGeom>
          <a:noFill/>
        </p:spPr>
        <p:txBody>
          <a:bodyPr wrap="square" lIns="0" tIns="0" rIns="0" bIns="0" rtlCol="0">
            <a:spAutoFit/>
          </a:bodyPr>
          <a:lstStyle/>
          <a:p>
            <a:pPr algn="ctr"/>
            <a:r>
              <a:rPr kumimoji="1" lang="en-US" altLang="ja-JP" sz="1200" b="1">
                <a:latin typeface="+mj-lt"/>
              </a:rPr>
              <a:t>NMEA</a:t>
            </a:r>
            <a:r>
              <a:rPr kumimoji="1" lang="en-US" altLang="ja-JP" sz="1200">
                <a:latin typeface="+mj-lt"/>
              </a:rPr>
              <a:t>: PVT Solution</a:t>
            </a:r>
            <a:r>
              <a:rPr lang="en-US" altLang="ja-JP" sz="1200" baseline="30000">
                <a:latin typeface="+mj-lt"/>
              </a:rPr>
              <a:t> *1</a:t>
            </a:r>
            <a:endParaRPr kumimoji="1" lang="en-US" altLang="ja-JP" sz="1200" dirty="0">
              <a:latin typeface="+mj-lt"/>
            </a:endParaRPr>
          </a:p>
          <a:p>
            <a:pPr algn="ctr"/>
            <a:r>
              <a:rPr kumimoji="1" lang="en-US" altLang="ja-JP" sz="900">
                <a:latin typeface="+mj-lt"/>
              </a:rPr>
              <a:t>(NMEA </a:t>
            </a:r>
            <a:r>
              <a:rPr kumimoji="1" lang="en-US" altLang="ja-JP" sz="900" dirty="0">
                <a:latin typeface="+mj-lt"/>
              </a:rPr>
              <a:t>0183 GNRMC, GNGGA, GNGSA, </a:t>
            </a:r>
            <a:r>
              <a:rPr kumimoji="1" lang="en-US" altLang="ja-JP" sz="900" err="1">
                <a:latin typeface="+mj-lt"/>
              </a:rPr>
              <a:t>GxGSV</a:t>
            </a:r>
            <a:r>
              <a:rPr kumimoji="1" lang="en-US" altLang="ja-JP" sz="900">
                <a:latin typeface="+mj-lt"/>
              </a:rPr>
              <a:t>)</a:t>
            </a:r>
          </a:p>
          <a:p>
            <a:pPr algn="ctr"/>
            <a:endParaRPr kumimoji="1" lang="en-US" altLang="ja-JP" sz="900">
              <a:latin typeface="+mj-lt"/>
            </a:endParaRPr>
          </a:p>
          <a:p>
            <a:pPr algn="ctr"/>
            <a:r>
              <a:rPr lang="en-US" altLang="ja-JP" sz="1200" b="1">
                <a:latin typeface="+mj-lt"/>
              </a:rPr>
              <a:t>RTCM3</a:t>
            </a:r>
            <a:r>
              <a:rPr lang="en-US" altLang="ja-JP" sz="1200">
                <a:latin typeface="+mj-lt"/>
              </a:rPr>
              <a:t>: OBS and NAV Data</a:t>
            </a:r>
            <a:r>
              <a:rPr lang="en-US" altLang="ja-JP" sz="1200" baseline="30000">
                <a:latin typeface="+mj-lt"/>
              </a:rPr>
              <a:t> *1 *2</a:t>
            </a:r>
            <a:endParaRPr lang="en-US" altLang="ja-JP" sz="1200">
              <a:latin typeface="+mj-lt"/>
            </a:endParaRPr>
          </a:p>
          <a:p>
            <a:pPr algn="ctr"/>
            <a:r>
              <a:rPr lang="en-US" altLang="ja-JP" sz="900">
                <a:latin typeface="+mj-lt"/>
              </a:rPr>
              <a:t>(RTCM 3.4 MSM: MT1077, 1087, 1097, 1117, 1127, 1137 and 1107, with extension and EPH: MT1019, 1020, 1045, 1046, 1044, 1042 and 1041)</a:t>
            </a:r>
          </a:p>
          <a:p>
            <a:pPr algn="ctr"/>
            <a:endParaRPr lang="en-US" altLang="ja-JP" sz="900" baseline="30000">
              <a:latin typeface="+mj-lt"/>
            </a:endParaRPr>
          </a:p>
          <a:p>
            <a:pPr algn="ctr"/>
            <a:r>
              <a:rPr lang="en-US" altLang="ja-JP" sz="1200" b="1">
                <a:latin typeface="+mj-lt"/>
              </a:rPr>
              <a:t>LOG</a:t>
            </a:r>
            <a:r>
              <a:rPr lang="en-US" altLang="ja-JP" sz="1200">
                <a:latin typeface="+mj-lt"/>
              </a:rPr>
              <a:t>: Receiver Log</a:t>
            </a:r>
            <a:r>
              <a:rPr lang="en-US" altLang="ja-JP" sz="1200" baseline="30000">
                <a:latin typeface="+mj-lt"/>
              </a:rPr>
              <a:t> *1 *3</a:t>
            </a:r>
            <a:r>
              <a:rPr lang="en-US" altLang="ja-JP" sz="1200">
                <a:latin typeface="+mj-lt"/>
              </a:rPr>
              <a:t> </a:t>
            </a:r>
            <a:r>
              <a:rPr lang="en-US" altLang="ja-JP" sz="900">
                <a:latin typeface="+mj-lt"/>
              </a:rPr>
              <a:t>(Receiver Log)</a:t>
            </a:r>
          </a:p>
          <a:p>
            <a:pPr algn="ctr"/>
            <a:endParaRPr lang="en-US" altLang="ja-JP" sz="1200" b="1">
              <a:latin typeface="+mj-lt"/>
            </a:endParaRPr>
          </a:p>
          <a:p>
            <a:pPr algn="ctr"/>
            <a:r>
              <a:rPr lang="en-US" altLang="ja-JP" sz="1200" b="1">
                <a:latin typeface="+mj-lt"/>
              </a:rPr>
              <a:t>IF Data</a:t>
            </a:r>
            <a:r>
              <a:rPr lang="en-US" altLang="ja-JP" sz="1200">
                <a:latin typeface="+mj-lt"/>
              </a:rPr>
              <a:t>: IF Data Log </a:t>
            </a:r>
            <a:r>
              <a:rPr lang="en-US" altLang="ja-JP" sz="900" baseline="30000">
                <a:latin typeface="+mj-lt"/>
              </a:rPr>
              <a:t>*1 *4</a:t>
            </a:r>
            <a:r>
              <a:rPr lang="en-US" altLang="ja-JP" sz="900">
                <a:latin typeface="+mj-lt"/>
              </a:rPr>
              <a:t>,</a:t>
            </a:r>
          </a:p>
          <a:p>
            <a:pPr algn="ctr"/>
            <a:r>
              <a:rPr lang="en-US" altLang="ja-JP" sz="900">
                <a:latin typeface="+mj-lt"/>
              </a:rPr>
              <a:t>(It is only valid for RF Frontend selected as the input source)</a:t>
            </a:r>
          </a:p>
          <a:p>
            <a:pPr algn="ctr"/>
            <a:endParaRPr kumimoji="1" lang="en-US" altLang="ja-JP" sz="900" dirty="0">
              <a:latin typeface="+mj-lt"/>
            </a:endParaRPr>
          </a:p>
        </p:txBody>
      </p:sp>
      <p:sp>
        <p:nvSpPr>
          <p:cNvPr id="35" name="正方形/長方形 34">
            <a:extLst>
              <a:ext uri="{FF2B5EF4-FFF2-40B4-BE49-F238E27FC236}">
                <a16:creationId xmlns:a16="http://schemas.microsoft.com/office/drawing/2014/main" id="{BBB0EF29-A030-92D9-D9E0-628443B599D2}"/>
              </a:ext>
            </a:extLst>
          </p:cNvPr>
          <p:cNvSpPr/>
          <p:nvPr/>
        </p:nvSpPr>
        <p:spPr>
          <a:xfrm>
            <a:off x="3194846" y="3441597"/>
            <a:ext cx="2745306" cy="252028"/>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a:extLst>
              <a:ext uri="{FF2B5EF4-FFF2-40B4-BE49-F238E27FC236}">
                <a16:creationId xmlns:a16="http://schemas.microsoft.com/office/drawing/2014/main" id="{7370A1A4-10CE-4CCF-3E67-55DCB9FC8C77}"/>
              </a:ext>
            </a:extLst>
          </p:cNvPr>
          <p:cNvSpPr txBox="1"/>
          <p:nvPr/>
        </p:nvSpPr>
        <p:spPr>
          <a:xfrm>
            <a:off x="6551056" y="3729669"/>
            <a:ext cx="1224136" cy="369332"/>
          </a:xfrm>
          <a:prstGeom prst="rect">
            <a:avLst/>
          </a:prstGeom>
          <a:noFill/>
        </p:spPr>
        <p:txBody>
          <a:bodyPr wrap="square" lIns="0" tIns="0" rIns="0" bIns="0" rtlCol="0">
            <a:spAutoFit/>
          </a:bodyPr>
          <a:lstStyle/>
          <a:p>
            <a:pPr algn="ctr"/>
            <a:r>
              <a:rPr kumimoji="1" lang="en-US" altLang="ja-JP" sz="1200" dirty="0">
                <a:latin typeface="+mj-lt"/>
              </a:rPr>
              <a:t>Receiver Log Type Selections </a:t>
            </a:r>
            <a:r>
              <a:rPr kumimoji="1" lang="en-US" altLang="ja-JP" sz="900" baseline="30000" dirty="0">
                <a:latin typeface="+mj-lt"/>
              </a:rPr>
              <a:t>*3</a:t>
            </a:r>
          </a:p>
        </p:txBody>
      </p:sp>
      <p:cxnSp>
        <p:nvCxnSpPr>
          <p:cNvPr id="37" name="直線コネクタ 36">
            <a:extLst>
              <a:ext uri="{FF2B5EF4-FFF2-40B4-BE49-F238E27FC236}">
                <a16:creationId xmlns:a16="http://schemas.microsoft.com/office/drawing/2014/main" id="{8B75B6F7-05FB-2F4E-B6C5-9A8AC060B22D}"/>
              </a:ext>
            </a:extLst>
          </p:cNvPr>
          <p:cNvCxnSpPr>
            <a:cxnSpLocks/>
            <a:stCxn id="36" idx="1"/>
            <a:endCxn id="35" idx="3"/>
          </p:cNvCxnSpPr>
          <p:nvPr/>
        </p:nvCxnSpPr>
        <p:spPr>
          <a:xfrm flipH="1" flipV="1">
            <a:off x="5940152" y="3567611"/>
            <a:ext cx="610904" cy="346724"/>
          </a:xfrm>
          <a:prstGeom prst="line">
            <a:avLst/>
          </a:prstGeom>
        </p:spPr>
        <p:style>
          <a:lnRef idx="1">
            <a:schemeClr val="accent1"/>
          </a:lnRef>
          <a:fillRef idx="0">
            <a:schemeClr val="accent1"/>
          </a:fillRef>
          <a:effectRef idx="0">
            <a:schemeClr val="accent1"/>
          </a:effectRef>
          <a:fontRef idx="minor">
            <a:schemeClr val="tx1"/>
          </a:fontRef>
        </p:style>
      </p:cxnSp>
      <p:sp>
        <p:nvSpPr>
          <p:cNvPr id="47" name="テキスト ボックス 46">
            <a:extLst>
              <a:ext uri="{FF2B5EF4-FFF2-40B4-BE49-F238E27FC236}">
                <a16:creationId xmlns:a16="http://schemas.microsoft.com/office/drawing/2014/main" id="{6234823F-F202-C523-9049-4D09659CFDDE}"/>
              </a:ext>
            </a:extLst>
          </p:cNvPr>
          <p:cNvSpPr txBox="1"/>
          <p:nvPr/>
        </p:nvSpPr>
        <p:spPr>
          <a:xfrm>
            <a:off x="2123728" y="4805423"/>
            <a:ext cx="4860540" cy="1800493"/>
          </a:xfrm>
          <a:prstGeom prst="rect">
            <a:avLst/>
          </a:prstGeom>
          <a:noFill/>
        </p:spPr>
        <p:txBody>
          <a:bodyPr wrap="square" lIns="0" tIns="0" rIns="0" bIns="0" rtlCol="0">
            <a:spAutoFit/>
          </a:bodyPr>
          <a:lstStyle/>
          <a:p>
            <a:pPr algn="ctr"/>
            <a:r>
              <a:rPr lang="ja-JP" altLang="en-US" sz="900" dirty="0">
                <a:latin typeface="+mj-lt"/>
              </a:rPr>
              <a:t>*</a:t>
            </a:r>
            <a:r>
              <a:rPr lang="en-US" altLang="ja-JP" sz="900" dirty="0">
                <a:latin typeface="+mj-lt"/>
              </a:rPr>
              <a:t>1</a:t>
            </a:r>
            <a:r>
              <a:rPr lang="ja-JP" altLang="en-US" sz="900" dirty="0">
                <a:latin typeface="+mj-lt"/>
              </a:rPr>
              <a:t>  </a:t>
            </a:r>
            <a:r>
              <a:rPr lang="en-US" altLang="ja-JP" sz="900" dirty="0">
                <a:latin typeface="+mj-lt"/>
              </a:rPr>
              <a:t>The output path should be one of the followings.</a:t>
            </a:r>
          </a:p>
          <a:p>
            <a:pPr algn="ctr"/>
            <a:r>
              <a:rPr lang="en-US" altLang="ja-JP" sz="900" dirty="0">
                <a:latin typeface="+mj-lt"/>
              </a:rPr>
              <a:t>(1) &lt;local path&gt;: A local file path &lt;local path&gt;. It can contain time keywords replaced by the log start  time. Optionally, it can include the file swapping order “::S=&lt;tint&gt;” by the specified interval &lt;tint&gt; (H).</a:t>
            </a:r>
          </a:p>
          <a:p>
            <a:pPr algn="ctr"/>
            <a:r>
              <a:rPr lang="en-US" altLang="ja-JP" sz="900" dirty="0">
                <a:latin typeface="+mj-lt"/>
              </a:rPr>
              <a:t>(2) :&lt;port&gt;: TCP server with the port number &lt;port&gt;. The TCP server waits for and accepts the external TCP connection at the port and output data</a:t>
            </a:r>
          </a:p>
          <a:p>
            <a:pPr algn="ctr"/>
            <a:r>
              <a:rPr lang="en-US" altLang="ja-JP" sz="900" dirty="0">
                <a:latin typeface="+mj-lt"/>
              </a:rPr>
              <a:t>(3) &lt;</a:t>
            </a:r>
            <a:r>
              <a:rPr lang="en-US" altLang="ja-JP" sz="900" dirty="0" err="1">
                <a:latin typeface="+mj-lt"/>
              </a:rPr>
              <a:t>addr</a:t>
            </a:r>
            <a:r>
              <a:rPr lang="en-US" altLang="ja-JP" sz="900" dirty="0">
                <a:latin typeface="+mj-lt"/>
              </a:rPr>
              <a:t>&gt;:&lt;port&gt;: TCP client with the address &lt;</a:t>
            </a:r>
            <a:r>
              <a:rPr lang="en-US" altLang="ja-JP" sz="900" dirty="0" err="1">
                <a:latin typeface="+mj-lt"/>
              </a:rPr>
              <a:t>addr</a:t>
            </a:r>
            <a:r>
              <a:rPr lang="en-US" altLang="ja-JP" sz="900" dirty="0">
                <a:latin typeface="+mj-lt"/>
              </a:rPr>
              <a:t>&gt; and the port number &lt;port&gt;. The TCP client connects the external TCP server and output data</a:t>
            </a:r>
          </a:p>
          <a:p>
            <a:pPr algn="ctr"/>
            <a:r>
              <a:rPr lang="en-US" altLang="ja-JP" sz="900" dirty="0">
                <a:latin typeface="+mj-lt"/>
              </a:rPr>
              <a:t>*2 The output RTCM 3.4 MSM (with extensions) and EPH can be converted to RINEX OBS and NAV by CONVBIN utility included in the Pocket SDR package</a:t>
            </a:r>
          </a:p>
          <a:p>
            <a:pPr algn="ctr"/>
            <a:r>
              <a:rPr lang="en-US" altLang="ja-JP" sz="900" dirty="0">
                <a:latin typeface="+mj-lt"/>
              </a:rPr>
              <a:t>*3 Refer to </a:t>
            </a:r>
            <a:r>
              <a:rPr lang="en-US" altLang="ja-JP" sz="900" dirty="0" err="1">
                <a:latin typeface="+mj-lt"/>
              </a:rPr>
              <a:t>p.16</a:t>
            </a:r>
            <a:r>
              <a:rPr lang="en-US" altLang="ja-JP" sz="900" dirty="0">
                <a:latin typeface="+mj-lt"/>
              </a:rPr>
              <a:t> for the receiver log format. The receiver log can be plotted by the Log Viewer pocket_plot.py in the Pocket SDR package</a:t>
            </a:r>
          </a:p>
          <a:p>
            <a:pPr algn="ctr"/>
            <a:r>
              <a:rPr lang="en-US" altLang="ja-JP" sz="900" dirty="0">
                <a:latin typeface="+mj-lt"/>
              </a:rPr>
              <a:t>*4 Refer </a:t>
            </a:r>
            <a:r>
              <a:rPr lang="en-US" altLang="ja-JP" sz="900" dirty="0" err="1">
                <a:latin typeface="+mj-lt"/>
              </a:rPr>
              <a:t>p.15</a:t>
            </a:r>
            <a:r>
              <a:rPr lang="en-US" altLang="ja-JP" sz="900" dirty="0">
                <a:latin typeface="+mj-lt"/>
              </a:rPr>
              <a:t> for the IF data log format. The output format is automatically selected according to the RF Frontend (RAW8, </a:t>
            </a:r>
            <a:r>
              <a:rPr lang="en-US" altLang="ja-JP" sz="900" dirty="0" err="1">
                <a:latin typeface="+mj-lt"/>
              </a:rPr>
              <a:t>RAW16</a:t>
            </a:r>
            <a:r>
              <a:rPr lang="en-US" altLang="ja-JP" sz="900" dirty="0">
                <a:latin typeface="+mj-lt"/>
              </a:rPr>
              <a:t>, </a:t>
            </a:r>
            <a:r>
              <a:rPr lang="en-US" altLang="ja-JP" sz="900" dirty="0" err="1">
                <a:latin typeface="+mj-lt"/>
              </a:rPr>
              <a:t>RAW32</a:t>
            </a:r>
            <a:r>
              <a:rPr lang="en-US" altLang="ja-JP" sz="900" dirty="0">
                <a:latin typeface="+mj-lt"/>
              </a:rPr>
              <a:t>, </a:t>
            </a:r>
            <a:r>
              <a:rPr lang="en-US" altLang="ja-JP" sz="900" dirty="0" err="1">
                <a:latin typeface="+mj-lt"/>
              </a:rPr>
              <a:t>CS8</a:t>
            </a:r>
            <a:r>
              <a:rPr lang="en-US" altLang="ja-JP" sz="900" dirty="0">
                <a:latin typeface="+mj-lt"/>
              </a:rPr>
              <a:t> or </a:t>
            </a:r>
            <a:r>
              <a:rPr lang="en-US" altLang="ja-JP" sz="900" dirty="0" err="1">
                <a:latin typeface="+mj-lt"/>
              </a:rPr>
              <a:t>CS16</a:t>
            </a:r>
            <a:r>
              <a:rPr lang="en-US" altLang="ja-JP" sz="900" dirty="0">
                <a:latin typeface="+mj-lt"/>
              </a:rPr>
              <a:t>). The tag file is also generated.  </a:t>
            </a:r>
          </a:p>
        </p:txBody>
      </p:sp>
      <p:sp>
        <p:nvSpPr>
          <p:cNvPr id="10" name="正方形/長方形 9">
            <a:extLst>
              <a:ext uri="{FF2B5EF4-FFF2-40B4-BE49-F238E27FC236}">
                <a16:creationId xmlns:a16="http://schemas.microsoft.com/office/drawing/2014/main" id="{2E841CB1-F55A-F559-5584-1C53E01E890E}"/>
              </a:ext>
            </a:extLst>
          </p:cNvPr>
          <p:cNvSpPr/>
          <p:nvPr/>
        </p:nvSpPr>
        <p:spPr>
          <a:xfrm>
            <a:off x="3194846" y="4357844"/>
            <a:ext cx="486055" cy="162835"/>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 name="直線コネクタ 10">
            <a:extLst>
              <a:ext uri="{FF2B5EF4-FFF2-40B4-BE49-F238E27FC236}">
                <a16:creationId xmlns:a16="http://schemas.microsoft.com/office/drawing/2014/main" id="{0764473D-9CFA-2355-B1D2-DAF46DAFC1D2}"/>
              </a:ext>
            </a:extLst>
          </p:cNvPr>
          <p:cNvCxnSpPr>
            <a:cxnSpLocks/>
            <a:stCxn id="18" idx="1"/>
            <a:endCxn id="10" idx="3"/>
          </p:cNvCxnSpPr>
          <p:nvPr/>
        </p:nvCxnSpPr>
        <p:spPr>
          <a:xfrm flipH="1" flipV="1">
            <a:off x="3680901" y="4439262"/>
            <a:ext cx="2785017" cy="81417"/>
          </a:xfrm>
          <a:prstGeom prst="line">
            <a:avLst/>
          </a:prstGeom>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3344AA8C-D310-95DA-1D5D-BBB96FD75D83}"/>
              </a:ext>
            </a:extLst>
          </p:cNvPr>
          <p:cNvSpPr txBox="1"/>
          <p:nvPr/>
        </p:nvSpPr>
        <p:spPr>
          <a:xfrm>
            <a:off x="6465918" y="4243680"/>
            <a:ext cx="1368152" cy="553998"/>
          </a:xfrm>
          <a:prstGeom prst="rect">
            <a:avLst/>
          </a:prstGeom>
          <a:noFill/>
        </p:spPr>
        <p:txBody>
          <a:bodyPr wrap="square" lIns="0" tIns="0" rIns="0" bIns="0" rtlCol="0">
            <a:spAutoFit/>
          </a:bodyPr>
          <a:lstStyle/>
          <a:p>
            <a:pPr algn="ctr"/>
            <a:r>
              <a:rPr kumimoji="1" lang="en-US" altLang="ja-JP" sz="1200">
                <a:latin typeface="+mj-lt"/>
              </a:rPr>
              <a:t>Execute RINEX Converter for RTM3 OBS and NAV data</a:t>
            </a:r>
            <a:endParaRPr kumimoji="1" lang="en-US" altLang="ja-JP" sz="1200" baseline="30000" dirty="0">
              <a:latin typeface="+mj-lt"/>
            </a:endParaRPr>
          </a:p>
        </p:txBody>
      </p:sp>
      <p:sp>
        <p:nvSpPr>
          <p:cNvPr id="34" name="テキスト ボックス 33">
            <a:extLst>
              <a:ext uri="{FF2B5EF4-FFF2-40B4-BE49-F238E27FC236}">
                <a16:creationId xmlns:a16="http://schemas.microsoft.com/office/drawing/2014/main" id="{DD463A5D-0AA3-FD52-DA2B-B8014F80FAF9}"/>
              </a:ext>
            </a:extLst>
          </p:cNvPr>
          <p:cNvSpPr txBox="1"/>
          <p:nvPr/>
        </p:nvSpPr>
        <p:spPr>
          <a:xfrm>
            <a:off x="717844" y="1858269"/>
            <a:ext cx="2089960" cy="369332"/>
          </a:xfrm>
          <a:prstGeom prst="rect">
            <a:avLst/>
          </a:prstGeom>
          <a:noFill/>
        </p:spPr>
        <p:txBody>
          <a:bodyPr wrap="square" lIns="0" tIns="0" rIns="0" bIns="0" rtlCol="0">
            <a:spAutoFit/>
          </a:bodyPr>
          <a:lstStyle/>
          <a:p>
            <a:pPr algn="ctr"/>
            <a:r>
              <a:rPr kumimoji="1" lang="en-US" altLang="ja-JP" sz="1200">
                <a:latin typeface="+mj-lt"/>
              </a:rPr>
              <a:t>Output Stream 1, 2, 3, ..., 8 ON/OFF, Type and Path</a:t>
            </a:r>
            <a:endParaRPr kumimoji="1" lang="en-US" altLang="ja-JP" sz="900" dirty="0">
              <a:latin typeface="+mj-lt"/>
            </a:endParaRPr>
          </a:p>
        </p:txBody>
      </p:sp>
      <p:cxnSp>
        <p:nvCxnSpPr>
          <p:cNvPr id="38" name="直線コネクタ 37">
            <a:extLst>
              <a:ext uri="{FF2B5EF4-FFF2-40B4-BE49-F238E27FC236}">
                <a16:creationId xmlns:a16="http://schemas.microsoft.com/office/drawing/2014/main" id="{B2760595-B10E-860D-C6BA-702DC9E947C7}"/>
              </a:ext>
            </a:extLst>
          </p:cNvPr>
          <p:cNvCxnSpPr>
            <a:cxnSpLocks/>
            <a:stCxn id="34" idx="3"/>
          </p:cNvCxnSpPr>
          <p:nvPr/>
        </p:nvCxnSpPr>
        <p:spPr>
          <a:xfrm>
            <a:off x="2807804" y="2042935"/>
            <a:ext cx="387042" cy="259145"/>
          </a:xfrm>
          <a:prstGeom prst="line">
            <a:avLst/>
          </a:prstGeom>
        </p:spPr>
        <p:style>
          <a:lnRef idx="1">
            <a:schemeClr val="accent1"/>
          </a:lnRef>
          <a:fillRef idx="0">
            <a:schemeClr val="accent1"/>
          </a:fillRef>
          <a:effectRef idx="0">
            <a:schemeClr val="accent1"/>
          </a:effectRef>
          <a:fontRef idx="minor">
            <a:schemeClr val="tx1"/>
          </a:fontRef>
        </p:style>
      </p:cxnSp>
      <p:sp>
        <p:nvSpPr>
          <p:cNvPr id="73" name="テキスト ボックス 72">
            <a:extLst>
              <a:ext uri="{FF2B5EF4-FFF2-40B4-BE49-F238E27FC236}">
                <a16:creationId xmlns:a16="http://schemas.microsoft.com/office/drawing/2014/main" id="{50BAC87A-EF30-722A-4AE5-0DAB9E7BECB7}"/>
              </a:ext>
            </a:extLst>
          </p:cNvPr>
          <p:cNvSpPr txBox="1"/>
          <p:nvPr/>
        </p:nvSpPr>
        <p:spPr>
          <a:xfrm>
            <a:off x="6537926" y="3152757"/>
            <a:ext cx="1224136" cy="369332"/>
          </a:xfrm>
          <a:prstGeom prst="rect">
            <a:avLst/>
          </a:prstGeom>
          <a:noFill/>
        </p:spPr>
        <p:txBody>
          <a:bodyPr wrap="square" lIns="0" tIns="0" rIns="0" bIns="0" rtlCol="0">
            <a:spAutoFit/>
          </a:bodyPr>
          <a:lstStyle/>
          <a:p>
            <a:pPr algn="ctr"/>
            <a:r>
              <a:rPr kumimoji="1" lang="en-US" altLang="ja-JP" sz="1200">
                <a:latin typeface="+mj-lt"/>
              </a:rPr>
              <a:t>RF CH separation ON/OFF for RTCM3</a:t>
            </a:r>
            <a:endParaRPr kumimoji="1" lang="en-US" altLang="ja-JP" sz="900" baseline="30000" dirty="0">
              <a:latin typeface="+mj-lt"/>
            </a:endParaRPr>
          </a:p>
        </p:txBody>
      </p:sp>
      <p:sp>
        <p:nvSpPr>
          <p:cNvPr id="74" name="正方形/長方形 73">
            <a:extLst>
              <a:ext uri="{FF2B5EF4-FFF2-40B4-BE49-F238E27FC236}">
                <a16:creationId xmlns:a16="http://schemas.microsoft.com/office/drawing/2014/main" id="{75C03385-C788-93A6-B03F-102AF5BE0018}"/>
              </a:ext>
            </a:extLst>
          </p:cNvPr>
          <p:cNvSpPr/>
          <p:nvPr/>
        </p:nvSpPr>
        <p:spPr>
          <a:xfrm>
            <a:off x="3194846" y="3245594"/>
            <a:ext cx="945106" cy="162835"/>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5" name="直線コネクタ 74">
            <a:extLst>
              <a:ext uri="{FF2B5EF4-FFF2-40B4-BE49-F238E27FC236}">
                <a16:creationId xmlns:a16="http://schemas.microsoft.com/office/drawing/2014/main" id="{77364D01-1F5B-4B8C-2A88-AF3BC298C9E1}"/>
              </a:ext>
            </a:extLst>
          </p:cNvPr>
          <p:cNvCxnSpPr>
            <a:cxnSpLocks/>
            <a:stCxn id="73" idx="1"/>
            <a:endCxn id="74" idx="3"/>
          </p:cNvCxnSpPr>
          <p:nvPr/>
        </p:nvCxnSpPr>
        <p:spPr>
          <a:xfrm flipH="1" flipV="1">
            <a:off x="4139952" y="3327012"/>
            <a:ext cx="2397974" cy="1041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87728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336DA-0D1C-5328-F75C-407DC9C48346}"/>
            </a:ext>
          </a:extLst>
        </p:cNvPr>
        <p:cNvGrpSpPr/>
        <p:nvPr/>
      </p:nvGrpSpPr>
      <p:grpSpPr>
        <a:xfrm>
          <a:off x="0" y="0"/>
          <a:ext cx="0" cy="0"/>
          <a:chOff x="0" y="0"/>
          <a:chExt cx="0" cy="0"/>
        </a:xfrm>
      </p:grpSpPr>
      <p:pic>
        <p:nvPicPr>
          <p:cNvPr id="6" name="図 5">
            <a:extLst>
              <a:ext uri="{FF2B5EF4-FFF2-40B4-BE49-F238E27FC236}">
                <a16:creationId xmlns:a16="http://schemas.microsoft.com/office/drawing/2014/main" id="{F9B6DEE1-0A3F-7A10-F63B-435A9DAA52B6}"/>
              </a:ext>
            </a:extLst>
          </p:cNvPr>
          <p:cNvPicPr>
            <a:picLocks noChangeAspect="1"/>
          </p:cNvPicPr>
          <p:nvPr/>
        </p:nvPicPr>
        <p:blipFill>
          <a:blip r:embed="rId2"/>
          <a:stretch>
            <a:fillRect/>
          </a:stretch>
        </p:blipFill>
        <p:spPr>
          <a:xfrm>
            <a:off x="3377855" y="2079745"/>
            <a:ext cx="2387346" cy="3130296"/>
          </a:xfrm>
          <a:prstGeom prst="rect">
            <a:avLst/>
          </a:prstGeom>
        </p:spPr>
      </p:pic>
      <p:sp>
        <p:nvSpPr>
          <p:cNvPr id="4" name="スライド番号プレースホルダー 3">
            <a:extLst>
              <a:ext uri="{FF2B5EF4-FFF2-40B4-BE49-F238E27FC236}">
                <a16:creationId xmlns:a16="http://schemas.microsoft.com/office/drawing/2014/main" id="{138AE6D1-B041-1647-AC50-02557DD82A64}"/>
              </a:ext>
            </a:extLst>
          </p:cNvPr>
          <p:cNvSpPr>
            <a:spLocks noGrp="1"/>
          </p:cNvSpPr>
          <p:nvPr>
            <p:ph type="sldNum" sz="quarter" idx="11"/>
          </p:nvPr>
        </p:nvSpPr>
        <p:spPr/>
        <p:txBody>
          <a:bodyPr/>
          <a:lstStyle/>
          <a:p>
            <a:pPr>
              <a:defRPr/>
            </a:pPr>
            <a:fld id="{76B10B91-6492-4C08-AE87-F344306858DA}" type="slidenum">
              <a:rPr lang="ja-JP" altLang="en-US" smtClean="0"/>
              <a:pPr>
                <a:defRPr/>
              </a:pPr>
              <a:t>12</a:t>
            </a:fld>
            <a:endParaRPr lang="ja-JP" altLang="en-US" dirty="0"/>
          </a:p>
        </p:txBody>
      </p:sp>
      <p:sp>
        <p:nvSpPr>
          <p:cNvPr id="5" name="タイトル 1">
            <a:extLst>
              <a:ext uri="{FF2B5EF4-FFF2-40B4-BE49-F238E27FC236}">
                <a16:creationId xmlns:a16="http://schemas.microsoft.com/office/drawing/2014/main" id="{C8394D02-AB96-3EAF-C9EB-AE2B014603E6}"/>
              </a:ext>
            </a:extLst>
          </p:cNvPr>
          <p:cNvSpPr>
            <a:spLocks noGrp="1"/>
          </p:cNvSpPr>
          <p:nvPr>
            <p:ph type="title"/>
          </p:nvPr>
        </p:nvSpPr>
        <p:spPr>
          <a:xfrm>
            <a:off x="457200" y="512676"/>
            <a:ext cx="8229600" cy="598078"/>
          </a:xfrm>
        </p:spPr>
        <p:txBody>
          <a:bodyPr/>
          <a:lstStyle/>
          <a:p>
            <a:r>
              <a:rPr kumimoji="1" lang="en-US" altLang="ja-JP" sz="2000" dirty="0">
                <a:solidFill>
                  <a:schemeClr val="tx1"/>
                </a:solidFill>
              </a:rPr>
              <a:t>Signal</a:t>
            </a:r>
            <a:r>
              <a:rPr kumimoji="1" lang="ja-JP" altLang="en-US" sz="2000" dirty="0">
                <a:solidFill>
                  <a:schemeClr val="tx1"/>
                </a:solidFill>
              </a:rPr>
              <a:t> </a:t>
            </a:r>
            <a:r>
              <a:rPr kumimoji="1" lang="en-US" altLang="ja-JP" sz="2000" dirty="0">
                <a:solidFill>
                  <a:schemeClr val="tx1"/>
                </a:solidFill>
              </a:rPr>
              <a:t>Options</a:t>
            </a:r>
            <a:r>
              <a:rPr kumimoji="1" lang="ja-JP" altLang="en-US" sz="2000" dirty="0">
                <a:solidFill>
                  <a:schemeClr val="tx1"/>
                </a:solidFill>
              </a:rPr>
              <a:t> </a:t>
            </a:r>
            <a:r>
              <a:rPr kumimoji="1" lang="en-US" altLang="ja-JP" sz="2000" dirty="0">
                <a:solidFill>
                  <a:schemeClr val="tx1"/>
                </a:solidFill>
              </a:rPr>
              <a:t>Dialog</a:t>
            </a:r>
            <a:endParaRPr kumimoji="1" lang="ja-JP" altLang="en-US" sz="2000" dirty="0">
              <a:solidFill>
                <a:schemeClr val="tx1"/>
              </a:solidFill>
            </a:endParaRPr>
          </a:p>
        </p:txBody>
      </p:sp>
      <p:sp>
        <p:nvSpPr>
          <p:cNvPr id="2" name="正方形/長方形 1">
            <a:extLst>
              <a:ext uri="{FF2B5EF4-FFF2-40B4-BE49-F238E27FC236}">
                <a16:creationId xmlns:a16="http://schemas.microsoft.com/office/drawing/2014/main" id="{B5F21887-D81A-3364-F18F-D4B5FFDF02E2}"/>
              </a:ext>
            </a:extLst>
          </p:cNvPr>
          <p:cNvSpPr/>
          <p:nvPr/>
        </p:nvSpPr>
        <p:spPr>
          <a:xfrm>
            <a:off x="3491880" y="2456891"/>
            <a:ext cx="2160240" cy="1991485"/>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617A3F93-FF61-0D8E-6103-3B71FF01C01F}"/>
              </a:ext>
            </a:extLst>
          </p:cNvPr>
          <p:cNvSpPr txBox="1"/>
          <p:nvPr/>
        </p:nvSpPr>
        <p:spPr>
          <a:xfrm>
            <a:off x="1331640" y="1856727"/>
            <a:ext cx="1512168" cy="1200329"/>
          </a:xfrm>
          <a:prstGeom prst="rect">
            <a:avLst/>
          </a:prstGeom>
          <a:noFill/>
        </p:spPr>
        <p:txBody>
          <a:bodyPr wrap="square" lIns="0" tIns="0" rIns="0" bIns="0" rtlCol="0">
            <a:spAutoFit/>
          </a:bodyPr>
          <a:lstStyle/>
          <a:p>
            <a:pPr algn="ctr"/>
            <a:r>
              <a:rPr kumimoji="1" lang="en-US" altLang="ja-JP" sz="1200" dirty="0">
                <a:latin typeface="+mj-lt"/>
              </a:rPr>
              <a:t>GNSS System and Signal Selections:</a:t>
            </a:r>
          </a:p>
          <a:p>
            <a:pPr algn="ctr"/>
            <a:r>
              <a:rPr lang="en-US" altLang="ja-JP" sz="900" dirty="0">
                <a:latin typeface="+mj-lt"/>
              </a:rPr>
              <a:t>System: GNSS System,</a:t>
            </a:r>
          </a:p>
          <a:p>
            <a:pPr algn="ctr"/>
            <a:r>
              <a:rPr kumimoji="1" lang="en-US" altLang="ja-JP" sz="900" dirty="0">
                <a:latin typeface="+mj-lt"/>
              </a:rPr>
              <a:t>Satellite No: Satellite number or number range (n-m) separated by , </a:t>
            </a:r>
            <a:r>
              <a:rPr kumimoji="1" lang="en-US" altLang="ja-JP" sz="900" baseline="30000" dirty="0">
                <a:latin typeface="+mj-lt"/>
              </a:rPr>
              <a:t>*1</a:t>
            </a:r>
            <a:endParaRPr kumimoji="1" lang="en-US" altLang="ja-JP" sz="900" dirty="0">
              <a:latin typeface="+mj-lt"/>
            </a:endParaRPr>
          </a:p>
          <a:p>
            <a:pPr algn="ctr"/>
            <a:r>
              <a:rPr lang="en-US" altLang="ja-JP" sz="900" dirty="0">
                <a:latin typeface="+mj-lt"/>
              </a:rPr>
              <a:t>GNSS Signals: Signal IDs to be tracked  </a:t>
            </a:r>
            <a:endParaRPr kumimoji="1" lang="en-US" altLang="ja-JP" sz="900" dirty="0">
              <a:latin typeface="+mj-lt"/>
            </a:endParaRPr>
          </a:p>
        </p:txBody>
      </p:sp>
      <p:cxnSp>
        <p:nvCxnSpPr>
          <p:cNvPr id="10" name="直線コネクタ 9">
            <a:extLst>
              <a:ext uri="{FF2B5EF4-FFF2-40B4-BE49-F238E27FC236}">
                <a16:creationId xmlns:a16="http://schemas.microsoft.com/office/drawing/2014/main" id="{0695A68E-8BB2-8B12-8779-E12736944F39}"/>
              </a:ext>
            </a:extLst>
          </p:cNvPr>
          <p:cNvCxnSpPr>
            <a:cxnSpLocks/>
            <a:endCxn id="8" idx="3"/>
          </p:cNvCxnSpPr>
          <p:nvPr/>
        </p:nvCxnSpPr>
        <p:spPr>
          <a:xfrm flipH="1" flipV="1">
            <a:off x="2843808" y="2456892"/>
            <a:ext cx="648072" cy="592862"/>
          </a:xfrm>
          <a:prstGeom prst="line">
            <a:avLst/>
          </a:prstGeom>
        </p:spPr>
        <p:style>
          <a:lnRef idx="1">
            <a:schemeClr val="accent1"/>
          </a:lnRef>
          <a:fillRef idx="0">
            <a:schemeClr val="accent1"/>
          </a:fillRef>
          <a:effectRef idx="0">
            <a:schemeClr val="accent1"/>
          </a:effectRef>
          <a:fontRef idx="minor">
            <a:schemeClr val="tx1"/>
          </a:fontRef>
        </p:style>
      </p:cxnSp>
      <p:sp>
        <p:nvSpPr>
          <p:cNvPr id="14" name="正方形/長方形 13">
            <a:extLst>
              <a:ext uri="{FF2B5EF4-FFF2-40B4-BE49-F238E27FC236}">
                <a16:creationId xmlns:a16="http://schemas.microsoft.com/office/drawing/2014/main" id="{B9A72059-7786-9193-C29B-E7B4FD1238A0}"/>
              </a:ext>
            </a:extLst>
          </p:cNvPr>
          <p:cNvSpPr/>
          <p:nvPr/>
        </p:nvSpPr>
        <p:spPr>
          <a:xfrm>
            <a:off x="3491677" y="4448377"/>
            <a:ext cx="2160240" cy="28803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9000D505-7DD5-6FEB-947B-A002A4D45362}"/>
              </a:ext>
            </a:extLst>
          </p:cNvPr>
          <p:cNvSpPr txBox="1"/>
          <p:nvPr/>
        </p:nvSpPr>
        <p:spPr>
          <a:xfrm>
            <a:off x="1259632" y="3262161"/>
            <a:ext cx="1649222" cy="1754326"/>
          </a:xfrm>
          <a:prstGeom prst="rect">
            <a:avLst/>
          </a:prstGeom>
          <a:noFill/>
        </p:spPr>
        <p:txBody>
          <a:bodyPr wrap="square" lIns="0" tIns="0" rIns="0" bIns="0" rtlCol="0">
            <a:spAutoFit/>
          </a:bodyPr>
          <a:lstStyle/>
          <a:p>
            <a:pPr algn="ctr"/>
            <a:r>
              <a:rPr kumimoji="1" lang="en-US" altLang="ja-JP" sz="1200" dirty="0">
                <a:latin typeface="+mj-lt"/>
              </a:rPr>
              <a:t>RF CH Assignment Options:</a:t>
            </a:r>
          </a:p>
          <a:p>
            <a:pPr algn="ctr"/>
            <a:r>
              <a:rPr lang="en-US" altLang="ja-JP" sz="900" dirty="0">
                <a:latin typeface="+mj-lt"/>
              </a:rPr>
              <a:t>RF CH is automatically assigned for signals. To assign signals to specific RF CH(s) manually, use the option as the format </a:t>
            </a:r>
            <a:r>
              <a:rPr kumimoji="1" lang="en-US" altLang="ja-JP" sz="900" dirty="0">
                <a:latin typeface="+mj-lt"/>
              </a:rPr>
              <a:t>&lt;sig&gt;:&lt;</a:t>
            </a:r>
            <a:r>
              <a:rPr kumimoji="1" lang="en-US" altLang="ja-JP" sz="900" dirty="0" err="1">
                <a:latin typeface="+mj-lt"/>
              </a:rPr>
              <a:t>ch</a:t>
            </a:r>
            <a:r>
              <a:rPr lang="en-US" altLang="ja-JP" sz="900" dirty="0" err="1">
                <a:latin typeface="+mj-lt"/>
              </a:rPr>
              <a:t>_</a:t>
            </a:r>
            <a:r>
              <a:rPr kumimoji="1" lang="en-US" altLang="ja-JP" sz="900" dirty="0" err="1">
                <a:latin typeface="+mj-lt"/>
              </a:rPr>
              <a:t>list</a:t>
            </a:r>
            <a:r>
              <a:rPr kumimoji="1" lang="en-US" altLang="ja-JP" sz="900" dirty="0">
                <a:latin typeface="+mj-lt"/>
              </a:rPr>
              <a:t>&gt; separated by spaces, where, &lt;sig&gt; is signal ID and &lt;</a:t>
            </a:r>
            <a:r>
              <a:rPr kumimoji="1" lang="en-US" altLang="ja-JP" sz="900" dirty="0" err="1">
                <a:latin typeface="+mj-lt"/>
              </a:rPr>
              <a:t>ch</a:t>
            </a:r>
            <a:r>
              <a:rPr lang="en-US" altLang="ja-JP" sz="900" dirty="0" err="1">
                <a:latin typeface="+mj-lt"/>
              </a:rPr>
              <a:t>_</a:t>
            </a:r>
            <a:r>
              <a:rPr kumimoji="1" lang="en-US" altLang="ja-JP" sz="900" dirty="0" err="1">
                <a:latin typeface="+mj-lt"/>
              </a:rPr>
              <a:t>list</a:t>
            </a:r>
            <a:r>
              <a:rPr kumimoji="1" lang="en-US" altLang="ja-JP" sz="900" dirty="0">
                <a:latin typeface="+mj-lt"/>
              </a:rPr>
              <a:t>&gt; is RF CH number list like 1,3,5-7. Additionally, SRCH:&lt;</a:t>
            </a:r>
            <a:r>
              <a:rPr kumimoji="1" lang="en-US" altLang="ja-JP" sz="900" dirty="0" err="1">
                <a:latin typeface="+mj-lt"/>
              </a:rPr>
              <a:t>ch</a:t>
            </a:r>
            <a:r>
              <a:rPr lang="en-US" altLang="ja-JP" sz="900" dirty="0" err="1">
                <a:latin typeface="+mj-lt"/>
              </a:rPr>
              <a:t>_</a:t>
            </a:r>
            <a:r>
              <a:rPr kumimoji="1" lang="en-US" altLang="ja-JP" sz="900" dirty="0" err="1">
                <a:latin typeface="+mj-lt"/>
              </a:rPr>
              <a:t>list</a:t>
            </a:r>
            <a:r>
              <a:rPr kumimoji="1" lang="en-US" altLang="ja-JP" sz="900" dirty="0">
                <a:latin typeface="+mj-lt"/>
              </a:rPr>
              <a:t>&gt; can be used to specify signal search CH(s) to shorten the acquisition time. </a:t>
            </a:r>
            <a:endParaRPr kumimoji="1" lang="en-US" altLang="ja-JP" sz="1200" dirty="0">
              <a:latin typeface="+mj-lt"/>
            </a:endParaRPr>
          </a:p>
        </p:txBody>
      </p:sp>
      <p:graphicFrame>
        <p:nvGraphicFramePr>
          <p:cNvPr id="16" name="表 15">
            <a:extLst>
              <a:ext uri="{FF2B5EF4-FFF2-40B4-BE49-F238E27FC236}">
                <a16:creationId xmlns:a16="http://schemas.microsoft.com/office/drawing/2014/main" id="{BA1C2A2E-050E-925C-FCAA-5C63E83FEED5}"/>
              </a:ext>
            </a:extLst>
          </p:cNvPr>
          <p:cNvGraphicFramePr>
            <a:graphicFrameLocks noGrp="1"/>
          </p:cNvGraphicFramePr>
          <p:nvPr>
            <p:extLst>
              <p:ext uri="{D42A27DB-BD31-4B8C-83A1-F6EECF244321}">
                <p14:modId xmlns:p14="http://schemas.microsoft.com/office/powerpoint/2010/main" val="2485346247"/>
              </p:ext>
            </p:extLst>
          </p:nvPr>
        </p:nvGraphicFramePr>
        <p:xfrm>
          <a:off x="5792234" y="1295420"/>
          <a:ext cx="1429281" cy="4786772"/>
        </p:xfrm>
        <a:graphic>
          <a:graphicData uri="http://schemas.openxmlformats.org/drawingml/2006/table">
            <a:tbl>
              <a:tblPr firstRow="1">
                <a:tableStyleId>{5C22544A-7EE6-4342-B048-85BDC9FD1C3A}</a:tableStyleId>
              </a:tblPr>
              <a:tblGrid>
                <a:gridCol w="476427">
                  <a:extLst>
                    <a:ext uri="{9D8B030D-6E8A-4147-A177-3AD203B41FA5}">
                      <a16:colId xmlns:a16="http://schemas.microsoft.com/office/drawing/2014/main" val="1765780128"/>
                    </a:ext>
                  </a:extLst>
                </a:gridCol>
                <a:gridCol w="476427">
                  <a:extLst>
                    <a:ext uri="{9D8B030D-6E8A-4147-A177-3AD203B41FA5}">
                      <a16:colId xmlns:a16="http://schemas.microsoft.com/office/drawing/2014/main" val="1995438080"/>
                    </a:ext>
                  </a:extLst>
                </a:gridCol>
                <a:gridCol w="476427">
                  <a:extLst>
                    <a:ext uri="{9D8B030D-6E8A-4147-A177-3AD203B41FA5}">
                      <a16:colId xmlns:a16="http://schemas.microsoft.com/office/drawing/2014/main" val="3446938354"/>
                    </a:ext>
                  </a:extLst>
                </a:gridCol>
              </a:tblGrid>
              <a:tr h="120012">
                <a:tc>
                  <a:txBody>
                    <a:bodyPr/>
                    <a:lstStyle/>
                    <a:p>
                      <a:pPr algn="ctr">
                        <a:tabLst>
                          <a:tab pos="215900" algn="l"/>
                        </a:tabLst>
                      </a:pPr>
                      <a:r>
                        <a:rPr lang="en-US" altLang="ja-JP" sz="800" b="1" dirty="0">
                          <a:solidFill>
                            <a:schemeClr val="tx1"/>
                          </a:solidFill>
                          <a:effectLst/>
                          <a:latin typeface="+mj-lt"/>
                        </a:rPr>
                        <a:t>System</a:t>
                      </a:r>
                      <a:endParaRPr lang="ja-JP" sz="800" b="1" dirty="0">
                        <a:solidFill>
                          <a:schemeClr val="tx1"/>
                        </a:solidFill>
                        <a:effectLst/>
                        <a:latin typeface="+mj-lt"/>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tabLst>
                          <a:tab pos="215900" algn="l"/>
                        </a:tabLst>
                      </a:pPr>
                      <a:r>
                        <a:rPr lang="en-US" altLang="ja-JP" sz="800" b="1" dirty="0">
                          <a:solidFill>
                            <a:schemeClr val="tx1"/>
                          </a:solidFill>
                          <a:effectLst/>
                          <a:latin typeface="+mj-lt"/>
                        </a:rPr>
                        <a:t>Signal</a:t>
                      </a:r>
                      <a:endParaRPr lang="ja-JP" sz="800" b="1" dirty="0">
                        <a:solidFill>
                          <a:schemeClr val="tx1"/>
                        </a:solidFill>
                        <a:effectLst/>
                        <a:latin typeface="+mj-lt"/>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tabLst>
                          <a:tab pos="215900" algn="l"/>
                        </a:tabLst>
                      </a:pPr>
                      <a:r>
                        <a:rPr lang="en-US" altLang="ja-JP" sz="800" b="1" dirty="0">
                          <a:solidFill>
                            <a:schemeClr val="tx1"/>
                          </a:solidFill>
                          <a:effectLst/>
                          <a:latin typeface="+mj-lt"/>
                        </a:rPr>
                        <a:t>Signal ID</a:t>
                      </a:r>
                      <a:endParaRPr lang="ja-JP" sz="800" b="1" dirty="0">
                        <a:solidFill>
                          <a:schemeClr val="tx1"/>
                        </a:solidFill>
                        <a:effectLst/>
                        <a:latin typeface="+mj-lt"/>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23222389"/>
                  </a:ext>
                </a:extLst>
              </a:tr>
              <a:tr h="120012">
                <a:tc rowSpan="6">
                  <a:txBody>
                    <a:bodyPr/>
                    <a:lstStyle/>
                    <a:p>
                      <a:pPr algn="ctr">
                        <a:tabLst>
                          <a:tab pos="215900" algn="l"/>
                        </a:tabLst>
                      </a:pPr>
                      <a:r>
                        <a:rPr lang="en-US" altLang="ja-JP" sz="800" b="0" dirty="0">
                          <a:solidFill>
                            <a:schemeClr val="tx1"/>
                          </a:solidFill>
                          <a:effectLst/>
                          <a:latin typeface="+mj-lt"/>
                        </a:rPr>
                        <a:t>GPS</a:t>
                      </a:r>
                      <a:endParaRPr lang="ja-JP" sz="800" b="0" dirty="0">
                        <a:solidFill>
                          <a:schemeClr val="tx1"/>
                        </a:solidFill>
                        <a:effectLst/>
                        <a:latin typeface="+mj-lt"/>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L1C/A</a:t>
                      </a:r>
                      <a:endParaRPr lang="ja-JP" sz="800" b="0" dirty="0">
                        <a:solidFill>
                          <a:schemeClr val="tx1"/>
                        </a:solidFill>
                        <a:effectLst/>
                        <a:latin typeface="+mj-lt"/>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L1CA</a:t>
                      </a:r>
                      <a:endParaRPr lang="ja-JP" sz="800" b="0" dirty="0">
                        <a:solidFill>
                          <a:schemeClr val="tx1"/>
                        </a:solidFill>
                        <a:effectLst/>
                        <a:latin typeface="+mj-lt"/>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88516566"/>
                  </a:ext>
                </a:extLst>
              </a:tr>
              <a:tr h="120012">
                <a:tc vMerge="1">
                  <a:txBody>
                    <a:bodyPr/>
                    <a:lstStyle/>
                    <a:p>
                      <a:pPr algn="ctr">
                        <a:spcAft>
                          <a:spcPts val="0"/>
                        </a:spcAft>
                        <a:tabLst>
                          <a:tab pos="215900" algn="l"/>
                        </a:tabLst>
                      </a:pP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L1C-D</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L1CD</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81220553"/>
                  </a:ext>
                </a:extLst>
              </a:tr>
              <a:tr h="120012">
                <a:tc vMerge="1">
                  <a:txBody>
                    <a:bodyPr/>
                    <a:lstStyle/>
                    <a:p>
                      <a:pPr algn="ctr">
                        <a:spcAft>
                          <a:spcPts val="0"/>
                        </a:spcAft>
                        <a:tabLst>
                          <a:tab pos="215900" algn="l"/>
                        </a:tabLst>
                      </a:pP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L1C-P</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L1CP</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14835690"/>
                  </a:ext>
                </a:extLst>
              </a:tr>
              <a:tr h="120012">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tab pos="215900" algn="l"/>
                        </a:tabLst>
                        <a:defRPr/>
                      </a:pPr>
                      <a:endParaRPr kumimoji="1" lang="ja-JP" altLang="ja-JP" sz="800" b="0" kern="100" dirty="0">
                        <a:solidFill>
                          <a:schemeClr val="tx1"/>
                        </a:solidFill>
                        <a:effectLst/>
                        <a:latin typeface="+mn-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tab pos="215900" algn="l"/>
                        </a:tabLst>
                        <a:defRPr/>
                      </a:pPr>
                      <a:r>
                        <a:rPr kumimoji="1" lang="en-US" altLang="ja-JP" sz="800" b="0" kern="100" dirty="0">
                          <a:solidFill>
                            <a:schemeClr val="tx1"/>
                          </a:solidFill>
                          <a:effectLst/>
                          <a:latin typeface="+mn-lt"/>
                          <a:ea typeface="ＭＳ 明朝" panose="02020609040205080304" pitchFamily="17" charset="-128"/>
                          <a:cs typeface="Times New Roman" panose="02020603050405020304" pitchFamily="18" charset="0"/>
                        </a:rPr>
                        <a:t>L2C-M</a:t>
                      </a:r>
                      <a:endParaRPr kumimoji="1" lang="ja-JP" altLang="ja-JP" sz="800" b="0" kern="100" dirty="0">
                        <a:solidFill>
                          <a:schemeClr val="tx1"/>
                        </a:solidFill>
                        <a:effectLst/>
                        <a:latin typeface="+mn-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tab pos="215900" algn="l"/>
                        </a:tabLst>
                        <a:defRPr/>
                      </a:pPr>
                      <a:r>
                        <a:rPr kumimoji="1" lang="en-US" altLang="ja-JP" sz="800" b="0" kern="100" dirty="0">
                          <a:solidFill>
                            <a:schemeClr val="tx1"/>
                          </a:solidFill>
                          <a:effectLst/>
                          <a:latin typeface="+mn-lt"/>
                          <a:ea typeface="ＭＳ 明朝" panose="02020609040205080304" pitchFamily="17" charset="-128"/>
                          <a:cs typeface="Times New Roman" panose="02020603050405020304" pitchFamily="18" charset="0"/>
                        </a:rPr>
                        <a:t>L2CM</a:t>
                      </a:r>
                      <a:endParaRPr kumimoji="1" lang="ja-JP" altLang="ja-JP" sz="800" b="0" kern="100" dirty="0">
                        <a:solidFill>
                          <a:schemeClr val="tx1"/>
                        </a:solidFill>
                        <a:effectLst/>
                        <a:latin typeface="+mn-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4716141"/>
                  </a:ext>
                </a:extLst>
              </a:tr>
              <a:tr h="120012">
                <a:tc vMerge="1">
                  <a:txBody>
                    <a:bodyPr/>
                    <a:lstStyle/>
                    <a:p>
                      <a:pPr algn="ctr">
                        <a:spcAft>
                          <a:spcPts val="0"/>
                        </a:spcAft>
                        <a:tabLst>
                          <a:tab pos="215900" algn="l"/>
                        </a:tabLst>
                      </a:pP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L5-I</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L5I</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43629522"/>
                  </a:ext>
                </a:extLst>
              </a:tr>
              <a:tr h="120012">
                <a:tc vMerge="1">
                  <a:txBody>
                    <a:bodyPr/>
                    <a:lstStyle/>
                    <a:p>
                      <a:pPr algn="ctr">
                        <a:spcAft>
                          <a:spcPts val="0"/>
                        </a:spcAft>
                        <a:tabLst>
                          <a:tab pos="215900" algn="l"/>
                        </a:tabLst>
                      </a:pP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L5-Q</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L5Q</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18210715"/>
                  </a:ext>
                </a:extLst>
              </a:tr>
              <a:tr h="120012">
                <a:tc rowSpan="7">
                  <a:txBody>
                    <a:bodyPr/>
                    <a:lstStyle/>
                    <a:p>
                      <a:pPr algn="ctr">
                        <a:tabLst>
                          <a:tab pos="215900" algn="l"/>
                        </a:tabLst>
                      </a:pPr>
                      <a:r>
                        <a:rPr lang="en-US" altLang="ja-JP" sz="800" b="0" dirty="0">
                          <a:solidFill>
                            <a:schemeClr val="tx1"/>
                          </a:solidFill>
                          <a:effectLst/>
                          <a:latin typeface="+mj-lt"/>
                        </a:rPr>
                        <a:t>GLONASS</a:t>
                      </a:r>
                      <a:endParaRPr lang="ja-JP" sz="800" b="0" dirty="0">
                        <a:solidFill>
                          <a:schemeClr val="tx1"/>
                        </a:solidFill>
                        <a:effectLst/>
                        <a:latin typeface="+mj-lt"/>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L1C/A</a:t>
                      </a:r>
                      <a:endParaRPr lang="ja-JP" sz="800" b="0" dirty="0">
                        <a:solidFill>
                          <a:schemeClr val="tx1"/>
                        </a:solidFill>
                        <a:effectLst/>
                        <a:latin typeface="+mj-lt"/>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G1CA</a:t>
                      </a:r>
                      <a:endParaRPr lang="ja-JP" sz="800" b="0" dirty="0">
                        <a:solidFill>
                          <a:schemeClr val="tx1"/>
                        </a:solidFill>
                        <a:effectLst/>
                        <a:latin typeface="+mj-lt"/>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42562546"/>
                  </a:ext>
                </a:extLst>
              </a:tr>
              <a:tr h="120012">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tab pos="215900" algn="l"/>
                        </a:tabLst>
                        <a:defRPr/>
                      </a:pPr>
                      <a:endParaRPr kumimoji="1" lang="ja-JP" altLang="ja-JP" sz="800" b="0" kern="100" dirty="0">
                        <a:solidFill>
                          <a:schemeClr val="tx1"/>
                        </a:solidFill>
                        <a:effectLst/>
                        <a:latin typeface="+mn-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tab pos="215900" algn="l"/>
                        </a:tabLst>
                        <a:defRPr/>
                      </a:pPr>
                      <a:r>
                        <a:rPr kumimoji="1" lang="en-US" altLang="ja-JP" sz="800" b="0" kern="100" dirty="0">
                          <a:solidFill>
                            <a:schemeClr val="tx1"/>
                          </a:solidFill>
                          <a:effectLst/>
                          <a:latin typeface="+mn-lt"/>
                          <a:ea typeface="ＭＳ 明朝" panose="02020609040205080304" pitchFamily="17" charset="-128"/>
                          <a:cs typeface="Times New Roman" panose="02020603050405020304" pitchFamily="18" charset="0"/>
                        </a:rPr>
                        <a:t>L1OCd</a:t>
                      </a:r>
                      <a:endParaRPr kumimoji="1" lang="ja-JP" altLang="ja-JP" sz="800" b="0" kern="100" dirty="0">
                        <a:solidFill>
                          <a:schemeClr val="tx1"/>
                        </a:solidFill>
                        <a:effectLst/>
                        <a:latin typeface="+mn-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tab pos="215900" algn="l"/>
                        </a:tabLst>
                        <a:defRPr/>
                      </a:pPr>
                      <a:r>
                        <a:rPr kumimoji="1" lang="en-US" altLang="ja-JP" sz="800" b="0" kern="100" dirty="0">
                          <a:solidFill>
                            <a:schemeClr val="tx1"/>
                          </a:solidFill>
                          <a:effectLst/>
                          <a:latin typeface="+mn-lt"/>
                          <a:ea typeface="ＭＳ 明朝" panose="02020609040205080304" pitchFamily="17" charset="-128"/>
                          <a:cs typeface="Times New Roman" panose="02020603050405020304" pitchFamily="18" charset="0"/>
                        </a:rPr>
                        <a:t>G1OCD</a:t>
                      </a:r>
                      <a:endParaRPr kumimoji="1" lang="ja-JP" altLang="ja-JP" sz="800" b="0" kern="100" dirty="0">
                        <a:solidFill>
                          <a:schemeClr val="tx1"/>
                        </a:solidFill>
                        <a:effectLst/>
                        <a:latin typeface="+mn-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45276378"/>
                  </a:ext>
                </a:extLst>
              </a:tr>
              <a:tr h="120012">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tab pos="215900" algn="l"/>
                        </a:tabLst>
                        <a:defRPr/>
                      </a:pPr>
                      <a:endParaRPr kumimoji="1" lang="ja-JP" altLang="ja-JP" sz="800" b="0" kern="100" dirty="0">
                        <a:solidFill>
                          <a:schemeClr val="tx1"/>
                        </a:solidFill>
                        <a:effectLst/>
                        <a:latin typeface="+mn-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tab pos="215900" algn="l"/>
                        </a:tabLst>
                        <a:defRPr/>
                      </a:pPr>
                      <a:r>
                        <a:rPr kumimoji="1" lang="en-US" altLang="ja-JP" sz="800" b="0" kern="100" dirty="0">
                          <a:solidFill>
                            <a:schemeClr val="tx1"/>
                          </a:solidFill>
                          <a:effectLst/>
                          <a:latin typeface="+mn-lt"/>
                          <a:ea typeface="ＭＳ 明朝" panose="02020609040205080304" pitchFamily="17" charset="-128"/>
                          <a:cs typeface="Times New Roman" panose="02020603050405020304" pitchFamily="18" charset="0"/>
                        </a:rPr>
                        <a:t>L1OCp</a:t>
                      </a:r>
                      <a:endParaRPr kumimoji="1" lang="ja-JP" altLang="ja-JP" sz="800" b="0" kern="100" dirty="0">
                        <a:solidFill>
                          <a:schemeClr val="tx1"/>
                        </a:solidFill>
                        <a:effectLst/>
                        <a:latin typeface="+mn-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tab pos="215900" algn="l"/>
                        </a:tabLst>
                        <a:defRPr/>
                      </a:pPr>
                      <a:r>
                        <a:rPr kumimoji="1" lang="en-US" altLang="ja-JP" sz="800" b="0" kern="100" dirty="0">
                          <a:solidFill>
                            <a:schemeClr val="tx1"/>
                          </a:solidFill>
                          <a:effectLst/>
                          <a:latin typeface="+mn-lt"/>
                          <a:ea typeface="ＭＳ 明朝" panose="02020609040205080304" pitchFamily="17" charset="-128"/>
                          <a:cs typeface="Times New Roman" panose="02020603050405020304" pitchFamily="18" charset="0"/>
                        </a:rPr>
                        <a:t>G1OCP</a:t>
                      </a:r>
                      <a:endParaRPr kumimoji="1" lang="ja-JP" altLang="ja-JP" sz="800" b="0" kern="100" dirty="0">
                        <a:solidFill>
                          <a:schemeClr val="tx1"/>
                        </a:solidFill>
                        <a:effectLst/>
                        <a:latin typeface="+mn-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11125208"/>
                  </a:ext>
                </a:extLst>
              </a:tr>
              <a:tr h="120012">
                <a:tc vMerge="1">
                  <a:txBody>
                    <a:bodyPr/>
                    <a:lstStyle/>
                    <a:p>
                      <a:pPr algn="ctr">
                        <a:tabLst>
                          <a:tab pos="215900" algn="l"/>
                        </a:tabLst>
                      </a:pPr>
                      <a:endParaRPr lang="ja-JP" sz="800" b="0" dirty="0">
                        <a:solidFill>
                          <a:schemeClr val="tx1"/>
                        </a:solidFill>
                        <a:effectLst/>
                        <a:latin typeface="+mj-lt"/>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L2C/A</a:t>
                      </a:r>
                      <a:endParaRPr lang="ja-JP" sz="800" b="0" dirty="0">
                        <a:solidFill>
                          <a:schemeClr val="tx1"/>
                        </a:solidFill>
                        <a:effectLst/>
                        <a:latin typeface="+mj-lt"/>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G2CA</a:t>
                      </a:r>
                      <a:endParaRPr lang="ja-JP" sz="800" b="0" dirty="0">
                        <a:solidFill>
                          <a:schemeClr val="tx1"/>
                        </a:solidFill>
                        <a:effectLst/>
                        <a:latin typeface="+mj-lt"/>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90172459"/>
                  </a:ext>
                </a:extLst>
              </a:tr>
              <a:tr h="120012">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tab pos="215900" algn="l"/>
                        </a:tabLst>
                        <a:defRPr/>
                      </a:pPr>
                      <a:endParaRPr kumimoji="1" lang="ja-JP" altLang="ja-JP" sz="800" b="0" kern="100" dirty="0">
                        <a:solidFill>
                          <a:schemeClr val="tx1"/>
                        </a:solidFill>
                        <a:effectLst/>
                        <a:latin typeface="+mn-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tab pos="215900" algn="l"/>
                        </a:tabLst>
                        <a:defRPr/>
                      </a:pPr>
                      <a:r>
                        <a:rPr kumimoji="1" lang="en-US" altLang="ja-JP" sz="800" b="0" kern="100" dirty="0">
                          <a:solidFill>
                            <a:schemeClr val="tx1"/>
                          </a:solidFill>
                          <a:effectLst/>
                          <a:latin typeface="+mn-lt"/>
                          <a:ea typeface="ＭＳ 明朝" panose="02020609040205080304" pitchFamily="17" charset="-128"/>
                          <a:cs typeface="Times New Roman" panose="02020603050405020304" pitchFamily="18" charset="0"/>
                        </a:rPr>
                        <a:t>L2OCp</a:t>
                      </a:r>
                      <a:endParaRPr kumimoji="1" lang="ja-JP" altLang="ja-JP" sz="800" b="0" kern="100" dirty="0">
                        <a:solidFill>
                          <a:schemeClr val="tx1"/>
                        </a:solidFill>
                        <a:effectLst/>
                        <a:latin typeface="+mn-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tab pos="215900" algn="l"/>
                        </a:tabLst>
                        <a:defRPr/>
                      </a:pPr>
                      <a:r>
                        <a:rPr kumimoji="1" lang="en-US" altLang="ja-JP" sz="800" b="0" kern="100" dirty="0">
                          <a:solidFill>
                            <a:schemeClr val="tx1"/>
                          </a:solidFill>
                          <a:effectLst/>
                          <a:latin typeface="+mn-lt"/>
                          <a:ea typeface="ＭＳ 明朝" panose="02020609040205080304" pitchFamily="17" charset="-128"/>
                          <a:cs typeface="Times New Roman" panose="02020603050405020304" pitchFamily="18" charset="0"/>
                        </a:rPr>
                        <a:t>G2OCP</a:t>
                      </a:r>
                      <a:endParaRPr kumimoji="1" lang="ja-JP" altLang="ja-JP" sz="800" b="0" kern="100" dirty="0">
                        <a:solidFill>
                          <a:schemeClr val="tx1"/>
                        </a:solidFill>
                        <a:effectLst/>
                        <a:latin typeface="+mn-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44856497"/>
                  </a:ext>
                </a:extLst>
              </a:tr>
              <a:tr h="120012">
                <a:tc vMerge="1">
                  <a:txBody>
                    <a:bodyPr/>
                    <a:lstStyle/>
                    <a:p>
                      <a:pPr algn="ctr">
                        <a:spcAft>
                          <a:spcPts val="0"/>
                        </a:spcAft>
                        <a:tabLst>
                          <a:tab pos="215900" algn="l"/>
                        </a:tabLst>
                      </a:pP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L3OCd</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G3OCD</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96164490"/>
                  </a:ext>
                </a:extLst>
              </a:tr>
              <a:tr h="120012">
                <a:tc vMerge="1">
                  <a:txBody>
                    <a:bodyPr/>
                    <a:lstStyle/>
                    <a:p>
                      <a:pPr algn="ctr">
                        <a:spcAft>
                          <a:spcPts val="0"/>
                        </a:spcAft>
                        <a:tabLst>
                          <a:tab pos="215900" algn="l"/>
                        </a:tabLst>
                      </a:pP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L3OCp</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G3OCP</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77547305"/>
                  </a:ext>
                </a:extLst>
              </a:tr>
              <a:tr h="120012">
                <a:tc rowSpan="9">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Galileo</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E1-B</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E1B</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41644989"/>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E1-C</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E1C</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93830869"/>
                  </a:ext>
                </a:extLst>
              </a:tr>
              <a:tr h="120012">
                <a:tc vMerge="1">
                  <a:txBody>
                    <a:bodyPr/>
                    <a:lstStyle/>
                    <a:p>
                      <a:pPr algn="ctr">
                        <a:spcAft>
                          <a:spcPts val="0"/>
                        </a:spcAft>
                        <a:tabLst>
                          <a:tab pos="215900" algn="l"/>
                        </a:tabLst>
                      </a:pP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E5a-I</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E5AI</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9555071"/>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E5a-Q</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E5AQ</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91262587"/>
                  </a:ext>
                </a:extLst>
              </a:tr>
              <a:tr h="120012">
                <a:tc vMerge="1">
                  <a:txBody>
                    <a:bodyPr/>
                    <a:lstStyle/>
                    <a:p>
                      <a:pPr algn="ctr">
                        <a:spcAft>
                          <a:spcPts val="0"/>
                        </a:spcAft>
                        <a:tabLst>
                          <a:tab pos="215900" algn="l"/>
                        </a:tabLst>
                      </a:pP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err="1">
                          <a:solidFill>
                            <a:schemeClr val="tx1"/>
                          </a:solidFill>
                          <a:effectLst/>
                          <a:latin typeface="+mj-lt"/>
                          <a:ea typeface="ＭＳ 明朝" panose="02020609040205080304" pitchFamily="17" charset="-128"/>
                          <a:cs typeface="Times New Roman" panose="02020603050405020304" pitchFamily="18" charset="0"/>
                        </a:rPr>
                        <a:t>E5AltBOC</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err="1">
                          <a:solidFill>
                            <a:schemeClr val="tx1"/>
                          </a:solidFill>
                          <a:effectLst/>
                          <a:latin typeface="+mj-lt"/>
                          <a:ea typeface="ＭＳ 明朝" panose="02020609040205080304" pitchFamily="17" charset="-128"/>
                          <a:cs typeface="Times New Roman" panose="02020603050405020304" pitchFamily="18" charset="0"/>
                        </a:rPr>
                        <a:t>E5ABQ</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30682590"/>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E5b-I</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E5BI</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01054489"/>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E5b-Q</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E5BQ</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75092404"/>
                  </a:ext>
                </a:extLst>
              </a:tr>
              <a:tr h="120012">
                <a:tc vMerge="1">
                  <a:txBody>
                    <a:bodyPr/>
                    <a:lstStyle/>
                    <a:p>
                      <a:endParaRPr kumimoji="1" lang="ja-JP" altLang="en-US"/>
                    </a:p>
                  </a:txBody>
                  <a:tcPr/>
                </a:tc>
                <a:tc>
                  <a:txBody>
                    <a:bodyPr/>
                    <a:lstStyle/>
                    <a:p>
                      <a:pPr algn="ctr">
                        <a:tabLst>
                          <a:tab pos="215900" algn="l"/>
                        </a:tabLst>
                      </a:pPr>
                      <a:r>
                        <a:rPr lang="en-US" altLang="ja-JP" sz="800" b="0" dirty="0">
                          <a:solidFill>
                            <a:schemeClr val="tx1"/>
                          </a:solidFill>
                          <a:effectLst/>
                          <a:latin typeface="+mj-lt"/>
                        </a:rPr>
                        <a:t>E6-B</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E6B</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899325197"/>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E6-C</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E6C</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20253755"/>
                  </a:ext>
                </a:extLst>
              </a:tr>
              <a:tr h="120012">
                <a:tc rowSpan="14">
                  <a:txBody>
                    <a:bodyPr/>
                    <a:lstStyle/>
                    <a:p>
                      <a:pPr algn="ctr">
                        <a:tabLst>
                          <a:tab pos="215900" algn="l"/>
                        </a:tabLst>
                      </a:pPr>
                      <a:r>
                        <a:rPr lang="en-US" altLang="ja-JP" sz="800" b="0" dirty="0">
                          <a:solidFill>
                            <a:schemeClr val="tx1"/>
                          </a:solidFill>
                          <a:effectLst/>
                          <a:latin typeface="+mj-lt"/>
                        </a:rPr>
                        <a:t>QZSS</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L1C/A</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L1CA</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55145026"/>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L1C/B</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L1CB</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912676401"/>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L1C-D</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L1CD</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29876249"/>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L1C-P</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L1CP</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944089620"/>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L1S</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L1S</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70114011"/>
                  </a:ext>
                </a:extLst>
              </a:tr>
              <a:tr h="120012">
                <a:tc vMerge="1">
                  <a:txBody>
                    <a:bodyPr/>
                    <a:lstStyle/>
                    <a:p>
                      <a:endParaRPr kumimoji="1" lang="ja-JP" altLang="en-US"/>
                    </a:p>
                  </a:txBody>
                  <a:tcPr/>
                </a:tc>
                <a:tc>
                  <a:txBody>
                    <a:bodyPr/>
                    <a:lstStyle/>
                    <a:p>
                      <a:pPr algn="ctr">
                        <a:tabLst>
                          <a:tab pos="215900" algn="l"/>
                        </a:tabLst>
                      </a:pPr>
                      <a:r>
                        <a:rPr lang="en-US" altLang="ja-JP" sz="800" b="0" dirty="0">
                          <a:solidFill>
                            <a:schemeClr val="tx1"/>
                          </a:solidFill>
                          <a:effectLst/>
                          <a:latin typeface="+mj-lt"/>
                        </a:rPr>
                        <a:t>L2C-M</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L2CM</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33735737"/>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L5-I</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L5I</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84841545"/>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L5Q</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L5Q</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74346345"/>
                  </a:ext>
                </a:extLst>
              </a:tr>
              <a:tr h="133786">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rowSpan="2">
                  <a:txBody>
                    <a:bodyPr/>
                    <a:lstStyle/>
                    <a:p>
                      <a:pPr algn="ctr">
                        <a:tabLst>
                          <a:tab pos="215900" algn="l"/>
                        </a:tabLst>
                      </a:pPr>
                      <a:r>
                        <a:rPr lang="en-US" altLang="ja-JP" sz="800" b="0" dirty="0">
                          <a:solidFill>
                            <a:schemeClr val="tx1"/>
                          </a:solidFill>
                          <a:effectLst/>
                          <a:latin typeface="+mj-lt"/>
                        </a:rPr>
                        <a:t>L5S-I</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L5SI </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39362452"/>
                  </a:ext>
                </a:extLst>
              </a:tr>
              <a:tr h="133786">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kumimoji="1" lang="en-US" altLang="ja-JP" sz="800" b="0" kern="1200" dirty="0">
                          <a:solidFill>
                            <a:schemeClr val="tx1"/>
                          </a:solidFill>
                          <a:effectLst/>
                          <a:latin typeface="+mn-lt"/>
                          <a:ea typeface="+mn-ea"/>
                          <a:cs typeface="+mn-cs"/>
                        </a:rPr>
                        <a:t>L5SIV</a:t>
                      </a:r>
                      <a:r>
                        <a:rPr kumimoji="1" lang="en-US" altLang="ja-JP" sz="800" b="0" kern="1200" baseline="30000" dirty="0">
                          <a:solidFill>
                            <a:schemeClr val="tx1"/>
                          </a:solidFill>
                          <a:effectLst/>
                          <a:latin typeface="+mn-lt"/>
                          <a:ea typeface="+mn-ea"/>
                          <a:cs typeface="+mn-cs"/>
                        </a:rPr>
                        <a:t>*2</a:t>
                      </a:r>
                      <a:endParaRPr lang="ja-JP" sz="800" b="0" baseline="3000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75975577"/>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rowSpan="2">
                  <a:txBody>
                    <a:bodyPr/>
                    <a:lstStyle/>
                    <a:p>
                      <a:pPr algn="ctr">
                        <a:tabLst>
                          <a:tab pos="215900" algn="l"/>
                        </a:tabLst>
                      </a:pPr>
                      <a:r>
                        <a:rPr lang="en-US" altLang="ja-JP" sz="800" b="0" dirty="0">
                          <a:solidFill>
                            <a:schemeClr val="tx1"/>
                          </a:solidFill>
                          <a:effectLst/>
                          <a:latin typeface="+mj-lt"/>
                        </a:rPr>
                        <a:t>L5S-Q</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L5SQ </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88740630"/>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kumimoji="1" lang="en-US" altLang="ja-JP" sz="800" b="0" kern="1200" dirty="0">
                          <a:solidFill>
                            <a:schemeClr val="tx1"/>
                          </a:solidFill>
                          <a:effectLst/>
                          <a:latin typeface="+mn-lt"/>
                          <a:ea typeface="+mn-ea"/>
                          <a:cs typeface="+mn-cs"/>
                        </a:rPr>
                        <a:t>L5SQV</a:t>
                      </a:r>
                      <a:r>
                        <a:rPr kumimoji="1" lang="en-US" altLang="ja-JP" sz="800" b="0" kern="1200" baseline="30000" dirty="0">
                          <a:solidFill>
                            <a:schemeClr val="tx1"/>
                          </a:solidFill>
                          <a:effectLst/>
                          <a:latin typeface="+mn-lt"/>
                          <a:ea typeface="+mn-ea"/>
                          <a:cs typeface="+mn-cs"/>
                        </a:rPr>
                        <a:t>*2</a:t>
                      </a:r>
                      <a:endParaRPr lang="ja-JP" sz="800" b="0" baseline="3000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880127000"/>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L6D</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L6D</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89035172"/>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L6E</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L6E</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19272809"/>
                  </a:ext>
                </a:extLst>
              </a:tr>
            </a:tbl>
          </a:graphicData>
        </a:graphic>
      </p:graphicFrame>
      <p:graphicFrame>
        <p:nvGraphicFramePr>
          <p:cNvPr id="18" name="表 17">
            <a:extLst>
              <a:ext uri="{FF2B5EF4-FFF2-40B4-BE49-F238E27FC236}">
                <a16:creationId xmlns:a16="http://schemas.microsoft.com/office/drawing/2014/main" id="{A759E998-367F-7C34-B62E-ED545D01C51F}"/>
              </a:ext>
            </a:extLst>
          </p:cNvPr>
          <p:cNvGraphicFramePr>
            <a:graphicFrameLocks noGrp="1"/>
          </p:cNvGraphicFramePr>
          <p:nvPr>
            <p:extLst>
              <p:ext uri="{D42A27DB-BD31-4B8C-83A1-F6EECF244321}">
                <p14:modId xmlns:p14="http://schemas.microsoft.com/office/powerpoint/2010/main" val="1991184554"/>
              </p:ext>
            </p:extLst>
          </p:nvPr>
        </p:nvGraphicFramePr>
        <p:xfrm>
          <a:off x="7257519" y="1299071"/>
          <a:ext cx="1429281" cy="4777440"/>
        </p:xfrm>
        <a:graphic>
          <a:graphicData uri="http://schemas.openxmlformats.org/drawingml/2006/table">
            <a:tbl>
              <a:tblPr firstRow="1">
                <a:tableStyleId>{5C22544A-7EE6-4342-B048-85BDC9FD1C3A}</a:tableStyleId>
              </a:tblPr>
              <a:tblGrid>
                <a:gridCol w="476427">
                  <a:extLst>
                    <a:ext uri="{9D8B030D-6E8A-4147-A177-3AD203B41FA5}">
                      <a16:colId xmlns:a16="http://schemas.microsoft.com/office/drawing/2014/main" val="1765780128"/>
                    </a:ext>
                  </a:extLst>
                </a:gridCol>
                <a:gridCol w="476427">
                  <a:extLst>
                    <a:ext uri="{9D8B030D-6E8A-4147-A177-3AD203B41FA5}">
                      <a16:colId xmlns:a16="http://schemas.microsoft.com/office/drawing/2014/main" val="1995438080"/>
                    </a:ext>
                  </a:extLst>
                </a:gridCol>
                <a:gridCol w="476427">
                  <a:extLst>
                    <a:ext uri="{9D8B030D-6E8A-4147-A177-3AD203B41FA5}">
                      <a16:colId xmlns:a16="http://schemas.microsoft.com/office/drawing/2014/main" val="3446938354"/>
                    </a:ext>
                  </a:extLst>
                </a:gridCol>
              </a:tblGrid>
              <a:tr h="120012">
                <a:tc>
                  <a:txBody>
                    <a:bodyPr/>
                    <a:lstStyle/>
                    <a:p>
                      <a:pPr algn="ctr">
                        <a:tabLst>
                          <a:tab pos="215900" algn="l"/>
                        </a:tabLst>
                      </a:pPr>
                      <a:r>
                        <a:rPr lang="en-US" altLang="ja-JP" sz="800" b="1" dirty="0">
                          <a:solidFill>
                            <a:schemeClr val="tx1"/>
                          </a:solidFill>
                          <a:effectLst/>
                          <a:latin typeface="+mj-lt"/>
                        </a:rPr>
                        <a:t>System</a:t>
                      </a:r>
                      <a:endParaRPr lang="ja-JP" sz="800" b="1" dirty="0">
                        <a:solidFill>
                          <a:schemeClr val="tx1"/>
                        </a:solidFill>
                        <a:effectLst/>
                        <a:latin typeface="+mj-lt"/>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tabLst>
                          <a:tab pos="215900" algn="l"/>
                        </a:tabLst>
                      </a:pPr>
                      <a:r>
                        <a:rPr lang="en-US" altLang="ja-JP" sz="800" b="1" dirty="0">
                          <a:solidFill>
                            <a:schemeClr val="tx1"/>
                          </a:solidFill>
                          <a:effectLst/>
                          <a:latin typeface="+mj-lt"/>
                        </a:rPr>
                        <a:t>Signal</a:t>
                      </a:r>
                      <a:endParaRPr lang="ja-JP" sz="800" b="1" dirty="0">
                        <a:solidFill>
                          <a:schemeClr val="tx1"/>
                        </a:solidFill>
                        <a:effectLst/>
                        <a:latin typeface="+mj-lt"/>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tabLst>
                          <a:tab pos="215900" algn="l"/>
                        </a:tabLst>
                      </a:pPr>
                      <a:r>
                        <a:rPr lang="en-US" altLang="ja-JP" sz="800" b="1" dirty="0">
                          <a:solidFill>
                            <a:schemeClr val="tx1"/>
                          </a:solidFill>
                          <a:effectLst/>
                          <a:latin typeface="+mj-lt"/>
                        </a:rPr>
                        <a:t>Signal ID</a:t>
                      </a:r>
                      <a:endParaRPr lang="ja-JP" sz="800" b="1" dirty="0">
                        <a:solidFill>
                          <a:schemeClr val="tx1"/>
                        </a:solidFill>
                        <a:effectLst/>
                        <a:latin typeface="+mj-lt"/>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23222389"/>
                  </a:ext>
                </a:extLst>
              </a:tr>
              <a:tr h="120012">
                <a:tc rowSpan="8">
                  <a:txBody>
                    <a:bodyPr/>
                    <a:lstStyle/>
                    <a:p>
                      <a:pPr algn="ctr">
                        <a:tabLst>
                          <a:tab pos="215900" algn="l"/>
                        </a:tabLst>
                      </a:pPr>
                      <a:r>
                        <a:rPr lang="en-US" altLang="ja-JP" sz="800" b="0" dirty="0" err="1">
                          <a:solidFill>
                            <a:schemeClr val="tx1"/>
                          </a:solidFill>
                          <a:effectLst/>
                          <a:latin typeface="+mj-lt"/>
                        </a:rPr>
                        <a:t>BeiDou</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B1I</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B1I</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8172258"/>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B1C-D</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B1CD</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871471795"/>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B1C-P</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B1CP</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308905740"/>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B2a-D</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B2AD</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95967247"/>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B2a-P</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B2AP</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55385120"/>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B2I</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B2I</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17104798"/>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B2b-I</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B2BI</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86126213"/>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B3I</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B3I</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71568984"/>
                  </a:ext>
                </a:extLst>
              </a:tr>
              <a:tr h="120012">
                <a:tc rowSpan="4">
                  <a:txBody>
                    <a:bodyPr/>
                    <a:lstStyle/>
                    <a:p>
                      <a:pPr algn="ctr">
                        <a:tabLst>
                          <a:tab pos="215900" algn="l"/>
                        </a:tabLst>
                      </a:pPr>
                      <a:r>
                        <a:rPr lang="en-US" altLang="ja-JP" sz="800" b="0" dirty="0" err="1">
                          <a:solidFill>
                            <a:schemeClr val="tx1"/>
                          </a:solidFill>
                          <a:effectLst/>
                          <a:latin typeface="+mj-lt"/>
                        </a:rPr>
                        <a:t>NavIC</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L1-SPS-D</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I1SD</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3922625"/>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L1-SPS-P</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I1SP</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97003427"/>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L5-SPS</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I5S</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594822352"/>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S-SPS</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ISS</a:t>
                      </a:r>
                      <a:r>
                        <a:rPr lang="en-US" altLang="ja-JP" sz="800" b="0" baseline="30000" dirty="0">
                          <a:solidFill>
                            <a:schemeClr val="tx1"/>
                          </a:solidFill>
                          <a:effectLst/>
                          <a:latin typeface="+mj-lt"/>
                        </a:rPr>
                        <a:t>*3</a:t>
                      </a:r>
                      <a:endParaRPr lang="ja-JP" sz="800" b="0" baseline="3000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524460719"/>
                  </a:ext>
                </a:extLst>
              </a:tr>
              <a:tr h="120012">
                <a:tc rowSpan="3">
                  <a:txBody>
                    <a:bodyPr/>
                    <a:lstStyle/>
                    <a:p>
                      <a:pPr algn="ctr">
                        <a:tabLst>
                          <a:tab pos="215900" algn="l"/>
                        </a:tabLst>
                      </a:pPr>
                      <a:r>
                        <a:rPr lang="en-US" altLang="ja-JP" sz="800" b="0" dirty="0">
                          <a:solidFill>
                            <a:schemeClr val="tx1"/>
                          </a:solidFill>
                          <a:effectLst/>
                          <a:latin typeface="+mj-lt"/>
                        </a:rPr>
                        <a:t>SBAS</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L1C/A</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L1CA</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8936936"/>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L5-I</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L5I</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79797086"/>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L5-Q</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L5Q</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51002840"/>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87015805"/>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40372124"/>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70248705"/>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84676429"/>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27901075"/>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66731586"/>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49872821"/>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5393741"/>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01510381"/>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56927019"/>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393665048"/>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304327265"/>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15201565"/>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64073314"/>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45512386"/>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583100988"/>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0166909"/>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62470172"/>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49219764"/>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00277299"/>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25226150"/>
                  </a:ext>
                </a:extLst>
              </a:tr>
            </a:tbl>
          </a:graphicData>
        </a:graphic>
      </p:graphicFrame>
      <p:sp>
        <p:nvSpPr>
          <p:cNvPr id="19" name="テキスト ボックス 18">
            <a:extLst>
              <a:ext uri="{FF2B5EF4-FFF2-40B4-BE49-F238E27FC236}">
                <a16:creationId xmlns:a16="http://schemas.microsoft.com/office/drawing/2014/main" id="{AC8EEA1A-4E57-951A-B8CD-29B7E4068E2B}"/>
              </a:ext>
            </a:extLst>
          </p:cNvPr>
          <p:cNvSpPr txBox="1"/>
          <p:nvPr/>
        </p:nvSpPr>
        <p:spPr>
          <a:xfrm>
            <a:off x="5810236" y="1110754"/>
            <a:ext cx="2894566" cy="184666"/>
          </a:xfrm>
          <a:prstGeom prst="rect">
            <a:avLst/>
          </a:prstGeom>
          <a:noFill/>
        </p:spPr>
        <p:txBody>
          <a:bodyPr wrap="square" lIns="0" tIns="0" rIns="0" bIns="0" rtlCol="0">
            <a:spAutoFit/>
          </a:bodyPr>
          <a:lstStyle/>
          <a:p>
            <a:pPr algn="ctr"/>
            <a:r>
              <a:rPr kumimoji="1" lang="en-US" altLang="ja-JP" sz="1200" dirty="0">
                <a:latin typeface="+mj-lt"/>
              </a:rPr>
              <a:t>Pocket SDR Signal ID Table</a:t>
            </a:r>
          </a:p>
        </p:txBody>
      </p:sp>
      <p:cxnSp>
        <p:nvCxnSpPr>
          <p:cNvPr id="20" name="直線コネクタ 19">
            <a:extLst>
              <a:ext uri="{FF2B5EF4-FFF2-40B4-BE49-F238E27FC236}">
                <a16:creationId xmlns:a16="http://schemas.microsoft.com/office/drawing/2014/main" id="{A62FC856-75C6-28C0-1768-2C963E224E91}"/>
              </a:ext>
            </a:extLst>
          </p:cNvPr>
          <p:cNvCxnSpPr>
            <a:cxnSpLocks/>
            <a:stCxn id="14" idx="1"/>
            <a:endCxn id="15" idx="3"/>
          </p:cNvCxnSpPr>
          <p:nvPr/>
        </p:nvCxnSpPr>
        <p:spPr>
          <a:xfrm flipH="1" flipV="1">
            <a:off x="2908854" y="4139324"/>
            <a:ext cx="582823" cy="453069"/>
          </a:xfrm>
          <a:prstGeom prst="line">
            <a:avLst/>
          </a:prstGeom>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F3DCD5E9-3413-3668-DE29-B72C79AC0F19}"/>
              </a:ext>
            </a:extLst>
          </p:cNvPr>
          <p:cNvSpPr txBox="1"/>
          <p:nvPr/>
        </p:nvSpPr>
        <p:spPr>
          <a:xfrm>
            <a:off x="1398106" y="5386854"/>
            <a:ext cx="3960441" cy="969496"/>
          </a:xfrm>
          <a:prstGeom prst="rect">
            <a:avLst/>
          </a:prstGeom>
          <a:noFill/>
        </p:spPr>
        <p:txBody>
          <a:bodyPr wrap="square" lIns="0" tIns="0" rIns="0" bIns="0" rtlCol="0">
            <a:spAutoFit/>
          </a:bodyPr>
          <a:lstStyle/>
          <a:p>
            <a:pPr algn="ctr"/>
            <a:r>
              <a:rPr lang="ja-JP" altLang="en-US" sz="900" dirty="0">
                <a:latin typeface="+mj-lt"/>
              </a:rPr>
              <a:t>*</a:t>
            </a:r>
            <a:r>
              <a:rPr lang="en-US" altLang="ja-JP" sz="900" dirty="0">
                <a:latin typeface="+mj-lt"/>
              </a:rPr>
              <a:t>1</a:t>
            </a:r>
            <a:r>
              <a:rPr lang="ja-JP" altLang="en-US" sz="900" dirty="0">
                <a:latin typeface="+mj-lt"/>
              </a:rPr>
              <a:t>  </a:t>
            </a:r>
            <a:r>
              <a:rPr lang="en-US" altLang="ja-JP" sz="900" dirty="0">
                <a:latin typeface="+mj-lt"/>
              </a:rPr>
              <a:t>For GPS, Galileo, </a:t>
            </a:r>
            <a:r>
              <a:rPr lang="en-US" altLang="ja-JP" sz="900" dirty="0" err="1">
                <a:latin typeface="+mj-lt"/>
              </a:rPr>
              <a:t>BeiDou</a:t>
            </a:r>
            <a:r>
              <a:rPr lang="en-US" altLang="ja-JP" sz="900" dirty="0">
                <a:latin typeface="+mj-lt"/>
              </a:rPr>
              <a:t>, </a:t>
            </a:r>
            <a:r>
              <a:rPr lang="en-US" altLang="ja-JP" sz="900" dirty="0" err="1">
                <a:latin typeface="+mj-lt"/>
              </a:rPr>
              <a:t>NavIC</a:t>
            </a:r>
            <a:r>
              <a:rPr lang="en-US" altLang="ja-JP" sz="900" dirty="0">
                <a:latin typeface="+mj-lt"/>
              </a:rPr>
              <a:t> and SBAS, these satellite numbers are the same as the signal PRN numbers. For GLONASS, use the frequency channel number (FCN) for FDMA signals and satellite slot number for CDMA signals instead separated by /. For QZSS, which has complicated satellite numbering, use SV IDs (1-5, 8, 9) or non-standard code numbers (6, 10) instead as the satellite numbers.</a:t>
            </a:r>
          </a:p>
          <a:p>
            <a:pPr algn="ctr"/>
            <a:r>
              <a:rPr lang="en-US" altLang="ja-JP" sz="900" dirty="0">
                <a:latin typeface="+mj-lt"/>
              </a:rPr>
              <a:t>*2  QZSS L5S verification mode signals</a:t>
            </a:r>
          </a:p>
          <a:p>
            <a:pPr algn="ctr"/>
            <a:r>
              <a:rPr lang="en-US" altLang="ja-JP" sz="900" dirty="0">
                <a:latin typeface="+mj-lt"/>
              </a:rPr>
              <a:t>*3  Pocket SDR FE currently does not support S-band signals  </a:t>
            </a:r>
          </a:p>
        </p:txBody>
      </p:sp>
      <p:sp>
        <p:nvSpPr>
          <p:cNvPr id="27" name="テキスト ボックス 26">
            <a:extLst>
              <a:ext uri="{FF2B5EF4-FFF2-40B4-BE49-F238E27FC236}">
                <a16:creationId xmlns:a16="http://schemas.microsoft.com/office/drawing/2014/main" id="{D7E185EE-195A-65C7-28AC-8F61C584C738}"/>
              </a:ext>
            </a:extLst>
          </p:cNvPr>
          <p:cNvSpPr txBox="1"/>
          <p:nvPr/>
        </p:nvSpPr>
        <p:spPr>
          <a:xfrm>
            <a:off x="3959932" y="1450508"/>
            <a:ext cx="1512168" cy="369332"/>
          </a:xfrm>
          <a:prstGeom prst="rect">
            <a:avLst/>
          </a:prstGeom>
          <a:noFill/>
        </p:spPr>
        <p:txBody>
          <a:bodyPr wrap="square" lIns="0" tIns="0" rIns="0" bIns="0" rtlCol="0">
            <a:spAutoFit/>
          </a:bodyPr>
          <a:lstStyle/>
          <a:p>
            <a:pPr algn="ctr"/>
            <a:r>
              <a:rPr kumimoji="1" lang="en-US" altLang="ja-JP" sz="1200" dirty="0">
                <a:latin typeface="+mj-lt"/>
              </a:rPr>
              <a:t>Link to Detailed GNSS Signal Table</a:t>
            </a:r>
            <a:endParaRPr kumimoji="1" lang="en-US" altLang="ja-JP" sz="900" dirty="0">
              <a:latin typeface="+mj-lt"/>
            </a:endParaRPr>
          </a:p>
        </p:txBody>
      </p:sp>
      <p:cxnSp>
        <p:nvCxnSpPr>
          <p:cNvPr id="28" name="直線コネクタ 27">
            <a:extLst>
              <a:ext uri="{FF2B5EF4-FFF2-40B4-BE49-F238E27FC236}">
                <a16:creationId xmlns:a16="http://schemas.microsoft.com/office/drawing/2014/main" id="{3A688F35-BC92-96B4-88C2-CBB5AEB1533D}"/>
              </a:ext>
            </a:extLst>
          </p:cNvPr>
          <p:cNvCxnSpPr>
            <a:cxnSpLocks/>
            <a:endCxn id="27" idx="2"/>
          </p:cNvCxnSpPr>
          <p:nvPr/>
        </p:nvCxnSpPr>
        <p:spPr>
          <a:xfrm flipH="1" flipV="1">
            <a:off x="4716016" y="1819840"/>
            <a:ext cx="238218" cy="529040"/>
          </a:xfrm>
          <a:prstGeom prst="line">
            <a:avLst/>
          </a:prstGeom>
        </p:spPr>
        <p:style>
          <a:lnRef idx="1">
            <a:schemeClr val="accent1"/>
          </a:lnRef>
          <a:fillRef idx="0">
            <a:schemeClr val="accent1"/>
          </a:fillRef>
          <a:effectRef idx="0">
            <a:schemeClr val="accent1"/>
          </a:effectRef>
          <a:fontRef idx="minor">
            <a:schemeClr val="tx1"/>
          </a:fontRef>
        </p:style>
      </p:cxnSp>
      <p:sp>
        <p:nvSpPr>
          <p:cNvPr id="12" name="正方形/長方形 11">
            <a:extLst>
              <a:ext uri="{FF2B5EF4-FFF2-40B4-BE49-F238E27FC236}">
                <a16:creationId xmlns:a16="http://schemas.microsoft.com/office/drawing/2014/main" id="{2198A0F3-6F8A-3CC6-7B39-3A4D21EA5EF5}"/>
              </a:ext>
            </a:extLst>
          </p:cNvPr>
          <p:cNvSpPr/>
          <p:nvPr/>
        </p:nvSpPr>
        <p:spPr>
          <a:xfrm>
            <a:off x="3471927" y="5000929"/>
            <a:ext cx="992061"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292B0BD6-FFA6-A069-AF63-99BD7184FF64}"/>
              </a:ext>
            </a:extLst>
          </p:cNvPr>
          <p:cNvSpPr txBox="1"/>
          <p:nvPr/>
        </p:nvSpPr>
        <p:spPr>
          <a:xfrm>
            <a:off x="1158540" y="5119435"/>
            <a:ext cx="1836204" cy="138499"/>
          </a:xfrm>
          <a:prstGeom prst="rect">
            <a:avLst/>
          </a:prstGeom>
          <a:noFill/>
        </p:spPr>
        <p:txBody>
          <a:bodyPr wrap="square" lIns="0" tIns="0" rIns="0" bIns="0" rtlCol="0">
            <a:spAutoFit/>
          </a:bodyPr>
          <a:lstStyle/>
          <a:p>
            <a:pPr algn="ctr"/>
            <a:r>
              <a:rPr kumimoji="1" lang="en-US" altLang="ja-JP" sz="900">
                <a:latin typeface="+mj-lt"/>
              </a:rPr>
              <a:t>Set or unset all systems and signals</a:t>
            </a:r>
            <a:endParaRPr kumimoji="1" lang="en-US" altLang="ja-JP" sz="500" dirty="0">
              <a:latin typeface="+mj-lt"/>
            </a:endParaRPr>
          </a:p>
        </p:txBody>
      </p:sp>
      <p:cxnSp>
        <p:nvCxnSpPr>
          <p:cNvPr id="17" name="直線コネクタ 16">
            <a:extLst>
              <a:ext uri="{FF2B5EF4-FFF2-40B4-BE49-F238E27FC236}">
                <a16:creationId xmlns:a16="http://schemas.microsoft.com/office/drawing/2014/main" id="{ECC8E928-159E-D44D-1151-14CDC6C8CB2B}"/>
              </a:ext>
            </a:extLst>
          </p:cNvPr>
          <p:cNvCxnSpPr>
            <a:cxnSpLocks/>
            <a:stCxn id="12" idx="1"/>
            <a:endCxn id="13" idx="3"/>
          </p:cNvCxnSpPr>
          <p:nvPr/>
        </p:nvCxnSpPr>
        <p:spPr>
          <a:xfrm flipH="1">
            <a:off x="2994744" y="5072937"/>
            <a:ext cx="477183" cy="11574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88930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E0E50-9589-CAE0-510A-564745E3F58E}"/>
            </a:ext>
          </a:extLst>
        </p:cNvPr>
        <p:cNvGrpSpPr/>
        <p:nvPr/>
      </p:nvGrpSpPr>
      <p:grpSpPr>
        <a:xfrm>
          <a:off x="0" y="0"/>
          <a:ext cx="0" cy="0"/>
          <a:chOff x="0" y="0"/>
          <a:chExt cx="0" cy="0"/>
        </a:xfrm>
      </p:grpSpPr>
      <p:pic>
        <p:nvPicPr>
          <p:cNvPr id="6" name="図 5">
            <a:extLst>
              <a:ext uri="{FF2B5EF4-FFF2-40B4-BE49-F238E27FC236}">
                <a16:creationId xmlns:a16="http://schemas.microsoft.com/office/drawing/2014/main" id="{D9DEE879-C5B9-9E75-9A8E-38FC9AE3D966}"/>
              </a:ext>
            </a:extLst>
          </p:cNvPr>
          <p:cNvPicPr>
            <a:picLocks noChangeAspect="1"/>
          </p:cNvPicPr>
          <p:nvPr/>
        </p:nvPicPr>
        <p:blipFill>
          <a:blip r:embed="rId2"/>
          <a:stretch>
            <a:fillRect/>
          </a:stretch>
        </p:blipFill>
        <p:spPr>
          <a:xfrm>
            <a:off x="2930621" y="2139593"/>
            <a:ext cx="3278886" cy="2634996"/>
          </a:xfrm>
          <a:prstGeom prst="rect">
            <a:avLst/>
          </a:prstGeom>
        </p:spPr>
      </p:pic>
      <p:sp>
        <p:nvSpPr>
          <p:cNvPr id="4" name="スライド番号プレースホルダー 3">
            <a:extLst>
              <a:ext uri="{FF2B5EF4-FFF2-40B4-BE49-F238E27FC236}">
                <a16:creationId xmlns:a16="http://schemas.microsoft.com/office/drawing/2014/main" id="{93FDE24E-77C2-0BD0-0C47-CFA8D90514E9}"/>
              </a:ext>
            </a:extLst>
          </p:cNvPr>
          <p:cNvSpPr>
            <a:spLocks noGrp="1"/>
          </p:cNvSpPr>
          <p:nvPr>
            <p:ph type="sldNum" sz="quarter" idx="11"/>
          </p:nvPr>
        </p:nvSpPr>
        <p:spPr/>
        <p:txBody>
          <a:bodyPr/>
          <a:lstStyle/>
          <a:p>
            <a:pPr>
              <a:defRPr/>
            </a:pPr>
            <a:fld id="{76B10B91-6492-4C08-AE87-F344306858DA}" type="slidenum">
              <a:rPr lang="ja-JP" altLang="en-US" smtClean="0"/>
              <a:pPr>
                <a:defRPr/>
              </a:pPr>
              <a:t>13</a:t>
            </a:fld>
            <a:endParaRPr lang="ja-JP" altLang="en-US" dirty="0"/>
          </a:p>
        </p:txBody>
      </p:sp>
      <p:sp>
        <p:nvSpPr>
          <p:cNvPr id="5" name="タイトル 1">
            <a:extLst>
              <a:ext uri="{FF2B5EF4-FFF2-40B4-BE49-F238E27FC236}">
                <a16:creationId xmlns:a16="http://schemas.microsoft.com/office/drawing/2014/main" id="{4CA668AD-9A35-EC0B-8996-0F3484D5E844}"/>
              </a:ext>
            </a:extLst>
          </p:cNvPr>
          <p:cNvSpPr>
            <a:spLocks noGrp="1"/>
          </p:cNvSpPr>
          <p:nvPr>
            <p:ph type="title"/>
          </p:nvPr>
        </p:nvSpPr>
        <p:spPr>
          <a:xfrm>
            <a:off x="457200" y="512676"/>
            <a:ext cx="8229600" cy="598078"/>
          </a:xfrm>
        </p:spPr>
        <p:txBody>
          <a:bodyPr/>
          <a:lstStyle/>
          <a:p>
            <a:r>
              <a:rPr kumimoji="1" lang="en-US" altLang="ja-JP" sz="2000" dirty="0">
                <a:solidFill>
                  <a:schemeClr val="tx1"/>
                </a:solidFill>
              </a:rPr>
              <a:t>System</a:t>
            </a:r>
            <a:r>
              <a:rPr kumimoji="1" lang="ja-JP" altLang="en-US" sz="2000" dirty="0">
                <a:solidFill>
                  <a:schemeClr val="tx1"/>
                </a:solidFill>
              </a:rPr>
              <a:t> </a:t>
            </a:r>
            <a:r>
              <a:rPr kumimoji="1" lang="en-US" altLang="ja-JP" sz="2000" dirty="0">
                <a:solidFill>
                  <a:schemeClr val="tx1"/>
                </a:solidFill>
              </a:rPr>
              <a:t>Options</a:t>
            </a:r>
            <a:r>
              <a:rPr kumimoji="1" lang="ja-JP" altLang="en-US" sz="2000" dirty="0">
                <a:solidFill>
                  <a:schemeClr val="tx1"/>
                </a:solidFill>
              </a:rPr>
              <a:t> </a:t>
            </a:r>
            <a:r>
              <a:rPr kumimoji="1" lang="en-US" altLang="ja-JP" sz="2000" dirty="0">
                <a:solidFill>
                  <a:schemeClr val="tx1"/>
                </a:solidFill>
              </a:rPr>
              <a:t>Dialog</a:t>
            </a:r>
            <a:endParaRPr kumimoji="1" lang="ja-JP" altLang="en-US" sz="2000" dirty="0">
              <a:solidFill>
                <a:schemeClr val="tx1"/>
              </a:solidFill>
            </a:endParaRPr>
          </a:p>
        </p:txBody>
      </p:sp>
      <p:sp>
        <p:nvSpPr>
          <p:cNvPr id="2" name="正方形/長方形 1">
            <a:extLst>
              <a:ext uri="{FF2B5EF4-FFF2-40B4-BE49-F238E27FC236}">
                <a16:creationId xmlns:a16="http://schemas.microsoft.com/office/drawing/2014/main" id="{B43C8277-F9F3-D538-E8E0-E84911F9085D}"/>
              </a:ext>
            </a:extLst>
          </p:cNvPr>
          <p:cNvSpPr/>
          <p:nvPr/>
        </p:nvSpPr>
        <p:spPr>
          <a:xfrm>
            <a:off x="3023826" y="2384884"/>
            <a:ext cx="3079605" cy="36072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97BD09BF-B5D2-F774-9514-068B6A941E85}"/>
              </a:ext>
            </a:extLst>
          </p:cNvPr>
          <p:cNvSpPr txBox="1"/>
          <p:nvPr/>
        </p:nvSpPr>
        <p:spPr>
          <a:xfrm>
            <a:off x="791580" y="1988840"/>
            <a:ext cx="1512168" cy="600164"/>
          </a:xfrm>
          <a:prstGeom prst="rect">
            <a:avLst/>
          </a:prstGeom>
          <a:noFill/>
        </p:spPr>
        <p:txBody>
          <a:bodyPr wrap="square" lIns="0" tIns="0" rIns="0" bIns="0" rtlCol="0">
            <a:spAutoFit/>
          </a:bodyPr>
          <a:lstStyle/>
          <a:p>
            <a:pPr algn="ctr"/>
            <a:r>
              <a:rPr kumimoji="1" lang="en-US" altLang="ja-JP" sz="1200" dirty="0">
                <a:latin typeface="+mj-lt"/>
              </a:rPr>
              <a:t>PVT Options Selection:</a:t>
            </a:r>
          </a:p>
          <a:p>
            <a:pPr algn="ctr"/>
            <a:r>
              <a:rPr lang="en-US" altLang="ja-JP" sz="900" dirty="0">
                <a:latin typeface="+mj-lt"/>
              </a:rPr>
              <a:t>Epoch Interval (s), Max Epoch Lag (s) and Elevation angle Mask (deg)</a:t>
            </a:r>
          </a:p>
        </p:txBody>
      </p:sp>
      <p:cxnSp>
        <p:nvCxnSpPr>
          <p:cNvPr id="10" name="直線コネクタ 9">
            <a:extLst>
              <a:ext uri="{FF2B5EF4-FFF2-40B4-BE49-F238E27FC236}">
                <a16:creationId xmlns:a16="http://schemas.microsoft.com/office/drawing/2014/main" id="{D58E18A5-171D-9D37-8C7D-9B8EB261D4AF}"/>
              </a:ext>
            </a:extLst>
          </p:cNvPr>
          <p:cNvCxnSpPr>
            <a:cxnSpLocks/>
            <a:stCxn id="2" idx="1"/>
            <a:endCxn id="8" idx="3"/>
          </p:cNvCxnSpPr>
          <p:nvPr/>
        </p:nvCxnSpPr>
        <p:spPr>
          <a:xfrm flipH="1" flipV="1">
            <a:off x="2303748" y="2288922"/>
            <a:ext cx="720078" cy="276322"/>
          </a:xfrm>
          <a:prstGeom prst="line">
            <a:avLst/>
          </a:prstGeom>
        </p:spPr>
        <p:style>
          <a:lnRef idx="1">
            <a:schemeClr val="accent1"/>
          </a:lnRef>
          <a:fillRef idx="0">
            <a:schemeClr val="accent1"/>
          </a:fillRef>
          <a:effectRef idx="0">
            <a:schemeClr val="accent1"/>
          </a:effectRef>
          <a:fontRef idx="minor">
            <a:schemeClr val="tx1"/>
          </a:fontRef>
        </p:style>
      </p:cxnSp>
      <p:sp>
        <p:nvSpPr>
          <p:cNvPr id="11" name="正方形/長方形 10">
            <a:extLst>
              <a:ext uri="{FF2B5EF4-FFF2-40B4-BE49-F238E27FC236}">
                <a16:creationId xmlns:a16="http://schemas.microsoft.com/office/drawing/2014/main" id="{9D5371D7-C0FC-5F0C-07D2-06B065F2E1C4}"/>
              </a:ext>
            </a:extLst>
          </p:cNvPr>
          <p:cNvSpPr/>
          <p:nvPr/>
        </p:nvSpPr>
        <p:spPr>
          <a:xfrm>
            <a:off x="3023827" y="2769662"/>
            <a:ext cx="3079605" cy="1136063"/>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6EC5B7D8-C79D-6FE5-A663-A60E2CA2E1BF}"/>
              </a:ext>
            </a:extLst>
          </p:cNvPr>
          <p:cNvSpPr txBox="1"/>
          <p:nvPr/>
        </p:nvSpPr>
        <p:spPr>
          <a:xfrm>
            <a:off x="457200" y="2789693"/>
            <a:ext cx="2285485" cy="2308324"/>
          </a:xfrm>
          <a:prstGeom prst="rect">
            <a:avLst/>
          </a:prstGeom>
          <a:noFill/>
        </p:spPr>
        <p:txBody>
          <a:bodyPr wrap="square" lIns="0" tIns="0" rIns="0" bIns="0" rtlCol="0">
            <a:spAutoFit/>
          </a:bodyPr>
          <a:lstStyle/>
          <a:p>
            <a:pPr algn="ctr"/>
            <a:r>
              <a:rPr kumimoji="1" lang="en-US" altLang="ja-JP" sz="1200" dirty="0">
                <a:latin typeface="+mj-lt"/>
              </a:rPr>
              <a:t>Signal Acquisition and Tracking Options Selection:</a:t>
            </a:r>
          </a:p>
          <a:p>
            <a:pPr algn="ctr"/>
            <a:r>
              <a:rPr lang="en-US" altLang="ja-JP" sz="900" dirty="0">
                <a:latin typeface="+mj-lt"/>
              </a:rPr>
              <a:t>Correlation Spacing (chip), Non-coherent Integration Time for Acquisition (s), Non-coherent Integration Time </a:t>
            </a:r>
            <a:r>
              <a:rPr lang="en-US" altLang="ja-JP" sz="900">
                <a:latin typeface="+mj-lt"/>
              </a:rPr>
              <a:t>for Assisited Acquisition (s), Non-coherent Integration Time for DLL </a:t>
            </a:r>
            <a:r>
              <a:rPr lang="en-US" altLang="ja-JP" sz="900" dirty="0">
                <a:latin typeface="+mj-lt"/>
              </a:rPr>
              <a:t>(</a:t>
            </a:r>
            <a:r>
              <a:rPr lang="en-US" altLang="ja-JP" sz="900">
                <a:latin typeface="+mj-lt"/>
              </a:rPr>
              <a:t>s), Coherent Integration Time for Pilot Signal (s),  </a:t>
            </a:r>
            <a:r>
              <a:rPr lang="en-US" altLang="ja-JP" sz="900" dirty="0">
                <a:latin typeface="+mj-lt"/>
              </a:rPr>
              <a:t>Loop filter bandwidth for DLL, PLL, FLL (wide-band) and FLL (narrow-band) (Hz), Max Doppler Frequency search range (Hz), C/N0 thresholds </a:t>
            </a:r>
            <a:r>
              <a:rPr lang="en-US" altLang="ja-JP" sz="900">
                <a:latin typeface="+mj-lt"/>
              </a:rPr>
              <a:t>for signal-lock, Assisted acquisition </a:t>
            </a:r>
            <a:r>
              <a:rPr lang="en-US" altLang="ja-JP" sz="900" dirty="0">
                <a:latin typeface="+mj-lt"/>
              </a:rPr>
              <a:t>or signal-lost decision (dB-Hz</a:t>
            </a:r>
            <a:r>
              <a:rPr lang="en-US" altLang="ja-JP" sz="900">
                <a:latin typeface="+mj-lt"/>
              </a:rPr>
              <a:t>), Carrier Lock Threshold as PLI (phase lock indicator), Lost Decision Count, Bump-Jump </a:t>
            </a:r>
            <a:r>
              <a:rPr lang="en-US" altLang="ja-JP" sz="900" dirty="0">
                <a:latin typeface="+mj-lt"/>
              </a:rPr>
              <a:t>for BOC modulation enabled or disabled, Max code length for direct acquisition (</a:t>
            </a:r>
            <a:r>
              <a:rPr lang="en-US" altLang="ja-JP" sz="900" dirty="0" err="1">
                <a:latin typeface="+mj-lt"/>
              </a:rPr>
              <a:t>ms</a:t>
            </a:r>
            <a:r>
              <a:rPr lang="en-US" altLang="ja-JP" sz="900" dirty="0">
                <a:latin typeface="+mj-lt"/>
              </a:rPr>
              <a:t>). </a:t>
            </a:r>
          </a:p>
        </p:txBody>
      </p:sp>
      <p:cxnSp>
        <p:nvCxnSpPr>
          <p:cNvPr id="15" name="直線コネクタ 14">
            <a:extLst>
              <a:ext uri="{FF2B5EF4-FFF2-40B4-BE49-F238E27FC236}">
                <a16:creationId xmlns:a16="http://schemas.microsoft.com/office/drawing/2014/main" id="{0659FD61-FCF4-34A5-9C6D-80520B34A654}"/>
              </a:ext>
            </a:extLst>
          </p:cNvPr>
          <p:cNvCxnSpPr>
            <a:cxnSpLocks/>
            <a:stCxn id="11" idx="1"/>
            <a:endCxn id="12" idx="3"/>
          </p:cNvCxnSpPr>
          <p:nvPr/>
        </p:nvCxnSpPr>
        <p:spPr>
          <a:xfrm flipH="1">
            <a:off x="2742685" y="3337694"/>
            <a:ext cx="281142" cy="606161"/>
          </a:xfrm>
          <a:prstGeom prst="line">
            <a:avLst/>
          </a:prstGeom>
        </p:spPr>
        <p:style>
          <a:lnRef idx="1">
            <a:schemeClr val="accent1"/>
          </a:lnRef>
          <a:fillRef idx="0">
            <a:schemeClr val="accent1"/>
          </a:fillRef>
          <a:effectRef idx="0">
            <a:schemeClr val="accent1"/>
          </a:effectRef>
          <a:fontRef idx="minor">
            <a:schemeClr val="tx1"/>
          </a:fontRef>
        </p:style>
      </p:cxnSp>
      <p:sp>
        <p:nvSpPr>
          <p:cNvPr id="17" name="正方形/長方形 16">
            <a:extLst>
              <a:ext uri="{FF2B5EF4-FFF2-40B4-BE49-F238E27FC236}">
                <a16:creationId xmlns:a16="http://schemas.microsoft.com/office/drawing/2014/main" id="{01BF7A03-10AF-8F46-334B-03744447A93F}"/>
              </a:ext>
            </a:extLst>
          </p:cNvPr>
          <p:cNvSpPr/>
          <p:nvPr/>
        </p:nvSpPr>
        <p:spPr>
          <a:xfrm>
            <a:off x="3023825" y="3925642"/>
            <a:ext cx="3079605" cy="221575"/>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233EAA50-387C-D331-8C83-625F09C3DE3A}"/>
              </a:ext>
            </a:extLst>
          </p:cNvPr>
          <p:cNvSpPr txBox="1"/>
          <p:nvPr/>
        </p:nvSpPr>
        <p:spPr>
          <a:xfrm>
            <a:off x="6643493" y="3723216"/>
            <a:ext cx="1512168" cy="877163"/>
          </a:xfrm>
          <a:prstGeom prst="rect">
            <a:avLst/>
          </a:prstGeom>
          <a:noFill/>
        </p:spPr>
        <p:txBody>
          <a:bodyPr wrap="square" lIns="0" tIns="0" rIns="0" bIns="0" rtlCol="0">
            <a:spAutoFit/>
          </a:bodyPr>
          <a:lstStyle/>
          <a:p>
            <a:pPr algn="ctr"/>
            <a:r>
              <a:rPr kumimoji="1" lang="en-US" altLang="ja-JP" sz="1200" dirty="0">
                <a:latin typeface="+mj-lt"/>
              </a:rPr>
              <a:t>FFTW Wisdom Path:</a:t>
            </a:r>
          </a:p>
          <a:p>
            <a:pPr algn="ctr"/>
            <a:r>
              <a:rPr lang="en-US" altLang="ja-JP" sz="900" dirty="0">
                <a:latin typeface="+mj-lt"/>
              </a:rPr>
              <a:t>FFTW wisdom file path to shorten the signal acquisition time. The file can be generated by the utility </a:t>
            </a:r>
            <a:r>
              <a:rPr lang="en-US" altLang="ja-JP" sz="900" dirty="0" err="1">
                <a:latin typeface="+mj-lt"/>
              </a:rPr>
              <a:t>fftw_wisdom</a:t>
            </a:r>
            <a:r>
              <a:rPr lang="en-US" altLang="ja-JP" sz="900" dirty="0">
                <a:latin typeface="+mj-lt"/>
              </a:rPr>
              <a:t> in the Pocket SDR package.</a:t>
            </a:r>
          </a:p>
        </p:txBody>
      </p:sp>
      <p:cxnSp>
        <p:nvCxnSpPr>
          <p:cNvPr id="21" name="直線コネクタ 20">
            <a:extLst>
              <a:ext uri="{FF2B5EF4-FFF2-40B4-BE49-F238E27FC236}">
                <a16:creationId xmlns:a16="http://schemas.microsoft.com/office/drawing/2014/main" id="{AEC420C4-DAE6-1F57-6A0B-4EB37FBBAC3B}"/>
              </a:ext>
            </a:extLst>
          </p:cNvPr>
          <p:cNvCxnSpPr>
            <a:cxnSpLocks/>
            <a:stCxn id="17" idx="3"/>
            <a:endCxn id="19" idx="1"/>
          </p:cNvCxnSpPr>
          <p:nvPr/>
        </p:nvCxnSpPr>
        <p:spPr>
          <a:xfrm>
            <a:off x="6103430" y="4036430"/>
            <a:ext cx="540063" cy="125368"/>
          </a:xfrm>
          <a:prstGeom prst="line">
            <a:avLst/>
          </a:prstGeom>
        </p:spPr>
        <p:style>
          <a:lnRef idx="1">
            <a:schemeClr val="accent1"/>
          </a:lnRef>
          <a:fillRef idx="0">
            <a:schemeClr val="accent1"/>
          </a:fillRef>
          <a:effectRef idx="0">
            <a:schemeClr val="accent1"/>
          </a:effectRef>
          <a:fontRef idx="minor">
            <a:schemeClr val="tx1"/>
          </a:fontRef>
        </p:style>
      </p:cxnSp>
      <p:sp>
        <p:nvSpPr>
          <p:cNvPr id="22" name="正方形/長方形 21">
            <a:extLst>
              <a:ext uri="{FF2B5EF4-FFF2-40B4-BE49-F238E27FC236}">
                <a16:creationId xmlns:a16="http://schemas.microsoft.com/office/drawing/2014/main" id="{4A68ACE7-AD9C-0A85-B463-60BEB41B6F99}"/>
              </a:ext>
            </a:extLst>
          </p:cNvPr>
          <p:cNvSpPr/>
          <p:nvPr/>
        </p:nvSpPr>
        <p:spPr>
          <a:xfrm>
            <a:off x="3023824" y="4167004"/>
            <a:ext cx="3079605" cy="221575"/>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27D77C76-098A-D10E-3C5C-C82B4C25821F}"/>
              </a:ext>
            </a:extLst>
          </p:cNvPr>
          <p:cNvSpPr txBox="1"/>
          <p:nvPr/>
        </p:nvSpPr>
        <p:spPr>
          <a:xfrm>
            <a:off x="6713269" y="4666667"/>
            <a:ext cx="1334085" cy="369332"/>
          </a:xfrm>
          <a:prstGeom prst="rect">
            <a:avLst/>
          </a:prstGeom>
          <a:noFill/>
        </p:spPr>
        <p:txBody>
          <a:bodyPr wrap="square" lIns="0" tIns="0" rIns="0" bIns="0" rtlCol="0">
            <a:spAutoFit/>
          </a:bodyPr>
          <a:lstStyle/>
          <a:p>
            <a:pPr algn="ctr"/>
            <a:r>
              <a:rPr kumimoji="1" lang="en-US" altLang="ja-JP" sz="1200" dirty="0">
                <a:latin typeface="+mj-lt"/>
              </a:rPr>
              <a:t>Receiver Specific Options</a:t>
            </a:r>
            <a:endParaRPr lang="en-US" altLang="ja-JP" sz="900" dirty="0">
              <a:latin typeface="+mj-lt"/>
            </a:endParaRPr>
          </a:p>
        </p:txBody>
      </p:sp>
      <p:cxnSp>
        <p:nvCxnSpPr>
          <p:cNvPr id="24" name="直線コネクタ 23">
            <a:extLst>
              <a:ext uri="{FF2B5EF4-FFF2-40B4-BE49-F238E27FC236}">
                <a16:creationId xmlns:a16="http://schemas.microsoft.com/office/drawing/2014/main" id="{8AB1099D-401C-1F9C-84B0-552CA388900C}"/>
              </a:ext>
            </a:extLst>
          </p:cNvPr>
          <p:cNvCxnSpPr>
            <a:cxnSpLocks/>
            <a:stCxn id="22" idx="3"/>
            <a:endCxn id="23" idx="1"/>
          </p:cNvCxnSpPr>
          <p:nvPr/>
        </p:nvCxnSpPr>
        <p:spPr>
          <a:xfrm>
            <a:off x="6103429" y="4277792"/>
            <a:ext cx="609840" cy="573541"/>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ECE27B66-981C-CA9D-40B4-F0DEF5B3BE9C}"/>
              </a:ext>
            </a:extLst>
          </p:cNvPr>
          <p:cNvCxnSpPr>
            <a:cxnSpLocks/>
            <a:stCxn id="26" idx="1"/>
          </p:cNvCxnSpPr>
          <p:nvPr/>
        </p:nvCxnSpPr>
        <p:spPr>
          <a:xfrm flipH="1">
            <a:off x="5983661" y="2806994"/>
            <a:ext cx="424543" cy="896365"/>
          </a:xfrm>
          <a:prstGeom prst="line">
            <a:avLst/>
          </a:prstGeom>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37578620-700C-2B84-A126-B666C9A0F3B5}"/>
              </a:ext>
            </a:extLst>
          </p:cNvPr>
          <p:cNvSpPr txBox="1"/>
          <p:nvPr/>
        </p:nvSpPr>
        <p:spPr>
          <a:xfrm>
            <a:off x="6408204" y="1999080"/>
            <a:ext cx="1944216" cy="1615827"/>
          </a:xfrm>
          <a:prstGeom prst="rect">
            <a:avLst/>
          </a:prstGeom>
          <a:noFill/>
        </p:spPr>
        <p:txBody>
          <a:bodyPr wrap="square" lIns="0" tIns="0" rIns="0" bIns="0" rtlCol="0">
            <a:spAutoFit/>
          </a:bodyPr>
          <a:lstStyle/>
          <a:p>
            <a:pPr algn="ctr"/>
            <a:r>
              <a:rPr kumimoji="1" lang="en-US" altLang="ja-JP" sz="1200" dirty="0">
                <a:latin typeface="+mj-lt"/>
              </a:rPr>
              <a:t>Signal Acquisition Mode Selection:</a:t>
            </a:r>
          </a:p>
          <a:p>
            <a:pPr algn="ctr"/>
            <a:r>
              <a:rPr lang="en-US" altLang="ja-JP" sz="900" b="1">
                <a:latin typeface="+mj-lt"/>
              </a:rPr>
              <a:t>Full</a:t>
            </a:r>
            <a:r>
              <a:rPr lang="en-US" altLang="ja-JP" sz="900">
                <a:latin typeface="+mj-lt"/>
              </a:rPr>
              <a:t>: </a:t>
            </a:r>
            <a:r>
              <a:rPr lang="en-US" altLang="ja-JP" sz="900" dirty="0">
                <a:latin typeface="+mj-lt"/>
              </a:rPr>
              <a:t>All PRN signals are searched.</a:t>
            </a:r>
            <a:br>
              <a:rPr lang="en-US" altLang="ja-JP" sz="900">
                <a:latin typeface="+mj-lt"/>
              </a:rPr>
            </a:br>
            <a:r>
              <a:rPr lang="en-US" altLang="ja-JP" sz="900" b="1">
                <a:latin typeface="+mj-lt"/>
              </a:rPr>
              <a:t>Fast</a:t>
            </a:r>
            <a:r>
              <a:rPr lang="en-US" altLang="ja-JP" sz="900">
                <a:latin typeface="+mj-lt"/>
              </a:rPr>
              <a:t>: </a:t>
            </a:r>
            <a:r>
              <a:rPr lang="en-US" altLang="ja-JP" sz="900" dirty="0">
                <a:latin typeface="+mj-lt"/>
              </a:rPr>
              <a:t>Only signals of visible satellites are searched for fast acquisition. The visibility is estimated with CPU time, last or current FIX position, almanac or ephemeris of each satellites. The Doppler also is decided by last or current refence oscillator freq. offset. So,</a:t>
            </a:r>
            <a:r>
              <a:rPr lang="en-US" altLang="ja-JP" sz="900" dirty="0"/>
              <a:t> if FE changed,</a:t>
            </a:r>
            <a:r>
              <a:rPr lang="en-US" altLang="ja-JP" sz="900" dirty="0">
                <a:latin typeface="+mj-lt"/>
              </a:rPr>
              <a:t> use Full-Search.   </a:t>
            </a:r>
          </a:p>
        </p:txBody>
      </p:sp>
      <p:sp>
        <p:nvSpPr>
          <p:cNvPr id="27" name="正方形/長方形 26">
            <a:extLst>
              <a:ext uri="{FF2B5EF4-FFF2-40B4-BE49-F238E27FC236}">
                <a16:creationId xmlns:a16="http://schemas.microsoft.com/office/drawing/2014/main" id="{C6872D40-4715-8E2B-C418-3B8885BF649B}"/>
              </a:ext>
            </a:extLst>
          </p:cNvPr>
          <p:cNvSpPr/>
          <p:nvPr/>
        </p:nvSpPr>
        <p:spPr>
          <a:xfrm>
            <a:off x="3023824" y="4564562"/>
            <a:ext cx="467080" cy="130835"/>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CF926D5F-6613-CA14-321B-EF42E7860DEE}"/>
              </a:ext>
            </a:extLst>
          </p:cNvPr>
          <p:cNvSpPr txBox="1"/>
          <p:nvPr/>
        </p:nvSpPr>
        <p:spPr>
          <a:xfrm>
            <a:off x="2742686" y="5124824"/>
            <a:ext cx="1518031" cy="184666"/>
          </a:xfrm>
          <a:prstGeom prst="rect">
            <a:avLst/>
          </a:prstGeom>
          <a:noFill/>
        </p:spPr>
        <p:txBody>
          <a:bodyPr wrap="square" lIns="0" tIns="0" rIns="0" bIns="0" rtlCol="0">
            <a:spAutoFit/>
          </a:bodyPr>
          <a:lstStyle/>
          <a:p>
            <a:pPr algn="ctr"/>
            <a:r>
              <a:rPr kumimoji="1" lang="en-US" altLang="ja-JP" sz="1200">
                <a:latin typeface="+mj-lt"/>
              </a:rPr>
              <a:t>Set all options default</a:t>
            </a:r>
            <a:endParaRPr lang="en-US" altLang="ja-JP" sz="900" dirty="0">
              <a:latin typeface="+mj-lt"/>
            </a:endParaRPr>
          </a:p>
        </p:txBody>
      </p:sp>
      <p:cxnSp>
        <p:nvCxnSpPr>
          <p:cNvPr id="29" name="直線コネクタ 28">
            <a:extLst>
              <a:ext uri="{FF2B5EF4-FFF2-40B4-BE49-F238E27FC236}">
                <a16:creationId xmlns:a16="http://schemas.microsoft.com/office/drawing/2014/main" id="{112FF667-2530-EE60-D8D8-9995054477B7}"/>
              </a:ext>
            </a:extLst>
          </p:cNvPr>
          <p:cNvCxnSpPr>
            <a:cxnSpLocks/>
            <a:stCxn id="27" idx="2"/>
            <a:endCxn id="28" idx="0"/>
          </p:cNvCxnSpPr>
          <p:nvPr/>
        </p:nvCxnSpPr>
        <p:spPr>
          <a:xfrm>
            <a:off x="3257364" y="4695397"/>
            <a:ext cx="244338" cy="42942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13956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6B99E-B527-07A8-D748-065A73404356}"/>
            </a:ext>
          </a:extLst>
        </p:cNvPr>
        <p:cNvGrpSpPr/>
        <p:nvPr/>
      </p:nvGrpSpPr>
      <p:grpSpPr>
        <a:xfrm>
          <a:off x="0" y="0"/>
          <a:ext cx="0" cy="0"/>
          <a:chOff x="0" y="0"/>
          <a:chExt cx="0" cy="0"/>
        </a:xfrm>
      </p:grpSpPr>
      <p:pic>
        <p:nvPicPr>
          <p:cNvPr id="6" name="図 5">
            <a:extLst>
              <a:ext uri="{FF2B5EF4-FFF2-40B4-BE49-F238E27FC236}">
                <a16:creationId xmlns:a16="http://schemas.microsoft.com/office/drawing/2014/main" id="{94B569DC-5DC8-D8E5-1EE5-6CC61FB8356D}"/>
              </a:ext>
            </a:extLst>
          </p:cNvPr>
          <p:cNvPicPr>
            <a:picLocks noChangeAspect="1"/>
          </p:cNvPicPr>
          <p:nvPr/>
        </p:nvPicPr>
        <p:blipFill>
          <a:blip r:embed="rId2"/>
          <a:stretch>
            <a:fillRect/>
          </a:stretch>
        </p:blipFill>
        <p:spPr>
          <a:xfrm>
            <a:off x="3524391" y="2006898"/>
            <a:ext cx="2090166" cy="3080766"/>
          </a:xfrm>
          <a:prstGeom prst="rect">
            <a:avLst/>
          </a:prstGeom>
        </p:spPr>
      </p:pic>
      <p:sp>
        <p:nvSpPr>
          <p:cNvPr id="4" name="スライド番号プレースホルダー 3">
            <a:extLst>
              <a:ext uri="{FF2B5EF4-FFF2-40B4-BE49-F238E27FC236}">
                <a16:creationId xmlns:a16="http://schemas.microsoft.com/office/drawing/2014/main" id="{0BE62124-55B3-275C-3217-0027BA4EF307}"/>
              </a:ext>
            </a:extLst>
          </p:cNvPr>
          <p:cNvSpPr>
            <a:spLocks noGrp="1"/>
          </p:cNvSpPr>
          <p:nvPr>
            <p:ph type="sldNum" sz="quarter" idx="11"/>
          </p:nvPr>
        </p:nvSpPr>
        <p:spPr/>
        <p:txBody>
          <a:bodyPr/>
          <a:lstStyle/>
          <a:p>
            <a:pPr>
              <a:defRPr/>
            </a:pPr>
            <a:fld id="{76B10B91-6492-4C08-AE87-F344306858DA}" type="slidenum">
              <a:rPr lang="ja-JP" altLang="en-US" smtClean="0"/>
              <a:pPr>
                <a:defRPr/>
              </a:pPr>
              <a:t>14</a:t>
            </a:fld>
            <a:endParaRPr lang="ja-JP" altLang="en-US" dirty="0"/>
          </a:p>
        </p:txBody>
      </p:sp>
      <p:sp>
        <p:nvSpPr>
          <p:cNvPr id="5" name="タイトル 1">
            <a:extLst>
              <a:ext uri="{FF2B5EF4-FFF2-40B4-BE49-F238E27FC236}">
                <a16:creationId xmlns:a16="http://schemas.microsoft.com/office/drawing/2014/main" id="{6B3BB69F-0116-9470-1EB4-CE3415495628}"/>
              </a:ext>
            </a:extLst>
          </p:cNvPr>
          <p:cNvSpPr>
            <a:spLocks noGrp="1"/>
          </p:cNvSpPr>
          <p:nvPr>
            <p:ph type="title"/>
          </p:nvPr>
        </p:nvSpPr>
        <p:spPr>
          <a:xfrm>
            <a:off x="457200" y="512676"/>
            <a:ext cx="8229600" cy="598078"/>
          </a:xfrm>
        </p:spPr>
        <p:txBody>
          <a:bodyPr/>
          <a:lstStyle/>
          <a:p>
            <a:r>
              <a:rPr kumimoji="1" lang="en-US" altLang="ja-JP" sz="2000" dirty="0">
                <a:solidFill>
                  <a:schemeClr val="tx1"/>
                </a:solidFill>
              </a:rPr>
              <a:t>Array</a:t>
            </a:r>
            <a:r>
              <a:rPr kumimoji="1" lang="ja-JP" altLang="en-US" sz="2000" dirty="0">
                <a:solidFill>
                  <a:schemeClr val="tx1"/>
                </a:solidFill>
              </a:rPr>
              <a:t> </a:t>
            </a:r>
            <a:r>
              <a:rPr kumimoji="1" lang="en-US" altLang="ja-JP" sz="2000" dirty="0">
                <a:solidFill>
                  <a:schemeClr val="tx1"/>
                </a:solidFill>
              </a:rPr>
              <a:t>Options</a:t>
            </a:r>
            <a:r>
              <a:rPr kumimoji="1" lang="ja-JP" altLang="en-US" sz="2000" dirty="0">
                <a:solidFill>
                  <a:schemeClr val="tx1"/>
                </a:solidFill>
              </a:rPr>
              <a:t> </a:t>
            </a:r>
            <a:r>
              <a:rPr kumimoji="1" lang="en-US" altLang="ja-JP" sz="2000" dirty="0">
                <a:solidFill>
                  <a:schemeClr val="tx1"/>
                </a:solidFill>
              </a:rPr>
              <a:t>Dialog</a:t>
            </a:r>
            <a:endParaRPr kumimoji="1" lang="ja-JP" altLang="en-US" sz="2000" dirty="0">
              <a:solidFill>
                <a:schemeClr val="tx1"/>
              </a:solidFill>
            </a:endParaRPr>
          </a:p>
        </p:txBody>
      </p:sp>
      <p:sp>
        <p:nvSpPr>
          <p:cNvPr id="2" name="正方形/長方形 1">
            <a:extLst>
              <a:ext uri="{FF2B5EF4-FFF2-40B4-BE49-F238E27FC236}">
                <a16:creationId xmlns:a16="http://schemas.microsoft.com/office/drawing/2014/main" id="{558A29D1-F8F8-9B96-FA1E-D43B9F4A1E9E}"/>
              </a:ext>
            </a:extLst>
          </p:cNvPr>
          <p:cNvSpPr/>
          <p:nvPr/>
        </p:nvSpPr>
        <p:spPr>
          <a:xfrm>
            <a:off x="3634928" y="2348880"/>
            <a:ext cx="1872208" cy="108919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34AA54FF-C3D8-C8EB-3A41-2CBA43099282}"/>
              </a:ext>
            </a:extLst>
          </p:cNvPr>
          <p:cNvSpPr txBox="1"/>
          <p:nvPr/>
        </p:nvSpPr>
        <p:spPr>
          <a:xfrm>
            <a:off x="1331640" y="2348880"/>
            <a:ext cx="1512168" cy="553998"/>
          </a:xfrm>
          <a:prstGeom prst="rect">
            <a:avLst/>
          </a:prstGeom>
          <a:noFill/>
        </p:spPr>
        <p:txBody>
          <a:bodyPr wrap="square" lIns="0" tIns="0" rIns="0" bIns="0" rtlCol="0">
            <a:spAutoFit/>
          </a:bodyPr>
          <a:lstStyle/>
          <a:p>
            <a:pPr algn="ctr"/>
            <a:r>
              <a:rPr kumimoji="1" lang="en-US" altLang="ja-JP" sz="1200" dirty="0">
                <a:latin typeface="+mj-lt"/>
              </a:rPr>
              <a:t>Array Element Horizontal Plot</a:t>
            </a:r>
          </a:p>
          <a:p>
            <a:pPr algn="ctr"/>
            <a:r>
              <a:rPr lang="en-US" altLang="ja-JP" sz="1200" dirty="0">
                <a:latin typeface="+mj-lt"/>
              </a:rPr>
              <a:t>(Antenna Geometry)</a:t>
            </a:r>
            <a:endParaRPr lang="en-US" altLang="ja-JP" sz="900" dirty="0">
              <a:latin typeface="+mj-lt"/>
            </a:endParaRPr>
          </a:p>
        </p:txBody>
      </p:sp>
      <p:cxnSp>
        <p:nvCxnSpPr>
          <p:cNvPr id="10" name="直線コネクタ 9">
            <a:extLst>
              <a:ext uri="{FF2B5EF4-FFF2-40B4-BE49-F238E27FC236}">
                <a16:creationId xmlns:a16="http://schemas.microsoft.com/office/drawing/2014/main" id="{0B8C6422-3F37-C6CD-4CD1-E90B4002C965}"/>
              </a:ext>
            </a:extLst>
          </p:cNvPr>
          <p:cNvCxnSpPr>
            <a:cxnSpLocks/>
            <a:stCxn id="2" idx="1"/>
            <a:endCxn id="8" idx="3"/>
          </p:cNvCxnSpPr>
          <p:nvPr/>
        </p:nvCxnSpPr>
        <p:spPr>
          <a:xfrm flipH="1" flipV="1">
            <a:off x="2843808" y="2625879"/>
            <a:ext cx="791120" cy="267599"/>
          </a:xfrm>
          <a:prstGeom prst="line">
            <a:avLst/>
          </a:prstGeom>
        </p:spPr>
        <p:style>
          <a:lnRef idx="1">
            <a:schemeClr val="accent1"/>
          </a:lnRef>
          <a:fillRef idx="0">
            <a:schemeClr val="accent1"/>
          </a:fillRef>
          <a:effectRef idx="0">
            <a:schemeClr val="accent1"/>
          </a:effectRef>
          <a:fontRef idx="minor">
            <a:schemeClr val="tx1"/>
          </a:fontRef>
        </p:style>
      </p:cxnSp>
      <p:sp>
        <p:nvSpPr>
          <p:cNvPr id="11" name="正方形/長方形 10">
            <a:extLst>
              <a:ext uri="{FF2B5EF4-FFF2-40B4-BE49-F238E27FC236}">
                <a16:creationId xmlns:a16="http://schemas.microsoft.com/office/drawing/2014/main" id="{30A7522A-8C80-9DA9-C2FF-C2A096019AEA}"/>
              </a:ext>
            </a:extLst>
          </p:cNvPr>
          <p:cNvSpPr/>
          <p:nvPr/>
        </p:nvSpPr>
        <p:spPr>
          <a:xfrm>
            <a:off x="3633370" y="3670982"/>
            <a:ext cx="1872208" cy="1073433"/>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4DE6A91D-E333-60D7-F24B-574046676D52}"/>
              </a:ext>
            </a:extLst>
          </p:cNvPr>
          <p:cNvSpPr txBox="1"/>
          <p:nvPr/>
        </p:nvSpPr>
        <p:spPr>
          <a:xfrm>
            <a:off x="5976156" y="4401108"/>
            <a:ext cx="1476164" cy="738664"/>
          </a:xfrm>
          <a:prstGeom prst="rect">
            <a:avLst/>
          </a:prstGeom>
          <a:noFill/>
        </p:spPr>
        <p:txBody>
          <a:bodyPr wrap="square" lIns="0" tIns="0" rIns="0" bIns="0" rtlCol="0">
            <a:spAutoFit/>
          </a:bodyPr>
          <a:lstStyle/>
          <a:p>
            <a:pPr algn="ctr"/>
            <a:r>
              <a:rPr kumimoji="1" lang="en-US" altLang="ja-JP" sz="1200" dirty="0">
                <a:latin typeface="+mj-lt"/>
              </a:rPr>
              <a:t>Enable/Disable and Positions X, Y, Z </a:t>
            </a:r>
            <a:r>
              <a:rPr lang="en-US" altLang="ja-JP" sz="1200" dirty="0">
                <a:latin typeface="+mj-lt"/>
              </a:rPr>
              <a:t>(m) in body-frame for each Antenna Element.</a:t>
            </a:r>
            <a:endParaRPr lang="en-US" altLang="ja-JP" sz="900" dirty="0">
              <a:latin typeface="+mj-lt"/>
            </a:endParaRPr>
          </a:p>
        </p:txBody>
      </p:sp>
      <p:cxnSp>
        <p:nvCxnSpPr>
          <p:cNvPr id="21" name="直線コネクタ 20">
            <a:extLst>
              <a:ext uri="{FF2B5EF4-FFF2-40B4-BE49-F238E27FC236}">
                <a16:creationId xmlns:a16="http://schemas.microsoft.com/office/drawing/2014/main" id="{1854FF81-0D94-DE82-7C23-AC340AD18F66}"/>
              </a:ext>
            </a:extLst>
          </p:cNvPr>
          <p:cNvCxnSpPr>
            <a:cxnSpLocks/>
            <a:stCxn id="11" idx="3"/>
            <a:endCxn id="19" idx="1"/>
          </p:cNvCxnSpPr>
          <p:nvPr/>
        </p:nvCxnSpPr>
        <p:spPr>
          <a:xfrm>
            <a:off x="5505578" y="4207699"/>
            <a:ext cx="470578" cy="562741"/>
          </a:xfrm>
          <a:prstGeom prst="line">
            <a:avLst/>
          </a:prstGeom>
        </p:spPr>
        <p:style>
          <a:lnRef idx="1">
            <a:schemeClr val="accent1"/>
          </a:lnRef>
          <a:fillRef idx="0">
            <a:schemeClr val="accent1"/>
          </a:fillRef>
          <a:effectRef idx="0">
            <a:schemeClr val="accent1"/>
          </a:effectRef>
          <a:fontRef idx="minor">
            <a:schemeClr val="tx1"/>
          </a:fontRef>
        </p:style>
      </p:cxnSp>
      <p:sp>
        <p:nvSpPr>
          <p:cNvPr id="16" name="正方形/長方形 15">
            <a:extLst>
              <a:ext uri="{FF2B5EF4-FFF2-40B4-BE49-F238E27FC236}">
                <a16:creationId xmlns:a16="http://schemas.microsoft.com/office/drawing/2014/main" id="{041170FB-8354-83AF-9E9F-3993E84961C7}"/>
              </a:ext>
            </a:extLst>
          </p:cNvPr>
          <p:cNvSpPr/>
          <p:nvPr/>
        </p:nvSpPr>
        <p:spPr>
          <a:xfrm>
            <a:off x="5076056" y="2220746"/>
            <a:ext cx="430112" cy="128514"/>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4E2E5FBD-0B9A-EEA1-0C50-E9A32FE47E36}"/>
              </a:ext>
            </a:extLst>
          </p:cNvPr>
          <p:cNvSpPr txBox="1"/>
          <p:nvPr/>
        </p:nvSpPr>
        <p:spPr>
          <a:xfrm>
            <a:off x="6048164" y="1951076"/>
            <a:ext cx="1512168" cy="369332"/>
          </a:xfrm>
          <a:prstGeom prst="rect">
            <a:avLst/>
          </a:prstGeom>
          <a:noFill/>
        </p:spPr>
        <p:txBody>
          <a:bodyPr wrap="square" lIns="0" tIns="0" rIns="0" bIns="0" rtlCol="0">
            <a:spAutoFit/>
          </a:bodyPr>
          <a:lstStyle/>
          <a:p>
            <a:pPr algn="ctr"/>
            <a:r>
              <a:rPr kumimoji="1" lang="en-US" altLang="ja-JP" sz="1200" dirty="0">
                <a:latin typeface="+mj-lt"/>
              </a:rPr>
              <a:t>Number of Array CH enabled.</a:t>
            </a:r>
            <a:endParaRPr lang="en-US" altLang="ja-JP" sz="900" dirty="0">
              <a:latin typeface="+mj-lt"/>
            </a:endParaRPr>
          </a:p>
        </p:txBody>
      </p:sp>
      <p:cxnSp>
        <p:nvCxnSpPr>
          <p:cNvPr id="20" name="直線コネクタ 19">
            <a:extLst>
              <a:ext uri="{FF2B5EF4-FFF2-40B4-BE49-F238E27FC236}">
                <a16:creationId xmlns:a16="http://schemas.microsoft.com/office/drawing/2014/main" id="{0F5B2A48-8FF9-D3F5-0F26-D6DB5C329E11}"/>
              </a:ext>
            </a:extLst>
          </p:cNvPr>
          <p:cNvCxnSpPr>
            <a:cxnSpLocks/>
            <a:stCxn id="16" idx="3"/>
            <a:endCxn id="18" idx="1"/>
          </p:cNvCxnSpPr>
          <p:nvPr/>
        </p:nvCxnSpPr>
        <p:spPr>
          <a:xfrm flipV="1">
            <a:off x="5506168" y="2135742"/>
            <a:ext cx="541996" cy="149261"/>
          </a:xfrm>
          <a:prstGeom prst="line">
            <a:avLst/>
          </a:prstGeom>
        </p:spPr>
        <p:style>
          <a:lnRef idx="1">
            <a:schemeClr val="accent1"/>
          </a:lnRef>
          <a:fillRef idx="0">
            <a:schemeClr val="accent1"/>
          </a:fillRef>
          <a:effectRef idx="0">
            <a:schemeClr val="accent1"/>
          </a:effectRef>
          <a:fontRef idx="minor">
            <a:schemeClr val="tx1"/>
          </a:fontRef>
        </p:style>
      </p:cxnSp>
      <p:sp>
        <p:nvSpPr>
          <p:cNvPr id="30" name="正方形/長方形 29">
            <a:extLst>
              <a:ext uri="{FF2B5EF4-FFF2-40B4-BE49-F238E27FC236}">
                <a16:creationId xmlns:a16="http://schemas.microsoft.com/office/drawing/2014/main" id="{3FAC6F61-6C68-4D7D-E2CE-0202F7EEB020}"/>
              </a:ext>
            </a:extLst>
          </p:cNvPr>
          <p:cNvSpPr/>
          <p:nvPr/>
        </p:nvSpPr>
        <p:spPr>
          <a:xfrm>
            <a:off x="3632894" y="3471323"/>
            <a:ext cx="791120" cy="16641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E1D81298-6459-DCF2-9A9A-EA9EB9056281}"/>
              </a:ext>
            </a:extLst>
          </p:cNvPr>
          <p:cNvSpPr txBox="1"/>
          <p:nvPr/>
        </p:nvSpPr>
        <p:spPr>
          <a:xfrm>
            <a:off x="1363625" y="3770457"/>
            <a:ext cx="1512168" cy="369332"/>
          </a:xfrm>
          <a:prstGeom prst="rect">
            <a:avLst/>
          </a:prstGeom>
          <a:noFill/>
        </p:spPr>
        <p:txBody>
          <a:bodyPr wrap="square" lIns="0" tIns="0" rIns="0" bIns="0" rtlCol="0">
            <a:spAutoFit/>
          </a:bodyPr>
          <a:lstStyle/>
          <a:p>
            <a:pPr algn="ctr"/>
            <a:r>
              <a:rPr kumimoji="1" lang="en-US" altLang="ja-JP" sz="1200" dirty="0">
                <a:latin typeface="+mj-lt"/>
              </a:rPr>
              <a:t>Antenna Geometry Load and Save Buttons</a:t>
            </a:r>
            <a:endParaRPr lang="en-US" altLang="ja-JP" sz="900" dirty="0">
              <a:latin typeface="+mj-lt"/>
            </a:endParaRPr>
          </a:p>
        </p:txBody>
      </p:sp>
      <p:cxnSp>
        <p:nvCxnSpPr>
          <p:cNvPr id="32" name="直線コネクタ 31">
            <a:extLst>
              <a:ext uri="{FF2B5EF4-FFF2-40B4-BE49-F238E27FC236}">
                <a16:creationId xmlns:a16="http://schemas.microsoft.com/office/drawing/2014/main" id="{7D3CA61A-7B38-9463-663A-68817D5B7620}"/>
              </a:ext>
            </a:extLst>
          </p:cNvPr>
          <p:cNvCxnSpPr>
            <a:cxnSpLocks/>
            <a:stCxn id="30" idx="1"/>
            <a:endCxn id="31" idx="3"/>
          </p:cNvCxnSpPr>
          <p:nvPr/>
        </p:nvCxnSpPr>
        <p:spPr>
          <a:xfrm flipH="1">
            <a:off x="2875793" y="3554529"/>
            <a:ext cx="757101" cy="400594"/>
          </a:xfrm>
          <a:prstGeom prst="line">
            <a:avLst/>
          </a:prstGeom>
        </p:spPr>
        <p:style>
          <a:lnRef idx="1">
            <a:schemeClr val="accent1"/>
          </a:lnRef>
          <a:fillRef idx="0">
            <a:schemeClr val="accent1"/>
          </a:fillRef>
          <a:effectRef idx="0">
            <a:schemeClr val="accent1"/>
          </a:effectRef>
          <a:fontRef idx="minor">
            <a:schemeClr val="tx1"/>
          </a:fontRef>
        </p:style>
      </p:cxnSp>
      <p:sp>
        <p:nvSpPr>
          <p:cNvPr id="36" name="正方形/長方形 35">
            <a:extLst>
              <a:ext uri="{FF2B5EF4-FFF2-40B4-BE49-F238E27FC236}">
                <a16:creationId xmlns:a16="http://schemas.microsoft.com/office/drawing/2014/main" id="{223FE6DC-AC37-2F80-E61D-B65824EA9ECD}"/>
              </a:ext>
            </a:extLst>
          </p:cNvPr>
          <p:cNvSpPr/>
          <p:nvPr/>
        </p:nvSpPr>
        <p:spPr>
          <a:xfrm>
            <a:off x="4714458" y="3471323"/>
            <a:ext cx="791120" cy="16641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テキスト ボックス 37">
            <a:extLst>
              <a:ext uri="{FF2B5EF4-FFF2-40B4-BE49-F238E27FC236}">
                <a16:creationId xmlns:a16="http://schemas.microsoft.com/office/drawing/2014/main" id="{9F7A94D2-9404-E655-9A1E-78FE8933571E}"/>
              </a:ext>
            </a:extLst>
          </p:cNvPr>
          <p:cNvSpPr txBox="1"/>
          <p:nvPr/>
        </p:nvSpPr>
        <p:spPr>
          <a:xfrm>
            <a:off x="6012160" y="3270282"/>
            <a:ext cx="1512168" cy="553998"/>
          </a:xfrm>
          <a:prstGeom prst="rect">
            <a:avLst/>
          </a:prstGeom>
          <a:noFill/>
        </p:spPr>
        <p:txBody>
          <a:bodyPr wrap="square" lIns="0" tIns="0" rIns="0" bIns="0" rtlCol="0">
            <a:spAutoFit/>
          </a:bodyPr>
          <a:lstStyle/>
          <a:p>
            <a:pPr algn="ctr"/>
            <a:r>
              <a:rPr kumimoji="1" lang="en-US" altLang="ja-JP" sz="1200" dirty="0">
                <a:latin typeface="+mj-lt"/>
              </a:rPr>
              <a:t>Antenna Geometry Clear and Update Buttons</a:t>
            </a:r>
            <a:endParaRPr lang="en-US" altLang="ja-JP" sz="900" dirty="0">
              <a:latin typeface="+mj-lt"/>
            </a:endParaRPr>
          </a:p>
        </p:txBody>
      </p:sp>
      <p:cxnSp>
        <p:nvCxnSpPr>
          <p:cNvPr id="40" name="直線コネクタ 39">
            <a:extLst>
              <a:ext uri="{FF2B5EF4-FFF2-40B4-BE49-F238E27FC236}">
                <a16:creationId xmlns:a16="http://schemas.microsoft.com/office/drawing/2014/main" id="{E398752F-2721-0F31-73F3-AF997AD69A9D}"/>
              </a:ext>
            </a:extLst>
          </p:cNvPr>
          <p:cNvCxnSpPr>
            <a:cxnSpLocks/>
            <a:stCxn id="36" idx="3"/>
            <a:endCxn id="38" idx="1"/>
          </p:cNvCxnSpPr>
          <p:nvPr/>
        </p:nvCxnSpPr>
        <p:spPr>
          <a:xfrm flipV="1">
            <a:off x="5505578" y="3547281"/>
            <a:ext cx="506582" cy="724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0928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C2E12-4F5C-3505-E1EC-E632AAD916D7}"/>
            </a:ext>
          </a:extLst>
        </p:cNvPr>
        <p:cNvGrpSpPr/>
        <p:nvPr/>
      </p:nvGrpSpPr>
      <p:grpSpPr>
        <a:xfrm>
          <a:off x="0" y="0"/>
          <a:ext cx="0" cy="0"/>
          <a:chOff x="0" y="0"/>
          <a:chExt cx="0" cy="0"/>
        </a:xfrm>
      </p:grpSpPr>
      <p:sp>
        <p:nvSpPr>
          <p:cNvPr id="135" name="正方形/長方形 134">
            <a:extLst>
              <a:ext uri="{FF2B5EF4-FFF2-40B4-BE49-F238E27FC236}">
                <a16:creationId xmlns:a16="http://schemas.microsoft.com/office/drawing/2014/main" id="{F721D175-554A-1C87-9E97-80682AC5BB7B}"/>
              </a:ext>
            </a:extLst>
          </p:cNvPr>
          <p:cNvSpPr/>
          <p:nvPr/>
        </p:nvSpPr>
        <p:spPr>
          <a:xfrm>
            <a:off x="6043053" y="4440105"/>
            <a:ext cx="1248103" cy="249035"/>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1</a:t>
            </a:r>
            <a:r>
              <a:rPr lang="en-US" altLang="ja-JP" sz="900" dirty="0">
                <a:solidFill>
                  <a:schemeClr val="tx1"/>
                </a:solidFill>
              </a:rPr>
              <a:t> (</a:t>
            </a:r>
            <a:r>
              <a:rPr lang="en-US" altLang="ja-JP" sz="900" dirty="0" err="1">
                <a:solidFill>
                  <a:schemeClr val="tx1"/>
                </a:solidFill>
              </a:rPr>
              <a:t>int16_high</a:t>
            </a:r>
            <a:r>
              <a:rPr lang="en-US" altLang="ja-JP" sz="900" dirty="0">
                <a:solidFill>
                  <a:schemeClr val="tx1"/>
                </a:solidFill>
              </a:rPr>
              <a:t>)</a:t>
            </a:r>
            <a:r>
              <a:rPr lang="ja-JP" altLang="en-US" sz="900" dirty="0">
                <a:solidFill>
                  <a:schemeClr val="tx1"/>
                </a:solidFill>
              </a:rPr>
              <a:t> </a:t>
            </a:r>
          </a:p>
        </p:txBody>
      </p:sp>
      <p:sp>
        <p:nvSpPr>
          <p:cNvPr id="122" name="正方形/長方形 121">
            <a:extLst>
              <a:ext uri="{FF2B5EF4-FFF2-40B4-BE49-F238E27FC236}">
                <a16:creationId xmlns:a16="http://schemas.microsoft.com/office/drawing/2014/main" id="{BD10E4F3-9E4E-982A-272D-AD88798B16AE}"/>
              </a:ext>
            </a:extLst>
          </p:cNvPr>
          <p:cNvSpPr/>
          <p:nvPr/>
        </p:nvSpPr>
        <p:spPr>
          <a:xfrm>
            <a:off x="4807037" y="4434990"/>
            <a:ext cx="1243936" cy="256571"/>
          </a:xfrm>
          <a:prstGeom prst="rect">
            <a:avLst/>
          </a:prstGeom>
          <a:solidFill>
            <a:schemeClr val="accent6">
              <a:lumMod val="20000"/>
              <a:lumOff val="80000"/>
            </a:schemeClr>
          </a:solid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1</a:t>
            </a:r>
            <a:r>
              <a:rPr lang="en-US" altLang="ja-JP" sz="900" dirty="0">
                <a:solidFill>
                  <a:schemeClr val="tx1"/>
                </a:solidFill>
              </a:rPr>
              <a:t> (</a:t>
            </a:r>
            <a:r>
              <a:rPr lang="en-US" altLang="ja-JP" sz="900" dirty="0" err="1">
                <a:solidFill>
                  <a:schemeClr val="tx1"/>
                </a:solidFill>
              </a:rPr>
              <a:t>int16_low</a:t>
            </a:r>
            <a:r>
              <a:rPr lang="en-US" altLang="ja-JP" sz="900" dirty="0">
                <a:solidFill>
                  <a:schemeClr val="tx1"/>
                </a:solidFill>
              </a:rPr>
              <a:t>)</a:t>
            </a:r>
            <a:r>
              <a:rPr lang="ja-JP" altLang="en-US" sz="900" dirty="0">
                <a:solidFill>
                  <a:schemeClr val="tx1"/>
                </a:solidFill>
              </a:rPr>
              <a:t> </a:t>
            </a:r>
          </a:p>
        </p:txBody>
      </p:sp>
      <p:sp>
        <p:nvSpPr>
          <p:cNvPr id="134" name="正方形/長方形 133">
            <a:extLst>
              <a:ext uri="{FF2B5EF4-FFF2-40B4-BE49-F238E27FC236}">
                <a16:creationId xmlns:a16="http://schemas.microsoft.com/office/drawing/2014/main" id="{568CB956-F593-4730-D3FA-C47991D55452}"/>
              </a:ext>
            </a:extLst>
          </p:cNvPr>
          <p:cNvSpPr/>
          <p:nvPr/>
        </p:nvSpPr>
        <p:spPr>
          <a:xfrm>
            <a:off x="3560045" y="4432295"/>
            <a:ext cx="1248103" cy="256199"/>
          </a:xfrm>
          <a:prstGeom prst="rect">
            <a:avLst/>
          </a:prstGeom>
          <a:solidFill>
            <a:schemeClr val="accent1">
              <a:lumMod val="20000"/>
              <a:lumOff val="80000"/>
            </a:schemeClr>
          </a:solidFill>
          <a:ln w="63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I</a:t>
            </a:r>
            <a:r>
              <a:rPr lang="en-US" altLang="ja-JP" sz="900" baseline="-25000" dirty="0" err="1">
                <a:solidFill>
                  <a:schemeClr val="tx1"/>
                </a:solidFill>
              </a:rPr>
              <a:t>1</a:t>
            </a:r>
            <a:r>
              <a:rPr lang="en-US" altLang="ja-JP" sz="900" dirty="0">
                <a:solidFill>
                  <a:schemeClr val="tx1"/>
                </a:solidFill>
              </a:rPr>
              <a:t> (</a:t>
            </a:r>
            <a:r>
              <a:rPr lang="en-US" altLang="ja-JP" sz="900" dirty="0" err="1">
                <a:solidFill>
                  <a:schemeClr val="tx1"/>
                </a:solidFill>
              </a:rPr>
              <a:t>int16_high</a:t>
            </a:r>
            <a:r>
              <a:rPr lang="en-US" altLang="ja-JP" sz="900" dirty="0">
                <a:solidFill>
                  <a:schemeClr val="tx1"/>
                </a:solidFill>
              </a:rPr>
              <a:t>)</a:t>
            </a:r>
            <a:endParaRPr lang="ja-JP" altLang="en-US" sz="900" dirty="0">
              <a:solidFill>
                <a:schemeClr val="tx1"/>
              </a:solidFill>
            </a:endParaRPr>
          </a:p>
        </p:txBody>
      </p:sp>
      <p:sp>
        <p:nvSpPr>
          <p:cNvPr id="108" name="正方形/長方形 107">
            <a:extLst>
              <a:ext uri="{FF2B5EF4-FFF2-40B4-BE49-F238E27FC236}">
                <a16:creationId xmlns:a16="http://schemas.microsoft.com/office/drawing/2014/main" id="{84EBC3B0-5F60-99F9-03D7-0DC1580546D0}"/>
              </a:ext>
            </a:extLst>
          </p:cNvPr>
          <p:cNvSpPr/>
          <p:nvPr/>
        </p:nvSpPr>
        <p:spPr>
          <a:xfrm>
            <a:off x="2318751" y="4437008"/>
            <a:ext cx="1248103" cy="256199"/>
          </a:xfrm>
          <a:prstGeom prst="rect">
            <a:avLst/>
          </a:prstGeom>
          <a:solidFill>
            <a:schemeClr val="accent1">
              <a:lumMod val="20000"/>
              <a:lumOff val="80000"/>
            </a:schemeClr>
          </a:solid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I</a:t>
            </a:r>
            <a:r>
              <a:rPr lang="en-US" altLang="ja-JP" sz="900" baseline="-25000" dirty="0" err="1">
                <a:solidFill>
                  <a:schemeClr val="tx1"/>
                </a:solidFill>
              </a:rPr>
              <a:t>1</a:t>
            </a:r>
            <a:r>
              <a:rPr lang="en-US" altLang="ja-JP" sz="900" dirty="0">
                <a:solidFill>
                  <a:schemeClr val="tx1"/>
                </a:solidFill>
              </a:rPr>
              <a:t> (</a:t>
            </a:r>
            <a:r>
              <a:rPr lang="en-US" altLang="ja-JP" sz="900" dirty="0" err="1">
                <a:solidFill>
                  <a:schemeClr val="tx1"/>
                </a:solidFill>
              </a:rPr>
              <a:t>int16_low</a:t>
            </a:r>
            <a:r>
              <a:rPr lang="en-US" altLang="ja-JP" sz="900" dirty="0">
                <a:solidFill>
                  <a:schemeClr val="tx1"/>
                </a:solidFill>
              </a:rPr>
              <a:t>)</a:t>
            </a:r>
            <a:endParaRPr lang="ja-JP" altLang="en-US" sz="900" dirty="0">
              <a:solidFill>
                <a:schemeClr val="tx1"/>
              </a:solidFill>
            </a:endParaRPr>
          </a:p>
        </p:txBody>
      </p:sp>
      <p:sp>
        <p:nvSpPr>
          <p:cNvPr id="33" name="正方形/長方形 32">
            <a:extLst>
              <a:ext uri="{FF2B5EF4-FFF2-40B4-BE49-F238E27FC236}">
                <a16:creationId xmlns:a16="http://schemas.microsoft.com/office/drawing/2014/main" id="{B31303CB-A091-FF4C-B9BE-6D203656C726}"/>
              </a:ext>
            </a:extLst>
          </p:cNvPr>
          <p:cNvSpPr/>
          <p:nvPr/>
        </p:nvSpPr>
        <p:spPr>
          <a:xfrm>
            <a:off x="2939294" y="2892569"/>
            <a:ext cx="620751" cy="13769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1</a:t>
            </a:r>
            <a:endParaRPr lang="ja-JP" altLang="en-US" sz="900" baseline="-25000" dirty="0">
              <a:solidFill>
                <a:schemeClr val="tx1"/>
              </a:solidFill>
            </a:endParaRPr>
          </a:p>
        </p:txBody>
      </p:sp>
      <p:sp>
        <p:nvSpPr>
          <p:cNvPr id="36" name="正方形/長方形 35">
            <a:extLst>
              <a:ext uri="{FF2B5EF4-FFF2-40B4-BE49-F238E27FC236}">
                <a16:creationId xmlns:a16="http://schemas.microsoft.com/office/drawing/2014/main" id="{C23ECE36-681E-8CB5-A727-A48C85997951}"/>
              </a:ext>
            </a:extLst>
          </p:cNvPr>
          <p:cNvSpPr/>
          <p:nvPr/>
        </p:nvSpPr>
        <p:spPr>
          <a:xfrm>
            <a:off x="2317327" y="2892569"/>
            <a:ext cx="620751" cy="13769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2</a:t>
            </a:r>
            <a:endParaRPr lang="ja-JP" altLang="en-US" sz="900" baseline="-25000" dirty="0">
              <a:solidFill>
                <a:schemeClr val="tx1"/>
              </a:solidFill>
            </a:endParaRPr>
          </a:p>
        </p:txBody>
      </p:sp>
      <p:sp>
        <p:nvSpPr>
          <p:cNvPr id="37" name="正方形/長方形 36">
            <a:extLst>
              <a:ext uri="{FF2B5EF4-FFF2-40B4-BE49-F238E27FC236}">
                <a16:creationId xmlns:a16="http://schemas.microsoft.com/office/drawing/2014/main" id="{A40B79BB-6900-E826-52D8-3FB3AE61CD85}"/>
              </a:ext>
            </a:extLst>
          </p:cNvPr>
          <p:cNvSpPr/>
          <p:nvPr/>
        </p:nvSpPr>
        <p:spPr>
          <a:xfrm>
            <a:off x="4182012" y="2892640"/>
            <a:ext cx="620751" cy="13769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3</a:t>
            </a:r>
          </a:p>
        </p:txBody>
      </p:sp>
      <p:sp>
        <p:nvSpPr>
          <p:cNvPr id="58" name="正方形/長方形 57">
            <a:extLst>
              <a:ext uri="{FF2B5EF4-FFF2-40B4-BE49-F238E27FC236}">
                <a16:creationId xmlns:a16="http://schemas.microsoft.com/office/drawing/2014/main" id="{0F2449A5-2027-B839-AAEF-F7FC390D43F4}"/>
              </a:ext>
            </a:extLst>
          </p:cNvPr>
          <p:cNvSpPr/>
          <p:nvPr/>
        </p:nvSpPr>
        <p:spPr>
          <a:xfrm>
            <a:off x="3560045" y="2892640"/>
            <a:ext cx="620751" cy="13769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4</a:t>
            </a:r>
            <a:endParaRPr lang="ja-JP" altLang="en-US" sz="900" baseline="-25000" dirty="0">
              <a:solidFill>
                <a:schemeClr val="tx1"/>
              </a:solidFill>
            </a:endParaRPr>
          </a:p>
        </p:txBody>
      </p:sp>
      <p:sp>
        <p:nvSpPr>
          <p:cNvPr id="59" name="正方形/長方形 58">
            <a:extLst>
              <a:ext uri="{FF2B5EF4-FFF2-40B4-BE49-F238E27FC236}">
                <a16:creationId xmlns:a16="http://schemas.microsoft.com/office/drawing/2014/main" id="{F5050AB5-EC97-B612-63AA-FE252FC791C2}"/>
              </a:ext>
            </a:extLst>
          </p:cNvPr>
          <p:cNvSpPr/>
          <p:nvPr/>
        </p:nvSpPr>
        <p:spPr>
          <a:xfrm>
            <a:off x="5427166" y="2894662"/>
            <a:ext cx="620751" cy="13769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1</a:t>
            </a:r>
            <a:endParaRPr lang="ja-JP" altLang="en-US" sz="900" baseline="-25000" dirty="0">
              <a:solidFill>
                <a:schemeClr val="tx1"/>
              </a:solidFill>
            </a:endParaRPr>
          </a:p>
        </p:txBody>
      </p:sp>
      <p:sp>
        <p:nvSpPr>
          <p:cNvPr id="60" name="正方形/長方形 59">
            <a:extLst>
              <a:ext uri="{FF2B5EF4-FFF2-40B4-BE49-F238E27FC236}">
                <a16:creationId xmlns:a16="http://schemas.microsoft.com/office/drawing/2014/main" id="{DE967AA3-7E78-A61A-1FCF-5B12024FBB31}"/>
              </a:ext>
            </a:extLst>
          </p:cNvPr>
          <p:cNvSpPr/>
          <p:nvPr/>
        </p:nvSpPr>
        <p:spPr>
          <a:xfrm>
            <a:off x="4805199" y="2894662"/>
            <a:ext cx="620751" cy="13769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2</a:t>
            </a:r>
            <a:endParaRPr lang="ja-JP" altLang="en-US" sz="900" baseline="-25000" dirty="0">
              <a:solidFill>
                <a:schemeClr val="tx1"/>
              </a:solidFill>
            </a:endParaRPr>
          </a:p>
        </p:txBody>
      </p:sp>
      <p:sp>
        <p:nvSpPr>
          <p:cNvPr id="71" name="正方形/長方形 70">
            <a:extLst>
              <a:ext uri="{FF2B5EF4-FFF2-40B4-BE49-F238E27FC236}">
                <a16:creationId xmlns:a16="http://schemas.microsoft.com/office/drawing/2014/main" id="{BA74153D-C53F-2068-7341-C2BC3ED952C8}"/>
              </a:ext>
            </a:extLst>
          </p:cNvPr>
          <p:cNvSpPr/>
          <p:nvPr/>
        </p:nvSpPr>
        <p:spPr>
          <a:xfrm>
            <a:off x="6669884" y="2894733"/>
            <a:ext cx="620751" cy="13769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3</a:t>
            </a:r>
          </a:p>
        </p:txBody>
      </p:sp>
      <p:sp>
        <p:nvSpPr>
          <p:cNvPr id="81" name="正方形/長方形 80">
            <a:extLst>
              <a:ext uri="{FF2B5EF4-FFF2-40B4-BE49-F238E27FC236}">
                <a16:creationId xmlns:a16="http://schemas.microsoft.com/office/drawing/2014/main" id="{78882085-4737-E909-FBDC-02334FC7B712}"/>
              </a:ext>
            </a:extLst>
          </p:cNvPr>
          <p:cNvSpPr/>
          <p:nvPr/>
        </p:nvSpPr>
        <p:spPr>
          <a:xfrm>
            <a:off x="6047917" y="2894733"/>
            <a:ext cx="620751" cy="13769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4</a:t>
            </a:r>
            <a:endParaRPr lang="ja-JP" altLang="en-US" sz="900" baseline="-25000" dirty="0">
              <a:solidFill>
                <a:schemeClr val="tx1"/>
              </a:solidFill>
            </a:endParaRPr>
          </a:p>
        </p:txBody>
      </p:sp>
      <p:sp>
        <p:nvSpPr>
          <p:cNvPr id="27" name="正方形/長方形 26">
            <a:extLst>
              <a:ext uri="{FF2B5EF4-FFF2-40B4-BE49-F238E27FC236}">
                <a16:creationId xmlns:a16="http://schemas.microsoft.com/office/drawing/2014/main" id="{D6B0A85B-289D-2DF2-27D1-7D016E01C9A4}"/>
              </a:ext>
            </a:extLst>
          </p:cNvPr>
          <p:cNvSpPr/>
          <p:nvPr/>
        </p:nvSpPr>
        <p:spPr>
          <a:xfrm>
            <a:off x="4185658" y="2366997"/>
            <a:ext cx="620751" cy="13769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1</a:t>
            </a:r>
            <a:endParaRPr lang="ja-JP" altLang="en-US" sz="900" baseline="-25000" dirty="0">
              <a:solidFill>
                <a:schemeClr val="tx1"/>
              </a:solidFill>
            </a:endParaRPr>
          </a:p>
        </p:txBody>
      </p:sp>
      <p:sp>
        <p:nvSpPr>
          <p:cNvPr id="28" name="正方形/長方形 27">
            <a:extLst>
              <a:ext uri="{FF2B5EF4-FFF2-40B4-BE49-F238E27FC236}">
                <a16:creationId xmlns:a16="http://schemas.microsoft.com/office/drawing/2014/main" id="{FB753B32-863A-EEE0-2CB4-7B62B38CB3B9}"/>
              </a:ext>
            </a:extLst>
          </p:cNvPr>
          <p:cNvSpPr/>
          <p:nvPr/>
        </p:nvSpPr>
        <p:spPr>
          <a:xfrm>
            <a:off x="3563691" y="2366997"/>
            <a:ext cx="620751" cy="13769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2</a:t>
            </a:r>
            <a:endParaRPr lang="ja-JP" altLang="en-US" sz="900" baseline="-25000" dirty="0">
              <a:solidFill>
                <a:schemeClr val="tx1"/>
              </a:solidFill>
            </a:endParaRPr>
          </a:p>
        </p:txBody>
      </p:sp>
      <p:sp>
        <p:nvSpPr>
          <p:cNvPr id="29" name="正方形/長方形 28">
            <a:extLst>
              <a:ext uri="{FF2B5EF4-FFF2-40B4-BE49-F238E27FC236}">
                <a16:creationId xmlns:a16="http://schemas.microsoft.com/office/drawing/2014/main" id="{95FA6932-05F8-5E30-8982-D3A42C503812}"/>
              </a:ext>
            </a:extLst>
          </p:cNvPr>
          <p:cNvSpPr/>
          <p:nvPr/>
        </p:nvSpPr>
        <p:spPr>
          <a:xfrm>
            <a:off x="5428985" y="2363396"/>
            <a:ext cx="620751" cy="13769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1</a:t>
            </a:r>
            <a:endParaRPr lang="ja-JP" altLang="en-US" sz="900" baseline="-25000" dirty="0">
              <a:solidFill>
                <a:schemeClr val="tx1"/>
              </a:solidFill>
            </a:endParaRPr>
          </a:p>
        </p:txBody>
      </p:sp>
      <p:sp>
        <p:nvSpPr>
          <p:cNvPr id="30" name="正方形/長方形 29">
            <a:extLst>
              <a:ext uri="{FF2B5EF4-FFF2-40B4-BE49-F238E27FC236}">
                <a16:creationId xmlns:a16="http://schemas.microsoft.com/office/drawing/2014/main" id="{2CD25307-AB46-E919-6897-FC97C8F73766}"/>
              </a:ext>
            </a:extLst>
          </p:cNvPr>
          <p:cNvSpPr/>
          <p:nvPr/>
        </p:nvSpPr>
        <p:spPr>
          <a:xfrm>
            <a:off x="4807018" y="2363396"/>
            <a:ext cx="620751" cy="13769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2</a:t>
            </a:r>
            <a:endParaRPr lang="ja-JP" altLang="en-US" sz="900" baseline="-25000" dirty="0">
              <a:solidFill>
                <a:schemeClr val="tx1"/>
              </a:solidFill>
            </a:endParaRPr>
          </a:p>
        </p:txBody>
      </p:sp>
      <p:sp>
        <p:nvSpPr>
          <p:cNvPr id="31" name="正方形/長方形 30">
            <a:extLst>
              <a:ext uri="{FF2B5EF4-FFF2-40B4-BE49-F238E27FC236}">
                <a16:creationId xmlns:a16="http://schemas.microsoft.com/office/drawing/2014/main" id="{087A9531-6270-3553-0CDB-26CB78678E89}"/>
              </a:ext>
            </a:extLst>
          </p:cNvPr>
          <p:cNvSpPr/>
          <p:nvPr/>
        </p:nvSpPr>
        <p:spPr>
          <a:xfrm>
            <a:off x="6672312" y="2359795"/>
            <a:ext cx="620751" cy="13769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1</a:t>
            </a:r>
            <a:endParaRPr lang="ja-JP" altLang="en-US" sz="900" baseline="-25000" dirty="0">
              <a:solidFill>
                <a:schemeClr val="tx1"/>
              </a:solidFill>
            </a:endParaRPr>
          </a:p>
        </p:txBody>
      </p:sp>
      <p:sp>
        <p:nvSpPr>
          <p:cNvPr id="32" name="正方形/長方形 31">
            <a:extLst>
              <a:ext uri="{FF2B5EF4-FFF2-40B4-BE49-F238E27FC236}">
                <a16:creationId xmlns:a16="http://schemas.microsoft.com/office/drawing/2014/main" id="{F4907DD1-D522-8776-EB91-9C6EFE589B0C}"/>
              </a:ext>
            </a:extLst>
          </p:cNvPr>
          <p:cNvSpPr/>
          <p:nvPr/>
        </p:nvSpPr>
        <p:spPr>
          <a:xfrm>
            <a:off x="6050345" y="2359795"/>
            <a:ext cx="620751" cy="13769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2</a:t>
            </a:r>
            <a:endParaRPr lang="ja-JP" altLang="en-US" sz="900" baseline="-25000" dirty="0">
              <a:solidFill>
                <a:schemeClr val="tx1"/>
              </a:solidFill>
            </a:endParaRPr>
          </a:p>
        </p:txBody>
      </p:sp>
      <p:sp>
        <p:nvSpPr>
          <p:cNvPr id="25" name="正方形/長方形 24">
            <a:extLst>
              <a:ext uri="{FF2B5EF4-FFF2-40B4-BE49-F238E27FC236}">
                <a16:creationId xmlns:a16="http://schemas.microsoft.com/office/drawing/2014/main" id="{DFB02F83-8888-D33C-1BA0-032435E47B00}"/>
              </a:ext>
            </a:extLst>
          </p:cNvPr>
          <p:cNvSpPr/>
          <p:nvPr/>
        </p:nvSpPr>
        <p:spPr>
          <a:xfrm>
            <a:off x="2942331" y="2370598"/>
            <a:ext cx="620751" cy="13769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1</a:t>
            </a:r>
            <a:endParaRPr lang="ja-JP" altLang="en-US" sz="900" baseline="-25000" dirty="0">
              <a:solidFill>
                <a:schemeClr val="tx1"/>
              </a:solidFill>
            </a:endParaRPr>
          </a:p>
        </p:txBody>
      </p:sp>
      <p:sp>
        <p:nvSpPr>
          <p:cNvPr id="26" name="正方形/長方形 25">
            <a:extLst>
              <a:ext uri="{FF2B5EF4-FFF2-40B4-BE49-F238E27FC236}">
                <a16:creationId xmlns:a16="http://schemas.microsoft.com/office/drawing/2014/main" id="{2872CE02-A47E-9E3C-0D72-C9914EAC8819}"/>
              </a:ext>
            </a:extLst>
          </p:cNvPr>
          <p:cNvSpPr/>
          <p:nvPr/>
        </p:nvSpPr>
        <p:spPr>
          <a:xfrm>
            <a:off x="2320364" y="2370598"/>
            <a:ext cx="620751" cy="13769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2</a:t>
            </a:r>
            <a:endParaRPr lang="ja-JP" altLang="en-US" sz="900" baseline="-25000" dirty="0">
              <a:solidFill>
                <a:schemeClr val="tx1"/>
              </a:solidFill>
            </a:endParaRPr>
          </a:p>
        </p:txBody>
      </p:sp>
      <p:sp>
        <p:nvSpPr>
          <p:cNvPr id="18" name="正方形/長方形 17">
            <a:extLst>
              <a:ext uri="{FF2B5EF4-FFF2-40B4-BE49-F238E27FC236}">
                <a16:creationId xmlns:a16="http://schemas.microsoft.com/office/drawing/2014/main" id="{6214BE90-6147-47F3-3E86-A7D0F657FFE2}"/>
              </a:ext>
            </a:extLst>
          </p:cNvPr>
          <p:cNvSpPr/>
          <p:nvPr/>
        </p:nvSpPr>
        <p:spPr>
          <a:xfrm>
            <a:off x="4182012" y="3422497"/>
            <a:ext cx="620751" cy="140516"/>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3</a:t>
            </a:r>
            <a:endParaRPr lang="ja-JP" altLang="en-US" sz="900" baseline="-25000" dirty="0">
              <a:solidFill>
                <a:schemeClr val="tx1"/>
              </a:solidFill>
            </a:endParaRPr>
          </a:p>
        </p:txBody>
      </p:sp>
      <p:sp>
        <p:nvSpPr>
          <p:cNvPr id="19" name="正方形/長方形 18">
            <a:extLst>
              <a:ext uri="{FF2B5EF4-FFF2-40B4-BE49-F238E27FC236}">
                <a16:creationId xmlns:a16="http://schemas.microsoft.com/office/drawing/2014/main" id="{ACD9AD72-24F9-793C-2E5C-1E77A9ED3037}"/>
              </a:ext>
            </a:extLst>
          </p:cNvPr>
          <p:cNvSpPr/>
          <p:nvPr/>
        </p:nvSpPr>
        <p:spPr>
          <a:xfrm>
            <a:off x="3560045" y="3422497"/>
            <a:ext cx="620751" cy="127791"/>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4</a:t>
            </a:r>
            <a:endParaRPr lang="ja-JP" altLang="en-US" sz="900" baseline="-25000" dirty="0">
              <a:solidFill>
                <a:schemeClr val="tx1"/>
              </a:solidFill>
            </a:endParaRPr>
          </a:p>
        </p:txBody>
      </p:sp>
      <p:sp>
        <p:nvSpPr>
          <p:cNvPr id="20" name="正方形/長方形 19">
            <a:extLst>
              <a:ext uri="{FF2B5EF4-FFF2-40B4-BE49-F238E27FC236}">
                <a16:creationId xmlns:a16="http://schemas.microsoft.com/office/drawing/2014/main" id="{2DA9BBBF-61BE-1984-FBB1-5D5CD1801533}"/>
              </a:ext>
            </a:extLst>
          </p:cNvPr>
          <p:cNvSpPr/>
          <p:nvPr/>
        </p:nvSpPr>
        <p:spPr>
          <a:xfrm>
            <a:off x="5426499" y="3428681"/>
            <a:ext cx="620751" cy="140516"/>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5</a:t>
            </a:r>
            <a:endParaRPr lang="ja-JP" altLang="en-US" sz="900" baseline="-25000" dirty="0">
              <a:solidFill>
                <a:schemeClr val="tx1"/>
              </a:solidFill>
            </a:endParaRPr>
          </a:p>
        </p:txBody>
      </p:sp>
      <p:sp>
        <p:nvSpPr>
          <p:cNvPr id="21" name="正方形/長方形 20">
            <a:extLst>
              <a:ext uri="{FF2B5EF4-FFF2-40B4-BE49-F238E27FC236}">
                <a16:creationId xmlns:a16="http://schemas.microsoft.com/office/drawing/2014/main" id="{DA912E69-6C5E-E7F3-8547-BAB5C5D4BCDF}"/>
              </a:ext>
            </a:extLst>
          </p:cNvPr>
          <p:cNvSpPr/>
          <p:nvPr/>
        </p:nvSpPr>
        <p:spPr>
          <a:xfrm>
            <a:off x="4804532" y="3428681"/>
            <a:ext cx="620751" cy="127791"/>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6</a:t>
            </a:r>
            <a:endParaRPr lang="ja-JP" altLang="en-US" sz="900" baseline="-25000" dirty="0">
              <a:solidFill>
                <a:schemeClr val="tx1"/>
              </a:solidFill>
            </a:endParaRPr>
          </a:p>
        </p:txBody>
      </p:sp>
      <p:sp>
        <p:nvSpPr>
          <p:cNvPr id="22" name="正方形/長方形 21">
            <a:extLst>
              <a:ext uri="{FF2B5EF4-FFF2-40B4-BE49-F238E27FC236}">
                <a16:creationId xmlns:a16="http://schemas.microsoft.com/office/drawing/2014/main" id="{B0852913-46C7-13E7-DCAB-CE42C35D9022}"/>
              </a:ext>
            </a:extLst>
          </p:cNvPr>
          <p:cNvSpPr/>
          <p:nvPr/>
        </p:nvSpPr>
        <p:spPr>
          <a:xfrm>
            <a:off x="6673531" y="3422493"/>
            <a:ext cx="620751" cy="140516"/>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7</a:t>
            </a:r>
            <a:endParaRPr lang="ja-JP" altLang="en-US" sz="900" baseline="-25000" dirty="0">
              <a:solidFill>
                <a:schemeClr val="tx1"/>
              </a:solidFill>
            </a:endParaRPr>
          </a:p>
        </p:txBody>
      </p:sp>
      <p:sp>
        <p:nvSpPr>
          <p:cNvPr id="23" name="正方形/長方形 22">
            <a:extLst>
              <a:ext uri="{FF2B5EF4-FFF2-40B4-BE49-F238E27FC236}">
                <a16:creationId xmlns:a16="http://schemas.microsoft.com/office/drawing/2014/main" id="{4F601C19-4888-188B-7E1C-5B84FFA18027}"/>
              </a:ext>
            </a:extLst>
          </p:cNvPr>
          <p:cNvSpPr/>
          <p:nvPr/>
        </p:nvSpPr>
        <p:spPr>
          <a:xfrm>
            <a:off x="6051564" y="3422493"/>
            <a:ext cx="620751" cy="127791"/>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8</a:t>
            </a:r>
            <a:endParaRPr lang="ja-JP" altLang="en-US" sz="900" baseline="-25000" dirty="0">
              <a:solidFill>
                <a:schemeClr val="tx1"/>
              </a:solidFill>
            </a:endParaRPr>
          </a:p>
        </p:txBody>
      </p:sp>
      <p:sp>
        <p:nvSpPr>
          <p:cNvPr id="16" name="正方形/長方形 15">
            <a:extLst>
              <a:ext uri="{FF2B5EF4-FFF2-40B4-BE49-F238E27FC236}">
                <a16:creationId xmlns:a16="http://schemas.microsoft.com/office/drawing/2014/main" id="{5EED52C8-5D63-4D63-396D-D72C8B3F3C9C}"/>
              </a:ext>
            </a:extLst>
          </p:cNvPr>
          <p:cNvSpPr/>
          <p:nvPr/>
        </p:nvSpPr>
        <p:spPr>
          <a:xfrm>
            <a:off x="2940508" y="3428711"/>
            <a:ext cx="620751" cy="140516"/>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1</a:t>
            </a:r>
            <a:endParaRPr lang="ja-JP" altLang="en-US" sz="900" baseline="-25000" dirty="0">
              <a:solidFill>
                <a:schemeClr val="tx1"/>
              </a:solidFill>
            </a:endParaRPr>
          </a:p>
        </p:txBody>
      </p:sp>
      <p:sp>
        <p:nvSpPr>
          <p:cNvPr id="17" name="正方形/長方形 16">
            <a:extLst>
              <a:ext uri="{FF2B5EF4-FFF2-40B4-BE49-F238E27FC236}">
                <a16:creationId xmlns:a16="http://schemas.microsoft.com/office/drawing/2014/main" id="{F379C9D0-94E1-1168-FA1A-54B86B6EB472}"/>
              </a:ext>
            </a:extLst>
          </p:cNvPr>
          <p:cNvSpPr/>
          <p:nvPr/>
        </p:nvSpPr>
        <p:spPr>
          <a:xfrm>
            <a:off x="2318541" y="3428711"/>
            <a:ext cx="620751" cy="127791"/>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2</a:t>
            </a:r>
            <a:endParaRPr lang="ja-JP" altLang="en-US" sz="900" baseline="-25000" dirty="0">
              <a:solidFill>
                <a:schemeClr val="tx1"/>
              </a:solidFill>
            </a:endParaRPr>
          </a:p>
        </p:txBody>
      </p:sp>
      <p:grpSp>
        <p:nvGrpSpPr>
          <p:cNvPr id="324" name="グループ化 323">
            <a:extLst>
              <a:ext uri="{FF2B5EF4-FFF2-40B4-BE49-F238E27FC236}">
                <a16:creationId xmlns:a16="http://schemas.microsoft.com/office/drawing/2014/main" id="{6D22F741-7007-F0E0-062D-63378D02665B}"/>
              </a:ext>
            </a:extLst>
          </p:cNvPr>
          <p:cNvGrpSpPr/>
          <p:nvPr/>
        </p:nvGrpSpPr>
        <p:grpSpPr>
          <a:xfrm>
            <a:off x="2319755" y="3145595"/>
            <a:ext cx="4975744" cy="137160"/>
            <a:chOff x="4634230" y="1624878"/>
            <a:chExt cx="871220" cy="137160"/>
          </a:xfrm>
        </p:grpSpPr>
        <p:cxnSp>
          <p:nvCxnSpPr>
            <p:cNvPr id="325" name="直線コネクタ 324">
              <a:extLst>
                <a:ext uri="{FF2B5EF4-FFF2-40B4-BE49-F238E27FC236}">
                  <a16:creationId xmlns:a16="http://schemas.microsoft.com/office/drawing/2014/main" id="{2ABE3AF2-6671-0C27-2F76-042C244B9C26}"/>
                </a:ext>
              </a:extLst>
            </p:cNvPr>
            <p:cNvCxnSpPr/>
            <p:nvPr/>
          </p:nvCxnSpPr>
          <p:spPr>
            <a:xfrm>
              <a:off x="4634230" y="1624878"/>
              <a:ext cx="0" cy="137160"/>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326" name="直線コネクタ 325">
              <a:extLst>
                <a:ext uri="{FF2B5EF4-FFF2-40B4-BE49-F238E27FC236}">
                  <a16:creationId xmlns:a16="http://schemas.microsoft.com/office/drawing/2014/main" id="{6B44B3DC-C13A-4F70-C023-01C4FBF1F734}"/>
                </a:ext>
              </a:extLst>
            </p:cNvPr>
            <p:cNvCxnSpPr/>
            <p:nvPr/>
          </p:nvCxnSpPr>
          <p:spPr>
            <a:xfrm>
              <a:off x="5505450" y="1624878"/>
              <a:ext cx="0" cy="137160"/>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327" name="直線矢印コネクタ 326">
              <a:extLst>
                <a:ext uri="{FF2B5EF4-FFF2-40B4-BE49-F238E27FC236}">
                  <a16:creationId xmlns:a16="http://schemas.microsoft.com/office/drawing/2014/main" id="{C11F3AC6-F067-65CB-0201-7E24903A68F9}"/>
                </a:ext>
              </a:extLst>
            </p:cNvPr>
            <p:cNvCxnSpPr>
              <a:cxnSpLocks/>
            </p:cNvCxnSpPr>
            <p:nvPr/>
          </p:nvCxnSpPr>
          <p:spPr>
            <a:xfrm>
              <a:off x="4635500" y="1693458"/>
              <a:ext cx="869950" cy="0"/>
            </a:xfrm>
            <a:prstGeom prst="straightConnector1">
              <a:avLst/>
            </a:prstGeom>
            <a:ln w="952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grpSp>
      <p:sp>
        <p:nvSpPr>
          <p:cNvPr id="328" name="正方形/長方形 327">
            <a:extLst>
              <a:ext uri="{FF2B5EF4-FFF2-40B4-BE49-F238E27FC236}">
                <a16:creationId xmlns:a16="http://schemas.microsoft.com/office/drawing/2014/main" id="{C893DBC3-532D-3DF5-CE66-861BAEBCAE36}"/>
              </a:ext>
            </a:extLst>
          </p:cNvPr>
          <p:cNvSpPr/>
          <p:nvPr/>
        </p:nvSpPr>
        <p:spPr>
          <a:xfrm>
            <a:off x="4367286" y="3089204"/>
            <a:ext cx="906817" cy="215444"/>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32 bits / sample</a:t>
            </a:r>
            <a:endParaRPr lang="ja-JP" altLang="en-US" sz="900" dirty="0">
              <a:solidFill>
                <a:schemeClr val="tx1"/>
              </a:solidFill>
            </a:endParaRPr>
          </a:p>
        </p:txBody>
      </p:sp>
      <p:grpSp>
        <p:nvGrpSpPr>
          <p:cNvPr id="314" name="グループ化 313">
            <a:extLst>
              <a:ext uri="{FF2B5EF4-FFF2-40B4-BE49-F238E27FC236}">
                <a16:creationId xmlns:a16="http://schemas.microsoft.com/office/drawing/2014/main" id="{5A468184-9709-79D9-8CCE-3D8E801BCC6E}"/>
              </a:ext>
            </a:extLst>
          </p:cNvPr>
          <p:cNvGrpSpPr/>
          <p:nvPr/>
        </p:nvGrpSpPr>
        <p:grpSpPr>
          <a:xfrm>
            <a:off x="2319755" y="2626275"/>
            <a:ext cx="2487871" cy="137160"/>
            <a:chOff x="4634230" y="1624878"/>
            <a:chExt cx="871220" cy="137160"/>
          </a:xfrm>
        </p:grpSpPr>
        <p:cxnSp>
          <p:nvCxnSpPr>
            <p:cNvPr id="315" name="直線コネクタ 314">
              <a:extLst>
                <a:ext uri="{FF2B5EF4-FFF2-40B4-BE49-F238E27FC236}">
                  <a16:creationId xmlns:a16="http://schemas.microsoft.com/office/drawing/2014/main" id="{892BAE5C-597C-856C-A55E-6E196D5B5724}"/>
                </a:ext>
              </a:extLst>
            </p:cNvPr>
            <p:cNvCxnSpPr/>
            <p:nvPr/>
          </p:nvCxnSpPr>
          <p:spPr>
            <a:xfrm>
              <a:off x="4634230" y="1624878"/>
              <a:ext cx="0" cy="137160"/>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316" name="直線コネクタ 315">
              <a:extLst>
                <a:ext uri="{FF2B5EF4-FFF2-40B4-BE49-F238E27FC236}">
                  <a16:creationId xmlns:a16="http://schemas.microsoft.com/office/drawing/2014/main" id="{14E87D9A-3AB0-9CDE-63B1-A70954907D1D}"/>
                </a:ext>
              </a:extLst>
            </p:cNvPr>
            <p:cNvCxnSpPr/>
            <p:nvPr/>
          </p:nvCxnSpPr>
          <p:spPr>
            <a:xfrm>
              <a:off x="5505450" y="1624878"/>
              <a:ext cx="0" cy="137160"/>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317" name="直線矢印コネクタ 316">
              <a:extLst>
                <a:ext uri="{FF2B5EF4-FFF2-40B4-BE49-F238E27FC236}">
                  <a16:creationId xmlns:a16="http://schemas.microsoft.com/office/drawing/2014/main" id="{ECC138D1-2504-5A7D-CF14-5C06BEC23260}"/>
                </a:ext>
              </a:extLst>
            </p:cNvPr>
            <p:cNvCxnSpPr>
              <a:cxnSpLocks/>
            </p:cNvCxnSpPr>
            <p:nvPr/>
          </p:nvCxnSpPr>
          <p:spPr>
            <a:xfrm>
              <a:off x="4635500" y="1693458"/>
              <a:ext cx="869950" cy="0"/>
            </a:xfrm>
            <a:prstGeom prst="straightConnector1">
              <a:avLst/>
            </a:prstGeom>
            <a:ln w="952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grpSp>
      <p:sp>
        <p:nvSpPr>
          <p:cNvPr id="318" name="正方形/長方形 317">
            <a:extLst>
              <a:ext uri="{FF2B5EF4-FFF2-40B4-BE49-F238E27FC236}">
                <a16:creationId xmlns:a16="http://schemas.microsoft.com/office/drawing/2014/main" id="{BD0165A8-7D01-5B2E-F1E7-B801E05F5949}"/>
              </a:ext>
            </a:extLst>
          </p:cNvPr>
          <p:cNvSpPr/>
          <p:nvPr/>
        </p:nvSpPr>
        <p:spPr>
          <a:xfrm>
            <a:off x="3035236" y="2581546"/>
            <a:ext cx="880683" cy="215444"/>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16 bits / sample</a:t>
            </a:r>
            <a:endParaRPr lang="ja-JP" altLang="en-US" sz="900" dirty="0">
              <a:solidFill>
                <a:schemeClr val="tx1"/>
              </a:solidFill>
            </a:endParaRPr>
          </a:p>
        </p:txBody>
      </p:sp>
      <p:grpSp>
        <p:nvGrpSpPr>
          <p:cNvPr id="309" name="グループ化 308">
            <a:extLst>
              <a:ext uri="{FF2B5EF4-FFF2-40B4-BE49-F238E27FC236}">
                <a16:creationId xmlns:a16="http://schemas.microsoft.com/office/drawing/2014/main" id="{7BBD6106-FB81-56BF-9666-3FAEE40FDB87}"/>
              </a:ext>
            </a:extLst>
          </p:cNvPr>
          <p:cNvGrpSpPr/>
          <p:nvPr/>
        </p:nvGrpSpPr>
        <p:grpSpPr>
          <a:xfrm>
            <a:off x="2319755" y="2088790"/>
            <a:ext cx="1243935" cy="137160"/>
            <a:chOff x="4634230" y="1624878"/>
            <a:chExt cx="871220" cy="137160"/>
          </a:xfrm>
        </p:grpSpPr>
        <p:cxnSp>
          <p:nvCxnSpPr>
            <p:cNvPr id="310" name="直線コネクタ 309">
              <a:extLst>
                <a:ext uri="{FF2B5EF4-FFF2-40B4-BE49-F238E27FC236}">
                  <a16:creationId xmlns:a16="http://schemas.microsoft.com/office/drawing/2014/main" id="{4F2E60C3-E130-4FD4-4823-C11E487517DE}"/>
                </a:ext>
              </a:extLst>
            </p:cNvPr>
            <p:cNvCxnSpPr/>
            <p:nvPr/>
          </p:nvCxnSpPr>
          <p:spPr>
            <a:xfrm>
              <a:off x="4634230" y="1624878"/>
              <a:ext cx="0" cy="137160"/>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311" name="直線コネクタ 310">
              <a:extLst>
                <a:ext uri="{FF2B5EF4-FFF2-40B4-BE49-F238E27FC236}">
                  <a16:creationId xmlns:a16="http://schemas.microsoft.com/office/drawing/2014/main" id="{36A0906A-B74F-0B9F-7FE9-9E76F506E6F1}"/>
                </a:ext>
              </a:extLst>
            </p:cNvPr>
            <p:cNvCxnSpPr/>
            <p:nvPr/>
          </p:nvCxnSpPr>
          <p:spPr>
            <a:xfrm>
              <a:off x="5505450" y="1624878"/>
              <a:ext cx="0" cy="137160"/>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312" name="直線矢印コネクタ 311">
              <a:extLst>
                <a:ext uri="{FF2B5EF4-FFF2-40B4-BE49-F238E27FC236}">
                  <a16:creationId xmlns:a16="http://schemas.microsoft.com/office/drawing/2014/main" id="{1F1F0608-1A7A-089E-A98D-0B3267011D0B}"/>
                </a:ext>
              </a:extLst>
            </p:cNvPr>
            <p:cNvCxnSpPr>
              <a:cxnSpLocks/>
            </p:cNvCxnSpPr>
            <p:nvPr/>
          </p:nvCxnSpPr>
          <p:spPr>
            <a:xfrm>
              <a:off x="4635500" y="1693458"/>
              <a:ext cx="869950" cy="0"/>
            </a:xfrm>
            <a:prstGeom prst="straightConnector1">
              <a:avLst/>
            </a:prstGeom>
            <a:ln w="952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grpSp>
      <p:sp>
        <p:nvSpPr>
          <p:cNvPr id="313" name="正方形/長方形 312">
            <a:extLst>
              <a:ext uri="{FF2B5EF4-FFF2-40B4-BE49-F238E27FC236}">
                <a16:creationId xmlns:a16="http://schemas.microsoft.com/office/drawing/2014/main" id="{A10DA737-29CB-D3E2-4DD9-6C93147D5C9E}"/>
              </a:ext>
            </a:extLst>
          </p:cNvPr>
          <p:cNvSpPr/>
          <p:nvPr/>
        </p:nvSpPr>
        <p:spPr>
          <a:xfrm>
            <a:off x="2518813" y="2040093"/>
            <a:ext cx="845820" cy="215444"/>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8 bits / sample</a:t>
            </a:r>
            <a:endParaRPr lang="ja-JP" altLang="en-US" sz="900" dirty="0">
              <a:solidFill>
                <a:schemeClr val="tx1"/>
              </a:solidFill>
            </a:endParaRPr>
          </a:p>
        </p:txBody>
      </p:sp>
      <p:grpSp>
        <p:nvGrpSpPr>
          <p:cNvPr id="304" name="グループ化 303">
            <a:extLst>
              <a:ext uri="{FF2B5EF4-FFF2-40B4-BE49-F238E27FC236}">
                <a16:creationId xmlns:a16="http://schemas.microsoft.com/office/drawing/2014/main" id="{8B31CAB5-FF72-CB06-62E6-41C07353A6C6}"/>
              </a:ext>
            </a:extLst>
          </p:cNvPr>
          <p:cNvGrpSpPr/>
          <p:nvPr/>
        </p:nvGrpSpPr>
        <p:grpSpPr>
          <a:xfrm>
            <a:off x="2319756" y="1578032"/>
            <a:ext cx="2487871" cy="137160"/>
            <a:chOff x="4634230" y="1624878"/>
            <a:chExt cx="871220" cy="137160"/>
          </a:xfrm>
        </p:grpSpPr>
        <p:cxnSp>
          <p:nvCxnSpPr>
            <p:cNvPr id="305" name="直線コネクタ 304">
              <a:extLst>
                <a:ext uri="{FF2B5EF4-FFF2-40B4-BE49-F238E27FC236}">
                  <a16:creationId xmlns:a16="http://schemas.microsoft.com/office/drawing/2014/main" id="{B477B61F-0777-8896-DAC9-951B212A15D8}"/>
                </a:ext>
              </a:extLst>
            </p:cNvPr>
            <p:cNvCxnSpPr/>
            <p:nvPr/>
          </p:nvCxnSpPr>
          <p:spPr>
            <a:xfrm>
              <a:off x="4634230" y="1624878"/>
              <a:ext cx="0" cy="137160"/>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306" name="直線コネクタ 305">
              <a:extLst>
                <a:ext uri="{FF2B5EF4-FFF2-40B4-BE49-F238E27FC236}">
                  <a16:creationId xmlns:a16="http://schemas.microsoft.com/office/drawing/2014/main" id="{906F1674-8C31-9D27-E12D-0E6DAA5308B4}"/>
                </a:ext>
              </a:extLst>
            </p:cNvPr>
            <p:cNvCxnSpPr/>
            <p:nvPr/>
          </p:nvCxnSpPr>
          <p:spPr>
            <a:xfrm>
              <a:off x="5505450" y="1624878"/>
              <a:ext cx="0" cy="137160"/>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307" name="直線矢印コネクタ 306">
              <a:extLst>
                <a:ext uri="{FF2B5EF4-FFF2-40B4-BE49-F238E27FC236}">
                  <a16:creationId xmlns:a16="http://schemas.microsoft.com/office/drawing/2014/main" id="{A7966BE3-A872-AD30-C44C-19CD1F2C9718}"/>
                </a:ext>
              </a:extLst>
            </p:cNvPr>
            <p:cNvCxnSpPr>
              <a:cxnSpLocks/>
            </p:cNvCxnSpPr>
            <p:nvPr/>
          </p:nvCxnSpPr>
          <p:spPr>
            <a:xfrm>
              <a:off x="4635500" y="1693458"/>
              <a:ext cx="869950" cy="0"/>
            </a:xfrm>
            <a:prstGeom prst="straightConnector1">
              <a:avLst/>
            </a:prstGeom>
            <a:ln w="952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grpSp>
      <p:sp>
        <p:nvSpPr>
          <p:cNvPr id="308" name="正方形/長方形 307">
            <a:extLst>
              <a:ext uri="{FF2B5EF4-FFF2-40B4-BE49-F238E27FC236}">
                <a16:creationId xmlns:a16="http://schemas.microsoft.com/office/drawing/2014/main" id="{259976B9-6F9D-1514-5A74-CF175E826CED}"/>
              </a:ext>
            </a:extLst>
          </p:cNvPr>
          <p:cNvSpPr/>
          <p:nvPr/>
        </p:nvSpPr>
        <p:spPr>
          <a:xfrm>
            <a:off x="3044794" y="1522558"/>
            <a:ext cx="880682" cy="215444"/>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16 bits / sample</a:t>
            </a:r>
            <a:endParaRPr lang="ja-JP" altLang="en-US" sz="900" dirty="0">
              <a:solidFill>
                <a:schemeClr val="tx1"/>
              </a:solidFill>
            </a:endParaRPr>
          </a:p>
        </p:txBody>
      </p:sp>
      <p:grpSp>
        <p:nvGrpSpPr>
          <p:cNvPr id="301" name="グループ化 300">
            <a:extLst>
              <a:ext uri="{FF2B5EF4-FFF2-40B4-BE49-F238E27FC236}">
                <a16:creationId xmlns:a16="http://schemas.microsoft.com/office/drawing/2014/main" id="{44390279-2E86-775F-F34E-B1832EE0B337}"/>
              </a:ext>
            </a:extLst>
          </p:cNvPr>
          <p:cNvGrpSpPr/>
          <p:nvPr/>
        </p:nvGrpSpPr>
        <p:grpSpPr>
          <a:xfrm>
            <a:off x="2319755" y="1072424"/>
            <a:ext cx="1243935" cy="137160"/>
            <a:chOff x="4634230" y="1624878"/>
            <a:chExt cx="871220" cy="137160"/>
          </a:xfrm>
        </p:grpSpPr>
        <p:cxnSp>
          <p:nvCxnSpPr>
            <p:cNvPr id="295" name="直線コネクタ 294">
              <a:extLst>
                <a:ext uri="{FF2B5EF4-FFF2-40B4-BE49-F238E27FC236}">
                  <a16:creationId xmlns:a16="http://schemas.microsoft.com/office/drawing/2014/main" id="{1033104D-B83B-C16D-D56D-B5F795261806}"/>
                </a:ext>
              </a:extLst>
            </p:cNvPr>
            <p:cNvCxnSpPr/>
            <p:nvPr/>
          </p:nvCxnSpPr>
          <p:spPr>
            <a:xfrm>
              <a:off x="4634230" y="1624878"/>
              <a:ext cx="0" cy="137160"/>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296" name="直線コネクタ 295">
              <a:extLst>
                <a:ext uri="{FF2B5EF4-FFF2-40B4-BE49-F238E27FC236}">
                  <a16:creationId xmlns:a16="http://schemas.microsoft.com/office/drawing/2014/main" id="{62F52942-CDC8-37FC-2098-D0D840FB5D9A}"/>
                </a:ext>
              </a:extLst>
            </p:cNvPr>
            <p:cNvCxnSpPr/>
            <p:nvPr/>
          </p:nvCxnSpPr>
          <p:spPr>
            <a:xfrm>
              <a:off x="5505450" y="1624878"/>
              <a:ext cx="0" cy="137160"/>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298" name="直線矢印コネクタ 297">
              <a:extLst>
                <a:ext uri="{FF2B5EF4-FFF2-40B4-BE49-F238E27FC236}">
                  <a16:creationId xmlns:a16="http://schemas.microsoft.com/office/drawing/2014/main" id="{404089F2-675A-1AF2-3417-10F0798A3A9D}"/>
                </a:ext>
              </a:extLst>
            </p:cNvPr>
            <p:cNvCxnSpPr>
              <a:cxnSpLocks/>
            </p:cNvCxnSpPr>
            <p:nvPr/>
          </p:nvCxnSpPr>
          <p:spPr>
            <a:xfrm>
              <a:off x="4635500" y="1693458"/>
              <a:ext cx="869950" cy="0"/>
            </a:xfrm>
            <a:prstGeom prst="straightConnector1">
              <a:avLst/>
            </a:prstGeom>
            <a:ln w="952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grpSp>
      <p:sp>
        <p:nvSpPr>
          <p:cNvPr id="302" name="正方形/長方形 301">
            <a:extLst>
              <a:ext uri="{FF2B5EF4-FFF2-40B4-BE49-F238E27FC236}">
                <a16:creationId xmlns:a16="http://schemas.microsoft.com/office/drawing/2014/main" id="{A94C4F95-E79B-A31A-6477-E065124AF071}"/>
              </a:ext>
            </a:extLst>
          </p:cNvPr>
          <p:cNvSpPr/>
          <p:nvPr/>
        </p:nvSpPr>
        <p:spPr>
          <a:xfrm>
            <a:off x="2512968" y="1026754"/>
            <a:ext cx="833120" cy="215444"/>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8 bits / sample</a:t>
            </a:r>
            <a:endParaRPr lang="ja-JP" altLang="en-US" sz="900" dirty="0">
              <a:solidFill>
                <a:schemeClr val="tx1"/>
              </a:solidFill>
            </a:endParaRPr>
          </a:p>
        </p:txBody>
      </p:sp>
      <p:sp>
        <p:nvSpPr>
          <p:cNvPr id="161" name="正方形/長方形 160">
            <a:extLst>
              <a:ext uri="{FF2B5EF4-FFF2-40B4-BE49-F238E27FC236}">
                <a16:creationId xmlns:a16="http://schemas.microsoft.com/office/drawing/2014/main" id="{E93DD67A-C3C1-40A2-53C7-49C38D4D93ED}"/>
              </a:ext>
            </a:extLst>
          </p:cNvPr>
          <p:cNvSpPr/>
          <p:nvPr/>
        </p:nvSpPr>
        <p:spPr>
          <a:xfrm>
            <a:off x="2319755" y="1742832"/>
            <a:ext cx="1243936" cy="256199"/>
          </a:xfrm>
          <a:prstGeom prst="rect">
            <a:avLst/>
          </a:prstGeom>
          <a:solidFill>
            <a:schemeClr val="accent1">
              <a:lumMod val="20000"/>
              <a:lumOff val="80000"/>
            </a:schemeClr>
          </a:solidFill>
          <a:ln w="6350">
            <a:solidFill>
              <a:schemeClr val="bg1">
                <a:lumMod val="8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I</a:t>
            </a:r>
            <a:r>
              <a:rPr lang="en-US" altLang="ja-JP" sz="900" baseline="-25000" dirty="0" err="1">
                <a:solidFill>
                  <a:schemeClr val="tx1"/>
                </a:solidFill>
              </a:rPr>
              <a:t>1</a:t>
            </a:r>
            <a:r>
              <a:rPr lang="en-US" altLang="ja-JP" sz="900" dirty="0">
                <a:solidFill>
                  <a:schemeClr val="tx1"/>
                </a:solidFill>
              </a:rPr>
              <a:t> (int8)</a:t>
            </a:r>
            <a:endParaRPr lang="ja-JP" altLang="en-US" sz="900" dirty="0">
              <a:solidFill>
                <a:schemeClr val="tx1"/>
              </a:solidFill>
            </a:endParaRPr>
          </a:p>
        </p:txBody>
      </p:sp>
      <p:sp>
        <p:nvSpPr>
          <p:cNvPr id="166" name="正方形/長方形 165">
            <a:extLst>
              <a:ext uri="{FF2B5EF4-FFF2-40B4-BE49-F238E27FC236}">
                <a16:creationId xmlns:a16="http://schemas.microsoft.com/office/drawing/2014/main" id="{687516A3-DCD9-CF42-6DCC-520CF257C1CD}"/>
              </a:ext>
            </a:extLst>
          </p:cNvPr>
          <p:cNvSpPr/>
          <p:nvPr/>
        </p:nvSpPr>
        <p:spPr>
          <a:xfrm>
            <a:off x="3561259" y="1741501"/>
            <a:ext cx="1243936" cy="261723"/>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1</a:t>
            </a:r>
            <a:r>
              <a:rPr lang="en-US" altLang="ja-JP" sz="900" dirty="0">
                <a:solidFill>
                  <a:schemeClr val="tx1"/>
                </a:solidFill>
              </a:rPr>
              <a:t> (int8)</a:t>
            </a:r>
            <a:r>
              <a:rPr lang="ja-JP" altLang="en-US" sz="900" baseline="30000" dirty="0">
                <a:solidFill>
                  <a:schemeClr val="tx1"/>
                </a:solidFill>
              </a:rPr>
              <a:t> *</a:t>
            </a:r>
            <a:r>
              <a:rPr lang="ja-JP" altLang="en-US" sz="900" dirty="0">
                <a:solidFill>
                  <a:schemeClr val="tx1"/>
                </a:solidFill>
              </a:rPr>
              <a:t> </a:t>
            </a:r>
          </a:p>
        </p:txBody>
      </p:sp>
      <p:sp>
        <p:nvSpPr>
          <p:cNvPr id="171" name="正方形/長方形 170">
            <a:extLst>
              <a:ext uri="{FF2B5EF4-FFF2-40B4-BE49-F238E27FC236}">
                <a16:creationId xmlns:a16="http://schemas.microsoft.com/office/drawing/2014/main" id="{3EF23975-D154-63A7-5CA8-F282D190FDA3}"/>
              </a:ext>
            </a:extLst>
          </p:cNvPr>
          <p:cNvSpPr/>
          <p:nvPr/>
        </p:nvSpPr>
        <p:spPr>
          <a:xfrm>
            <a:off x="4802763" y="1736694"/>
            <a:ext cx="1243936" cy="256199"/>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I</a:t>
            </a:r>
            <a:r>
              <a:rPr lang="en-US" altLang="ja-JP" sz="900" baseline="-25000" dirty="0" err="1">
                <a:solidFill>
                  <a:schemeClr val="tx1"/>
                </a:solidFill>
              </a:rPr>
              <a:t>1</a:t>
            </a:r>
            <a:r>
              <a:rPr lang="en-US" altLang="ja-JP" sz="900" dirty="0">
                <a:solidFill>
                  <a:schemeClr val="tx1"/>
                </a:solidFill>
              </a:rPr>
              <a:t> (int8)</a:t>
            </a:r>
            <a:endParaRPr lang="ja-JP" altLang="en-US" sz="900" dirty="0">
              <a:solidFill>
                <a:schemeClr val="tx1"/>
              </a:solidFill>
            </a:endParaRPr>
          </a:p>
        </p:txBody>
      </p:sp>
      <p:sp>
        <p:nvSpPr>
          <p:cNvPr id="176" name="正方形/長方形 175">
            <a:extLst>
              <a:ext uri="{FF2B5EF4-FFF2-40B4-BE49-F238E27FC236}">
                <a16:creationId xmlns:a16="http://schemas.microsoft.com/office/drawing/2014/main" id="{B5183261-2B19-1942-9A9E-6511FA74B283}"/>
              </a:ext>
            </a:extLst>
          </p:cNvPr>
          <p:cNvSpPr/>
          <p:nvPr/>
        </p:nvSpPr>
        <p:spPr>
          <a:xfrm>
            <a:off x="6046699" y="1741501"/>
            <a:ext cx="1243936" cy="251605"/>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1</a:t>
            </a:r>
            <a:r>
              <a:rPr lang="en-US" altLang="ja-JP" sz="900" dirty="0">
                <a:solidFill>
                  <a:schemeClr val="tx1"/>
                </a:solidFill>
              </a:rPr>
              <a:t> (int8)</a:t>
            </a:r>
            <a:r>
              <a:rPr lang="ja-JP" altLang="en-US" sz="900" baseline="30000" dirty="0">
                <a:solidFill>
                  <a:schemeClr val="tx1"/>
                </a:solidFill>
              </a:rPr>
              <a:t> *</a:t>
            </a:r>
            <a:r>
              <a:rPr lang="ja-JP" altLang="en-US" sz="900" dirty="0">
                <a:solidFill>
                  <a:schemeClr val="tx1"/>
                </a:solidFill>
              </a:rPr>
              <a:t> </a:t>
            </a:r>
          </a:p>
        </p:txBody>
      </p:sp>
      <p:sp>
        <p:nvSpPr>
          <p:cNvPr id="207" name="正方形/長方形 206">
            <a:extLst>
              <a:ext uri="{FF2B5EF4-FFF2-40B4-BE49-F238E27FC236}">
                <a16:creationId xmlns:a16="http://schemas.microsoft.com/office/drawing/2014/main" id="{921B7455-6904-9BE0-E8D7-D263CD822118}"/>
              </a:ext>
            </a:extLst>
          </p:cNvPr>
          <p:cNvSpPr/>
          <p:nvPr/>
        </p:nvSpPr>
        <p:spPr>
          <a:xfrm>
            <a:off x="2319755" y="1226583"/>
            <a:ext cx="1243936" cy="260887"/>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I</a:t>
            </a:r>
            <a:r>
              <a:rPr lang="en-US" altLang="ja-JP" sz="900" baseline="-25000" dirty="0" err="1">
                <a:solidFill>
                  <a:schemeClr val="tx1"/>
                </a:solidFill>
              </a:rPr>
              <a:t>1</a:t>
            </a:r>
            <a:r>
              <a:rPr lang="en-US" altLang="ja-JP" sz="900" dirty="0">
                <a:solidFill>
                  <a:schemeClr val="tx1"/>
                </a:solidFill>
              </a:rPr>
              <a:t> (int8)</a:t>
            </a:r>
            <a:endParaRPr lang="ja-JP" altLang="en-US" sz="900" baseline="-25000" dirty="0">
              <a:solidFill>
                <a:schemeClr val="tx1"/>
              </a:solidFill>
            </a:endParaRPr>
          </a:p>
        </p:txBody>
      </p:sp>
      <p:sp>
        <p:nvSpPr>
          <p:cNvPr id="212" name="正方形/長方形 211">
            <a:extLst>
              <a:ext uri="{FF2B5EF4-FFF2-40B4-BE49-F238E27FC236}">
                <a16:creationId xmlns:a16="http://schemas.microsoft.com/office/drawing/2014/main" id="{C6496B52-28EA-3CFC-4298-8457E2B41B3C}"/>
              </a:ext>
            </a:extLst>
          </p:cNvPr>
          <p:cNvSpPr/>
          <p:nvPr/>
        </p:nvSpPr>
        <p:spPr>
          <a:xfrm>
            <a:off x="3563691" y="1226583"/>
            <a:ext cx="1243936" cy="260887"/>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I</a:t>
            </a:r>
            <a:r>
              <a:rPr lang="en-US" altLang="ja-JP" sz="900" baseline="-25000" dirty="0" err="1">
                <a:solidFill>
                  <a:schemeClr val="tx1"/>
                </a:solidFill>
              </a:rPr>
              <a:t>1</a:t>
            </a:r>
            <a:r>
              <a:rPr lang="en-US" altLang="ja-JP" sz="900" dirty="0">
                <a:solidFill>
                  <a:schemeClr val="tx1"/>
                </a:solidFill>
              </a:rPr>
              <a:t> (int8)</a:t>
            </a:r>
            <a:endParaRPr lang="ja-JP" altLang="en-US" sz="900" baseline="-25000" dirty="0">
              <a:solidFill>
                <a:schemeClr val="tx1"/>
              </a:solidFill>
            </a:endParaRPr>
          </a:p>
        </p:txBody>
      </p:sp>
      <p:sp>
        <p:nvSpPr>
          <p:cNvPr id="217" name="正方形/長方形 216">
            <a:extLst>
              <a:ext uri="{FF2B5EF4-FFF2-40B4-BE49-F238E27FC236}">
                <a16:creationId xmlns:a16="http://schemas.microsoft.com/office/drawing/2014/main" id="{5B6393E0-CF09-F980-C729-C00739267FFD}"/>
              </a:ext>
            </a:extLst>
          </p:cNvPr>
          <p:cNvSpPr/>
          <p:nvPr/>
        </p:nvSpPr>
        <p:spPr>
          <a:xfrm>
            <a:off x="4807627" y="1226583"/>
            <a:ext cx="1243936" cy="260887"/>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I</a:t>
            </a:r>
            <a:r>
              <a:rPr lang="en-US" altLang="ja-JP" sz="900" baseline="-25000" dirty="0" err="1">
                <a:solidFill>
                  <a:schemeClr val="tx1"/>
                </a:solidFill>
              </a:rPr>
              <a:t>1</a:t>
            </a:r>
            <a:r>
              <a:rPr lang="en-US" altLang="ja-JP" sz="900" dirty="0">
                <a:solidFill>
                  <a:schemeClr val="tx1"/>
                </a:solidFill>
              </a:rPr>
              <a:t> (int8)</a:t>
            </a:r>
            <a:endParaRPr lang="ja-JP" altLang="en-US" sz="900" baseline="-25000" dirty="0">
              <a:solidFill>
                <a:schemeClr val="tx1"/>
              </a:solidFill>
            </a:endParaRPr>
          </a:p>
        </p:txBody>
      </p:sp>
      <p:sp>
        <p:nvSpPr>
          <p:cNvPr id="222" name="正方形/長方形 221">
            <a:extLst>
              <a:ext uri="{FF2B5EF4-FFF2-40B4-BE49-F238E27FC236}">
                <a16:creationId xmlns:a16="http://schemas.microsoft.com/office/drawing/2014/main" id="{7F549DA4-BD19-6D67-778C-138CF629B1E7}"/>
              </a:ext>
            </a:extLst>
          </p:cNvPr>
          <p:cNvSpPr/>
          <p:nvPr/>
        </p:nvSpPr>
        <p:spPr>
          <a:xfrm>
            <a:off x="6051562" y="1226583"/>
            <a:ext cx="1243935" cy="260887"/>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I</a:t>
            </a:r>
            <a:r>
              <a:rPr lang="en-US" altLang="ja-JP" sz="900" baseline="-25000" dirty="0" err="1">
                <a:solidFill>
                  <a:schemeClr val="tx1"/>
                </a:solidFill>
              </a:rPr>
              <a:t>1</a:t>
            </a:r>
            <a:r>
              <a:rPr lang="en-US" altLang="ja-JP" sz="900" dirty="0">
                <a:solidFill>
                  <a:schemeClr val="tx1"/>
                </a:solidFill>
              </a:rPr>
              <a:t> (int8)</a:t>
            </a:r>
            <a:endParaRPr lang="ja-JP" altLang="en-US" sz="900" baseline="-25000" dirty="0">
              <a:solidFill>
                <a:schemeClr val="tx1"/>
              </a:solidFill>
            </a:endParaRPr>
          </a:p>
        </p:txBody>
      </p:sp>
      <p:sp>
        <p:nvSpPr>
          <p:cNvPr id="90" name="正方形/長方形 89">
            <a:extLst>
              <a:ext uri="{FF2B5EF4-FFF2-40B4-BE49-F238E27FC236}">
                <a16:creationId xmlns:a16="http://schemas.microsoft.com/office/drawing/2014/main" id="{41BAF44A-26D9-3DE2-5CB2-7C15EF476EC2}"/>
              </a:ext>
            </a:extLst>
          </p:cNvPr>
          <p:cNvSpPr/>
          <p:nvPr/>
        </p:nvSpPr>
        <p:spPr>
          <a:xfrm>
            <a:off x="3252707" y="3305956"/>
            <a:ext cx="310984" cy="115755"/>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1</a:t>
            </a:r>
            <a:endParaRPr lang="ja-JP" altLang="en-US" sz="900" baseline="-25000" dirty="0">
              <a:solidFill>
                <a:schemeClr val="tx1"/>
              </a:solidFill>
            </a:endParaRPr>
          </a:p>
        </p:txBody>
      </p:sp>
      <p:sp>
        <p:nvSpPr>
          <p:cNvPr id="92" name="正方形/長方形 91">
            <a:extLst>
              <a:ext uri="{FF2B5EF4-FFF2-40B4-BE49-F238E27FC236}">
                <a16:creationId xmlns:a16="http://schemas.microsoft.com/office/drawing/2014/main" id="{F5EAF328-99C9-9B85-5D31-76CE3EFC1026}"/>
              </a:ext>
            </a:extLst>
          </p:cNvPr>
          <p:cNvSpPr/>
          <p:nvPr/>
        </p:nvSpPr>
        <p:spPr>
          <a:xfrm>
            <a:off x="3561259" y="3305956"/>
            <a:ext cx="310984" cy="115755"/>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4</a:t>
            </a:r>
            <a:r>
              <a:rPr lang="ja-JP" altLang="en-US" sz="900" baseline="30000" dirty="0">
                <a:solidFill>
                  <a:schemeClr val="tx1"/>
                </a:solidFill>
              </a:rPr>
              <a:t> *</a:t>
            </a:r>
            <a:endParaRPr lang="ja-JP" altLang="en-US" sz="900" baseline="-25000" dirty="0">
              <a:solidFill>
                <a:schemeClr val="tx1"/>
              </a:solidFill>
            </a:endParaRPr>
          </a:p>
        </p:txBody>
      </p:sp>
      <p:sp>
        <p:nvSpPr>
          <p:cNvPr id="87" name="正方形/長方形 86">
            <a:extLst>
              <a:ext uri="{FF2B5EF4-FFF2-40B4-BE49-F238E27FC236}">
                <a16:creationId xmlns:a16="http://schemas.microsoft.com/office/drawing/2014/main" id="{063149A0-5801-F154-B175-ED776AA795CC}"/>
              </a:ext>
            </a:extLst>
          </p:cNvPr>
          <p:cNvSpPr/>
          <p:nvPr/>
        </p:nvSpPr>
        <p:spPr>
          <a:xfrm>
            <a:off x="2319755" y="3309456"/>
            <a:ext cx="310984" cy="115755"/>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2</a:t>
            </a:r>
            <a:r>
              <a:rPr lang="ja-JP" altLang="en-US" sz="900" baseline="30000" dirty="0">
                <a:solidFill>
                  <a:schemeClr val="tx1"/>
                </a:solidFill>
              </a:rPr>
              <a:t> *</a:t>
            </a:r>
            <a:endParaRPr lang="ja-JP" altLang="en-US" sz="900" baseline="-25000" dirty="0">
              <a:solidFill>
                <a:schemeClr val="tx1"/>
              </a:solidFill>
            </a:endParaRPr>
          </a:p>
        </p:txBody>
      </p:sp>
      <p:sp>
        <p:nvSpPr>
          <p:cNvPr id="88" name="正方形/長方形 87">
            <a:extLst>
              <a:ext uri="{FF2B5EF4-FFF2-40B4-BE49-F238E27FC236}">
                <a16:creationId xmlns:a16="http://schemas.microsoft.com/office/drawing/2014/main" id="{602386E2-5598-A17C-6FB2-F9780C2A54A7}"/>
              </a:ext>
            </a:extLst>
          </p:cNvPr>
          <p:cNvSpPr/>
          <p:nvPr/>
        </p:nvSpPr>
        <p:spPr>
          <a:xfrm>
            <a:off x="2630739" y="3309456"/>
            <a:ext cx="310984" cy="115755"/>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2</a:t>
            </a:r>
            <a:endParaRPr lang="ja-JP" altLang="en-US" sz="900" baseline="-25000" dirty="0">
              <a:solidFill>
                <a:schemeClr val="tx1"/>
              </a:solidFill>
            </a:endParaRPr>
          </a:p>
        </p:txBody>
      </p:sp>
      <p:sp>
        <p:nvSpPr>
          <p:cNvPr id="89" name="正方形/長方形 88">
            <a:extLst>
              <a:ext uri="{FF2B5EF4-FFF2-40B4-BE49-F238E27FC236}">
                <a16:creationId xmlns:a16="http://schemas.microsoft.com/office/drawing/2014/main" id="{4D48C06E-5ED9-2A7F-59AF-66EF8B0D48D9}"/>
              </a:ext>
            </a:extLst>
          </p:cNvPr>
          <p:cNvSpPr/>
          <p:nvPr/>
        </p:nvSpPr>
        <p:spPr>
          <a:xfrm>
            <a:off x="2941723" y="3309456"/>
            <a:ext cx="310984" cy="115755"/>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1</a:t>
            </a:r>
            <a:r>
              <a:rPr lang="ja-JP" altLang="en-US" sz="900" baseline="30000" dirty="0">
                <a:solidFill>
                  <a:schemeClr val="tx1"/>
                </a:solidFill>
              </a:rPr>
              <a:t> *</a:t>
            </a:r>
            <a:endParaRPr lang="ja-JP" altLang="en-US" sz="900" baseline="-25000" dirty="0">
              <a:solidFill>
                <a:schemeClr val="tx1"/>
              </a:solidFill>
            </a:endParaRPr>
          </a:p>
        </p:txBody>
      </p:sp>
      <p:sp>
        <p:nvSpPr>
          <p:cNvPr id="93" name="正方形/長方形 92">
            <a:extLst>
              <a:ext uri="{FF2B5EF4-FFF2-40B4-BE49-F238E27FC236}">
                <a16:creationId xmlns:a16="http://schemas.microsoft.com/office/drawing/2014/main" id="{2F2568EA-DB98-611F-6803-A28591F0CD8D}"/>
              </a:ext>
            </a:extLst>
          </p:cNvPr>
          <p:cNvSpPr/>
          <p:nvPr/>
        </p:nvSpPr>
        <p:spPr>
          <a:xfrm>
            <a:off x="3874675" y="3309456"/>
            <a:ext cx="310984" cy="115755"/>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4</a:t>
            </a:r>
            <a:endParaRPr lang="ja-JP" altLang="en-US" sz="900" baseline="-25000" dirty="0">
              <a:solidFill>
                <a:schemeClr val="tx1"/>
              </a:solidFill>
            </a:endParaRPr>
          </a:p>
        </p:txBody>
      </p:sp>
      <p:sp>
        <p:nvSpPr>
          <p:cNvPr id="94" name="正方形/長方形 93">
            <a:extLst>
              <a:ext uri="{FF2B5EF4-FFF2-40B4-BE49-F238E27FC236}">
                <a16:creationId xmlns:a16="http://schemas.microsoft.com/office/drawing/2014/main" id="{02ED4C89-470D-2E11-9546-4CE915DD48E0}"/>
              </a:ext>
            </a:extLst>
          </p:cNvPr>
          <p:cNvSpPr/>
          <p:nvPr/>
        </p:nvSpPr>
        <p:spPr>
          <a:xfrm>
            <a:off x="4185659" y="3309456"/>
            <a:ext cx="310984" cy="115755"/>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3</a:t>
            </a:r>
            <a:r>
              <a:rPr lang="ja-JP" altLang="en-US" sz="900" baseline="30000" dirty="0">
                <a:solidFill>
                  <a:schemeClr val="tx1"/>
                </a:solidFill>
              </a:rPr>
              <a:t> *</a:t>
            </a:r>
            <a:endParaRPr lang="ja-JP" altLang="en-US" sz="900" baseline="-25000" dirty="0">
              <a:solidFill>
                <a:schemeClr val="tx1"/>
              </a:solidFill>
            </a:endParaRPr>
          </a:p>
        </p:txBody>
      </p:sp>
      <p:sp>
        <p:nvSpPr>
          <p:cNvPr id="95" name="正方形/長方形 94">
            <a:extLst>
              <a:ext uri="{FF2B5EF4-FFF2-40B4-BE49-F238E27FC236}">
                <a16:creationId xmlns:a16="http://schemas.microsoft.com/office/drawing/2014/main" id="{5851A2DE-7C73-23DB-FA39-FB6C6F6D1D6F}"/>
              </a:ext>
            </a:extLst>
          </p:cNvPr>
          <p:cNvSpPr/>
          <p:nvPr/>
        </p:nvSpPr>
        <p:spPr>
          <a:xfrm>
            <a:off x="4496643" y="3298851"/>
            <a:ext cx="310984" cy="115755"/>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3</a:t>
            </a:r>
            <a:endParaRPr lang="ja-JP" altLang="en-US" sz="900" baseline="-25000" dirty="0">
              <a:solidFill>
                <a:schemeClr val="tx1"/>
              </a:solidFill>
            </a:endParaRPr>
          </a:p>
        </p:txBody>
      </p:sp>
      <p:sp>
        <p:nvSpPr>
          <p:cNvPr id="97" name="正方形/長方形 96">
            <a:extLst>
              <a:ext uri="{FF2B5EF4-FFF2-40B4-BE49-F238E27FC236}">
                <a16:creationId xmlns:a16="http://schemas.microsoft.com/office/drawing/2014/main" id="{C49DAE30-3705-970C-4582-4A7D75C72AAA}"/>
              </a:ext>
            </a:extLst>
          </p:cNvPr>
          <p:cNvSpPr/>
          <p:nvPr/>
        </p:nvSpPr>
        <p:spPr>
          <a:xfrm>
            <a:off x="4806411" y="3305956"/>
            <a:ext cx="310984" cy="115755"/>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6</a:t>
            </a:r>
            <a:r>
              <a:rPr lang="ja-JP" altLang="en-US" sz="900" baseline="30000" dirty="0">
                <a:solidFill>
                  <a:schemeClr val="tx1"/>
                </a:solidFill>
              </a:rPr>
              <a:t> *</a:t>
            </a:r>
            <a:endParaRPr lang="ja-JP" altLang="en-US" sz="900" baseline="-25000" dirty="0">
              <a:solidFill>
                <a:schemeClr val="tx1"/>
              </a:solidFill>
            </a:endParaRPr>
          </a:p>
        </p:txBody>
      </p:sp>
      <p:sp>
        <p:nvSpPr>
          <p:cNvPr id="98" name="正方形/長方形 97">
            <a:extLst>
              <a:ext uri="{FF2B5EF4-FFF2-40B4-BE49-F238E27FC236}">
                <a16:creationId xmlns:a16="http://schemas.microsoft.com/office/drawing/2014/main" id="{9CD517C0-EC29-FDDE-356C-AC7A244E08A2}"/>
              </a:ext>
            </a:extLst>
          </p:cNvPr>
          <p:cNvSpPr/>
          <p:nvPr/>
        </p:nvSpPr>
        <p:spPr>
          <a:xfrm>
            <a:off x="5118611" y="3309456"/>
            <a:ext cx="310984" cy="115755"/>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6</a:t>
            </a:r>
            <a:endParaRPr lang="ja-JP" altLang="en-US" sz="900" baseline="-25000" dirty="0">
              <a:solidFill>
                <a:schemeClr val="tx1"/>
              </a:solidFill>
            </a:endParaRPr>
          </a:p>
        </p:txBody>
      </p:sp>
      <p:sp>
        <p:nvSpPr>
          <p:cNvPr id="99" name="正方形/長方形 98">
            <a:extLst>
              <a:ext uri="{FF2B5EF4-FFF2-40B4-BE49-F238E27FC236}">
                <a16:creationId xmlns:a16="http://schemas.microsoft.com/office/drawing/2014/main" id="{A8E4C810-6845-8B83-BB14-A9293A876984}"/>
              </a:ext>
            </a:extLst>
          </p:cNvPr>
          <p:cNvSpPr/>
          <p:nvPr/>
        </p:nvSpPr>
        <p:spPr>
          <a:xfrm>
            <a:off x="5429595" y="3309456"/>
            <a:ext cx="310984" cy="115755"/>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5</a:t>
            </a:r>
            <a:r>
              <a:rPr lang="ja-JP" altLang="en-US" sz="900" baseline="30000" dirty="0">
                <a:solidFill>
                  <a:schemeClr val="tx1"/>
                </a:solidFill>
              </a:rPr>
              <a:t> *</a:t>
            </a:r>
            <a:endParaRPr lang="ja-JP" altLang="en-US" sz="900" baseline="-25000" dirty="0">
              <a:solidFill>
                <a:schemeClr val="tx1"/>
              </a:solidFill>
            </a:endParaRPr>
          </a:p>
        </p:txBody>
      </p:sp>
      <p:sp>
        <p:nvSpPr>
          <p:cNvPr id="100" name="正方形/長方形 99">
            <a:extLst>
              <a:ext uri="{FF2B5EF4-FFF2-40B4-BE49-F238E27FC236}">
                <a16:creationId xmlns:a16="http://schemas.microsoft.com/office/drawing/2014/main" id="{BA470E99-29D5-A7A4-70F3-89D94CCC2AA6}"/>
              </a:ext>
            </a:extLst>
          </p:cNvPr>
          <p:cNvSpPr/>
          <p:nvPr/>
        </p:nvSpPr>
        <p:spPr>
          <a:xfrm>
            <a:off x="5740579" y="3309456"/>
            <a:ext cx="310984" cy="115755"/>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5</a:t>
            </a:r>
            <a:endParaRPr lang="ja-JP" altLang="en-US" sz="900" baseline="-25000" dirty="0">
              <a:solidFill>
                <a:schemeClr val="tx1"/>
              </a:solidFill>
            </a:endParaRPr>
          </a:p>
        </p:txBody>
      </p:sp>
      <p:sp>
        <p:nvSpPr>
          <p:cNvPr id="102" name="正方形/長方形 101">
            <a:extLst>
              <a:ext uri="{FF2B5EF4-FFF2-40B4-BE49-F238E27FC236}">
                <a16:creationId xmlns:a16="http://schemas.microsoft.com/office/drawing/2014/main" id="{216A1636-8DC0-C3E8-6253-7F90C9046F05}"/>
              </a:ext>
            </a:extLst>
          </p:cNvPr>
          <p:cNvSpPr/>
          <p:nvPr/>
        </p:nvSpPr>
        <p:spPr>
          <a:xfrm>
            <a:off x="6049132" y="3311191"/>
            <a:ext cx="310984" cy="115755"/>
          </a:xfrm>
          <a:prstGeom prst="rect">
            <a:avLst/>
          </a:prstGeom>
          <a:solidFill>
            <a:schemeClr val="accent6">
              <a:lumMod val="20000"/>
              <a:lumOff val="80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8</a:t>
            </a:r>
            <a:r>
              <a:rPr lang="ja-JP" altLang="en-US" sz="900" baseline="30000" dirty="0">
                <a:solidFill>
                  <a:schemeClr val="tx1"/>
                </a:solidFill>
              </a:rPr>
              <a:t> *</a:t>
            </a:r>
            <a:endParaRPr lang="ja-JP" altLang="en-US" sz="900" baseline="-25000" dirty="0">
              <a:solidFill>
                <a:schemeClr val="tx1"/>
              </a:solidFill>
            </a:endParaRPr>
          </a:p>
        </p:txBody>
      </p:sp>
      <p:sp>
        <p:nvSpPr>
          <p:cNvPr id="103" name="正方形/長方形 102">
            <a:extLst>
              <a:ext uri="{FF2B5EF4-FFF2-40B4-BE49-F238E27FC236}">
                <a16:creationId xmlns:a16="http://schemas.microsoft.com/office/drawing/2014/main" id="{A094FF30-547C-1C8B-8782-507DECEF2CCF}"/>
              </a:ext>
            </a:extLst>
          </p:cNvPr>
          <p:cNvSpPr/>
          <p:nvPr/>
        </p:nvSpPr>
        <p:spPr>
          <a:xfrm>
            <a:off x="6362547" y="3309456"/>
            <a:ext cx="310984" cy="115755"/>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8</a:t>
            </a:r>
            <a:endParaRPr lang="ja-JP" altLang="en-US" sz="900" baseline="-25000" dirty="0">
              <a:solidFill>
                <a:schemeClr val="tx1"/>
              </a:solidFill>
            </a:endParaRPr>
          </a:p>
        </p:txBody>
      </p:sp>
      <p:sp>
        <p:nvSpPr>
          <p:cNvPr id="104" name="正方形/長方形 103">
            <a:extLst>
              <a:ext uri="{FF2B5EF4-FFF2-40B4-BE49-F238E27FC236}">
                <a16:creationId xmlns:a16="http://schemas.microsoft.com/office/drawing/2014/main" id="{C1967CEA-FA8D-D4CA-412A-02A72AAA58F1}"/>
              </a:ext>
            </a:extLst>
          </p:cNvPr>
          <p:cNvSpPr/>
          <p:nvPr/>
        </p:nvSpPr>
        <p:spPr>
          <a:xfrm>
            <a:off x="6673531" y="3309456"/>
            <a:ext cx="310984" cy="115755"/>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7</a:t>
            </a:r>
            <a:r>
              <a:rPr lang="ja-JP" altLang="en-US" sz="900" baseline="30000" dirty="0">
                <a:solidFill>
                  <a:schemeClr val="tx1"/>
                </a:solidFill>
              </a:rPr>
              <a:t> *</a:t>
            </a:r>
            <a:endParaRPr lang="ja-JP" altLang="en-US" sz="900" baseline="-25000" dirty="0">
              <a:solidFill>
                <a:schemeClr val="tx1"/>
              </a:solidFill>
            </a:endParaRPr>
          </a:p>
        </p:txBody>
      </p:sp>
      <p:sp>
        <p:nvSpPr>
          <p:cNvPr id="105" name="正方形/長方形 104">
            <a:extLst>
              <a:ext uri="{FF2B5EF4-FFF2-40B4-BE49-F238E27FC236}">
                <a16:creationId xmlns:a16="http://schemas.microsoft.com/office/drawing/2014/main" id="{1FBCA6D2-F007-B15D-2C6C-D09589BD13B1}"/>
              </a:ext>
            </a:extLst>
          </p:cNvPr>
          <p:cNvSpPr/>
          <p:nvPr/>
        </p:nvSpPr>
        <p:spPr>
          <a:xfrm>
            <a:off x="6984515" y="3309456"/>
            <a:ext cx="310984" cy="115755"/>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7</a:t>
            </a:r>
            <a:endParaRPr lang="ja-JP" altLang="en-US" sz="900" baseline="-25000" dirty="0">
              <a:solidFill>
                <a:schemeClr val="tx1"/>
              </a:solidFill>
            </a:endParaRPr>
          </a:p>
        </p:txBody>
      </p:sp>
      <p:sp>
        <p:nvSpPr>
          <p:cNvPr id="75" name="正方形/長方形 74">
            <a:extLst>
              <a:ext uri="{FF2B5EF4-FFF2-40B4-BE49-F238E27FC236}">
                <a16:creationId xmlns:a16="http://schemas.microsoft.com/office/drawing/2014/main" id="{31D31765-74BD-B33A-001C-2FB7004737F2}"/>
              </a:ext>
            </a:extLst>
          </p:cNvPr>
          <p:cNvSpPr/>
          <p:nvPr/>
        </p:nvSpPr>
        <p:spPr>
          <a:xfrm>
            <a:off x="5740579" y="2766942"/>
            <a:ext cx="310984" cy="127791"/>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1</a:t>
            </a:r>
            <a:endParaRPr lang="ja-JP" altLang="en-US" sz="900" baseline="-25000" dirty="0">
              <a:solidFill>
                <a:schemeClr val="tx1"/>
              </a:solidFill>
            </a:endParaRPr>
          </a:p>
        </p:txBody>
      </p:sp>
      <p:sp>
        <p:nvSpPr>
          <p:cNvPr id="77" name="正方形/長方形 76">
            <a:extLst>
              <a:ext uri="{FF2B5EF4-FFF2-40B4-BE49-F238E27FC236}">
                <a16:creationId xmlns:a16="http://schemas.microsoft.com/office/drawing/2014/main" id="{2EA16FB9-D9B3-143F-B800-A6CA644B7112}"/>
              </a:ext>
            </a:extLst>
          </p:cNvPr>
          <p:cNvSpPr/>
          <p:nvPr/>
        </p:nvSpPr>
        <p:spPr>
          <a:xfrm>
            <a:off x="6051562" y="2777325"/>
            <a:ext cx="310984" cy="127791"/>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4</a:t>
            </a:r>
            <a:r>
              <a:rPr lang="ja-JP" altLang="en-US" sz="900" baseline="30000" dirty="0">
                <a:solidFill>
                  <a:schemeClr val="tx1"/>
                </a:solidFill>
              </a:rPr>
              <a:t> *</a:t>
            </a:r>
            <a:endParaRPr lang="ja-JP" altLang="en-US" sz="900" baseline="-25000" dirty="0">
              <a:solidFill>
                <a:schemeClr val="tx1"/>
              </a:solidFill>
            </a:endParaRPr>
          </a:p>
        </p:txBody>
      </p:sp>
      <p:sp>
        <p:nvSpPr>
          <p:cNvPr id="65" name="正方形/長方形 64">
            <a:extLst>
              <a:ext uri="{FF2B5EF4-FFF2-40B4-BE49-F238E27FC236}">
                <a16:creationId xmlns:a16="http://schemas.microsoft.com/office/drawing/2014/main" id="{8BB9F6CA-83EF-7F52-AF08-FEAE43187D36}"/>
              </a:ext>
            </a:extLst>
          </p:cNvPr>
          <p:cNvSpPr/>
          <p:nvPr/>
        </p:nvSpPr>
        <p:spPr>
          <a:xfrm>
            <a:off x="3252707" y="2772934"/>
            <a:ext cx="310984" cy="127791"/>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1</a:t>
            </a:r>
            <a:endParaRPr lang="ja-JP" altLang="en-US" sz="900" baseline="-25000" dirty="0">
              <a:solidFill>
                <a:schemeClr val="tx1"/>
              </a:solidFill>
            </a:endParaRPr>
          </a:p>
        </p:txBody>
      </p:sp>
      <p:sp>
        <p:nvSpPr>
          <p:cNvPr id="67" name="正方形/長方形 66">
            <a:extLst>
              <a:ext uri="{FF2B5EF4-FFF2-40B4-BE49-F238E27FC236}">
                <a16:creationId xmlns:a16="http://schemas.microsoft.com/office/drawing/2014/main" id="{389EA019-14DF-E53F-5346-A8266B3E97DC}"/>
              </a:ext>
            </a:extLst>
          </p:cNvPr>
          <p:cNvSpPr/>
          <p:nvPr/>
        </p:nvSpPr>
        <p:spPr>
          <a:xfrm>
            <a:off x="3563691" y="2766942"/>
            <a:ext cx="310984" cy="127791"/>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4</a:t>
            </a:r>
            <a:r>
              <a:rPr lang="ja-JP" altLang="en-US" sz="900" baseline="30000" dirty="0">
                <a:solidFill>
                  <a:schemeClr val="tx1"/>
                </a:solidFill>
              </a:rPr>
              <a:t> *</a:t>
            </a:r>
            <a:endParaRPr lang="ja-JP" altLang="en-US" sz="900" baseline="-25000" dirty="0">
              <a:solidFill>
                <a:schemeClr val="tx1"/>
              </a:solidFill>
            </a:endParaRPr>
          </a:p>
        </p:txBody>
      </p:sp>
      <p:sp>
        <p:nvSpPr>
          <p:cNvPr id="2" name="タイトル 1">
            <a:extLst>
              <a:ext uri="{FF2B5EF4-FFF2-40B4-BE49-F238E27FC236}">
                <a16:creationId xmlns:a16="http://schemas.microsoft.com/office/drawing/2014/main" id="{C6105315-3EA2-EE27-B068-3CDA55128C11}"/>
              </a:ext>
            </a:extLst>
          </p:cNvPr>
          <p:cNvSpPr>
            <a:spLocks noGrp="1"/>
          </p:cNvSpPr>
          <p:nvPr>
            <p:ph type="title"/>
          </p:nvPr>
        </p:nvSpPr>
        <p:spPr>
          <a:xfrm>
            <a:off x="457200" y="506997"/>
            <a:ext cx="8229600" cy="598078"/>
          </a:xfrm>
        </p:spPr>
        <p:txBody>
          <a:bodyPr/>
          <a:lstStyle/>
          <a:p>
            <a:r>
              <a:rPr kumimoji="1" lang="en-US" altLang="ja-JP" sz="2000" dirty="0">
                <a:solidFill>
                  <a:schemeClr val="tx1"/>
                </a:solidFill>
              </a:rPr>
              <a:t>IF</a:t>
            </a:r>
            <a:r>
              <a:rPr kumimoji="1" lang="ja-JP" altLang="en-US" sz="2000" dirty="0">
                <a:solidFill>
                  <a:schemeClr val="tx1"/>
                </a:solidFill>
              </a:rPr>
              <a:t> </a:t>
            </a:r>
            <a:r>
              <a:rPr kumimoji="1" lang="en-US" altLang="ja-JP" sz="2000" dirty="0">
                <a:solidFill>
                  <a:schemeClr val="tx1"/>
                </a:solidFill>
              </a:rPr>
              <a:t>Data</a:t>
            </a:r>
            <a:r>
              <a:rPr kumimoji="1" lang="ja-JP" altLang="en-US" sz="2000" dirty="0">
                <a:solidFill>
                  <a:schemeClr val="tx1"/>
                </a:solidFill>
              </a:rPr>
              <a:t> </a:t>
            </a:r>
            <a:r>
              <a:rPr kumimoji="1" lang="en-US" altLang="ja-JP" sz="2000" dirty="0">
                <a:solidFill>
                  <a:schemeClr val="tx1"/>
                </a:solidFill>
              </a:rPr>
              <a:t>File Formats</a:t>
            </a:r>
            <a:endParaRPr kumimoji="1" lang="ja-JP" altLang="en-US" sz="2000" dirty="0">
              <a:solidFill>
                <a:schemeClr val="tx1"/>
              </a:solidFill>
            </a:endParaRPr>
          </a:p>
        </p:txBody>
      </p:sp>
      <p:sp>
        <p:nvSpPr>
          <p:cNvPr id="4" name="スライド番号プレースホルダー 3">
            <a:extLst>
              <a:ext uri="{FF2B5EF4-FFF2-40B4-BE49-F238E27FC236}">
                <a16:creationId xmlns:a16="http://schemas.microsoft.com/office/drawing/2014/main" id="{4C7B1075-094C-4FA1-FE62-07313FE99F1F}"/>
              </a:ext>
            </a:extLst>
          </p:cNvPr>
          <p:cNvSpPr>
            <a:spLocks noGrp="1"/>
          </p:cNvSpPr>
          <p:nvPr>
            <p:ph type="sldNum" sz="quarter" idx="11"/>
          </p:nvPr>
        </p:nvSpPr>
        <p:spPr/>
        <p:txBody>
          <a:bodyPr/>
          <a:lstStyle/>
          <a:p>
            <a:pPr>
              <a:defRPr/>
            </a:pPr>
            <a:fld id="{76B10B91-6492-4C08-AE87-F344306858DA}" type="slidenum">
              <a:rPr lang="ja-JP" altLang="en-US" smtClean="0">
                <a:latin typeface="+mj-lt"/>
              </a:rPr>
              <a:pPr>
                <a:defRPr/>
              </a:pPr>
              <a:t>15</a:t>
            </a:fld>
            <a:endParaRPr lang="ja-JP" altLang="en-US" dirty="0">
              <a:latin typeface="+mj-lt"/>
            </a:endParaRPr>
          </a:p>
        </p:txBody>
      </p:sp>
      <p:sp>
        <p:nvSpPr>
          <p:cNvPr id="5" name="Text Box 52">
            <a:extLst>
              <a:ext uri="{FF2B5EF4-FFF2-40B4-BE49-F238E27FC236}">
                <a16:creationId xmlns:a16="http://schemas.microsoft.com/office/drawing/2014/main" id="{66BE9242-3E8E-F5CE-7962-65E89FD566EF}"/>
              </a:ext>
            </a:extLst>
          </p:cNvPr>
          <p:cNvSpPr txBox="1">
            <a:spLocks noChangeArrowheads="1"/>
          </p:cNvSpPr>
          <p:nvPr/>
        </p:nvSpPr>
        <p:spPr bwMode="auto">
          <a:xfrm>
            <a:off x="712476" y="1224378"/>
            <a:ext cx="1263490" cy="184666"/>
          </a:xfrm>
          <a:prstGeom prst="rect">
            <a:avLst/>
          </a:prstGeom>
          <a:noFill/>
          <a:ln w="9525">
            <a:noFill/>
            <a:miter lim="800000"/>
            <a:headEnd/>
            <a:tailEnd/>
          </a:ln>
        </p:spPr>
        <p:txBody>
          <a:bodyPr wrap="square" lIns="0" tIns="0" rIns="0" bIns="0">
            <a:spAutoFit/>
          </a:bodyPr>
          <a:lstStyle/>
          <a:p>
            <a:pPr algn="ctr">
              <a:defRPr/>
            </a:pPr>
            <a:r>
              <a:rPr lang="en-US" altLang="ja-JP" sz="1200" dirty="0">
                <a:latin typeface="+mj-lt"/>
                <a:ea typeface="+mj-ea"/>
              </a:rPr>
              <a:t>INT8 (int8)</a:t>
            </a:r>
            <a:r>
              <a:rPr lang="ja-JP" altLang="en-US" sz="1200" baseline="30000" dirty="0">
                <a:latin typeface="+mj-lt"/>
                <a:ea typeface="+mj-ea"/>
              </a:rPr>
              <a:t> </a:t>
            </a:r>
            <a:endParaRPr lang="en-US" altLang="ja-JP" sz="1200" baseline="30000" dirty="0">
              <a:latin typeface="+mj-lt"/>
              <a:ea typeface="+mj-ea"/>
            </a:endParaRPr>
          </a:p>
        </p:txBody>
      </p:sp>
      <p:sp>
        <p:nvSpPr>
          <p:cNvPr id="6" name="Text Box 52">
            <a:extLst>
              <a:ext uri="{FF2B5EF4-FFF2-40B4-BE49-F238E27FC236}">
                <a16:creationId xmlns:a16="http://schemas.microsoft.com/office/drawing/2014/main" id="{615B17E5-D7B2-620A-1AC4-C83B75D7C38F}"/>
              </a:ext>
            </a:extLst>
          </p:cNvPr>
          <p:cNvSpPr txBox="1">
            <a:spLocks noChangeArrowheads="1"/>
          </p:cNvSpPr>
          <p:nvPr/>
        </p:nvSpPr>
        <p:spPr bwMode="auto">
          <a:xfrm>
            <a:off x="712476" y="1653668"/>
            <a:ext cx="1263490" cy="369332"/>
          </a:xfrm>
          <a:prstGeom prst="rect">
            <a:avLst/>
          </a:prstGeom>
          <a:noFill/>
          <a:ln w="9525">
            <a:noFill/>
            <a:miter lim="800000"/>
            <a:headEnd/>
            <a:tailEnd/>
          </a:ln>
        </p:spPr>
        <p:txBody>
          <a:bodyPr wrap="square" lIns="0" tIns="0" rIns="0" bIns="0">
            <a:spAutoFit/>
          </a:bodyPr>
          <a:lstStyle/>
          <a:p>
            <a:pPr algn="ctr">
              <a:defRPr/>
            </a:pPr>
            <a:r>
              <a:rPr lang="en-US" altLang="ja-JP" sz="1200" dirty="0" err="1">
                <a:latin typeface="+mj-lt"/>
                <a:ea typeface="+mj-ea"/>
              </a:rPr>
              <a:t>INT8X2</a:t>
            </a:r>
            <a:endParaRPr lang="en-US" altLang="ja-JP" sz="1200" baseline="30000" dirty="0">
              <a:latin typeface="+mj-lt"/>
              <a:ea typeface="+mj-ea"/>
            </a:endParaRPr>
          </a:p>
          <a:p>
            <a:pPr algn="ctr">
              <a:defRPr/>
            </a:pPr>
            <a:r>
              <a:rPr lang="en-US" altLang="ja-JP" sz="1200" dirty="0">
                <a:latin typeface="+mj-lt"/>
                <a:ea typeface="+mj-ea"/>
              </a:rPr>
              <a:t>(interleaved int8)</a:t>
            </a:r>
          </a:p>
        </p:txBody>
      </p:sp>
      <p:sp>
        <p:nvSpPr>
          <p:cNvPr id="7" name="Text Box 52">
            <a:extLst>
              <a:ext uri="{FF2B5EF4-FFF2-40B4-BE49-F238E27FC236}">
                <a16:creationId xmlns:a16="http://schemas.microsoft.com/office/drawing/2014/main" id="{4FDF9059-63FA-3236-300C-6DE6C033BDDF}"/>
              </a:ext>
            </a:extLst>
          </p:cNvPr>
          <p:cNvSpPr txBox="1">
            <a:spLocks noChangeArrowheads="1"/>
          </p:cNvSpPr>
          <p:nvPr/>
        </p:nvSpPr>
        <p:spPr bwMode="auto">
          <a:xfrm>
            <a:off x="712476" y="2169924"/>
            <a:ext cx="1263490" cy="369332"/>
          </a:xfrm>
          <a:prstGeom prst="rect">
            <a:avLst/>
          </a:prstGeom>
          <a:noFill/>
          <a:ln w="9525">
            <a:noFill/>
            <a:miter lim="800000"/>
            <a:headEnd/>
            <a:tailEnd/>
          </a:ln>
        </p:spPr>
        <p:txBody>
          <a:bodyPr wrap="square" lIns="0" tIns="0" rIns="0" bIns="0">
            <a:spAutoFit/>
          </a:bodyPr>
          <a:lstStyle/>
          <a:p>
            <a:pPr algn="ctr">
              <a:defRPr/>
            </a:pPr>
            <a:r>
              <a:rPr lang="en-US" altLang="ja-JP" sz="1200" dirty="0">
                <a:latin typeface="+mj-lt"/>
                <a:ea typeface="+mj-ea"/>
              </a:rPr>
              <a:t>RAW8</a:t>
            </a:r>
          </a:p>
          <a:p>
            <a:pPr algn="ctr">
              <a:defRPr/>
            </a:pPr>
            <a:r>
              <a:rPr lang="en-US" altLang="ja-JP" sz="1200" dirty="0">
                <a:latin typeface="+mj-lt"/>
                <a:ea typeface="+mj-ea"/>
              </a:rPr>
              <a:t>(FE 2CH raw)</a:t>
            </a:r>
          </a:p>
        </p:txBody>
      </p:sp>
      <p:sp>
        <p:nvSpPr>
          <p:cNvPr id="9" name="Text Box 52">
            <a:extLst>
              <a:ext uri="{FF2B5EF4-FFF2-40B4-BE49-F238E27FC236}">
                <a16:creationId xmlns:a16="http://schemas.microsoft.com/office/drawing/2014/main" id="{61278FF6-690F-E01F-79A8-0CC8B10F6F3D}"/>
              </a:ext>
            </a:extLst>
          </p:cNvPr>
          <p:cNvSpPr txBox="1">
            <a:spLocks noChangeArrowheads="1"/>
          </p:cNvSpPr>
          <p:nvPr/>
        </p:nvSpPr>
        <p:spPr bwMode="auto">
          <a:xfrm>
            <a:off x="684553" y="2699434"/>
            <a:ext cx="1326649" cy="369332"/>
          </a:xfrm>
          <a:prstGeom prst="rect">
            <a:avLst/>
          </a:prstGeom>
          <a:noFill/>
          <a:ln w="9525">
            <a:noFill/>
            <a:miter lim="800000"/>
            <a:headEnd/>
            <a:tailEnd/>
          </a:ln>
        </p:spPr>
        <p:txBody>
          <a:bodyPr wrap="square" lIns="0" tIns="0" rIns="0" bIns="0">
            <a:spAutoFit/>
          </a:bodyPr>
          <a:lstStyle/>
          <a:p>
            <a:pPr algn="ctr">
              <a:defRPr/>
            </a:pPr>
            <a:r>
              <a:rPr lang="en-US" altLang="ja-JP" sz="1200" dirty="0">
                <a:latin typeface="+mj-lt"/>
                <a:ea typeface="+mj-ea"/>
              </a:rPr>
              <a:t>RAW16</a:t>
            </a:r>
          </a:p>
          <a:p>
            <a:pPr algn="ctr">
              <a:defRPr/>
            </a:pPr>
            <a:r>
              <a:rPr lang="en-US" altLang="ja-JP" sz="1200" dirty="0">
                <a:latin typeface="+mj-lt"/>
                <a:ea typeface="+mj-ea"/>
              </a:rPr>
              <a:t>(FE 4CH raw)</a:t>
            </a:r>
          </a:p>
        </p:txBody>
      </p:sp>
      <p:sp>
        <p:nvSpPr>
          <p:cNvPr id="10" name="Text Box 52">
            <a:extLst>
              <a:ext uri="{FF2B5EF4-FFF2-40B4-BE49-F238E27FC236}">
                <a16:creationId xmlns:a16="http://schemas.microsoft.com/office/drawing/2014/main" id="{7F83B7E8-2DEE-B890-BC4A-CFB05389FF59}"/>
              </a:ext>
            </a:extLst>
          </p:cNvPr>
          <p:cNvSpPr txBox="1">
            <a:spLocks noChangeArrowheads="1"/>
          </p:cNvSpPr>
          <p:nvPr/>
        </p:nvSpPr>
        <p:spPr bwMode="auto">
          <a:xfrm>
            <a:off x="539552" y="3224076"/>
            <a:ext cx="1596143" cy="369332"/>
          </a:xfrm>
          <a:prstGeom prst="rect">
            <a:avLst/>
          </a:prstGeom>
          <a:noFill/>
          <a:ln w="9525">
            <a:noFill/>
            <a:miter lim="800000"/>
            <a:headEnd/>
            <a:tailEnd/>
          </a:ln>
        </p:spPr>
        <p:txBody>
          <a:bodyPr wrap="square" lIns="0" tIns="0" rIns="0" bIns="0">
            <a:spAutoFit/>
          </a:bodyPr>
          <a:lstStyle/>
          <a:p>
            <a:pPr algn="ctr">
              <a:defRPr/>
            </a:pPr>
            <a:r>
              <a:rPr lang="en-US" altLang="ja-JP" sz="1200" dirty="0">
                <a:latin typeface="+mj-lt"/>
                <a:ea typeface="+mj-ea"/>
              </a:rPr>
              <a:t>RAW32</a:t>
            </a:r>
          </a:p>
          <a:p>
            <a:pPr algn="ctr">
              <a:defRPr/>
            </a:pPr>
            <a:r>
              <a:rPr lang="en-US" altLang="ja-JP" sz="1200" dirty="0">
                <a:latin typeface="+mj-lt"/>
                <a:ea typeface="+mj-ea"/>
              </a:rPr>
              <a:t>(FE 8CH raw)</a:t>
            </a:r>
          </a:p>
        </p:txBody>
      </p:sp>
      <p:sp>
        <p:nvSpPr>
          <p:cNvPr id="34" name="正方形/長方形 33">
            <a:extLst>
              <a:ext uri="{FF2B5EF4-FFF2-40B4-BE49-F238E27FC236}">
                <a16:creationId xmlns:a16="http://schemas.microsoft.com/office/drawing/2014/main" id="{FB05737E-80BD-563A-F0D1-FFDD2EAB570A}"/>
              </a:ext>
            </a:extLst>
          </p:cNvPr>
          <p:cNvSpPr/>
          <p:nvPr/>
        </p:nvSpPr>
        <p:spPr>
          <a:xfrm>
            <a:off x="2319755" y="2248976"/>
            <a:ext cx="310984" cy="131764"/>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2</a:t>
            </a:r>
            <a:r>
              <a:rPr lang="ja-JP" altLang="en-US" sz="900" baseline="30000" dirty="0">
                <a:solidFill>
                  <a:schemeClr val="tx1"/>
                </a:solidFill>
              </a:rPr>
              <a:t>*</a:t>
            </a:r>
            <a:endParaRPr lang="ja-JP" altLang="en-US" sz="900" baseline="-25000" dirty="0">
              <a:solidFill>
                <a:schemeClr val="tx1"/>
              </a:solidFill>
            </a:endParaRPr>
          </a:p>
        </p:txBody>
      </p:sp>
      <p:sp>
        <p:nvSpPr>
          <p:cNvPr id="38" name="正方形/長方形 37">
            <a:extLst>
              <a:ext uri="{FF2B5EF4-FFF2-40B4-BE49-F238E27FC236}">
                <a16:creationId xmlns:a16="http://schemas.microsoft.com/office/drawing/2014/main" id="{EA0A05B7-1F03-6F83-5D13-7EC9FC6497E4}"/>
              </a:ext>
            </a:extLst>
          </p:cNvPr>
          <p:cNvSpPr/>
          <p:nvPr/>
        </p:nvSpPr>
        <p:spPr>
          <a:xfrm>
            <a:off x="2630739" y="2248976"/>
            <a:ext cx="310984" cy="13176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2</a:t>
            </a:r>
            <a:endParaRPr lang="ja-JP" altLang="en-US" sz="900" baseline="-25000" dirty="0">
              <a:solidFill>
                <a:schemeClr val="tx1"/>
              </a:solidFill>
            </a:endParaRPr>
          </a:p>
        </p:txBody>
      </p:sp>
      <p:sp>
        <p:nvSpPr>
          <p:cNvPr id="39" name="正方形/長方形 38">
            <a:extLst>
              <a:ext uri="{FF2B5EF4-FFF2-40B4-BE49-F238E27FC236}">
                <a16:creationId xmlns:a16="http://schemas.microsoft.com/office/drawing/2014/main" id="{66A3281C-29A6-CDDB-4D25-6F22D9A41033}"/>
              </a:ext>
            </a:extLst>
          </p:cNvPr>
          <p:cNvSpPr/>
          <p:nvPr/>
        </p:nvSpPr>
        <p:spPr>
          <a:xfrm>
            <a:off x="2941723" y="2248976"/>
            <a:ext cx="310984" cy="131764"/>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1</a:t>
            </a:r>
            <a:r>
              <a:rPr lang="ja-JP" altLang="en-US" sz="900" baseline="30000" dirty="0">
                <a:solidFill>
                  <a:schemeClr val="tx1"/>
                </a:solidFill>
              </a:rPr>
              <a:t> *</a:t>
            </a:r>
            <a:endParaRPr lang="ja-JP" altLang="en-US" sz="900" baseline="-25000" dirty="0">
              <a:solidFill>
                <a:schemeClr val="tx1"/>
              </a:solidFill>
            </a:endParaRPr>
          </a:p>
        </p:txBody>
      </p:sp>
      <p:sp>
        <p:nvSpPr>
          <p:cNvPr id="40" name="正方形/長方形 39">
            <a:extLst>
              <a:ext uri="{FF2B5EF4-FFF2-40B4-BE49-F238E27FC236}">
                <a16:creationId xmlns:a16="http://schemas.microsoft.com/office/drawing/2014/main" id="{D2B44DAB-7FCA-9AF6-1A2D-C9B1AF010356}"/>
              </a:ext>
            </a:extLst>
          </p:cNvPr>
          <p:cNvSpPr/>
          <p:nvPr/>
        </p:nvSpPr>
        <p:spPr>
          <a:xfrm>
            <a:off x="3252707" y="2248976"/>
            <a:ext cx="310984" cy="13176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1</a:t>
            </a:r>
            <a:endParaRPr lang="ja-JP" altLang="en-US" sz="900" baseline="-25000" dirty="0">
              <a:solidFill>
                <a:schemeClr val="tx1"/>
              </a:solidFill>
            </a:endParaRPr>
          </a:p>
        </p:txBody>
      </p:sp>
      <p:sp>
        <p:nvSpPr>
          <p:cNvPr id="41" name="正方形/長方形 40">
            <a:extLst>
              <a:ext uri="{FF2B5EF4-FFF2-40B4-BE49-F238E27FC236}">
                <a16:creationId xmlns:a16="http://schemas.microsoft.com/office/drawing/2014/main" id="{AB2EFB14-3401-B671-6833-C1AF8835CCC7}"/>
              </a:ext>
            </a:extLst>
          </p:cNvPr>
          <p:cNvSpPr/>
          <p:nvPr/>
        </p:nvSpPr>
        <p:spPr>
          <a:xfrm>
            <a:off x="2319755" y="2248975"/>
            <a:ext cx="1243936" cy="25931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42" name="正方形/長方形 41">
            <a:extLst>
              <a:ext uri="{FF2B5EF4-FFF2-40B4-BE49-F238E27FC236}">
                <a16:creationId xmlns:a16="http://schemas.microsoft.com/office/drawing/2014/main" id="{45B1F41C-C63F-154B-9F09-E4E8C1A3FFD6}"/>
              </a:ext>
            </a:extLst>
          </p:cNvPr>
          <p:cNvSpPr/>
          <p:nvPr/>
        </p:nvSpPr>
        <p:spPr>
          <a:xfrm>
            <a:off x="3563691" y="2248976"/>
            <a:ext cx="310984" cy="131764"/>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2</a:t>
            </a:r>
            <a:r>
              <a:rPr lang="ja-JP" altLang="en-US" sz="900" baseline="30000" dirty="0">
                <a:solidFill>
                  <a:schemeClr val="tx1"/>
                </a:solidFill>
              </a:rPr>
              <a:t> *</a:t>
            </a:r>
            <a:endParaRPr lang="ja-JP" altLang="en-US" sz="900" baseline="-25000" dirty="0">
              <a:solidFill>
                <a:schemeClr val="tx1"/>
              </a:solidFill>
            </a:endParaRPr>
          </a:p>
        </p:txBody>
      </p:sp>
      <p:sp>
        <p:nvSpPr>
          <p:cNvPr id="43" name="正方形/長方形 42">
            <a:extLst>
              <a:ext uri="{FF2B5EF4-FFF2-40B4-BE49-F238E27FC236}">
                <a16:creationId xmlns:a16="http://schemas.microsoft.com/office/drawing/2014/main" id="{F054CD56-5789-A127-9B6F-6AAB46A4F242}"/>
              </a:ext>
            </a:extLst>
          </p:cNvPr>
          <p:cNvSpPr/>
          <p:nvPr/>
        </p:nvSpPr>
        <p:spPr>
          <a:xfrm>
            <a:off x="3874675" y="2248976"/>
            <a:ext cx="310984" cy="13176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2</a:t>
            </a:r>
            <a:endParaRPr lang="ja-JP" altLang="en-US" sz="900" baseline="-25000" dirty="0">
              <a:solidFill>
                <a:schemeClr val="tx1"/>
              </a:solidFill>
            </a:endParaRPr>
          </a:p>
        </p:txBody>
      </p:sp>
      <p:sp>
        <p:nvSpPr>
          <p:cNvPr id="44" name="正方形/長方形 43">
            <a:extLst>
              <a:ext uri="{FF2B5EF4-FFF2-40B4-BE49-F238E27FC236}">
                <a16:creationId xmlns:a16="http://schemas.microsoft.com/office/drawing/2014/main" id="{5971116E-186F-BD35-0BB6-4991A34397DC}"/>
              </a:ext>
            </a:extLst>
          </p:cNvPr>
          <p:cNvSpPr/>
          <p:nvPr/>
        </p:nvSpPr>
        <p:spPr>
          <a:xfrm>
            <a:off x="4185659" y="2248976"/>
            <a:ext cx="310984" cy="131764"/>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1</a:t>
            </a:r>
            <a:r>
              <a:rPr lang="ja-JP" altLang="en-US" sz="900" baseline="30000" dirty="0">
                <a:solidFill>
                  <a:schemeClr val="tx1"/>
                </a:solidFill>
              </a:rPr>
              <a:t> *</a:t>
            </a:r>
            <a:endParaRPr lang="ja-JP" altLang="en-US" sz="900" baseline="-25000" dirty="0">
              <a:solidFill>
                <a:schemeClr val="tx1"/>
              </a:solidFill>
            </a:endParaRPr>
          </a:p>
        </p:txBody>
      </p:sp>
      <p:sp>
        <p:nvSpPr>
          <p:cNvPr id="45" name="正方形/長方形 44">
            <a:extLst>
              <a:ext uri="{FF2B5EF4-FFF2-40B4-BE49-F238E27FC236}">
                <a16:creationId xmlns:a16="http://schemas.microsoft.com/office/drawing/2014/main" id="{47467796-7A8E-CA47-DBAF-2E5AC9F0B300}"/>
              </a:ext>
            </a:extLst>
          </p:cNvPr>
          <p:cNvSpPr/>
          <p:nvPr/>
        </p:nvSpPr>
        <p:spPr>
          <a:xfrm>
            <a:off x="4496643" y="2248976"/>
            <a:ext cx="310984" cy="13176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1</a:t>
            </a:r>
            <a:endParaRPr lang="ja-JP" altLang="en-US" sz="900" baseline="-25000" dirty="0">
              <a:solidFill>
                <a:schemeClr val="tx1"/>
              </a:solidFill>
            </a:endParaRPr>
          </a:p>
        </p:txBody>
      </p:sp>
      <p:sp>
        <p:nvSpPr>
          <p:cNvPr id="46" name="正方形/長方形 45">
            <a:extLst>
              <a:ext uri="{FF2B5EF4-FFF2-40B4-BE49-F238E27FC236}">
                <a16:creationId xmlns:a16="http://schemas.microsoft.com/office/drawing/2014/main" id="{233D8318-D02C-02C7-0390-117A974556F3}"/>
              </a:ext>
            </a:extLst>
          </p:cNvPr>
          <p:cNvSpPr/>
          <p:nvPr/>
        </p:nvSpPr>
        <p:spPr>
          <a:xfrm>
            <a:off x="3563691" y="2248975"/>
            <a:ext cx="1243936" cy="25931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47" name="正方形/長方形 46">
            <a:extLst>
              <a:ext uri="{FF2B5EF4-FFF2-40B4-BE49-F238E27FC236}">
                <a16:creationId xmlns:a16="http://schemas.microsoft.com/office/drawing/2014/main" id="{78CB5E63-793B-8B65-D5D9-789B899B6F14}"/>
              </a:ext>
            </a:extLst>
          </p:cNvPr>
          <p:cNvSpPr/>
          <p:nvPr/>
        </p:nvSpPr>
        <p:spPr>
          <a:xfrm>
            <a:off x="4807627" y="2248976"/>
            <a:ext cx="310984" cy="131764"/>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2</a:t>
            </a:r>
            <a:r>
              <a:rPr lang="ja-JP" altLang="en-US" sz="900" baseline="30000" dirty="0">
                <a:solidFill>
                  <a:schemeClr val="tx1"/>
                </a:solidFill>
              </a:rPr>
              <a:t> *</a:t>
            </a:r>
            <a:endParaRPr lang="ja-JP" altLang="en-US" sz="900" baseline="-25000" dirty="0">
              <a:solidFill>
                <a:schemeClr val="tx1"/>
              </a:solidFill>
            </a:endParaRPr>
          </a:p>
        </p:txBody>
      </p:sp>
      <p:sp>
        <p:nvSpPr>
          <p:cNvPr id="48" name="正方形/長方形 47">
            <a:extLst>
              <a:ext uri="{FF2B5EF4-FFF2-40B4-BE49-F238E27FC236}">
                <a16:creationId xmlns:a16="http://schemas.microsoft.com/office/drawing/2014/main" id="{0F61A47E-6F5B-7798-B0ED-5A674CAB57DA}"/>
              </a:ext>
            </a:extLst>
          </p:cNvPr>
          <p:cNvSpPr/>
          <p:nvPr/>
        </p:nvSpPr>
        <p:spPr>
          <a:xfrm>
            <a:off x="5118611" y="2248976"/>
            <a:ext cx="310984" cy="13176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2</a:t>
            </a:r>
            <a:endParaRPr lang="ja-JP" altLang="en-US" sz="900" baseline="-25000" dirty="0">
              <a:solidFill>
                <a:schemeClr val="tx1"/>
              </a:solidFill>
            </a:endParaRPr>
          </a:p>
        </p:txBody>
      </p:sp>
      <p:sp>
        <p:nvSpPr>
          <p:cNvPr id="49" name="正方形/長方形 48">
            <a:extLst>
              <a:ext uri="{FF2B5EF4-FFF2-40B4-BE49-F238E27FC236}">
                <a16:creationId xmlns:a16="http://schemas.microsoft.com/office/drawing/2014/main" id="{3DE05A61-42B7-969D-7310-8A43128E2A7C}"/>
              </a:ext>
            </a:extLst>
          </p:cNvPr>
          <p:cNvSpPr/>
          <p:nvPr/>
        </p:nvSpPr>
        <p:spPr>
          <a:xfrm>
            <a:off x="5429595" y="2248976"/>
            <a:ext cx="310984" cy="131764"/>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1</a:t>
            </a:r>
            <a:r>
              <a:rPr lang="ja-JP" altLang="en-US" sz="900" baseline="30000" dirty="0">
                <a:solidFill>
                  <a:schemeClr val="tx1"/>
                </a:solidFill>
              </a:rPr>
              <a:t> *</a:t>
            </a:r>
            <a:endParaRPr lang="ja-JP" altLang="en-US" sz="900" baseline="-25000" dirty="0">
              <a:solidFill>
                <a:schemeClr val="tx1"/>
              </a:solidFill>
            </a:endParaRPr>
          </a:p>
        </p:txBody>
      </p:sp>
      <p:sp>
        <p:nvSpPr>
          <p:cNvPr id="50" name="正方形/長方形 49">
            <a:extLst>
              <a:ext uri="{FF2B5EF4-FFF2-40B4-BE49-F238E27FC236}">
                <a16:creationId xmlns:a16="http://schemas.microsoft.com/office/drawing/2014/main" id="{693CB89D-D687-BCD9-A8F5-1BA3257DCD11}"/>
              </a:ext>
            </a:extLst>
          </p:cNvPr>
          <p:cNvSpPr/>
          <p:nvPr/>
        </p:nvSpPr>
        <p:spPr>
          <a:xfrm>
            <a:off x="5740579" y="2248976"/>
            <a:ext cx="310984" cy="13176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1</a:t>
            </a:r>
            <a:endParaRPr lang="ja-JP" altLang="en-US" sz="900" baseline="-25000" dirty="0">
              <a:solidFill>
                <a:schemeClr val="tx1"/>
              </a:solidFill>
            </a:endParaRPr>
          </a:p>
        </p:txBody>
      </p:sp>
      <p:sp>
        <p:nvSpPr>
          <p:cNvPr id="51" name="正方形/長方形 50">
            <a:extLst>
              <a:ext uri="{FF2B5EF4-FFF2-40B4-BE49-F238E27FC236}">
                <a16:creationId xmlns:a16="http://schemas.microsoft.com/office/drawing/2014/main" id="{509A32E2-5D88-6BB8-9A8A-2DEF8ADF6528}"/>
              </a:ext>
            </a:extLst>
          </p:cNvPr>
          <p:cNvSpPr/>
          <p:nvPr/>
        </p:nvSpPr>
        <p:spPr>
          <a:xfrm>
            <a:off x="4807627" y="2248975"/>
            <a:ext cx="1243936" cy="25931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52" name="正方形/長方形 51">
            <a:extLst>
              <a:ext uri="{FF2B5EF4-FFF2-40B4-BE49-F238E27FC236}">
                <a16:creationId xmlns:a16="http://schemas.microsoft.com/office/drawing/2014/main" id="{108B6137-8B15-4AA1-FD93-62D0E6086BA2}"/>
              </a:ext>
            </a:extLst>
          </p:cNvPr>
          <p:cNvSpPr/>
          <p:nvPr/>
        </p:nvSpPr>
        <p:spPr>
          <a:xfrm>
            <a:off x="6051563" y="2248976"/>
            <a:ext cx="310984" cy="131764"/>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2</a:t>
            </a:r>
            <a:r>
              <a:rPr lang="ja-JP" altLang="en-US" sz="900" baseline="30000" dirty="0">
                <a:solidFill>
                  <a:schemeClr val="tx1"/>
                </a:solidFill>
              </a:rPr>
              <a:t> *</a:t>
            </a:r>
            <a:endParaRPr lang="ja-JP" altLang="en-US" sz="900" baseline="-25000" dirty="0">
              <a:solidFill>
                <a:schemeClr val="tx1"/>
              </a:solidFill>
            </a:endParaRPr>
          </a:p>
        </p:txBody>
      </p:sp>
      <p:sp>
        <p:nvSpPr>
          <p:cNvPr id="53" name="正方形/長方形 52">
            <a:extLst>
              <a:ext uri="{FF2B5EF4-FFF2-40B4-BE49-F238E27FC236}">
                <a16:creationId xmlns:a16="http://schemas.microsoft.com/office/drawing/2014/main" id="{F379F54A-50EC-4AEE-80ED-7F1E67EB45C7}"/>
              </a:ext>
            </a:extLst>
          </p:cNvPr>
          <p:cNvSpPr/>
          <p:nvPr/>
        </p:nvSpPr>
        <p:spPr>
          <a:xfrm>
            <a:off x="6362547" y="2248976"/>
            <a:ext cx="310984" cy="13176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2</a:t>
            </a:r>
            <a:endParaRPr lang="ja-JP" altLang="en-US" sz="900" baseline="-25000" dirty="0">
              <a:solidFill>
                <a:schemeClr val="tx1"/>
              </a:solidFill>
            </a:endParaRPr>
          </a:p>
        </p:txBody>
      </p:sp>
      <p:sp>
        <p:nvSpPr>
          <p:cNvPr id="54" name="正方形/長方形 53">
            <a:extLst>
              <a:ext uri="{FF2B5EF4-FFF2-40B4-BE49-F238E27FC236}">
                <a16:creationId xmlns:a16="http://schemas.microsoft.com/office/drawing/2014/main" id="{AE4F57CE-C275-6872-B456-07BF80F386CF}"/>
              </a:ext>
            </a:extLst>
          </p:cNvPr>
          <p:cNvSpPr/>
          <p:nvPr/>
        </p:nvSpPr>
        <p:spPr>
          <a:xfrm>
            <a:off x="6673531" y="2248976"/>
            <a:ext cx="310984" cy="131764"/>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1</a:t>
            </a:r>
            <a:r>
              <a:rPr lang="ja-JP" altLang="en-US" sz="900" baseline="30000" dirty="0">
                <a:solidFill>
                  <a:schemeClr val="tx1"/>
                </a:solidFill>
              </a:rPr>
              <a:t> *</a:t>
            </a:r>
            <a:endParaRPr lang="ja-JP" altLang="en-US" sz="900" baseline="-25000" dirty="0">
              <a:solidFill>
                <a:schemeClr val="tx1"/>
              </a:solidFill>
            </a:endParaRPr>
          </a:p>
        </p:txBody>
      </p:sp>
      <p:sp>
        <p:nvSpPr>
          <p:cNvPr id="55" name="正方形/長方形 54">
            <a:extLst>
              <a:ext uri="{FF2B5EF4-FFF2-40B4-BE49-F238E27FC236}">
                <a16:creationId xmlns:a16="http://schemas.microsoft.com/office/drawing/2014/main" id="{6097F98C-D248-AA11-C5FD-95E5FFAADC11}"/>
              </a:ext>
            </a:extLst>
          </p:cNvPr>
          <p:cNvSpPr/>
          <p:nvPr/>
        </p:nvSpPr>
        <p:spPr>
          <a:xfrm>
            <a:off x="6984515" y="2248976"/>
            <a:ext cx="310984" cy="13176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1</a:t>
            </a:r>
            <a:endParaRPr lang="ja-JP" altLang="en-US" sz="900" baseline="-25000" dirty="0">
              <a:solidFill>
                <a:schemeClr val="tx1"/>
              </a:solidFill>
            </a:endParaRPr>
          </a:p>
        </p:txBody>
      </p:sp>
      <p:sp>
        <p:nvSpPr>
          <p:cNvPr id="56" name="正方形/長方形 55">
            <a:extLst>
              <a:ext uri="{FF2B5EF4-FFF2-40B4-BE49-F238E27FC236}">
                <a16:creationId xmlns:a16="http://schemas.microsoft.com/office/drawing/2014/main" id="{EE97CD78-291D-5897-B844-88FB2BAE9468}"/>
              </a:ext>
            </a:extLst>
          </p:cNvPr>
          <p:cNvSpPr/>
          <p:nvPr/>
        </p:nvSpPr>
        <p:spPr>
          <a:xfrm>
            <a:off x="6051563" y="2248975"/>
            <a:ext cx="1243936" cy="25931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57" name="正方形/長方形 56">
            <a:extLst>
              <a:ext uri="{FF2B5EF4-FFF2-40B4-BE49-F238E27FC236}">
                <a16:creationId xmlns:a16="http://schemas.microsoft.com/office/drawing/2014/main" id="{05EFFEA2-A35E-0310-0E28-7F4F53D13251}"/>
              </a:ext>
            </a:extLst>
          </p:cNvPr>
          <p:cNvSpPr/>
          <p:nvPr/>
        </p:nvSpPr>
        <p:spPr>
          <a:xfrm>
            <a:off x="7295500" y="2248975"/>
            <a:ext cx="824564" cy="259317"/>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b="1" dirty="0">
                <a:solidFill>
                  <a:schemeClr val="tx1"/>
                </a:solidFill>
              </a:rPr>
              <a:t>...</a:t>
            </a:r>
            <a:endParaRPr lang="ja-JP" altLang="en-US" sz="900" b="1" dirty="0">
              <a:solidFill>
                <a:schemeClr val="tx1"/>
              </a:solidFill>
            </a:endParaRPr>
          </a:p>
        </p:txBody>
      </p:sp>
      <p:sp>
        <p:nvSpPr>
          <p:cNvPr id="62" name="正方形/長方形 61">
            <a:extLst>
              <a:ext uri="{FF2B5EF4-FFF2-40B4-BE49-F238E27FC236}">
                <a16:creationId xmlns:a16="http://schemas.microsoft.com/office/drawing/2014/main" id="{38F2BF8D-891D-ACEB-1E7A-9D6A0580425D}"/>
              </a:ext>
            </a:extLst>
          </p:cNvPr>
          <p:cNvSpPr/>
          <p:nvPr/>
        </p:nvSpPr>
        <p:spPr>
          <a:xfrm>
            <a:off x="2319755" y="2774133"/>
            <a:ext cx="310984" cy="127791"/>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2</a:t>
            </a:r>
            <a:r>
              <a:rPr lang="ja-JP" altLang="en-US" sz="900" baseline="30000" dirty="0">
                <a:solidFill>
                  <a:schemeClr val="tx1"/>
                </a:solidFill>
              </a:rPr>
              <a:t> *</a:t>
            </a:r>
            <a:endParaRPr lang="ja-JP" altLang="en-US" sz="900" baseline="-25000" dirty="0">
              <a:solidFill>
                <a:schemeClr val="tx1"/>
              </a:solidFill>
            </a:endParaRPr>
          </a:p>
        </p:txBody>
      </p:sp>
      <p:sp>
        <p:nvSpPr>
          <p:cNvPr id="63" name="正方形/長方形 62">
            <a:extLst>
              <a:ext uri="{FF2B5EF4-FFF2-40B4-BE49-F238E27FC236}">
                <a16:creationId xmlns:a16="http://schemas.microsoft.com/office/drawing/2014/main" id="{E68DF8B9-963B-3105-65A3-4932095330E8}"/>
              </a:ext>
            </a:extLst>
          </p:cNvPr>
          <p:cNvSpPr/>
          <p:nvPr/>
        </p:nvSpPr>
        <p:spPr>
          <a:xfrm>
            <a:off x="2630739" y="2774133"/>
            <a:ext cx="310984" cy="127791"/>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2</a:t>
            </a:r>
            <a:endParaRPr lang="ja-JP" altLang="en-US" sz="900" baseline="-25000" dirty="0">
              <a:solidFill>
                <a:schemeClr val="tx1"/>
              </a:solidFill>
            </a:endParaRPr>
          </a:p>
        </p:txBody>
      </p:sp>
      <p:sp>
        <p:nvSpPr>
          <p:cNvPr id="64" name="正方形/長方形 63">
            <a:extLst>
              <a:ext uri="{FF2B5EF4-FFF2-40B4-BE49-F238E27FC236}">
                <a16:creationId xmlns:a16="http://schemas.microsoft.com/office/drawing/2014/main" id="{F34A004D-CB0D-F00B-28DB-59FC0BD78296}"/>
              </a:ext>
            </a:extLst>
          </p:cNvPr>
          <p:cNvSpPr/>
          <p:nvPr/>
        </p:nvSpPr>
        <p:spPr>
          <a:xfrm>
            <a:off x="2941723" y="2774133"/>
            <a:ext cx="310984" cy="127791"/>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1</a:t>
            </a:r>
            <a:r>
              <a:rPr lang="ja-JP" altLang="en-US" sz="900" baseline="30000" dirty="0">
                <a:solidFill>
                  <a:schemeClr val="tx1"/>
                </a:solidFill>
              </a:rPr>
              <a:t> *</a:t>
            </a:r>
            <a:endParaRPr lang="ja-JP" altLang="en-US" sz="900" baseline="-25000" dirty="0">
              <a:solidFill>
                <a:schemeClr val="tx1"/>
              </a:solidFill>
            </a:endParaRPr>
          </a:p>
        </p:txBody>
      </p:sp>
      <p:sp>
        <p:nvSpPr>
          <p:cNvPr id="66" name="正方形/長方形 65">
            <a:extLst>
              <a:ext uri="{FF2B5EF4-FFF2-40B4-BE49-F238E27FC236}">
                <a16:creationId xmlns:a16="http://schemas.microsoft.com/office/drawing/2014/main" id="{23221A5B-028D-41F1-F637-798AD47FC967}"/>
              </a:ext>
            </a:extLst>
          </p:cNvPr>
          <p:cNvSpPr/>
          <p:nvPr/>
        </p:nvSpPr>
        <p:spPr>
          <a:xfrm>
            <a:off x="2319755" y="2774133"/>
            <a:ext cx="1243936" cy="253696"/>
          </a:xfrm>
          <a:prstGeom prst="rect">
            <a:avLst/>
          </a:pr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68" name="正方形/長方形 67">
            <a:extLst>
              <a:ext uri="{FF2B5EF4-FFF2-40B4-BE49-F238E27FC236}">
                <a16:creationId xmlns:a16="http://schemas.microsoft.com/office/drawing/2014/main" id="{B3AB9CBD-EC89-A152-8B53-353E38F9DF15}"/>
              </a:ext>
            </a:extLst>
          </p:cNvPr>
          <p:cNvSpPr/>
          <p:nvPr/>
        </p:nvSpPr>
        <p:spPr>
          <a:xfrm>
            <a:off x="3874675" y="2774133"/>
            <a:ext cx="310984" cy="127791"/>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4</a:t>
            </a:r>
            <a:endParaRPr lang="ja-JP" altLang="en-US" sz="900" baseline="-25000" dirty="0">
              <a:solidFill>
                <a:schemeClr val="tx1"/>
              </a:solidFill>
            </a:endParaRPr>
          </a:p>
        </p:txBody>
      </p:sp>
      <p:sp>
        <p:nvSpPr>
          <p:cNvPr id="69" name="正方形/長方形 68">
            <a:extLst>
              <a:ext uri="{FF2B5EF4-FFF2-40B4-BE49-F238E27FC236}">
                <a16:creationId xmlns:a16="http://schemas.microsoft.com/office/drawing/2014/main" id="{6231D75D-3A4E-672C-9CC3-CD5EF85F90C0}"/>
              </a:ext>
            </a:extLst>
          </p:cNvPr>
          <p:cNvSpPr/>
          <p:nvPr/>
        </p:nvSpPr>
        <p:spPr>
          <a:xfrm>
            <a:off x="4185659" y="2774133"/>
            <a:ext cx="310984" cy="127791"/>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3</a:t>
            </a:r>
            <a:r>
              <a:rPr lang="ja-JP" altLang="en-US" sz="900" baseline="30000" dirty="0">
                <a:solidFill>
                  <a:schemeClr val="tx1"/>
                </a:solidFill>
              </a:rPr>
              <a:t> *</a:t>
            </a:r>
            <a:endParaRPr lang="ja-JP" altLang="en-US" sz="900" baseline="-25000" dirty="0">
              <a:solidFill>
                <a:schemeClr val="tx1"/>
              </a:solidFill>
            </a:endParaRPr>
          </a:p>
        </p:txBody>
      </p:sp>
      <p:sp>
        <p:nvSpPr>
          <p:cNvPr id="70" name="正方形/長方形 69">
            <a:extLst>
              <a:ext uri="{FF2B5EF4-FFF2-40B4-BE49-F238E27FC236}">
                <a16:creationId xmlns:a16="http://schemas.microsoft.com/office/drawing/2014/main" id="{3D8DC643-C636-58EC-261F-A7DEA8E170BB}"/>
              </a:ext>
            </a:extLst>
          </p:cNvPr>
          <p:cNvSpPr/>
          <p:nvPr/>
        </p:nvSpPr>
        <p:spPr>
          <a:xfrm>
            <a:off x="4496643" y="2774133"/>
            <a:ext cx="310984" cy="127791"/>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3</a:t>
            </a:r>
            <a:endParaRPr lang="ja-JP" altLang="en-US" sz="900" baseline="-25000" dirty="0">
              <a:solidFill>
                <a:schemeClr val="tx1"/>
              </a:solidFill>
            </a:endParaRPr>
          </a:p>
        </p:txBody>
      </p:sp>
      <p:sp>
        <p:nvSpPr>
          <p:cNvPr id="72" name="正方形/長方形 71">
            <a:extLst>
              <a:ext uri="{FF2B5EF4-FFF2-40B4-BE49-F238E27FC236}">
                <a16:creationId xmlns:a16="http://schemas.microsoft.com/office/drawing/2014/main" id="{2E92F958-6D81-DB31-B589-8C0DDAD2F139}"/>
              </a:ext>
            </a:extLst>
          </p:cNvPr>
          <p:cNvSpPr/>
          <p:nvPr/>
        </p:nvSpPr>
        <p:spPr>
          <a:xfrm>
            <a:off x="4807627" y="2774133"/>
            <a:ext cx="310984" cy="127791"/>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2</a:t>
            </a:r>
            <a:r>
              <a:rPr lang="ja-JP" altLang="en-US" sz="900" baseline="30000" dirty="0">
                <a:solidFill>
                  <a:schemeClr val="tx1"/>
                </a:solidFill>
              </a:rPr>
              <a:t> *</a:t>
            </a:r>
            <a:endParaRPr lang="ja-JP" altLang="en-US" sz="900" baseline="-25000" dirty="0">
              <a:solidFill>
                <a:schemeClr val="tx1"/>
              </a:solidFill>
            </a:endParaRPr>
          </a:p>
        </p:txBody>
      </p:sp>
      <p:sp>
        <p:nvSpPr>
          <p:cNvPr id="73" name="正方形/長方形 72">
            <a:extLst>
              <a:ext uri="{FF2B5EF4-FFF2-40B4-BE49-F238E27FC236}">
                <a16:creationId xmlns:a16="http://schemas.microsoft.com/office/drawing/2014/main" id="{1958FCF8-EDC3-79C0-4994-533398B5136D}"/>
              </a:ext>
            </a:extLst>
          </p:cNvPr>
          <p:cNvSpPr/>
          <p:nvPr/>
        </p:nvSpPr>
        <p:spPr>
          <a:xfrm>
            <a:off x="5118611" y="2774133"/>
            <a:ext cx="310984" cy="127791"/>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2</a:t>
            </a:r>
            <a:endParaRPr lang="ja-JP" altLang="en-US" sz="900" baseline="-25000" dirty="0">
              <a:solidFill>
                <a:schemeClr val="tx1"/>
              </a:solidFill>
            </a:endParaRPr>
          </a:p>
        </p:txBody>
      </p:sp>
      <p:sp>
        <p:nvSpPr>
          <p:cNvPr id="74" name="正方形/長方形 73">
            <a:extLst>
              <a:ext uri="{FF2B5EF4-FFF2-40B4-BE49-F238E27FC236}">
                <a16:creationId xmlns:a16="http://schemas.microsoft.com/office/drawing/2014/main" id="{CAC4467B-307B-544F-ABD3-B7EF159102C2}"/>
              </a:ext>
            </a:extLst>
          </p:cNvPr>
          <p:cNvSpPr/>
          <p:nvPr/>
        </p:nvSpPr>
        <p:spPr>
          <a:xfrm>
            <a:off x="5429595" y="2774133"/>
            <a:ext cx="310984" cy="127791"/>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1</a:t>
            </a:r>
            <a:r>
              <a:rPr lang="ja-JP" altLang="en-US" sz="900" baseline="30000" dirty="0">
                <a:solidFill>
                  <a:schemeClr val="tx1"/>
                </a:solidFill>
              </a:rPr>
              <a:t> *</a:t>
            </a:r>
            <a:endParaRPr lang="ja-JP" altLang="en-US" sz="900" baseline="-25000" dirty="0">
              <a:solidFill>
                <a:schemeClr val="tx1"/>
              </a:solidFill>
            </a:endParaRPr>
          </a:p>
        </p:txBody>
      </p:sp>
      <p:sp>
        <p:nvSpPr>
          <p:cNvPr id="76" name="正方形/長方形 75">
            <a:extLst>
              <a:ext uri="{FF2B5EF4-FFF2-40B4-BE49-F238E27FC236}">
                <a16:creationId xmlns:a16="http://schemas.microsoft.com/office/drawing/2014/main" id="{1FB217E2-E535-AB00-A0C0-C767D95D3910}"/>
              </a:ext>
            </a:extLst>
          </p:cNvPr>
          <p:cNvSpPr/>
          <p:nvPr/>
        </p:nvSpPr>
        <p:spPr>
          <a:xfrm>
            <a:off x="4807627" y="2774133"/>
            <a:ext cx="1243936" cy="253696"/>
          </a:xfrm>
          <a:prstGeom prst="rect">
            <a:avLst/>
          </a:pr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78" name="正方形/長方形 77">
            <a:extLst>
              <a:ext uri="{FF2B5EF4-FFF2-40B4-BE49-F238E27FC236}">
                <a16:creationId xmlns:a16="http://schemas.microsoft.com/office/drawing/2014/main" id="{36D81C11-5F97-7C40-8A95-E722161BE8B4}"/>
              </a:ext>
            </a:extLst>
          </p:cNvPr>
          <p:cNvSpPr/>
          <p:nvPr/>
        </p:nvSpPr>
        <p:spPr>
          <a:xfrm>
            <a:off x="6362547" y="2774133"/>
            <a:ext cx="310984" cy="127791"/>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4</a:t>
            </a:r>
            <a:endParaRPr lang="ja-JP" altLang="en-US" sz="900" baseline="-25000" dirty="0">
              <a:solidFill>
                <a:schemeClr val="tx1"/>
              </a:solidFill>
            </a:endParaRPr>
          </a:p>
        </p:txBody>
      </p:sp>
      <p:sp>
        <p:nvSpPr>
          <p:cNvPr id="79" name="正方形/長方形 78">
            <a:extLst>
              <a:ext uri="{FF2B5EF4-FFF2-40B4-BE49-F238E27FC236}">
                <a16:creationId xmlns:a16="http://schemas.microsoft.com/office/drawing/2014/main" id="{7FAC1D7D-1D92-8B3C-B747-C0D053FE8C11}"/>
              </a:ext>
            </a:extLst>
          </p:cNvPr>
          <p:cNvSpPr/>
          <p:nvPr/>
        </p:nvSpPr>
        <p:spPr>
          <a:xfrm>
            <a:off x="6673531" y="2774133"/>
            <a:ext cx="310984" cy="127791"/>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Q</a:t>
            </a:r>
            <a:r>
              <a:rPr lang="en-US" altLang="ja-JP" sz="900" baseline="-25000" dirty="0" err="1">
                <a:solidFill>
                  <a:schemeClr val="tx1"/>
                </a:solidFill>
              </a:rPr>
              <a:t>3</a:t>
            </a:r>
            <a:r>
              <a:rPr lang="ja-JP" altLang="en-US" sz="900" baseline="30000" dirty="0">
                <a:solidFill>
                  <a:schemeClr val="tx1"/>
                </a:solidFill>
              </a:rPr>
              <a:t> *</a:t>
            </a:r>
            <a:endParaRPr lang="ja-JP" altLang="en-US" sz="900" baseline="-25000" dirty="0">
              <a:solidFill>
                <a:schemeClr val="tx1"/>
              </a:solidFill>
            </a:endParaRPr>
          </a:p>
        </p:txBody>
      </p:sp>
      <p:sp>
        <p:nvSpPr>
          <p:cNvPr id="80" name="正方形/長方形 79">
            <a:extLst>
              <a:ext uri="{FF2B5EF4-FFF2-40B4-BE49-F238E27FC236}">
                <a16:creationId xmlns:a16="http://schemas.microsoft.com/office/drawing/2014/main" id="{BBC95DE1-6D7F-8E4C-5A6F-B32C93486859}"/>
              </a:ext>
            </a:extLst>
          </p:cNvPr>
          <p:cNvSpPr/>
          <p:nvPr/>
        </p:nvSpPr>
        <p:spPr>
          <a:xfrm>
            <a:off x="6984515" y="2774133"/>
            <a:ext cx="310984" cy="127791"/>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3</a:t>
            </a:r>
            <a:endParaRPr lang="ja-JP" altLang="en-US" sz="900" baseline="-25000" dirty="0">
              <a:solidFill>
                <a:schemeClr val="tx1"/>
              </a:solidFill>
            </a:endParaRPr>
          </a:p>
        </p:txBody>
      </p:sp>
      <p:sp>
        <p:nvSpPr>
          <p:cNvPr id="82" name="正方形/長方形 81">
            <a:extLst>
              <a:ext uri="{FF2B5EF4-FFF2-40B4-BE49-F238E27FC236}">
                <a16:creationId xmlns:a16="http://schemas.microsoft.com/office/drawing/2014/main" id="{B93A1753-6AB4-C498-EB0D-4D6C9D28B4DB}"/>
              </a:ext>
            </a:extLst>
          </p:cNvPr>
          <p:cNvSpPr/>
          <p:nvPr/>
        </p:nvSpPr>
        <p:spPr>
          <a:xfrm>
            <a:off x="7295500" y="2774133"/>
            <a:ext cx="824564" cy="25369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b="1" dirty="0">
                <a:solidFill>
                  <a:schemeClr val="tx1"/>
                </a:solidFill>
              </a:rPr>
              <a:t>...</a:t>
            </a:r>
            <a:endParaRPr lang="ja-JP" altLang="en-US" sz="900" b="1" dirty="0">
              <a:solidFill>
                <a:schemeClr val="tx1"/>
              </a:solidFill>
            </a:endParaRPr>
          </a:p>
        </p:txBody>
      </p:sp>
      <p:sp>
        <p:nvSpPr>
          <p:cNvPr id="86" name="正方形/長方形 85">
            <a:extLst>
              <a:ext uri="{FF2B5EF4-FFF2-40B4-BE49-F238E27FC236}">
                <a16:creationId xmlns:a16="http://schemas.microsoft.com/office/drawing/2014/main" id="{F6962489-95FD-1C84-B8FB-D20B090C9BFA}"/>
              </a:ext>
            </a:extLst>
          </p:cNvPr>
          <p:cNvSpPr/>
          <p:nvPr/>
        </p:nvSpPr>
        <p:spPr>
          <a:xfrm>
            <a:off x="7295500" y="2774132"/>
            <a:ext cx="824564" cy="25369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91" name="正方形/長方形 90">
            <a:extLst>
              <a:ext uri="{FF2B5EF4-FFF2-40B4-BE49-F238E27FC236}">
                <a16:creationId xmlns:a16="http://schemas.microsoft.com/office/drawing/2014/main" id="{17B21452-16D6-20E0-6922-F6CDC58FA99C}"/>
              </a:ext>
            </a:extLst>
          </p:cNvPr>
          <p:cNvSpPr/>
          <p:nvPr/>
        </p:nvSpPr>
        <p:spPr>
          <a:xfrm>
            <a:off x="2319755" y="3305376"/>
            <a:ext cx="1243936" cy="256974"/>
          </a:xfrm>
          <a:prstGeom prst="rect">
            <a:avLst/>
          </a:pr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101" name="正方形/長方形 100">
            <a:extLst>
              <a:ext uri="{FF2B5EF4-FFF2-40B4-BE49-F238E27FC236}">
                <a16:creationId xmlns:a16="http://schemas.microsoft.com/office/drawing/2014/main" id="{86284764-4A82-6B61-2E89-96B7C43AC118}"/>
              </a:ext>
            </a:extLst>
          </p:cNvPr>
          <p:cNvSpPr/>
          <p:nvPr/>
        </p:nvSpPr>
        <p:spPr>
          <a:xfrm>
            <a:off x="4807627" y="3300870"/>
            <a:ext cx="1243936" cy="263052"/>
          </a:xfrm>
          <a:prstGeom prst="rect">
            <a:avLst/>
          </a:pr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107" name="正方形/長方形 106">
            <a:extLst>
              <a:ext uri="{FF2B5EF4-FFF2-40B4-BE49-F238E27FC236}">
                <a16:creationId xmlns:a16="http://schemas.microsoft.com/office/drawing/2014/main" id="{B03BF69C-5B80-FF3C-9AFE-44AE55BB2E56}"/>
              </a:ext>
            </a:extLst>
          </p:cNvPr>
          <p:cNvSpPr/>
          <p:nvPr/>
        </p:nvSpPr>
        <p:spPr>
          <a:xfrm>
            <a:off x="7295500" y="3302794"/>
            <a:ext cx="824564" cy="25808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b="1" dirty="0">
                <a:solidFill>
                  <a:schemeClr val="tx1"/>
                </a:solidFill>
              </a:rPr>
              <a:t>...</a:t>
            </a:r>
            <a:endParaRPr lang="ja-JP" altLang="en-US" sz="900" b="1" dirty="0">
              <a:solidFill>
                <a:schemeClr val="tx1"/>
              </a:solidFill>
            </a:endParaRPr>
          </a:p>
        </p:txBody>
      </p:sp>
      <p:sp>
        <p:nvSpPr>
          <p:cNvPr id="109" name="正方形/長方形 108">
            <a:extLst>
              <a:ext uri="{FF2B5EF4-FFF2-40B4-BE49-F238E27FC236}">
                <a16:creationId xmlns:a16="http://schemas.microsoft.com/office/drawing/2014/main" id="{B0541E1C-EDDD-5233-ABCA-8F19EAD38693}"/>
              </a:ext>
            </a:extLst>
          </p:cNvPr>
          <p:cNvSpPr/>
          <p:nvPr/>
        </p:nvSpPr>
        <p:spPr>
          <a:xfrm>
            <a:off x="2319755" y="2774132"/>
            <a:ext cx="2487872" cy="25369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110" name="正方形/長方形 109">
            <a:extLst>
              <a:ext uri="{FF2B5EF4-FFF2-40B4-BE49-F238E27FC236}">
                <a16:creationId xmlns:a16="http://schemas.microsoft.com/office/drawing/2014/main" id="{46DCDBF3-0B41-087A-8D43-654F3144BC70}"/>
              </a:ext>
            </a:extLst>
          </p:cNvPr>
          <p:cNvSpPr/>
          <p:nvPr/>
        </p:nvSpPr>
        <p:spPr>
          <a:xfrm>
            <a:off x="4807627" y="2774404"/>
            <a:ext cx="2487872" cy="25369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111" name="正方形/長方形 110">
            <a:extLst>
              <a:ext uri="{FF2B5EF4-FFF2-40B4-BE49-F238E27FC236}">
                <a16:creationId xmlns:a16="http://schemas.microsoft.com/office/drawing/2014/main" id="{F694BF1B-0118-29C1-124C-F797097A94F2}"/>
              </a:ext>
            </a:extLst>
          </p:cNvPr>
          <p:cNvSpPr/>
          <p:nvPr/>
        </p:nvSpPr>
        <p:spPr>
          <a:xfrm>
            <a:off x="2319755" y="3303928"/>
            <a:ext cx="4975744" cy="25931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165" name="正方形/長方形 164">
            <a:extLst>
              <a:ext uri="{FF2B5EF4-FFF2-40B4-BE49-F238E27FC236}">
                <a16:creationId xmlns:a16="http://schemas.microsoft.com/office/drawing/2014/main" id="{D140C9F9-5275-7FEE-C34B-E32C770D2D6B}"/>
              </a:ext>
            </a:extLst>
          </p:cNvPr>
          <p:cNvSpPr/>
          <p:nvPr/>
        </p:nvSpPr>
        <p:spPr>
          <a:xfrm>
            <a:off x="2319755" y="1735252"/>
            <a:ext cx="1243936" cy="257642"/>
          </a:xfrm>
          <a:prstGeom prst="rect">
            <a:avLst/>
          </a:pr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b="1" dirty="0">
              <a:solidFill>
                <a:schemeClr val="tx1"/>
              </a:solidFill>
            </a:endParaRPr>
          </a:p>
        </p:txBody>
      </p:sp>
      <p:sp>
        <p:nvSpPr>
          <p:cNvPr id="180" name="正方形/長方形 179">
            <a:extLst>
              <a:ext uri="{FF2B5EF4-FFF2-40B4-BE49-F238E27FC236}">
                <a16:creationId xmlns:a16="http://schemas.microsoft.com/office/drawing/2014/main" id="{0AC63CA6-46D4-8F46-1DAC-0D581D6CBFE0}"/>
              </a:ext>
            </a:extLst>
          </p:cNvPr>
          <p:cNvSpPr/>
          <p:nvPr/>
        </p:nvSpPr>
        <p:spPr>
          <a:xfrm>
            <a:off x="4807627" y="1736694"/>
            <a:ext cx="1243936" cy="256199"/>
          </a:xfrm>
          <a:prstGeom prst="rect">
            <a:avLst/>
          </a:pr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182" name="正方形/長方形 181">
            <a:extLst>
              <a:ext uri="{FF2B5EF4-FFF2-40B4-BE49-F238E27FC236}">
                <a16:creationId xmlns:a16="http://schemas.microsoft.com/office/drawing/2014/main" id="{EB790918-8C2F-B540-CE86-954AA3E9381F}"/>
              </a:ext>
            </a:extLst>
          </p:cNvPr>
          <p:cNvSpPr/>
          <p:nvPr/>
        </p:nvSpPr>
        <p:spPr>
          <a:xfrm>
            <a:off x="7295500" y="1735251"/>
            <a:ext cx="824564" cy="25764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b="1" dirty="0">
                <a:solidFill>
                  <a:schemeClr val="tx1"/>
                </a:solidFill>
              </a:rPr>
              <a:t>...</a:t>
            </a:r>
            <a:endParaRPr lang="ja-JP" altLang="en-US" sz="900" b="1" dirty="0">
              <a:solidFill>
                <a:schemeClr val="tx1"/>
              </a:solidFill>
            </a:endParaRPr>
          </a:p>
        </p:txBody>
      </p:sp>
      <p:sp>
        <p:nvSpPr>
          <p:cNvPr id="183" name="正方形/長方形 182">
            <a:extLst>
              <a:ext uri="{FF2B5EF4-FFF2-40B4-BE49-F238E27FC236}">
                <a16:creationId xmlns:a16="http://schemas.microsoft.com/office/drawing/2014/main" id="{33D3A381-DAA9-E39E-D035-822BB18B10F9}"/>
              </a:ext>
            </a:extLst>
          </p:cNvPr>
          <p:cNvSpPr/>
          <p:nvPr/>
        </p:nvSpPr>
        <p:spPr>
          <a:xfrm>
            <a:off x="2319755" y="1735251"/>
            <a:ext cx="2487872" cy="25764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b="1" dirty="0">
              <a:solidFill>
                <a:schemeClr val="tx1"/>
              </a:solidFill>
            </a:endParaRPr>
          </a:p>
        </p:txBody>
      </p:sp>
      <p:sp>
        <p:nvSpPr>
          <p:cNvPr id="184" name="正方形/長方形 183">
            <a:extLst>
              <a:ext uri="{FF2B5EF4-FFF2-40B4-BE49-F238E27FC236}">
                <a16:creationId xmlns:a16="http://schemas.microsoft.com/office/drawing/2014/main" id="{307A106B-2D3B-0DDC-F439-8C035EB9CDD2}"/>
              </a:ext>
            </a:extLst>
          </p:cNvPr>
          <p:cNvSpPr/>
          <p:nvPr/>
        </p:nvSpPr>
        <p:spPr>
          <a:xfrm>
            <a:off x="4807627" y="1735523"/>
            <a:ext cx="2487872" cy="25764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211" name="正方形/長方形 210">
            <a:extLst>
              <a:ext uri="{FF2B5EF4-FFF2-40B4-BE49-F238E27FC236}">
                <a16:creationId xmlns:a16="http://schemas.microsoft.com/office/drawing/2014/main" id="{C74181CA-D985-1F18-107A-43F7ABC9E587}"/>
              </a:ext>
            </a:extLst>
          </p:cNvPr>
          <p:cNvSpPr/>
          <p:nvPr/>
        </p:nvSpPr>
        <p:spPr>
          <a:xfrm>
            <a:off x="2319755" y="1226584"/>
            <a:ext cx="1243936" cy="25608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216" name="正方形/長方形 215">
            <a:extLst>
              <a:ext uri="{FF2B5EF4-FFF2-40B4-BE49-F238E27FC236}">
                <a16:creationId xmlns:a16="http://schemas.microsoft.com/office/drawing/2014/main" id="{7BE7FB01-53D2-A3DF-0CC5-7CE47D4DE5F2}"/>
              </a:ext>
            </a:extLst>
          </p:cNvPr>
          <p:cNvSpPr/>
          <p:nvPr/>
        </p:nvSpPr>
        <p:spPr>
          <a:xfrm>
            <a:off x="3563691" y="1226584"/>
            <a:ext cx="1243936" cy="25608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221" name="正方形/長方形 220">
            <a:extLst>
              <a:ext uri="{FF2B5EF4-FFF2-40B4-BE49-F238E27FC236}">
                <a16:creationId xmlns:a16="http://schemas.microsoft.com/office/drawing/2014/main" id="{970FBD94-D307-B018-C50B-F0265B4624F3}"/>
              </a:ext>
            </a:extLst>
          </p:cNvPr>
          <p:cNvSpPr/>
          <p:nvPr/>
        </p:nvSpPr>
        <p:spPr>
          <a:xfrm>
            <a:off x="4807627" y="1226584"/>
            <a:ext cx="1243936" cy="25608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226" name="正方形/長方形 225">
            <a:extLst>
              <a:ext uri="{FF2B5EF4-FFF2-40B4-BE49-F238E27FC236}">
                <a16:creationId xmlns:a16="http://schemas.microsoft.com/office/drawing/2014/main" id="{16567789-AF95-B768-8027-3B37260E52E1}"/>
              </a:ext>
            </a:extLst>
          </p:cNvPr>
          <p:cNvSpPr/>
          <p:nvPr/>
        </p:nvSpPr>
        <p:spPr>
          <a:xfrm>
            <a:off x="6051563" y="1226584"/>
            <a:ext cx="1243936" cy="25608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228" name="正方形/長方形 227">
            <a:extLst>
              <a:ext uri="{FF2B5EF4-FFF2-40B4-BE49-F238E27FC236}">
                <a16:creationId xmlns:a16="http://schemas.microsoft.com/office/drawing/2014/main" id="{EF53B7C7-E65B-932F-60B8-2031A0B2FE43}"/>
              </a:ext>
            </a:extLst>
          </p:cNvPr>
          <p:cNvSpPr/>
          <p:nvPr/>
        </p:nvSpPr>
        <p:spPr>
          <a:xfrm>
            <a:off x="7295500" y="1226584"/>
            <a:ext cx="824564" cy="25608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b="1" dirty="0">
                <a:solidFill>
                  <a:schemeClr val="tx1"/>
                </a:solidFill>
              </a:rPr>
              <a:t>...</a:t>
            </a:r>
            <a:endParaRPr lang="ja-JP" altLang="en-US" sz="900" b="1" dirty="0">
              <a:solidFill>
                <a:schemeClr val="tx1"/>
              </a:solidFill>
            </a:endParaRPr>
          </a:p>
        </p:txBody>
      </p:sp>
      <p:grpSp>
        <p:nvGrpSpPr>
          <p:cNvPr id="278" name="グループ化 277">
            <a:extLst>
              <a:ext uri="{FF2B5EF4-FFF2-40B4-BE49-F238E27FC236}">
                <a16:creationId xmlns:a16="http://schemas.microsoft.com/office/drawing/2014/main" id="{CDC42319-16D5-98E9-3AE3-26BE6D5A8628}"/>
              </a:ext>
            </a:extLst>
          </p:cNvPr>
          <p:cNvGrpSpPr/>
          <p:nvPr/>
        </p:nvGrpSpPr>
        <p:grpSpPr>
          <a:xfrm>
            <a:off x="8099238" y="1116366"/>
            <a:ext cx="45719" cy="420225"/>
            <a:chOff x="8505691" y="2297380"/>
            <a:chExt cx="74429" cy="309283"/>
          </a:xfrm>
        </p:grpSpPr>
        <p:sp>
          <p:nvSpPr>
            <p:cNvPr id="273" name="正方形/長方形 272">
              <a:extLst>
                <a:ext uri="{FF2B5EF4-FFF2-40B4-BE49-F238E27FC236}">
                  <a16:creationId xmlns:a16="http://schemas.microsoft.com/office/drawing/2014/main" id="{67359A3D-A14E-BC80-D12D-E1DA89A44C49}"/>
                </a:ext>
              </a:extLst>
            </p:cNvPr>
            <p:cNvSpPr/>
            <p:nvPr/>
          </p:nvSpPr>
          <p:spPr>
            <a:xfrm>
              <a:off x="8509143" y="2302634"/>
              <a:ext cx="70977" cy="2895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a:p>
          </p:txBody>
        </p:sp>
        <p:sp>
          <p:nvSpPr>
            <p:cNvPr id="271" name="フリーフォーム: 図形 270">
              <a:extLst>
                <a:ext uri="{FF2B5EF4-FFF2-40B4-BE49-F238E27FC236}">
                  <a16:creationId xmlns:a16="http://schemas.microsoft.com/office/drawing/2014/main" id="{B9210608-6B0A-EAED-369D-F52587DE6860}"/>
                </a:ext>
              </a:extLst>
            </p:cNvPr>
            <p:cNvSpPr/>
            <p:nvPr/>
          </p:nvSpPr>
          <p:spPr>
            <a:xfrm>
              <a:off x="8505691" y="2297380"/>
              <a:ext cx="67977" cy="309283"/>
            </a:xfrm>
            <a:custGeom>
              <a:avLst/>
              <a:gdLst>
                <a:gd name="connsiteX0" fmla="*/ 33709 w 63071"/>
                <a:gd name="connsiteY0" fmla="*/ 0 h 263611"/>
                <a:gd name="connsiteX1" fmla="*/ 757 w 63071"/>
                <a:gd name="connsiteY1" fmla="*/ 94735 h 263611"/>
                <a:gd name="connsiteX2" fmla="*/ 62541 w 63071"/>
                <a:gd name="connsiteY2" fmla="*/ 172995 h 263611"/>
                <a:gd name="connsiteX3" fmla="*/ 25471 w 63071"/>
                <a:gd name="connsiteY3" fmla="*/ 263611 h 263611"/>
              </a:gdLst>
              <a:ahLst/>
              <a:cxnLst>
                <a:cxn ang="0">
                  <a:pos x="connsiteX0" y="connsiteY0"/>
                </a:cxn>
                <a:cxn ang="0">
                  <a:pos x="connsiteX1" y="connsiteY1"/>
                </a:cxn>
                <a:cxn ang="0">
                  <a:pos x="connsiteX2" y="connsiteY2"/>
                </a:cxn>
                <a:cxn ang="0">
                  <a:pos x="connsiteX3" y="connsiteY3"/>
                </a:cxn>
              </a:cxnLst>
              <a:rect l="l" t="t" r="r" b="b"/>
              <a:pathLst>
                <a:path w="63071" h="263611">
                  <a:moveTo>
                    <a:pt x="33709" y="0"/>
                  </a:moveTo>
                  <a:cubicBezTo>
                    <a:pt x="14830" y="32951"/>
                    <a:pt x="-4048" y="65903"/>
                    <a:pt x="757" y="94735"/>
                  </a:cubicBezTo>
                  <a:cubicBezTo>
                    <a:pt x="5562" y="123567"/>
                    <a:pt x="58422" y="144849"/>
                    <a:pt x="62541" y="172995"/>
                  </a:cubicBezTo>
                  <a:cubicBezTo>
                    <a:pt x="66660" y="201141"/>
                    <a:pt x="46065" y="232376"/>
                    <a:pt x="25471" y="263611"/>
                  </a:cubicBez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nvGrpSpPr>
          <p:cNvPr id="279" name="グループ化 278">
            <a:extLst>
              <a:ext uri="{FF2B5EF4-FFF2-40B4-BE49-F238E27FC236}">
                <a16:creationId xmlns:a16="http://schemas.microsoft.com/office/drawing/2014/main" id="{6FBA5976-2E8F-0D9D-C9BD-3426F9199665}"/>
              </a:ext>
            </a:extLst>
          </p:cNvPr>
          <p:cNvGrpSpPr/>
          <p:nvPr/>
        </p:nvGrpSpPr>
        <p:grpSpPr>
          <a:xfrm>
            <a:off x="8099238" y="1626727"/>
            <a:ext cx="45719" cy="420225"/>
            <a:chOff x="8505691" y="2297380"/>
            <a:chExt cx="74429" cy="309283"/>
          </a:xfrm>
        </p:grpSpPr>
        <p:sp>
          <p:nvSpPr>
            <p:cNvPr id="280" name="正方形/長方形 279">
              <a:extLst>
                <a:ext uri="{FF2B5EF4-FFF2-40B4-BE49-F238E27FC236}">
                  <a16:creationId xmlns:a16="http://schemas.microsoft.com/office/drawing/2014/main" id="{FA1CD5FF-FF61-3078-BC98-0BA7029CD9A9}"/>
                </a:ext>
              </a:extLst>
            </p:cNvPr>
            <p:cNvSpPr/>
            <p:nvPr/>
          </p:nvSpPr>
          <p:spPr>
            <a:xfrm>
              <a:off x="8509143" y="2302634"/>
              <a:ext cx="70977" cy="2895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a:p>
          </p:txBody>
        </p:sp>
        <p:sp>
          <p:nvSpPr>
            <p:cNvPr id="281" name="フリーフォーム: 図形 280">
              <a:extLst>
                <a:ext uri="{FF2B5EF4-FFF2-40B4-BE49-F238E27FC236}">
                  <a16:creationId xmlns:a16="http://schemas.microsoft.com/office/drawing/2014/main" id="{F9700291-128F-91F6-1266-338B18C2D90E}"/>
                </a:ext>
              </a:extLst>
            </p:cNvPr>
            <p:cNvSpPr/>
            <p:nvPr/>
          </p:nvSpPr>
          <p:spPr>
            <a:xfrm>
              <a:off x="8505691" y="2297380"/>
              <a:ext cx="67977" cy="309283"/>
            </a:xfrm>
            <a:custGeom>
              <a:avLst/>
              <a:gdLst>
                <a:gd name="connsiteX0" fmla="*/ 33709 w 63071"/>
                <a:gd name="connsiteY0" fmla="*/ 0 h 263611"/>
                <a:gd name="connsiteX1" fmla="*/ 757 w 63071"/>
                <a:gd name="connsiteY1" fmla="*/ 94735 h 263611"/>
                <a:gd name="connsiteX2" fmla="*/ 62541 w 63071"/>
                <a:gd name="connsiteY2" fmla="*/ 172995 h 263611"/>
                <a:gd name="connsiteX3" fmla="*/ 25471 w 63071"/>
                <a:gd name="connsiteY3" fmla="*/ 263611 h 263611"/>
              </a:gdLst>
              <a:ahLst/>
              <a:cxnLst>
                <a:cxn ang="0">
                  <a:pos x="connsiteX0" y="connsiteY0"/>
                </a:cxn>
                <a:cxn ang="0">
                  <a:pos x="connsiteX1" y="connsiteY1"/>
                </a:cxn>
                <a:cxn ang="0">
                  <a:pos x="connsiteX2" y="connsiteY2"/>
                </a:cxn>
                <a:cxn ang="0">
                  <a:pos x="connsiteX3" y="connsiteY3"/>
                </a:cxn>
              </a:cxnLst>
              <a:rect l="l" t="t" r="r" b="b"/>
              <a:pathLst>
                <a:path w="63071" h="263611">
                  <a:moveTo>
                    <a:pt x="33709" y="0"/>
                  </a:moveTo>
                  <a:cubicBezTo>
                    <a:pt x="14830" y="32951"/>
                    <a:pt x="-4048" y="65903"/>
                    <a:pt x="757" y="94735"/>
                  </a:cubicBezTo>
                  <a:cubicBezTo>
                    <a:pt x="5562" y="123567"/>
                    <a:pt x="58422" y="144849"/>
                    <a:pt x="62541" y="172995"/>
                  </a:cubicBezTo>
                  <a:cubicBezTo>
                    <a:pt x="66660" y="201141"/>
                    <a:pt x="46065" y="232376"/>
                    <a:pt x="25471" y="263611"/>
                  </a:cubicBez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nvGrpSpPr>
          <p:cNvPr id="282" name="グループ化 281">
            <a:extLst>
              <a:ext uri="{FF2B5EF4-FFF2-40B4-BE49-F238E27FC236}">
                <a16:creationId xmlns:a16="http://schemas.microsoft.com/office/drawing/2014/main" id="{F9C137BD-4C9E-81C3-49F7-D6AA16AEBAA9}"/>
              </a:ext>
            </a:extLst>
          </p:cNvPr>
          <p:cNvGrpSpPr/>
          <p:nvPr/>
        </p:nvGrpSpPr>
        <p:grpSpPr>
          <a:xfrm>
            <a:off x="8099238" y="2144158"/>
            <a:ext cx="45719" cy="420225"/>
            <a:chOff x="8505691" y="2297380"/>
            <a:chExt cx="74429" cy="309283"/>
          </a:xfrm>
        </p:grpSpPr>
        <p:sp>
          <p:nvSpPr>
            <p:cNvPr id="283" name="正方形/長方形 282">
              <a:extLst>
                <a:ext uri="{FF2B5EF4-FFF2-40B4-BE49-F238E27FC236}">
                  <a16:creationId xmlns:a16="http://schemas.microsoft.com/office/drawing/2014/main" id="{E257B632-B579-CE18-1753-E2E9FB86CFAA}"/>
                </a:ext>
              </a:extLst>
            </p:cNvPr>
            <p:cNvSpPr/>
            <p:nvPr/>
          </p:nvSpPr>
          <p:spPr>
            <a:xfrm>
              <a:off x="8509143" y="2302634"/>
              <a:ext cx="70977" cy="2895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a:p>
          </p:txBody>
        </p:sp>
        <p:sp>
          <p:nvSpPr>
            <p:cNvPr id="284" name="フリーフォーム: 図形 283">
              <a:extLst>
                <a:ext uri="{FF2B5EF4-FFF2-40B4-BE49-F238E27FC236}">
                  <a16:creationId xmlns:a16="http://schemas.microsoft.com/office/drawing/2014/main" id="{1C759509-4CFD-1DE6-8C5E-997EF11E35E6}"/>
                </a:ext>
              </a:extLst>
            </p:cNvPr>
            <p:cNvSpPr/>
            <p:nvPr/>
          </p:nvSpPr>
          <p:spPr>
            <a:xfrm>
              <a:off x="8505691" y="2297380"/>
              <a:ext cx="67977" cy="309283"/>
            </a:xfrm>
            <a:custGeom>
              <a:avLst/>
              <a:gdLst>
                <a:gd name="connsiteX0" fmla="*/ 33709 w 63071"/>
                <a:gd name="connsiteY0" fmla="*/ 0 h 263611"/>
                <a:gd name="connsiteX1" fmla="*/ 757 w 63071"/>
                <a:gd name="connsiteY1" fmla="*/ 94735 h 263611"/>
                <a:gd name="connsiteX2" fmla="*/ 62541 w 63071"/>
                <a:gd name="connsiteY2" fmla="*/ 172995 h 263611"/>
                <a:gd name="connsiteX3" fmla="*/ 25471 w 63071"/>
                <a:gd name="connsiteY3" fmla="*/ 263611 h 263611"/>
              </a:gdLst>
              <a:ahLst/>
              <a:cxnLst>
                <a:cxn ang="0">
                  <a:pos x="connsiteX0" y="connsiteY0"/>
                </a:cxn>
                <a:cxn ang="0">
                  <a:pos x="connsiteX1" y="connsiteY1"/>
                </a:cxn>
                <a:cxn ang="0">
                  <a:pos x="connsiteX2" y="connsiteY2"/>
                </a:cxn>
                <a:cxn ang="0">
                  <a:pos x="connsiteX3" y="connsiteY3"/>
                </a:cxn>
              </a:cxnLst>
              <a:rect l="l" t="t" r="r" b="b"/>
              <a:pathLst>
                <a:path w="63071" h="263611">
                  <a:moveTo>
                    <a:pt x="33709" y="0"/>
                  </a:moveTo>
                  <a:cubicBezTo>
                    <a:pt x="14830" y="32951"/>
                    <a:pt x="-4048" y="65903"/>
                    <a:pt x="757" y="94735"/>
                  </a:cubicBezTo>
                  <a:cubicBezTo>
                    <a:pt x="5562" y="123567"/>
                    <a:pt x="58422" y="144849"/>
                    <a:pt x="62541" y="172995"/>
                  </a:cubicBezTo>
                  <a:cubicBezTo>
                    <a:pt x="66660" y="201141"/>
                    <a:pt x="46065" y="232376"/>
                    <a:pt x="25471" y="263611"/>
                  </a:cubicBez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nvGrpSpPr>
          <p:cNvPr id="285" name="グループ化 284">
            <a:extLst>
              <a:ext uri="{FF2B5EF4-FFF2-40B4-BE49-F238E27FC236}">
                <a16:creationId xmlns:a16="http://schemas.microsoft.com/office/drawing/2014/main" id="{663626B9-FF57-30D9-0349-D31D30830214}"/>
              </a:ext>
            </a:extLst>
          </p:cNvPr>
          <p:cNvGrpSpPr/>
          <p:nvPr/>
        </p:nvGrpSpPr>
        <p:grpSpPr>
          <a:xfrm>
            <a:off x="8099238" y="2667310"/>
            <a:ext cx="45719" cy="420225"/>
            <a:chOff x="8505691" y="2297380"/>
            <a:chExt cx="74429" cy="309283"/>
          </a:xfrm>
        </p:grpSpPr>
        <p:sp>
          <p:nvSpPr>
            <p:cNvPr id="286" name="正方形/長方形 285">
              <a:extLst>
                <a:ext uri="{FF2B5EF4-FFF2-40B4-BE49-F238E27FC236}">
                  <a16:creationId xmlns:a16="http://schemas.microsoft.com/office/drawing/2014/main" id="{C9E7630D-82FC-10BA-6225-D3AAE98C421C}"/>
                </a:ext>
              </a:extLst>
            </p:cNvPr>
            <p:cNvSpPr/>
            <p:nvPr/>
          </p:nvSpPr>
          <p:spPr>
            <a:xfrm>
              <a:off x="8509143" y="2302634"/>
              <a:ext cx="70977" cy="2895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b="1"/>
            </a:p>
          </p:txBody>
        </p:sp>
        <p:sp>
          <p:nvSpPr>
            <p:cNvPr id="287" name="フリーフォーム: 図形 286">
              <a:extLst>
                <a:ext uri="{FF2B5EF4-FFF2-40B4-BE49-F238E27FC236}">
                  <a16:creationId xmlns:a16="http://schemas.microsoft.com/office/drawing/2014/main" id="{9AFF31BF-61E9-C511-A7AF-B703946B463F}"/>
                </a:ext>
              </a:extLst>
            </p:cNvPr>
            <p:cNvSpPr/>
            <p:nvPr/>
          </p:nvSpPr>
          <p:spPr>
            <a:xfrm>
              <a:off x="8505691" y="2297380"/>
              <a:ext cx="67977" cy="309283"/>
            </a:xfrm>
            <a:custGeom>
              <a:avLst/>
              <a:gdLst>
                <a:gd name="connsiteX0" fmla="*/ 33709 w 63071"/>
                <a:gd name="connsiteY0" fmla="*/ 0 h 263611"/>
                <a:gd name="connsiteX1" fmla="*/ 757 w 63071"/>
                <a:gd name="connsiteY1" fmla="*/ 94735 h 263611"/>
                <a:gd name="connsiteX2" fmla="*/ 62541 w 63071"/>
                <a:gd name="connsiteY2" fmla="*/ 172995 h 263611"/>
                <a:gd name="connsiteX3" fmla="*/ 25471 w 63071"/>
                <a:gd name="connsiteY3" fmla="*/ 263611 h 263611"/>
              </a:gdLst>
              <a:ahLst/>
              <a:cxnLst>
                <a:cxn ang="0">
                  <a:pos x="connsiteX0" y="connsiteY0"/>
                </a:cxn>
                <a:cxn ang="0">
                  <a:pos x="connsiteX1" y="connsiteY1"/>
                </a:cxn>
                <a:cxn ang="0">
                  <a:pos x="connsiteX2" y="connsiteY2"/>
                </a:cxn>
                <a:cxn ang="0">
                  <a:pos x="connsiteX3" y="connsiteY3"/>
                </a:cxn>
              </a:cxnLst>
              <a:rect l="l" t="t" r="r" b="b"/>
              <a:pathLst>
                <a:path w="63071" h="263611">
                  <a:moveTo>
                    <a:pt x="33709" y="0"/>
                  </a:moveTo>
                  <a:cubicBezTo>
                    <a:pt x="14830" y="32951"/>
                    <a:pt x="-4048" y="65903"/>
                    <a:pt x="757" y="94735"/>
                  </a:cubicBezTo>
                  <a:cubicBezTo>
                    <a:pt x="5562" y="123567"/>
                    <a:pt x="58422" y="144849"/>
                    <a:pt x="62541" y="172995"/>
                  </a:cubicBezTo>
                  <a:cubicBezTo>
                    <a:pt x="66660" y="201141"/>
                    <a:pt x="46065" y="232376"/>
                    <a:pt x="25471" y="263611"/>
                  </a:cubicBez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p>
          </p:txBody>
        </p:sp>
      </p:grpSp>
      <p:grpSp>
        <p:nvGrpSpPr>
          <p:cNvPr id="291" name="グループ化 290">
            <a:extLst>
              <a:ext uri="{FF2B5EF4-FFF2-40B4-BE49-F238E27FC236}">
                <a16:creationId xmlns:a16="http://schemas.microsoft.com/office/drawing/2014/main" id="{097470EF-440E-8AD5-5225-DEA3A832E4AC}"/>
              </a:ext>
            </a:extLst>
          </p:cNvPr>
          <p:cNvGrpSpPr/>
          <p:nvPr/>
        </p:nvGrpSpPr>
        <p:grpSpPr>
          <a:xfrm>
            <a:off x="8099238" y="3207483"/>
            <a:ext cx="45719" cy="420225"/>
            <a:chOff x="8505691" y="2297380"/>
            <a:chExt cx="74429" cy="309283"/>
          </a:xfrm>
        </p:grpSpPr>
        <p:sp>
          <p:nvSpPr>
            <p:cNvPr id="292" name="正方形/長方形 291">
              <a:extLst>
                <a:ext uri="{FF2B5EF4-FFF2-40B4-BE49-F238E27FC236}">
                  <a16:creationId xmlns:a16="http://schemas.microsoft.com/office/drawing/2014/main" id="{19440F0F-5BA2-B6CE-CF6B-D98712699312}"/>
                </a:ext>
              </a:extLst>
            </p:cNvPr>
            <p:cNvSpPr/>
            <p:nvPr/>
          </p:nvSpPr>
          <p:spPr>
            <a:xfrm>
              <a:off x="8509143" y="2302634"/>
              <a:ext cx="70977" cy="2895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b="1"/>
            </a:p>
          </p:txBody>
        </p:sp>
        <p:sp>
          <p:nvSpPr>
            <p:cNvPr id="293" name="フリーフォーム: 図形 292">
              <a:extLst>
                <a:ext uri="{FF2B5EF4-FFF2-40B4-BE49-F238E27FC236}">
                  <a16:creationId xmlns:a16="http://schemas.microsoft.com/office/drawing/2014/main" id="{0B4583AA-0F9C-9F85-72E3-BB12996AF868}"/>
                </a:ext>
              </a:extLst>
            </p:cNvPr>
            <p:cNvSpPr/>
            <p:nvPr/>
          </p:nvSpPr>
          <p:spPr>
            <a:xfrm>
              <a:off x="8505691" y="2297380"/>
              <a:ext cx="67977" cy="309283"/>
            </a:xfrm>
            <a:custGeom>
              <a:avLst/>
              <a:gdLst>
                <a:gd name="connsiteX0" fmla="*/ 33709 w 63071"/>
                <a:gd name="connsiteY0" fmla="*/ 0 h 263611"/>
                <a:gd name="connsiteX1" fmla="*/ 757 w 63071"/>
                <a:gd name="connsiteY1" fmla="*/ 94735 h 263611"/>
                <a:gd name="connsiteX2" fmla="*/ 62541 w 63071"/>
                <a:gd name="connsiteY2" fmla="*/ 172995 h 263611"/>
                <a:gd name="connsiteX3" fmla="*/ 25471 w 63071"/>
                <a:gd name="connsiteY3" fmla="*/ 263611 h 263611"/>
              </a:gdLst>
              <a:ahLst/>
              <a:cxnLst>
                <a:cxn ang="0">
                  <a:pos x="connsiteX0" y="connsiteY0"/>
                </a:cxn>
                <a:cxn ang="0">
                  <a:pos x="connsiteX1" y="connsiteY1"/>
                </a:cxn>
                <a:cxn ang="0">
                  <a:pos x="connsiteX2" y="connsiteY2"/>
                </a:cxn>
                <a:cxn ang="0">
                  <a:pos x="connsiteX3" y="connsiteY3"/>
                </a:cxn>
              </a:cxnLst>
              <a:rect l="l" t="t" r="r" b="b"/>
              <a:pathLst>
                <a:path w="63071" h="263611">
                  <a:moveTo>
                    <a:pt x="33709" y="0"/>
                  </a:moveTo>
                  <a:cubicBezTo>
                    <a:pt x="14830" y="32951"/>
                    <a:pt x="-4048" y="65903"/>
                    <a:pt x="757" y="94735"/>
                  </a:cubicBezTo>
                  <a:cubicBezTo>
                    <a:pt x="5562" y="123567"/>
                    <a:pt x="58422" y="144849"/>
                    <a:pt x="62541" y="172995"/>
                  </a:cubicBezTo>
                  <a:cubicBezTo>
                    <a:pt x="66660" y="201141"/>
                    <a:pt x="46065" y="232376"/>
                    <a:pt x="25471" y="263611"/>
                  </a:cubicBez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p>
          </p:txBody>
        </p:sp>
      </p:grpSp>
      <p:grpSp>
        <p:nvGrpSpPr>
          <p:cNvPr id="8" name="グループ化 7">
            <a:extLst>
              <a:ext uri="{FF2B5EF4-FFF2-40B4-BE49-F238E27FC236}">
                <a16:creationId xmlns:a16="http://schemas.microsoft.com/office/drawing/2014/main" id="{4B4B98EF-E0B1-3EB2-D3B7-36C4896715DA}"/>
              </a:ext>
            </a:extLst>
          </p:cNvPr>
          <p:cNvGrpSpPr/>
          <p:nvPr/>
        </p:nvGrpSpPr>
        <p:grpSpPr>
          <a:xfrm>
            <a:off x="4818897" y="828405"/>
            <a:ext cx="2377992" cy="215444"/>
            <a:chOff x="4930312" y="1617731"/>
            <a:chExt cx="2377992" cy="215444"/>
          </a:xfrm>
        </p:grpSpPr>
        <p:sp>
          <p:nvSpPr>
            <p:cNvPr id="303" name="正方形/長方形 302">
              <a:extLst>
                <a:ext uri="{FF2B5EF4-FFF2-40B4-BE49-F238E27FC236}">
                  <a16:creationId xmlns:a16="http://schemas.microsoft.com/office/drawing/2014/main" id="{DACAEC68-2E2C-AA70-FDED-40B9809BEDBC}"/>
                </a:ext>
              </a:extLst>
            </p:cNvPr>
            <p:cNvSpPr/>
            <p:nvPr/>
          </p:nvSpPr>
          <p:spPr>
            <a:xfrm>
              <a:off x="5197289" y="1617731"/>
              <a:ext cx="2111015" cy="21544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defRPr/>
              </a:pPr>
              <a:r>
                <a:rPr lang="en-US" altLang="ja-JP" sz="900" dirty="0">
                  <a:solidFill>
                    <a:schemeClr val="tx1"/>
                  </a:solidFill>
                </a:rPr>
                <a:t>: </a:t>
              </a:r>
              <a:r>
                <a:rPr lang="en-US" altLang="ja-JP" sz="900" dirty="0" err="1">
                  <a:solidFill>
                    <a:schemeClr val="tx1"/>
                  </a:solidFill>
                </a:rPr>
                <a:t>i</a:t>
              </a:r>
              <a:r>
                <a:rPr lang="en-US" altLang="ja-JP" sz="900" dirty="0">
                  <a:solidFill>
                    <a:schemeClr val="tx1"/>
                  </a:solidFill>
                </a:rPr>
                <a:t>-CH I-sample,             : </a:t>
              </a:r>
              <a:r>
                <a:rPr lang="en-US" altLang="ja-JP" sz="900" dirty="0" err="1">
                  <a:solidFill>
                    <a:schemeClr val="tx1"/>
                  </a:solidFill>
                </a:rPr>
                <a:t>i</a:t>
              </a:r>
              <a:r>
                <a:rPr lang="en-US" altLang="ja-JP" sz="900" dirty="0">
                  <a:solidFill>
                    <a:schemeClr val="tx1"/>
                  </a:solidFill>
                </a:rPr>
                <a:t>-CH Q-sample</a:t>
              </a:r>
              <a:endParaRPr lang="ja-JP" altLang="en-US" sz="900" dirty="0">
                <a:solidFill>
                  <a:schemeClr val="tx1"/>
                </a:solidFill>
              </a:endParaRPr>
            </a:p>
          </p:txBody>
        </p:sp>
        <p:sp>
          <p:nvSpPr>
            <p:cNvPr id="329" name="正方形/長方形 328">
              <a:extLst>
                <a:ext uri="{FF2B5EF4-FFF2-40B4-BE49-F238E27FC236}">
                  <a16:creationId xmlns:a16="http://schemas.microsoft.com/office/drawing/2014/main" id="{B4BEED38-0DF8-7693-663E-5046DF2BF728}"/>
                </a:ext>
              </a:extLst>
            </p:cNvPr>
            <p:cNvSpPr/>
            <p:nvPr/>
          </p:nvSpPr>
          <p:spPr>
            <a:xfrm>
              <a:off x="4930312" y="1617731"/>
              <a:ext cx="243889" cy="21544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I</a:t>
              </a:r>
              <a:r>
                <a:rPr lang="en-US" altLang="ja-JP" sz="900" baseline="-25000" dirty="0" err="1">
                  <a:solidFill>
                    <a:schemeClr val="tx1"/>
                  </a:solidFill>
                </a:rPr>
                <a:t>i</a:t>
              </a:r>
              <a:endParaRPr lang="ja-JP" altLang="en-US" sz="900" baseline="-25000" dirty="0">
                <a:solidFill>
                  <a:schemeClr val="tx1"/>
                </a:solidFill>
              </a:endParaRPr>
            </a:p>
          </p:txBody>
        </p:sp>
        <p:sp>
          <p:nvSpPr>
            <p:cNvPr id="330" name="正方形/長方形 329">
              <a:extLst>
                <a:ext uri="{FF2B5EF4-FFF2-40B4-BE49-F238E27FC236}">
                  <a16:creationId xmlns:a16="http://schemas.microsoft.com/office/drawing/2014/main" id="{5A515D03-CCBD-76AD-76EE-C2AB35911799}"/>
                </a:ext>
              </a:extLst>
            </p:cNvPr>
            <p:cNvSpPr/>
            <p:nvPr/>
          </p:nvSpPr>
          <p:spPr>
            <a:xfrm>
              <a:off x="5959481" y="1617731"/>
              <a:ext cx="245651" cy="215444"/>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Q</a:t>
              </a:r>
              <a:r>
                <a:rPr lang="en-US" altLang="ja-JP" sz="900" baseline="-25000" dirty="0">
                  <a:solidFill>
                    <a:schemeClr val="tx1"/>
                  </a:solidFill>
                </a:rPr>
                <a:t>i</a:t>
              </a:r>
              <a:endParaRPr lang="ja-JP" altLang="en-US" sz="900" baseline="-25000" dirty="0">
                <a:solidFill>
                  <a:schemeClr val="tx1"/>
                </a:solidFill>
              </a:endParaRPr>
            </a:p>
          </p:txBody>
        </p:sp>
      </p:grpSp>
      <p:sp>
        <p:nvSpPr>
          <p:cNvPr id="332" name="正方形/長方形 331">
            <a:extLst>
              <a:ext uri="{FF2B5EF4-FFF2-40B4-BE49-F238E27FC236}">
                <a16:creationId xmlns:a16="http://schemas.microsoft.com/office/drawing/2014/main" id="{71A1D710-0803-0778-51C6-ED82C3F3B4AF}"/>
              </a:ext>
            </a:extLst>
          </p:cNvPr>
          <p:cNvSpPr/>
          <p:nvPr/>
        </p:nvSpPr>
        <p:spPr>
          <a:xfrm>
            <a:off x="2273599" y="3539282"/>
            <a:ext cx="310984" cy="21544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MSB</a:t>
            </a:r>
            <a:endParaRPr lang="ja-JP" altLang="en-US" sz="900" dirty="0">
              <a:solidFill>
                <a:schemeClr val="tx1"/>
              </a:solidFill>
            </a:endParaRPr>
          </a:p>
        </p:txBody>
      </p:sp>
      <p:graphicFrame>
        <p:nvGraphicFramePr>
          <p:cNvPr id="334" name="表 333">
            <a:extLst>
              <a:ext uri="{FF2B5EF4-FFF2-40B4-BE49-F238E27FC236}">
                <a16:creationId xmlns:a16="http://schemas.microsoft.com/office/drawing/2014/main" id="{FA427F20-C421-C4B5-DA95-CEA23F5CFDE8}"/>
              </a:ext>
            </a:extLst>
          </p:cNvPr>
          <p:cNvGraphicFramePr>
            <a:graphicFrameLocks noGrp="1"/>
          </p:cNvGraphicFramePr>
          <p:nvPr>
            <p:extLst>
              <p:ext uri="{D42A27DB-BD31-4B8C-83A1-F6EECF244321}">
                <p14:modId xmlns:p14="http://schemas.microsoft.com/office/powerpoint/2010/main" val="1680588127"/>
              </p:ext>
            </p:extLst>
          </p:nvPr>
        </p:nvGraphicFramePr>
        <p:xfrm>
          <a:off x="581528" y="5167717"/>
          <a:ext cx="1923892" cy="518160"/>
        </p:xfrm>
        <a:graphic>
          <a:graphicData uri="http://schemas.openxmlformats.org/drawingml/2006/table">
            <a:tbl>
              <a:tblPr firstRow="1" bandRow="1">
                <a:tableStyleId>{5C22544A-7EE6-4342-B048-85BDC9FD1C3A}</a:tableStyleId>
              </a:tblPr>
              <a:tblGrid>
                <a:gridCol w="470560">
                  <a:extLst>
                    <a:ext uri="{9D8B030D-6E8A-4147-A177-3AD203B41FA5}">
                      <a16:colId xmlns:a16="http://schemas.microsoft.com/office/drawing/2014/main" val="1671984956"/>
                    </a:ext>
                  </a:extLst>
                </a:gridCol>
                <a:gridCol w="363333">
                  <a:extLst>
                    <a:ext uri="{9D8B030D-6E8A-4147-A177-3AD203B41FA5}">
                      <a16:colId xmlns:a16="http://schemas.microsoft.com/office/drawing/2014/main" val="2054726332"/>
                    </a:ext>
                  </a:extLst>
                </a:gridCol>
                <a:gridCol w="363333">
                  <a:extLst>
                    <a:ext uri="{9D8B030D-6E8A-4147-A177-3AD203B41FA5}">
                      <a16:colId xmlns:a16="http://schemas.microsoft.com/office/drawing/2014/main" val="1374634343"/>
                    </a:ext>
                  </a:extLst>
                </a:gridCol>
                <a:gridCol w="363333">
                  <a:extLst>
                    <a:ext uri="{9D8B030D-6E8A-4147-A177-3AD203B41FA5}">
                      <a16:colId xmlns:a16="http://schemas.microsoft.com/office/drawing/2014/main" val="2535607497"/>
                    </a:ext>
                  </a:extLst>
                </a:gridCol>
                <a:gridCol w="363333">
                  <a:extLst>
                    <a:ext uri="{9D8B030D-6E8A-4147-A177-3AD203B41FA5}">
                      <a16:colId xmlns:a16="http://schemas.microsoft.com/office/drawing/2014/main" val="325081338"/>
                    </a:ext>
                  </a:extLst>
                </a:gridCol>
              </a:tblGrid>
              <a:tr h="144820">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bits</a:t>
                      </a:r>
                      <a:endParaRPr lang="ja-JP" sz="900" b="0" kern="100" dirty="0">
                        <a:solidFill>
                          <a:schemeClr val="tx1"/>
                        </a:solidFill>
                        <a:effectLst/>
                        <a:latin typeface="+mj-lt"/>
                        <a:ea typeface="ＭＳ 明朝" panose="02020609040205080304" pitchFamily="17" charset="-128"/>
                      </a:endParaRPr>
                    </a:p>
                  </a:txBody>
                  <a:tcPr marL="71755" marR="71755"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00</a:t>
                      </a:r>
                      <a:endParaRPr lang="ja-JP" sz="900" b="0" kern="100" dirty="0">
                        <a:solidFill>
                          <a:schemeClr val="tx1"/>
                        </a:solidFill>
                        <a:effectLst/>
                        <a:latin typeface="+mj-lt"/>
                        <a:ea typeface="ＭＳ 明朝" panose="02020609040205080304" pitchFamily="17" charset="-128"/>
                      </a:endParaRPr>
                    </a:p>
                  </a:txBody>
                  <a:tcPr marL="71755" marR="71755"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spcAft>
                          <a:spcPts val="0"/>
                        </a:spcAft>
                      </a:pPr>
                      <a:r>
                        <a:rPr kumimoji="1" lang="en-US" altLang="ja-JP" sz="900" b="0" kern="100" dirty="0">
                          <a:solidFill>
                            <a:schemeClr val="tx1"/>
                          </a:solidFill>
                          <a:effectLst/>
                          <a:latin typeface="+mn-lt"/>
                          <a:ea typeface="ＭＳ 明朝" panose="02020609040205080304" pitchFamily="17" charset="-128"/>
                          <a:cs typeface="+mn-cs"/>
                        </a:rPr>
                        <a:t>01</a:t>
                      </a:r>
                      <a:endParaRPr lang="ja-JP" sz="900" b="0" kern="100" dirty="0">
                        <a:solidFill>
                          <a:schemeClr val="tx1"/>
                        </a:solidFill>
                        <a:effectLst/>
                        <a:latin typeface="+mj-lt"/>
                        <a:ea typeface="ＭＳ 明朝" panose="02020609040205080304" pitchFamily="17" charset="-128"/>
                      </a:endParaRPr>
                    </a:p>
                  </a:txBody>
                  <a:tcPr marL="71755" marR="71755"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spcAft>
                          <a:spcPts val="0"/>
                        </a:spcAft>
                      </a:pPr>
                      <a:r>
                        <a:rPr kumimoji="1" lang="en-US" altLang="ja-JP" sz="900" b="0" kern="100" dirty="0">
                          <a:solidFill>
                            <a:schemeClr val="tx1"/>
                          </a:solidFill>
                          <a:effectLst/>
                          <a:latin typeface="+mn-lt"/>
                          <a:ea typeface="ＭＳ 明朝" panose="02020609040205080304" pitchFamily="17" charset="-128"/>
                          <a:cs typeface="+mn-cs"/>
                        </a:rPr>
                        <a:t>10</a:t>
                      </a:r>
                      <a:endParaRPr lang="en-US" altLang="ja-JP" sz="900" b="0" kern="100" dirty="0">
                        <a:solidFill>
                          <a:schemeClr val="tx1"/>
                        </a:solidFill>
                        <a:effectLst/>
                        <a:latin typeface="+mj-lt"/>
                        <a:ea typeface="ＭＳ 明朝" panose="02020609040205080304" pitchFamily="17" charset="-128"/>
                      </a:endParaRPr>
                    </a:p>
                  </a:txBody>
                  <a:tcPr marL="71755" marR="71755"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11</a:t>
                      </a:r>
                      <a:endParaRPr lang="ja-JP" sz="900" b="0" kern="100" dirty="0">
                        <a:solidFill>
                          <a:schemeClr val="tx1"/>
                        </a:solidFill>
                        <a:effectLst/>
                        <a:latin typeface="+mj-lt"/>
                        <a:ea typeface="ＭＳ 明朝" panose="02020609040205080304" pitchFamily="17" charset="-128"/>
                      </a:endParaRPr>
                    </a:p>
                  </a:txBody>
                  <a:tcPr marL="71755" marR="71755"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601561"/>
                  </a:ext>
                </a:extLst>
              </a:tr>
              <a:tr h="144820">
                <a:tc>
                  <a:txBody>
                    <a:bodyPr/>
                    <a:lstStyle/>
                    <a:p>
                      <a:pPr algn="ctr">
                        <a:spcAft>
                          <a:spcPts val="0"/>
                        </a:spcAft>
                      </a:pPr>
                      <a:r>
                        <a:rPr lang="en-US" altLang="ja-JP" sz="900" b="0" kern="100" baseline="0" dirty="0">
                          <a:solidFill>
                            <a:schemeClr val="tx1"/>
                          </a:solidFill>
                          <a:effectLst/>
                          <a:latin typeface="+mj-lt"/>
                          <a:ea typeface="ＭＳ 明朝" panose="02020609040205080304" pitchFamily="17" charset="-128"/>
                        </a:rPr>
                        <a:t>I</a:t>
                      </a:r>
                      <a:endParaRPr lang="ja-JP" sz="900" b="0" kern="100" baseline="0" dirty="0">
                        <a:solidFill>
                          <a:schemeClr val="tx1"/>
                        </a:solidFill>
                        <a:effectLst/>
                        <a:latin typeface="+mj-lt"/>
                        <a:ea typeface="ＭＳ 明朝" panose="02020609040205080304" pitchFamily="17" charset="-128"/>
                      </a:endParaRPr>
                    </a:p>
                  </a:txBody>
                  <a:tcPr marL="71755" marR="71755"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accent1">
                        <a:lumMod val="20000"/>
                        <a:lumOff val="80000"/>
                      </a:schemeClr>
                    </a:solidFill>
                  </a:tcPr>
                </a:tc>
                <a:tc>
                  <a:txBody>
                    <a:bodyPr/>
                    <a:lstStyle/>
                    <a:p>
                      <a:pPr marL="0" indent="0" algn="ctr">
                        <a:buFont typeface="Arial" charset="0"/>
                        <a:buNone/>
                      </a:pPr>
                      <a:r>
                        <a:rPr lang="en-US" altLang="ja-JP" sz="900" b="0" dirty="0">
                          <a:latin typeface="+mn-lt"/>
                        </a:rPr>
                        <a:t>+1</a:t>
                      </a:r>
                    </a:p>
                  </a:txBody>
                  <a:tcPr marL="71755" marR="71755"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marL="0" indent="0" algn="ctr">
                        <a:buFont typeface="Arial" charset="0"/>
                        <a:buNone/>
                      </a:pPr>
                      <a:r>
                        <a:rPr lang="en-US" altLang="ja-JP" sz="900" b="0" dirty="0">
                          <a:latin typeface="+mn-lt"/>
                        </a:rPr>
                        <a:t>+3</a:t>
                      </a:r>
                    </a:p>
                  </a:txBody>
                  <a:tcPr marL="71755" marR="71755"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marL="0" indent="0" algn="ctr">
                        <a:buFont typeface="Arial" charset="0"/>
                        <a:buNone/>
                      </a:pPr>
                      <a:r>
                        <a:rPr lang="en-US" altLang="ja-JP" sz="900" b="0" dirty="0">
                          <a:latin typeface="+mn-lt"/>
                        </a:rPr>
                        <a:t>-1</a:t>
                      </a:r>
                    </a:p>
                  </a:txBody>
                  <a:tcPr marL="71755" marR="71755"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-3</a:t>
                      </a:r>
                      <a:endParaRPr lang="ja-JP" sz="900" b="0" kern="100" dirty="0">
                        <a:solidFill>
                          <a:schemeClr val="tx1"/>
                        </a:solidFill>
                        <a:effectLst/>
                        <a:latin typeface="+mj-lt"/>
                        <a:ea typeface="ＭＳ 明朝" panose="02020609040205080304" pitchFamily="17" charset="-128"/>
                      </a:endParaRPr>
                    </a:p>
                  </a:txBody>
                  <a:tcPr marL="71755" marR="71755"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8124456"/>
                  </a:ext>
                </a:extLst>
              </a:tr>
              <a:tr h="144820">
                <a:tc>
                  <a:txBody>
                    <a:bodyPr/>
                    <a:lstStyle/>
                    <a:p>
                      <a:pPr algn="ctr">
                        <a:spcAft>
                          <a:spcPts val="0"/>
                        </a:spcAft>
                      </a:pPr>
                      <a:r>
                        <a:rPr kumimoji="1" lang="en-US" altLang="ja-JP" sz="900" b="0" kern="100" baseline="0" dirty="0">
                          <a:solidFill>
                            <a:schemeClr val="tx1"/>
                          </a:solidFill>
                          <a:effectLst/>
                          <a:latin typeface="+mn-lt"/>
                          <a:ea typeface="ＭＳ 明朝" panose="02020609040205080304" pitchFamily="17" charset="-128"/>
                          <a:cs typeface="+mn-cs"/>
                        </a:rPr>
                        <a:t>Q </a:t>
                      </a:r>
                      <a:r>
                        <a:rPr kumimoji="1" lang="en-US" altLang="ja-JP" sz="900" b="0" kern="100" baseline="30000" dirty="0">
                          <a:solidFill>
                            <a:schemeClr val="tx1"/>
                          </a:solidFill>
                          <a:effectLst/>
                          <a:latin typeface="+mn-lt"/>
                          <a:ea typeface="ＭＳ 明朝" panose="02020609040205080304" pitchFamily="17" charset="-128"/>
                          <a:cs typeface="+mn-cs"/>
                        </a:rPr>
                        <a:t>*</a:t>
                      </a:r>
                      <a:endParaRPr lang="ja-JP" sz="900" b="0" kern="100" baseline="30000" dirty="0">
                        <a:solidFill>
                          <a:schemeClr val="tx1"/>
                        </a:solidFill>
                        <a:effectLst/>
                        <a:latin typeface="+mj-lt"/>
                        <a:ea typeface="ＭＳ 明朝" panose="02020609040205080304" pitchFamily="17" charset="-128"/>
                      </a:endParaRPr>
                    </a:p>
                  </a:txBody>
                  <a:tcPr marL="71755" marR="71755"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accent6">
                        <a:lumMod val="20000"/>
                        <a:lumOff val="80000"/>
                      </a:schemeClr>
                    </a:solidFill>
                  </a:tcPr>
                </a:tc>
                <a:tc>
                  <a:txBody>
                    <a:bodyPr/>
                    <a:lstStyle/>
                    <a:p>
                      <a:pPr marL="0" indent="0" algn="ctr">
                        <a:buFont typeface="Arial" charset="0"/>
                        <a:buNone/>
                      </a:pPr>
                      <a:r>
                        <a:rPr lang="en-US" altLang="ja-JP" sz="900" b="0" dirty="0">
                          <a:latin typeface="+mn-lt"/>
                        </a:rPr>
                        <a:t>-1</a:t>
                      </a:r>
                    </a:p>
                  </a:txBody>
                  <a:tcPr marL="71755" marR="71755"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marL="0" indent="0" algn="ctr">
                        <a:buFont typeface="Arial" charset="0"/>
                        <a:buNone/>
                      </a:pPr>
                      <a:r>
                        <a:rPr lang="en-US" altLang="ja-JP" sz="900" b="0" dirty="0">
                          <a:latin typeface="+mn-lt"/>
                        </a:rPr>
                        <a:t>-3</a:t>
                      </a:r>
                    </a:p>
                  </a:txBody>
                  <a:tcPr marL="71755" marR="71755"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marL="0" indent="0" algn="ctr">
                        <a:buFont typeface="Arial" charset="0"/>
                        <a:buNone/>
                      </a:pPr>
                      <a:r>
                        <a:rPr lang="en-US" altLang="ja-JP" sz="900" b="0" dirty="0">
                          <a:latin typeface="+mn-lt"/>
                        </a:rPr>
                        <a:t>+1</a:t>
                      </a:r>
                    </a:p>
                  </a:txBody>
                  <a:tcPr marL="71755" marR="71755"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+3</a:t>
                      </a:r>
                      <a:endParaRPr lang="ja-JP" sz="900" b="0" kern="100" dirty="0">
                        <a:solidFill>
                          <a:schemeClr val="tx1"/>
                        </a:solidFill>
                        <a:effectLst/>
                        <a:latin typeface="+mj-lt"/>
                        <a:ea typeface="ＭＳ 明朝" panose="02020609040205080304" pitchFamily="17" charset="-128"/>
                      </a:endParaRPr>
                    </a:p>
                  </a:txBody>
                  <a:tcPr marL="71755" marR="71755"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49863250"/>
                  </a:ext>
                </a:extLst>
              </a:tr>
            </a:tbl>
          </a:graphicData>
        </a:graphic>
      </p:graphicFrame>
      <p:sp>
        <p:nvSpPr>
          <p:cNvPr id="24" name="Text Box 52">
            <a:extLst>
              <a:ext uri="{FF2B5EF4-FFF2-40B4-BE49-F238E27FC236}">
                <a16:creationId xmlns:a16="http://schemas.microsoft.com/office/drawing/2014/main" id="{2D21A4F0-6758-EA8A-5856-DD82D1CF6C1F}"/>
              </a:ext>
            </a:extLst>
          </p:cNvPr>
          <p:cNvSpPr txBox="1">
            <a:spLocks noChangeArrowheads="1"/>
          </p:cNvSpPr>
          <p:nvPr/>
        </p:nvSpPr>
        <p:spPr bwMode="auto">
          <a:xfrm>
            <a:off x="539552" y="5009065"/>
            <a:ext cx="1973416" cy="138499"/>
          </a:xfrm>
          <a:prstGeom prst="rect">
            <a:avLst/>
          </a:prstGeom>
          <a:noFill/>
          <a:ln w="9525">
            <a:noFill/>
            <a:miter lim="800000"/>
            <a:headEnd/>
            <a:tailEnd/>
          </a:ln>
        </p:spPr>
        <p:txBody>
          <a:bodyPr wrap="square" lIns="0" tIns="0" rIns="0" bIns="0">
            <a:spAutoFit/>
          </a:bodyPr>
          <a:lstStyle/>
          <a:p>
            <a:pPr algn="ctr">
              <a:defRPr/>
            </a:pPr>
            <a:r>
              <a:rPr lang="en-US" altLang="ja-JP" sz="900" dirty="0">
                <a:latin typeface="+mj-lt"/>
                <a:ea typeface="+mj-ea"/>
              </a:rPr>
              <a:t>2 bits IQ-sampling (</a:t>
            </a:r>
            <a:r>
              <a:rPr lang="en-US" altLang="ja-JP" sz="900" dirty="0" err="1">
                <a:latin typeface="+mj-lt"/>
                <a:ea typeface="+mj-ea"/>
              </a:rPr>
              <a:t>RAW8</a:t>
            </a:r>
            <a:r>
              <a:rPr lang="en-US" altLang="ja-JP" sz="900" dirty="0">
                <a:latin typeface="+mj-lt"/>
                <a:ea typeface="+mj-ea"/>
              </a:rPr>
              <a:t>/16/32)</a:t>
            </a:r>
          </a:p>
        </p:txBody>
      </p:sp>
      <p:graphicFrame>
        <p:nvGraphicFramePr>
          <p:cNvPr id="11" name="表 10">
            <a:extLst>
              <a:ext uri="{FF2B5EF4-FFF2-40B4-BE49-F238E27FC236}">
                <a16:creationId xmlns:a16="http://schemas.microsoft.com/office/drawing/2014/main" id="{4E021301-A66B-25F8-9090-34679EE0FECF}"/>
              </a:ext>
            </a:extLst>
          </p:cNvPr>
          <p:cNvGraphicFramePr>
            <a:graphicFrameLocks noGrp="1"/>
          </p:cNvGraphicFramePr>
          <p:nvPr>
            <p:extLst>
              <p:ext uri="{D42A27DB-BD31-4B8C-83A1-F6EECF244321}">
                <p14:modId xmlns:p14="http://schemas.microsoft.com/office/powerpoint/2010/main" val="2056613146"/>
              </p:ext>
            </p:extLst>
          </p:nvPr>
        </p:nvGraphicFramePr>
        <p:xfrm>
          <a:off x="2692248" y="5165136"/>
          <a:ext cx="1923892" cy="528784"/>
        </p:xfrm>
        <a:graphic>
          <a:graphicData uri="http://schemas.openxmlformats.org/drawingml/2006/table">
            <a:tbl>
              <a:tblPr firstRow="1" bandRow="1">
                <a:tableStyleId>{5C22544A-7EE6-4342-B048-85BDC9FD1C3A}</a:tableStyleId>
              </a:tblPr>
              <a:tblGrid>
                <a:gridCol w="470560">
                  <a:extLst>
                    <a:ext uri="{9D8B030D-6E8A-4147-A177-3AD203B41FA5}">
                      <a16:colId xmlns:a16="http://schemas.microsoft.com/office/drawing/2014/main" val="1671984956"/>
                    </a:ext>
                  </a:extLst>
                </a:gridCol>
                <a:gridCol w="363333">
                  <a:extLst>
                    <a:ext uri="{9D8B030D-6E8A-4147-A177-3AD203B41FA5}">
                      <a16:colId xmlns:a16="http://schemas.microsoft.com/office/drawing/2014/main" val="2054726332"/>
                    </a:ext>
                  </a:extLst>
                </a:gridCol>
                <a:gridCol w="363333">
                  <a:extLst>
                    <a:ext uri="{9D8B030D-6E8A-4147-A177-3AD203B41FA5}">
                      <a16:colId xmlns:a16="http://schemas.microsoft.com/office/drawing/2014/main" val="1374634343"/>
                    </a:ext>
                  </a:extLst>
                </a:gridCol>
                <a:gridCol w="363333">
                  <a:extLst>
                    <a:ext uri="{9D8B030D-6E8A-4147-A177-3AD203B41FA5}">
                      <a16:colId xmlns:a16="http://schemas.microsoft.com/office/drawing/2014/main" val="2535607497"/>
                    </a:ext>
                  </a:extLst>
                </a:gridCol>
                <a:gridCol w="363333">
                  <a:extLst>
                    <a:ext uri="{9D8B030D-6E8A-4147-A177-3AD203B41FA5}">
                      <a16:colId xmlns:a16="http://schemas.microsoft.com/office/drawing/2014/main" val="325081338"/>
                    </a:ext>
                  </a:extLst>
                </a:gridCol>
              </a:tblGrid>
              <a:tr h="264392">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bits</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**00</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spcAft>
                          <a:spcPts val="0"/>
                        </a:spcAft>
                      </a:pPr>
                      <a:r>
                        <a:rPr kumimoji="1" lang="en-US" altLang="ja-JP" sz="900" b="0" kern="100" dirty="0">
                          <a:solidFill>
                            <a:schemeClr val="tx1"/>
                          </a:solidFill>
                          <a:effectLst/>
                          <a:latin typeface="+mn-lt"/>
                          <a:ea typeface="ＭＳ 明朝" panose="02020609040205080304" pitchFamily="17" charset="-128"/>
                          <a:cs typeface="+mn-cs"/>
                        </a:rPr>
                        <a:t>**01</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spcAft>
                          <a:spcPts val="0"/>
                        </a:spcAft>
                      </a:pPr>
                      <a:r>
                        <a:rPr kumimoji="1" lang="en-US" altLang="ja-JP" sz="900" b="0" kern="100" dirty="0">
                          <a:solidFill>
                            <a:schemeClr val="tx1"/>
                          </a:solidFill>
                          <a:effectLst/>
                          <a:latin typeface="+mn-lt"/>
                          <a:ea typeface="ＭＳ 明朝" panose="02020609040205080304" pitchFamily="17" charset="-128"/>
                          <a:cs typeface="+mn-cs"/>
                        </a:rPr>
                        <a:t>**10</a:t>
                      </a:r>
                      <a:endParaRPr lang="en-US" alt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**11</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601561"/>
                  </a:ext>
                </a:extLst>
              </a:tr>
              <a:tr h="264392">
                <a:tc>
                  <a:txBody>
                    <a:bodyPr/>
                    <a:lstStyle/>
                    <a:p>
                      <a:pPr algn="ctr">
                        <a:spcAft>
                          <a:spcPts val="0"/>
                        </a:spcAft>
                      </a:pPr>
                      <a:r>
                        <a:rPr lang="en-US" altLang="ja-JP" sz="900" b="0" kern="100" baseline="0" dirty="0">
                          <a:solidFill>
                            <a:schemeClr val="tx1"/>
                          </a:solidFill>
                          <a:effectLst/>
                          <a:latin typeface="+mj-lt"/>
                          <a:ea typeface="ＭＳ 明朝" panose="02020609040205080304" pitchFamily="17" charset="-128"/>
                        </a:rPr>
                        <a:t>I</a:t>
                      </a:r>
                      <a:endParaRPr lang="ja-JP" sz="900" b="0" kern="100" baseline="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accent1">
                        <a:lumMod val="20000"/>
                        <a:lumOff val="80000"/>
                      </a:schemeClr>
                    </a:solidFill>
                  </a:tcPr>
                </a:tc>
                <a:tc>
                  <a:txBody>
                    <a:bodyPr/>
                    <a:lstStyle/>
                    <a:p>
                      <a:pPr marL="0" indent="0" algn="ctr">
                        <a:buFont typeface="Arial" charset="0"/>
                        <a:buNone/>
                      </a:pPr>
                      <a:r>
                        <a:rPr lang="en-US" altLang="ja-JP" sz="900" b="0" dirty="0">
                          <a:latin typeface="+mn-lt"/>
                        </a:rPr>
                        <a:t>+1</a:t>
                      </a: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marL="0" indent="0" algn="ctr">
                        <a:buFont typeface="Arial" charset="0"/>
                        <a:buNone/>
                      </a:pPr>
                      <a:r>
                        <a:rPr lang="en-US" altLang="ja-JP" sz="900" b="0" dirty="0">
                          <a:latin typeface="+mn-lt"/>
                        </a:rPr>
                        <a:t>+3</a:t>
                      </a: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marL="0" indent="0" algn="ctr">
                        <a:buFont typeface="Arial" charset="0"/>
                        <a:buNone/>
                      </a:pPr>
                      <a:r>
                        <a:rPr lang="en-US" altLang="ja-JP" sz="900" b="0" dirty="0">
                          <a:latin typeface="+mn-lt"/>
                        </a:rPr>
                        <a:t>-1</a:t>
                      </a: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-3</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8124456"/>
                  </a:ext>
                </a:extLst>
              </a:tr>
            </a:tbl>
          </a:graphicData>
        </a:graphic>
      </p:graphicFrame>
      <p:sp>
        <p:nvSpPr>
          <p:cNvPr id="12" name="Text Box 52">
            <a:extLst>
              <a:ext uri="{FF2B5EF4-FFF2-40B4-BE49-F238E27FC236}">
                <a16:creationId xmlns:a16="http://schemas.microsoft.com/office/drawing/2014/main" id="{7BEAA34A-FFF3-32ED-5F91-1749A9409909}"/>
              </a:ext>
            </a:extLst>
          </p:cNvPr>
          <p:cNvSpPr txBox="1">
            <a:spLocks noChangeArrowheads="1"/>
          </p:cNvSpPr>
          <p:nvPr/>
        </p:nvSpPr>
        <p:spPr bwMode="auto">
          <a:xfrm>
            <a:off x="2699792" y="5009080"/>
            <a:ext cx="1908212" cy="138499"/>
          </a:xfrm>
          <a:prstGeom prst="rect">
            <a:avLst/>
          </a:prstGeom>
          <a:noFill/>
          <a:ln w="9525">
            <a:noFill/>
            <a:miter lim="800000"/>
            <a:headEnd/>
            <a:tailEnd/>
          </a:ln>
        </p:spPr>
        <p:txBody>
          <a:bodyPr wrap="square" lIns="0" tIns="0" rIns="0" bIns="0">
            <a:spAutoFit/>
          </a:bodyPr>
          <a:lstStyle/>
          <a:p>
            <a:pPr algn="ctr">
              <a:defRPr/>
            </a:pPr>
            <a:r>
              <a:rPr lang="en-US" altLang="ja-JP" sz="900" dirty="0">
                <a:latin typeface="+mj-lt"/>
                <a:ea typeface="+mj-ea"/>
              </a:rPr>
              <a:t>2 bits I-sampling</a:t>
            </a:r>
            <a:r>
              <a:rPr lang="en-US" altLang="ja-JP" sz="900" dirty="0">
                <a:latin typeface="+mj-lt"/>
              </a:rPr>
              <a:t> (</a:t>
            </a:r>
            <a:r>
              <a:rPr lang="en-US" altLang="ja-JP" sz="900" dirty="0" err="1">
                <a:latin typeface="+mj-lt"/>
              </a:rPr>
              <a:t>RAW8</a:t>
            </a:r>
            <a:r>
              <a:rPr lang="en-US" altLang="ja-JP" sz="900" dirty="0">
                <a:latin typeface="+mj-lt"/>
              </a:rPr>
              <a:t>/16/32)</a:t>
            </a:r>
            <a:endParaRPr lang="en-US" altLang="ja-JP" sz="900" dirty="0">
              <a:latin typeface="+mj-lt"/>
              <a:ea typeface="+mj-ea"/>
            </a:endParaRPr>
          </a:p>
        </p:txBody>
      </p:sp>
      <p:graphicFrame>
        <p:nvGraphicFramePr>
          <p:cNvPr id="13" name="表 12">
            <a:extLst>
              <a:ext uri="{FF2B5EF4-FFF2-40B4-BE49-F238E27FC236}">
                <a16:creationId xmlns:a16="http://schemas.microsoft.com/office/drawing/2014/main" id="{B0B31099-CCE6-6D91-A966-AACC7952CED8}"/>
              </a:ext>
            </a:extLst>
          </p:cNvPr>
          <p:cNvGraphicFramePr>
            <a:graphicFrameLocks noGrp="1"/>
          </p:cNvGraphicFramePr>
          <p:nvPr>
            <p:extLst>
              <p:ext uri="{D42A27DB-BD31-4B8C-83A1-F6EECF244321}">
                <p14:modId xmlns:p14="http://schemas.microsoft.com/office/powerpoint/2010/main" val="3727552225"/>
              </p:ext>
            </p:extLst>
          </p:nvPr>
        </p:nvGraphicFramePr>
        <p:xfrm>
          <a:off x="950387" y="5877272"/>
          <a:ext cx="3225621" cy="502314"/>
        </p:xfrm>
        <a:graphic>
          <a:graphicData uri="http://schemas.openxmlformats.org/drawingml/2006/table">
            <a:tbl>
              <a:tblPr firstRow="1" bandRow="1">
                <a:tableStyleId>{5C22544A-7EE6-4342-B048-85BDC9FD1C3A}</a:tableStyleId>
              </a:tblPr>
              <a:tblGrid>
                <a:gridCol w="449437">
                  <a:extLst>
                    <a:ext uri="{9D8B030D-6E8A-4147-A177-3AD203B41FA5}">
                      <a16:colId xmlns:a16="http://schemas.microsoft.com/office/drawing/2014/main" val="1671984956"/>
                    </a:ext>
                  </a:extLst>
                </a:gridCol>
                <a:gridCol w="347023">
                  <a:extLst>
                    <a:ext uri="{9D8B030D-6E8A-4147-A177-3AD203B41FA5}">
                      <a16:colId xmlns:a16="http://schemas.microsoft.com/office/drawing/2014/main" val="2054726332"/>
                    </a:ext>
                  </a:extLst>
                </a:gridCol>
                <a:gridCol w="347023">
                  <a:extLst>
                    <a:ext uri="{9D8B030D-6E8A-4147-A177-3AD203B41FA5}">
                      <a16:colId xmlns:a16="http://schemas.microsoft.com/office/drawing/2014/main" val="1374634343"/>
                    </a:ext>
                  </a:extLst>
                </a:gridCol>
                <a:gridCol w="347023">
                  <a:extLst>
                    <a:ext uri="{9D8B030D-6E8A-4147-A177-3AD203B41FA5}">
                      <a16:colId xmlns:a16="http://schemas.microsoft.com/office/drawing/2014/main" val="2535607497"/>
                    </a:ext>
                  </a:extLst>
                </a:gridCol>
                <a:gridCol w="347023">
                  <a:extLst>
                    <a:ext uri="{9D8B030D-6E8A-4147-A177-3AD203B41FA5}">
                      <a16:colId xmlns:a16="http://schemas.microsoft.com/office/drawing/2014/main" val="3802215696"/>
                    </a:ext>
                  </a:extLst>
                </a:gridCol>
                <a:gridCol w="347023">
                  <a:extLst>
                    <a:ext uri="{9D8B030D-6E8A-4147-A177-3AD203B41FA5}">
                      <a16:colId xmlns:a16="http://schemas.microsoft.com/office/drawing/2014/main" val="3736116596"/>
                    </a:ext>
                  </a:extLst>
                </a:gridCol>
                <a:gridCol w="347023">
                  <a:extLst>
                    <a:ext uri="{9D8B030D-6E8A-4147-A177-3AD203B41FA5}">
                      <a16:colId xmlns:a16="http://schemas.microsoft.com/office/drawing/2014/main" val="2951263878"/>
                    </a:ext>
                  </a:extLst>
                </a:gridCol>
                <a:gridCol w="347023">
                  <a:extLst>
                    <a:ext uri="{9D8B030D-6E8A-4147-A177-3AD203B41FA5}">
                      <a16:colId xmlns:a16="http://schemas.microsoft.com/office/drawing/2014/main" val="679867589"/>
                    </a:ext>
                  </a:extLst>
                </a:gridCol>
                <a:gridCol w="347023">
                  <a:extLst>
                    <a:ext uri="{9D8B030D-6E8A-4147-A177-3AD203B41FA5}">
                      <a16:colId xmlns:a16="http://schemas.microsoft.com/office/drawing/2014/main" val="325081338"/>
                    </a:ext>
                  </a:extLst>
                </a:gridCol>
              </a:tblGrid>
              <a:tr h="251157">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bits</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0000</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spcAft>
                          <a:spcPts val="0"/>
                        </a:spcAft>
                      </a:pPr>
                      <a:r>
                        <a:rPr kumimoji="1" lang="en-US" altLang="ja-JP" sz="900" b="0" kern="100" dirty="0">
                          <a:solidFill>
                            <a:schemeClr val="tx1"/>
                          </a:solidFill>
                          <a:effectLst/>
                          <a:latin typeface="+mn-lt"/>
                          <a:ea typeface="ＭＳ 明朝" panose="02020609040205080304" pitchFamily="17" charset="-128"/>
                          <a:cs typeface="+mn-cs"/>
                        </a:rPr>
                        <a:t>1000</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spcAft>
                          <a:spcPts val="0"/>
                        </a:spcAft>
                      </a:pPr>
                      <a:r>
                        <a:rPr kumimoji="1" lang="en-US" altLang="ja-JP" sz="900" b="0" kern="100" dirty="0">
                          <a:solidFill>
                            <a:schemeClr val="tx1"/>
                          </a:solidFill>
                          <a:effectLst/>
                          <a:latin typeface="+mn-lt"/>
                          <a:ea typeface="ＭＳ 明朝" panose="02020609040205080304" pitchFamily="17" charset="-128"/>
                          <a:cs typeface="+mn-cs"/>
                        </a:rPr>
                        <a:t>0001</a:t>
                      </a:r>
                      <a:endParaRPr lang="en-US" alt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1001</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0010</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1010</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0011</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1011</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601561"/>
                  </a:ext>
                </a:extLst>
              </a:tr>
              <a:tr h="251157">
                <a:tc>
                  <a:txBody>
                    <a:bodyPr/>
                    <a:lstStyle/>
                    <a:p>
                      <a:pPr algn="ctr">
                        <a:spcAft>
                          <a:spcPts val="0"/>
                        </a:spcAft>
                      </a:pPr>
                      <a:r>
                        <a:rPr lang="en-US" altLang="ja-JP" sz="900" b="0" kern="100" baseline="0" dirty="0">
                          <a:solidFill>
                            <a:schemeClr val="tx1"/>
                          </a:solidFill>
                          <a:effectLst/>
                          <a:latin typeface="+mj-lt"/>
                          <a:ea typeface="ＭＳ 明朝" panose="02020609040205080304" pitchFamily="17" charset="-128"/>
                        </a:rPr>
                        <a:t>I</a:t>
                      </a:r>
                      <a:endParaRPr lang="ja-JP" sz="900" b="0" kern="100" baseline="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accent1">
                        <a:lumMod val="20000"/>
                        <a:lumOff val="80000"/>
                      </a:schemeClr>
                    </a:solidFill>
                  </a:tcPr>
                </a:tc>
                <a:tc>
                  <a:txBody>
                    <a:bodyPr/>
                    <a:lstStyle/>
                    <a:p>
                      <a:pPr marL="0" indent="0" algn="ctr">
                        <a:buFont typeface="Arial" charset="0"/>
                        <a:buNone/>
                      </a:pPr>
                      <a:r>
                        <a:rPr lang="en-US" altLang="ja-JP" sz="900" b="0" dirty="0">
                          <a:latin typeface="+mn-lt"/>
                        </a:rPr>
                        <a:t>+1</a:t>
                      </a: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marL="0" indent="0" algn="ctr">
                        <a:buFont typeface="Arial" charset="0"/>
                        <a:buNone/>
                      </a:pPr>
                      <a:r>
                        <a:rPr lang="en-US" altLang="ja-JP" sz="900" b="0" dirty="0">
                          <a:latin typeface="+mn-lt"/>
                        </a:rPr>
                        <a:t>+3</a:t>
                      </a: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marL="0" indent="0" algn="ctr">
                        <a:buFont typeface="Arial" charset="0"/>
                        <a:buNone/>
                      </a:pPr>
                      <a:r>
                        <a:rPr lang="en-US" altLang="ja-JP" sz="900" b="0" dirty="0">
                          <a:latin typeface="+mn-lt"/>
                        </a:rPr>
                        <a:t>+5</a:t>
                      </a: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+7</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-1</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-3</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-5</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-7</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8124456"/>
                  </a:ext>
                </a:extLst>
              </a:tr>
            </a:tbl>
          </a:graphicData>
        </a:graphic>
      </p:graphicFrame>
      <p:sp>
        <p:nvSpPr>
          <p:cNvPr id="14" name="Text Box 52">
            <a:extLst>
              <a:ext uri="{FF2B5EF4-FFF2-40B4-BE49-F238E27FC236}">
                <a16:creationId xmlns:a16="http://schemas.microsoft.com/office/drawing/2014/main" id="{405B712E-EC53-E6C3-D6E1-E46709844543}"/>
              </a:ext>
            </a:extLst>
          </p:cNvPr>
          <p:cNvSpPr txBox="1">
            <a:spLocks noChangeArrowheads="1"/>
          </p:cNvSpPr>
          <p:nvPr/>
        </p:nvSpPr>
        <p:spPr bwMode="auto">
          <a:xfrm>
            <a:off x="951538" y="5716026"/>
            <a:ext cx="3229257" cy="138499"/>
          </a:xfrm>
          <a:prstGeom prst="rect">
            <a:avLst/>
          </a:prstGeom>
          <a:noFill/>
          <a:ln w="9525">
            <a:noFill/>
            <a:miter lim="800000"/>
            <a:headEnd/>
            <a:tailEnd/>
          </a:ln>
        </p:spPr>
        <p:txBody>
          <a:bodyPr wrap="square" lIns="0" tIns="0" rIns="0" bIns="0">
            <a:spAutoFit/>
          </a:bodyPr>
          <a:lstStyle/>
          <a:p>
            <a:pPr algn="ctr">
              <a:defRPr/>
            </a:pPr>
            <a:r>
              <a:rPr lang="en-US" altLang="ja-JP" sz="900" dirty="0">
                <a:latin typeface="+mj-lt"/>
                <a:ea typeface="+mj-ea"/>
              </a:rPr>
              <a:t>3</a:t>
            </a:r>
            <a:r>
              <a:rPr lang="ja-JP" altLang="en-US" sz="900" dirty="0">
                <a:latin typeface="+mj-lt"/>
                <a:ea typeface="+mj-ea"/>
              </a:rPr>
              <a:t> </a:t>
            </a:r>
            <a:r>
              <a:rPr lang="en-US" altLang="ja-JP" sz="900" dirty="0">
                <a:latin typeface="+mj-lt"/>
                <a:ea typeface="+mj-ea"/>
              </a:rPr>
              <a:t>bits I-sampling</a:t>
            </a:r>
            <a:r>
              <a:rPr lang="en-US" altLang="ja-JP" sz="900" dirty="0">
                <a:latin typeface="+mj-lt"/>
              </a:rPr>
              <a:t> (</a:t>
            </a:r>
            <a:r>
              <a:rPr lang="en-US" altLang="ja-JP" sz="900" dirty="0" err="1">
                <a:latin typeface="+mj-lt"/>
              </a:rPr>
              <a:t>RAW8</a:t>
            </a:r>
            <a:r>
              <a:rPr lang="en-US" altLang="ja-JP" sz="900" dirty="0">
                <a:latin typeface="+mj-lt"/>
              </a:rPr>
              <a:t>/16/32)</a:t>
            </a:r>
            <a:endParaRPr lang="en-US" altLang="ja-JP" sz="900" dirty="0">
              <a:latin typeface="+mj-lt"/>
              <a:ea typeface="+mj-ea"/>
            </a:endParaRPr>
          </a:p>
        </p:txBody>
      </p:sp>
      <p:cxnSp>
        <p:nvCxnSpPr>
          <p:cNvPr id="96" name="直線コネクタ 95">
            <a:extLst>
              <a:ext uri="{FF2B5EF4-FFF2-40B4-BE49-F238E27FC236}">
                <a16:creationId xmlns:a16="http://schemas.microsoft.com/office/drawing/2014/main" id="{155D1A6F-4CEB-5025-515F-BD2017401593}"/>
              </a:ext>
            </a:extLst>
          </p:cNvPr>
          <p:cNvCxnSpPr>
            <a:cxnSpLocks/>
            <a:stCxn id="41" idx="1"/>
          </p:cNvCxnSpPr>
          <p:nvPr/>
        </p:nvCxnSpPr>
        <p:spPr>
          <a:xfrm>
            <a:off x="2319755" y="2378634"/>
            <a:ext cx="4975745" cy="0"/>
          </a:xfrm>
          <a:prstGeom prst="line">
            <a:avLst/>
          </a:prstGeom>
        </p:spPr>
        <p:style>
          <a:lnRef idx="1">
            <a:schemeClr val="dk1"/>
          </a:lnRef>
          <a:fillRef idx="0">
            <a:schemeClr val="dk1"/>
          </a:fillRef>
          <a:effectRef idx="0">
            <a:schemeClr val="dk1"/>
          </a:effectRef>
          <a:fontRef idx="minor">
            <a:schemeClr val="tx1"/>
          </a:fontRef>
        </p:style>
      </p:cxnSp>
      <p:cxnSp>
        <p:nvCxnSpPr>
          <p:cNvPr id="106" name="直線コネクタ 105">
            <a:extLst>
              <a:ext uri="{FF2B5EF4-FFF2-40B4-BE49-F238E27FC236}">
                <a16:creationId xmlns:a16="http://schemas.microsoft.com/office/drawing/2014/main" id="{6E4718DB-CC67-A046-83C0-8CA08E67071D}"/>
              </a:ext>
            </a:extLst>
          </p:cNvPr>
          <p:cNvCxnSpPr>
            <a:cxnSpLocks/>
            <a:stCxn id="109" idx="1"/>
            <a:endCxn id="110" idx="3"/>
          </p:cNvCxnSpPr>
          <p:nvPr/>
        </p:nvCxnSpPr>
        <p:spPr>
          <a:xfrm>
            <a:off x="2319755" y="2900981"/>
            <a:ext cx="4975744" cy="272"/>
          </a:xfrm>
          <a:prstGeom prst="line">
            <a:avLst/>
          </a:prstGeom>
        </p:spPr>
        <p:style>
          <a:lnRef idx="1">
            <a:schemeClr val="dk1"/>
          </a:lnRef>
          <a:fillRef idx="0">
            <a:schemeClr val="dk1"/>
          </a:fillRef>
          <a:effectRef idx="0">
            <a:schemeClr val="dk1"/>
          </a:effectRef>
          <a:fontRef idx="minor">
            <a:schemeClr val="tx1"/>
          </a:fontRef>
        </p:style>
      </p:cxnSp>
      <p:cxnSp>
        <p:nvCxnSpPr>
          <p:cNvPr id="114" name="直線コネクタ 113">
            <a:extLst>
              <a:ext uri="{FF2B5EF4-FFF2-40B4-BE49-F238E27FC236}">
                <a16:creationId xmlns:a16="http://schemas.microsoft.com/office/drawing/2014/main" id="{824218E0-FD65-62FE-B0C3-CFEDA6BD1519}"/>
              </a:ext>
            </a:extLst>
          </p:cNvPr>
          <p:cNvCxnSpPr>
            <a:cxnSpLocks/>
            <a:stCxn id="111" idx="1"/>
            <a:endCxn id="107" idx="1"/>
          </p:cNvCxnSpPr>
          <p:nvPr/>
        </p:nvCxnSpPr>
        <p:spPr>
          <a:xfrm flipV="1">
            <a:off x="2319755" y="3431836"/>
            <a:ext cx="4975745" cy="1751"/>
          </a:xfrm>
          <a:prstGeom prst="line">
            <a:avLst/>
          </a:prstGeom>
        </p:spPr>
        <p:style>
          <a:lnRef idx="1">
            <a:schemeClr val="dk1"/>
          </a:lnRef>
          <a:fillRef idx="0">
            <a:schemeClr val="dk1"/>
          </a:fillRef>
          <a:effectRef idx="0">
            <a:schemeClr val="dk1"/>
          </a:effectRef>
          <a:fontRef idx="minor">
            <a:schemeClr val="tx1"/>
          </a:fontRef>
        </p:style>
      </p:cxnSp>
      <p:sp>
        <p:nvSpPr>
          <p:cNvPr id="15" name="テキスト ボックス 14">
            <a:extLst>
              <a:ext uri="{FF2B5EF4-FFF2-40B4-BE49-F238E27FC236}">
                <a16:creationId xmlns:a16="http://schemas.microsoft.com/office/drawing/2014/main" id="{FADED8E7-E08C-5CC4-F644-7699EBE6494E}"/>
              </a:ext>
            </a:extLst>
          </p:cNvPr>
          <p:cNvSpPr txBox="1"/>
          <p:nvPr/>
        </p:nvSpPr>
        <p:spPr>
          <a:xfrm>
            <a:off x="4802763" y="5309570"/>
            <a:ext cx="3780420" cy="1061829"/>
          </a:xfrm>
          <a:prstGeom prst="rect">
            <a:avLst/>
          </a:prstGeom>
          <a:noFill/>
          <a:ln>
            <a:solidFill>
              <a:schemeClr val="tx1"/>
            </a:solidFill>
          </a:ln>
        </p:spPr>
        <p:txBody>
          <a:bodyPr wrap="square">
            <a:spAutoFit/>
          </a:bodyPr>
          <a:lstStyle/>
          <a:p>
            <a:r>
              <a:rPr lang="ja-JP" altLang="en-US" sz="900" dirty="0">
                <a:latin typeface="MigMix 1M" panose="020B0509020204020204" pitchFamily="49" charset="-128"/>
                <a:ea typeface="MigMix 1M" panose="020B0509020204020204" pitchFamily="49" charset="-128"/>
              </a:rPr>
              <a:t>PROG = Pocket SDR</a:t>
            </a:r>
          </a:p>
          <a:p>
            <a:r>
              <a:rPr lang="ja-JP" altLang="en-US" sz="900" dirty="0">
                <a:latin typeface="MigMix 1M" panose="020B0509020204020204" pitchFamily="49" charset="-128"/>
                <a:ea typeface="MigMix 1M" panose="020B0509020204020204" pitchFamily="49" charset="-128"/>
              </a:rPr>
              <a:t>TIME = 2024/11/01 20:48:00.776     </a:t>
            </a:r>
            <a:r>
              <a:rPr lang="en-US" altLang="ja-JP" sz="900" dirty="0">
                <a:solidFill>
                  <a:schemeClr val="tx2"/>
                </a:solidFill>
                <a:latin typeface="MigMix 1M" panose="020B0509020204020204" pitchFamily="49" charset="-128"/>
                <a:ea typeface="MigMix 1M" panose="020B0509020204020204" pitchFamily="49" charset="-128"/>
              </a:rPr>
              <a:t>(Start</a:t>
            </a:r>
            <a:r>
              <a:rPr lang="ja-JP" altLang="en-US" sz="900" dirty="0">
                <a:solidFill>
                  <a:schemeClr val="tx2"/>
                </a:solidFill>
                <a:latin typeface="MigMix 1M" panose="020B0509020204020204" pitchFamily="49" charset="-128"/>
                <a:ea typeface="MigMix 1M" panose="020B0509020204020204" pitchFamily="49" charset="-128"/>
              </a:rPr>
              <a:t> </a:t>
            </a:r>
            <a:r>
              <a:rPr lang="en-US" altLang="ja-JP" sz="900" dirty="0">
                <a:solidFill>
                  <a:schemeClr val="tx2"/>
                </a:solidFill>
                <a:latin typeface="MigMix 1M" panose="020B0509020204020204" pitchFamily="49" charset="-128"/>
                <a:ea typeface="MigMix 1M" panose="020B0509020204020204" pitchFamily="49" charset="-128"/>
              </a:rPr>
              <a:t>Time</a:t>
            </a:r>
            <a:r>
              <a:rPr lang="ja-JP" altLang="en-US" sz="900" dirty="0">
                <a:solidFill>
                  <a:schemeClr val="tx2"/>
                </a:solidFill>
                <a:latin typeface="MigMix 1M" panose="020B0509020204020204" pitchFamily="49" charset="-128"/>
                <a:ea typeface="MigMix 1M" panose="020B0509020204020204" pitchFamily="49" charset="-128"/>
              </a:rPr>
              <a:t> </a:t>
            </a:r>
            <a:r>
              <a:rPr lang="en-US" altLang="ja-JP" sz="900" dirty="0">
                <a:solidFill>
                  <a:schemeClr val="tx2"/>
                </a:solidFill>
                <a:latin typeface="MigMix 1M" panose="020B0509020204020204" pitchFamily="49" charset="-128"/>
                <a:ea typeface="MigMix 1M" panose="020B0509020204020204" pitchFamily="49" charset="-128"/>
              </a:rPr>
              <a:t>GPST)</a:t>
            </a:r>
            <a:endParaRPr lang="ja-JP" altLang="en-US" sz="900" dirty="0">
              <a:solidFill>
                <a:schemeClr val="tx2"/>
              </a:solidFill>
              <a:latin typeface="MigMix 1M" panose="020B0509020204020204" pitchFamily="49" charset="-128"/>
              <a:ea typeface="MigMix 1M" panose="020B0509020204020204" pitchFamily="49" charset="-128"/>
            </a:endParaRPr>
          </a:p>
          <a:p>
            <a:r>
              <a:rPr lang="ja-JP" altLang="en-US" sz="900" dirty="0">
                <a:latin typeface="MigMix 1M" panose="020B0509020204020204" pitchFamily="49" charset="-128"/>
                <a:ea typeface="MigMix 1M" panose="020B0509020204020204" pitchFamily="49" charset="-128"/>
              </a:rPr>
              <a:t>FMT  = RAW16                       </a:t>
            </a:r>
            <a:r>
              <a:rPr lang="en-US" altLang="ja-JP" sz="900" dirty="0">
                <a:solidFill>
                  <a:schemeClr val="tx2"/>
                </a:solidFill>
                <a:latin typeface="MigMix 1M" panose="020B0509020204020204" pitchFamily="49" charset="-128"/>
                <a:ea typeface="MigMix 1M" panose="020B0509020204020204" pitchFamily="49" charset="-128"/>
              </a:rPr>
              <a:t>(Format)</a:t>
            </a:r>
            <a:endParaRPr lang="ja-JP" altLang="en-US" sz="900" dirty="0">
              <a:solidFill>
                <a:schemeClr val="tx2"/>
              </a:solidFill>
              <a:latin typeface="MigMix 1M" panose="020B0509020204020204" pitchFamily="49" charset="-128"/>
              <a:ea typeface="MigMix 1M" panose="020B0509020204020204" pitchFamily="49" charset="-128"/>
            </a:endParaRPr>
          </a:p>
          <a:p>
            <a:r>
              <a:rPr lang="ja-JP" altLang="en-US" sz="900" dirty="0">
                <a:latin typeface="MigMix 1M" panose="020B0509020204020204" pitchFamily="49" charset="-128"/>
                <a:ea typeface="MigMix 1M" panose="020B0509020204020204" pitchFamily="49" charset="-128"/>
              </a:rPr>
              <a:t>F_S  = 24                          </a:t>
            </a:r>
            <a:r>
              <a:rPr lang="en-US" altLang="ja-JP" sz="900" dirty="0">
                <a:solidFill>
                  <a:schemeClr val="tx2"/>
                </a:solidFill>
                <a:latin typeface="MigMix 1M" panose="020B0509020204020204" pitchFamily="49" charset="-128"/>
                <a:ea typeface="MigMix 1M" panose="020B0509020204020204" pitchFamily="49" charset="-128"/>
              </a:rPr>
              <a:t>(Sampling</a:t>
            </a:r>
            <a:r>
              <a:rPr lang="ja-JP" altLang="en-US" sz="900" dirty="0">
                <a:solidFill>
                  <a:schemeClr val="tx2"/>
                </a:solidFill>
                <a:latin typeface="MigMix 1M" panose="020B0509020204020204" pitchFamily="49" charset="-128"/>
                <a:ea typeface="MigMix 1M" panose="020B0509020204020204" pitchFamily="49" charset="-128"/>
              </a:rPr>
              <a:t> </a:t>
            </a:r>
            <a:r>
              <a:rPr lang="en-US" altLang="ja-JP" sz="900" dirty="0">
                <a:solidFill>
                  <a:schemeClr val="tx2"/>
                </a:solidFill>
                <a:latin typeface="MigMix 1M" panose="020B0509020204020204" pitchFamily="49" charset="-128"/>
                <a:ea typeface="MigMix 1M" panose="020B0509020204020204" pitchFamily="49" charset="-128"/>
              </a:rPr>
              <a:t>Freq.</a:t>
            </a:r>
            <a:r>
              <a:rPr lang="ja-JP" altLang="en-US" sz="900" dirty="0">
                <a:solidFill>
                  <a:schemeClr val="tx2"/>
                </a:solidFill>
                <a:latin typeface="MigMix 1M" panose="020B0509020204020204" pitchFamily="49" charset="-128"/>
                <a:ea typeface="MigMix 1M" panose="020B0509020204020204" pitchFamily="49" charset="-128"/>
              </a:rPr>
              <a:t> </a:t>
            </a:r>
            <a:r>
              <a:rPr lang="en-US" altLang="ja-JP" sz="900" dirty="0">
                <a:solidFill>
                  <a:schemeClr val="tx2"/>
                </a:solidFill>
                <a:latin typeface="MigMix 1M" panose="020B0509020204020204" pitchFamily="49" charset="-128"/>
                <a:ea typeface="MigMix 1M" panose="020B0509020204020204" pitchFamily="49" charset="-128"/>
              </a:rPr>
              <a:t>MHz)</a:t>
            </a:r>
            <a:endParaRPr lang="ja-JP" altLang="en-US" sz="900" dirty="0">
              <a:solidFill>
                <a:schemeClr val="tx2"/>
              </a:solidFill>
              <a:latin typeface="MigMix 1M" panose="020B0509020204020204" pitchFamily="49" charset="-128"/>
              <a:ea typeface="MigMix 1M" panose="020B0509020204020204" pitchFamily="49" charset="-128"/>
            </a:endParaRPr>
          </a:p>
          <a:p>
            <a:r>
              <a:rPr lang="ja-JP" altLang="en-US" sz="900" dirty="0">
                <a:latin typeface="MigMix 1M" panose="020B0509020204020204" pitchFamily="49" charset="-128"/>
                <a:ea typeface="MigMix 1M" panose="020B0509020204020204" pitchFamily="49" charset="-128"/>
              </a:rPr>
              <a:t>F_LO = 1568,1237.8,1176.45,1278.75 </a:t>
            </a:r>
            <a:r>
              <a:rPr lang="en-US" altLang="ja-JP" sz="900" dirty="0">
                <a:solidFill>
                  <a:schemeClr val="tx2"/>
                </a:solidFill>
                <a:latin typeface="MigMix 1M" panose="020B0509020204020204" pitchFamily="49" charset="-128"/>
                <a:ea typeface="MigMix 1M" panose="020B0509020204020204" pitchFamily="49" charset="-128"/>
              </a:rPr>
              <a:t>(LO</a:t>
            </a:r>
            <a:r>
              <a:rPr lang="ja-JP" altLang="en-US" sz="900" dirty="0">
                <a:solidFill>
                  <a:schemeClr val="tx2"/>
                </a:solidFill>
                <a:latin typeface="MigMix 1M" panose="020B0509020204020204" pitchFamily="49" charset="-128"/>
                <a:ea typeface="MigMix 1M" panose="020B0509020204020204" pitchFamily="49" charset="-128"/>
              </a:rPr>
              <a:t> </a:t>
            </a:r>
            <a:r>
              <a:rPr lang="en-US" altLang="ja-JP" sz="900" dirty="0">
                <a:solidFill>
                  <a:schemeClr val="tx2"/>
                </a:solidFill>
                <a:latin typeface="MigMix 1M" panose="020B0509020204020204" pitchFamily="49" charset="-128"/>
                <a:ea typeface="MigMix 1M" panose="020B0509020204020204" pitchFamily="49" charset="-128"/>
              </a:rPr>
              <a:t>Freq.</a:t>
            </a:r>
            <a:r>
              <a:rPr lang="ja-JP" altLang="en-US" sz="900" dirty="0">
                <a:solidFill>
                  <a:schemeClr val="tx2"/>
                </a:solidFill>
                <a:latin typeface="MigMix 1M" panose="020B0509020204020204" pitchFamily="49" charset="-128"/>
                <a:ea typeface="MigMix 1M" panose="020B0509020204020204" pitchFamily="49" charset="-128"/>
              </a:rPr>
              <a:t> </a:t>
            </a:r>
            <a:r>
              <a:rPr lang="en-US" altLang="ja-JP" sz="900" dirty="0">
                <a:solidFill>
                  <a:schemeClr val="tx2"/>
                </a:solidFill>
                <a:latin typeface="MigMix 1M" panose="020B0509020204020204" pitchFamily="49" charset="-128"/>
                <a:ea typeface="MigMix 1M" panose="020B0509020204020204" pitchFamily="49" charset="-128"/>
              </a:rPr>
              <a:t>MHz)</a:t>
            </a:r>
            <a:endParaRPr lang="ja-JP" altLang="en-US" sz="900" dirty="0">
              <a:solidFill>
                <a:schemeClr val="tx2"/>
              </a:solidFill>
              <a:latin typeface="MigMix 1M" panose="020B0509020204020204" pitchFamily="49" charset="-128"/>
              <a:ea typeface="MigMix 1M" panose="020B0509020204020204" pitchFamily="49" charset="-128"/>
            </a:endParaRPr>
          </a:p>
          <a:p>
            <a:r>
              <a:rPr lang="ja-JP" altLang="en-US" sz="900" dirty="0">
                <a:latin typeface="MigMix 1M" panose="020B0509020204020204" pitchFamily="49" charset="-128"/>
                <a:ea typeface="MigMix 1M" panose="020B0509020204020204" pitchFamily="49" charset="-128"/>
              </a:rPr>
              <a:t>IQ   = 2,2,2,2                     </a:t>
            </a:r>
            <a:r>
              <a:rPr lang="en-US" altLang="ja-JP" sz="900" dirty="0">
                <a:solidFill>
                  <a:schemeClr val="tx2"/>
                </a:solidFill>
                <a:latin typeface="MigMix 1M" panose="020B0509020204020204" pitchFamily="49" charset="-128"/>
                <a:ea typeface="MigMix 1M" panose="020B0509020204020204" pitchFamily="49" charset="-128"/>
              </a:rPr>
              <a:t>(Sampling,</a:t>
            </a:r>
            <a:r>
              <a:rPr lang="ja-JP" altLang="en-US" sz="900" dirty="0">
                <a:solidFill>
                  <a:schemeClr val="tx2"/>
                </a:solidFill>
                <a:latin typeface="MigMix 1M" panose="020B0509020204020204" pitchFamily="49" charset="-128"/>
                <a:ea typeface="MigMix 1M" panose="020B0509020204020204" pitchFamily="49" charset="-128"/>
              </a:rPr>
              <a:t> </a:t>
            </a:r>
            <a:r>
              <a:rPr lang="en-US" altLang="ja-JP" sz="900" dirty="0">
                <a:solidFill>
                  <a:schemeClr val="tx2"/>
                </a:solidFill>
                <a:latin typeface="MigMix 1M" panose="020B0509020204020204" pitchFamily="49" charset="-128"/>
                <a:ea typeface="MigMix 1M" panose="020B0509020204020204" pitchFamily="49" charset="-128"/>
              </a:rPr>
              <a:t>1:I,</a:t>
            </a:r>
            <a:r>
              <a:rPr lang="ja-JP" altLang="en-US" sz="900" dirty="0">
                <a:solidFill>
                  <a:schemeClr val="tx2"/>
                </a:solidFill>
                <a:latin typeface="MigMix 1M" panose="020B0509020204020204" pitchFamily="49" charset="-128"/>
                <a:ea typeface="MigMix 1M" panose="020B0509020204020204" pitchFamily="49" charset="-128"/>
              </a:rPr>
              <a:t> </a:t>
            </a:r>
            <a:r>
              <a:rPr lang="en-US" altLang="ja-JP" sz="900" dirty="0">
                <a:solidFill>
                  <a:schemeClr val="tx2"/>
                </a:solidFill>
                <a:latin typeface="MigMix 1M" panose="020B0509020204020204" pitchFamily="49" charset="-128"/>
                <a:ea typeface="MigMix 1M" panose="020B0509020204020204" pitchFamily="49" charset="-128"/>
              </a:rPr>
              <a:t>2:IQ)</a:t>
            </a:r>
          </a:p>
          <a:p>
            <a:r>
              <a:rPr lang="en-US" altLang="ja-JP" sz="900" dirty="0">
                <a:latin typeface="MigMix 1M" panose="020B0509020204020204" pitchFamily="49" charset="-128"/>
                <a:ea typeface="MigMix 1M" panose="020B0509020204020204" pitchFamily="49" charset="-128"/>
              </a:rPr>
              <a:t>BITS</a:t>
            </a:r>
            <a:r>
              <a:rPr lang="ja-JP" altLang="en-US" sz="900" dirty="0">
                <a:latin typeface="MigMix 1M" panose="020B0509020204020204" pitchFamily="49" charset="-128"/>
                <a:ea typeface="MigMix 1M" panose="020B0509020204020204" pitchFamily="49" charset="-128"/>
              </a:rPr>
              <a:t> </a:t>
            </a:r>
            <a:r>
              <a:rPr lang="en-US" altLang="ja-JP" sz="900" dirty="0">
                <a:latin typeface="MigMix 1M" panose="020B0509020204020204" pitchFamily="49" charset="-128"/>
                <a:ea typeface="MigMix 1M" panose="020B0509020204020204" pitchFamily="49" charset="-128"/>
              </a:rPr>
              <a:t>=</a:t>
            </a:r>
            <a:r>
              <a:rPr lang="ja-JP" altLang="en-US" sz="900" dirty="0">
                <a:latin typeface="MigMix 1M" panose="020B0509020204020204" pitchFamily="49" charset="-128"/>
                <a:ea typeface="MigMix 1M" panose="020B0509020204020204" pitchFamily="49" charset="-128"/>
              </a:rPr>
              <a:t> </a:t>
            </a:r>
            <a:r>
              <a:rPr lang="en-US" altLang="ja-JP" sz="900" dirty="0">
                <a:latin typeface="MigMix 1M" panose="020B0509020204020204" pitchFamily="49" charset="-128"/>
                <a:ea typeface="MigMix 1M" panose="020B0509020204020204" pitchFamily="49" charset="-128"/>
              </a:rPr>
              <a:t>2,2,2,2</a:t>
            </a:r>
            <a:r>
              <a:rPr lang="ja-JP" altLang="en-US" sz="900" dirty="0">
                <a:latin typeface="MigMix 1M" panose="020B0509020204020204" pitchFamily="49" charset="-128"/>
                <a:ea typeface="MigMix 1M" panose="020B0509020204020204" pitchFamily="49" charset="-128"/>
              </a:rPr>
              <a:t>                     </a:t>
            </a:r>
            <a:r>
              <a:rPr lang="en-US" altLang="ja-JP" sz="900" dirty="0">
                <a:solidFill>
                  <a:schemeClr val="tx2"/>
                </a:solidFill>
                <a:latin typeface="MigMix 1M" panose="020B0509020204020204" pitchFamily="49" charset="-128"/>
                <a:ea typeface="MigMix 1M" panose="020B0509020204020204" pitchFamily="49" charset="-128"/>
              </a:rPr>
              <a:t>(Sampling</a:t>
            </a:r>
            <a:r>
              <a:rPr lang="ja-JP" altLang="en-US" sz="900" dirty="0">
                <a:solidFill>
                  <a:schemeClr val="tx2"/>
                </a:solidFill>
                <a:latin typeface="MigMix 1M" panose="020B0509020204020204" pitchFamily="49" charset="-128"/>
                <a:ea typeface="MigMix 1M" panose="020B0509020204020204" pitchFamily="49" charset="-128"/>
              </a:rPr>
              <a:t> </a:t>
            </a:r>
            <a:r>
              <a:rPr lang="en-US" altLang="ja-JP" sz="900" dirty="0">
                <a:solidFill>
                  <a:schemeClr val="tx2"/>
                </a:solidFill>
                <a:latin typeface="MigMix 1M" panose="020B0509020204020204" pitchFamily="49" charset="-128"/>
                <a:ea typeface="MigMix 1M" panose="020B0509020204020204" pitchFamily="49" charset="-128"/>
              </a:rPr>
              <a:t>Bits)</a:t>
            </a:r>
            <a:endParaRPr lang="ja-JP" altLang="en-US" sz="900" dirty="0">
              <a:solidFill>
                <a:schemeClr val="tx2"/>
              </a:solidFill>
              <a:latin typeface="MigMix 1M" panose="020B0509020204020204" pitchFamily="49" charset="-128"/>
              <a:ea typeface="MigMix 1M" panose="020B0509020204020204" pitchFamily="49" charset="-128"/>
            </a:endParaRPr>
          </a:p>
        </p:txBody>
      </p:sp>
      <p:sp>
        <p:nvSpPr>
          <p:cNvPr id="85" name="Text Box 52">
            <a:extLst>
              <a:ext uri="{FF2B5EF4-FFF2-40B4-BE49-F238E27FC236}">
                <a16:creationId xmlns:a16="http://schemas.microsoft.com/office/drawing/2014/main" id="{1802D339-E394-3DD2-3635-CE7F6AE35A70}"/>
              </a:ext>
            </a:extLst>
          </p:cNvPr>
          <p:cNvSpPr txBox="1">
            <a:spLocks noChangeArrowheads="1"/>
          </p:cNvSpPr>
          <p:nvPr/>
        </p:nvSpPr>
        <p:spPr bwMode="auto">
          <a:xfrm>
            <a:off x="4795990" y="5106164"/>
            <a:ext cx="3780420" cy="184666"/>
          </a:xfrm>
          <a:prstGeom prst="rect">
            <a:avLst/>
          </a:prstGeom>
          <a:noFill/>
          <a:ln w="9525">
            <a:noFill/>
            <a:miter lim="800000"/>
            <a:headEnd/>
            <a:tailEnd/>
          </a:ln>
        </p:spPr>
        <p:txBody>
          <a:bodyPr wrap="square" lIns="0" tIns="0" rIns="0" bIns="0">
            <a:spAutoFit/>
          </a:bodyPr>
          <a:lstStyle/>
          <a:p>
            <a:pPr algn="ctr">
              <a:defRPr/>
            </a:pPr>
            <a:r>
              <a:rPr lang="en-US" altLang="ja-JP" sz="1200" dirty="0">
                <a:latin typeface="+mj-lt"/>
                <a:ea typeface="+mj-ea"/>
              </a:rPr>
              <a:t>IF</a:t>
            </a:r>
            <a:r>
              <a:rPr lang="ja-JP" altLang="en-US" sz="1200" dirty="0">
                <a:latin typeface="+mj-lt"/>
                <a:ea typeface="+mj-ea"/>
              </a:rPr>
              <a:t> </a:t>
            </a:r>
            <a:r>
              <a:rPr lang="en-US" altLang="ja-JP" sz="1200" dirty="0">
                <a:latin typeface="+mj-lt"/>
                <a:ea typeface="+mj-ea"/>
              </a:rPr>
              <a:t>Data</a:t>
            </a:r>
            <a:r>
              <a:rPr lang="ja-JP" altLang="en-US" sz="1200" dirty="0">
                <a:latin typeface="+mj-lt"/>
                <a:ea typeface="+mj-ea"/>
              </a:rPr>
              <a:t> </a:t>
            </a:r>
            <a:r>
              <a:rPr lang="en-US" altLang="ja-JP" sz="1200" dirty="0">
                <a:latin typeface="+mj-lt"/>
                <a:ea typeface="+mj-ea"/>
              </a:rPr>
              <a:t>Tag</a:t>
            </a:r>
            <a:r>
              <a:rPr lang="ja-JP" altLang="en-US" sz="1200" dirty="0">
                <a:latin typeface="+mj-lt"/>
                <a:ea typeface="+mj-ea"/>
              </a:rPr>
              <a:t> </a:t>
            </a:r>
            <a:r>
              <a:rPr lang="en-US" altLang="ja-JP" sz="1200" dirty="0">
                <a:latin typeface="+mj-lt"/>
                <a:ea typeface="+mj-ea"/>
              </a:rPr>
              <a:t>File</a:t>
            </a:r>
            <a:r>
              <a:rPr lang="ja-JP" altLang="en-US" sz="1200" dirty="0">
                <a:latin typeface="+mj-lt"/>
                <a:ea typeface="+mj-ea"/>
              </a:rPr>
              <a:t> </a:t>
            </a:r>
            <a:r>
              <a:rPr lang="en-US" altLang="ja-JP" sz="1200" dirty="0">
                <a:latin typeface="+mj-lt"/>
                <a:ea typeface="+mj-ea"/>
              </a:rPr>
              <a:t>(&lt;path&gt;.tag)</a:t>
            </a:r>
          </a:p>
        </p:txBody>
      </p:sp>
      <p:grpSp>
        <p:nvGrpSpPr>
          <p:cNvPr id="3" name="グループ化 2">
            <a:extLst>
              <a:ext uri="{FF2B5EF4-FFF2-40B4-BE49-F238E27FC236}">
                <a16:creationId xmlns:a16="http://schemas.microsoft.com/office/drawing/2014/main" id="{E6739F7F-3247-6EB4-5101-20E73B5D4AFD}"/>
              </a:ext>
            </a:extLst>
          </p:cNvPr>
          <p:cNvGrpSpPr/>
          <p:nvPr/>
        </p:nvGrpSpPr>
        <p:grpSpPr>
          <a:xfrm>
            <a:off x="2314892" y="3749529"/>
            <a:ext cx="2487871" cy="137160"/>
            <a:chOff x="4634230" y="1624878"/>
            <a:chExt cx="871220" cy="137160"/>
          </a:xfrm>
        </p:grpSpPr>
        <p:cxnSp>
          <p:nvCxnSpPr>
            <p:cNvPr id="83" name="直線コネクタ 82">
              <a:extLst>
                <a:ext uri="{FF2B5EF4-FFF2-40B4-BE49-F238E27FC236}">
                  <a16:creationId xmlns:a16="http://schemas.microsoft.com/office/drawing/2014/main" id="{DC43A119-8B04-2BF2-2D6F-D1CD5D249C42}"/>
                </a:ext>
              </a:extLst>
            </p:cNvPr>
            <p:cNvCxnSpPr/>
            <p:nvPr/>
          </p:nvCxnSpPr>
          <p:spPr>
            <a:xfrm>
              <a:off x="4634230" y="1624878"/>
              <a:ext cx="0" cy="137160"/>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84" name="直線コネクタ 83">
              <a:extLst>
                <a:ext uri="{FF2B5EF4-FFF2-40B4-BE49-F238E27FC236}">
                  <a16:creationId xmlns:a16="http://schemas.microsoft.com/office/drawing/2014/main" id="{9B7BA1D7-4E5B-3129-3FE2-1AA64872723E}"/>
                </a:ext>
              </a:extLst>
            </p:cNvPr>
            <p:cNvCxnSpPr/>
            <p:nvPr/>
          </p:nvCxnSpPr>
          <p:spPr>
            <a:xfrm>
              <a:off x="5505450" y="1624878"/>
              <a:ext cx="0" cy="137160"/>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112" name="直線矢印コネクタ 111">
              <a:extLst>
                <a:ext uri="{FF2B5EF4-FFF2-40B4-BE49-F238E27FC236}">
                  <a16:creationId xmlns:a16="http://schemas.microsoft.com/office/drawing/2014/main" id="{5E563961-DC2B-E8DD-FED9-77E886A79C66}"/>
                </a:ext>
              </a:extLst>
            </p:cNvPr>
            <p:cNvCxnSpPr>
              <a:cxnSpLocks/>
            </p:cNvCxnSpPr>
            <p:nvPr/>
          </p:nvCxnSpPr>
          <p:spPr>
            <a:xfrm>
              <a:off x="4635500" y="1693458"/>
              <a:ext cx="869950" cy="0"/>
            </a:xfrm>
            <a:prstGeom prst="straightConnector1">
              <a:avLst/>
            </a:prstGeom>
            <a:ln w="952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grpSp>
      <p:sp>
        <p:nvSpPr>
          <p:cNvPr id="113" name="正方形/長方形 112">
            <a:extLst>
              <a:ext uri="{FF2B5EF4-FFF2-40B4-BE49-F238E27FC236}">
                <a16:creationId xmlns:a16="http://schemas.microsoft.com/office/drawing/2014/main" id="{F9193CD3-6C30-8842-AB47-1DA97DE7C119}"/>
              </a:ext>
            </a:extLst>
          </p:cNvPr>
          <p:cNvSpPr/>
          <p:nvPr/>
        </p:nvSpPr>
        <p:spPr>
          <a:xfrm>
            <a:off x="3039930" y="3704333"/>
            <a:ext cx="880682" cy="205166"/>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16 bits / sample</a:t>
            </a:r>
            <a:endParaRPr lang="ja-JP" altLang="en-US" sz="900" dirty="0">
              <a:solidFill>
                <a:schemeClr val="tx1"/>
              </a:solidFill>
            </a:endParaRPr>
          </a:p>
        </p:txBody>
      </p:sp>
      <p:sp>
        <p:nvSpPr>
          <p:cNvPr id="115" name="正方形/長方形 114">
            <a:extLst>
              <a:ext uri="{FF2B5EF4-FFF2-40B4-BE49-F238E27FC236}">
                <a16:creationId xmlns:a16="http://schemas.microsoft.com/office/drawing/2014/main" id="{73153F56-981C-1BC5-34C7-B46E6E700E7B}"/>
              </a:ext>
            </a:extLst>
          </p:cNvPr>
          <p:cNvSpPr/>
          <p:nvPr/>
        </p:nvSpPr>
        <p:spPr>
          <a:xfrm>
            <a:off x="2314891" y="3914329"/>
            <a:ext cx="1243936" cy="256199"/>
          </a:xfrm>
          <a:prstGeom prst="rect">
            <a:avLst/>
          </a:prstGeom>
          <a:solidFill>
            <a:schemeClr val="accent1">
              <a:lumMod val="20000"/>
              <a:lumOff val="80000"/>
            </a:schemeClr>
          </a:solidFill>
          <a:ln w="6350">
            <a:solidFill>
              <a:schemeClr val="bg1">
                <a:lumMod val="8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a:solidFill>
                  <a:schemeClr val="tx1"/>
                </a:solidFill>
              </a:rPr>
              <a:t>I</a:t>
            </a:r>
            <a:r>
              <a:rPr lang="en-US" altLang="ja-JP" sz="900" baseline="-25000">
                <a:solidFill>
                  <a:schemeClr val="tx1"/>
                </a:solidFill>
              </a:rPr>
              <a:t>1</a:t>
            </a:r>
            <a:r>
              <a:rPr lang="en-US" altLang="ja-JP" sz="900">
                <a:solidFill>
                  <a:schemeClr val="tx1"/>
                </a:solidFill>
              </a:rPr>
              <a:t> (int8)</a:t>
            </a:r>
            <a:endParaRPr lang="ja-JP" altLang="en-US" sz="900">
              <a:solidFill>
                <a:schemeClr val="tx1"/>
              </a:solidFill>
            </a:endParaRPr>
          </a:p>
        </p:txBody>
      </p:sp>
      <p:sp>
        <p:nvSpPr>
          <p:cNvPr id="116" name="正方形/長方形 115">
            <a:extLst>
              <a:ext uri="{FF2B5EF4-FFF2-40B4-BE49-F238E27FC236}">
                <a16:creationId xmlns:a16="http://schemas.microsoft.com/office/drawing/2014/main" id="{3063566B-1144-8FE1-8F2E-58CE1BB5D521}"/>
              </a:ext>
            </a:extLst>
          </p:cNvPr>
          <p:cNvSpPr/>
          <p:nvPr/>
        </p:nvSpPr>
        <p:spPr>
          <a:xfrm>
            <a:off x="3556395" y="3912998"/>
            <a:ext cx="1243936" cy="256571"/>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a:solidFill>
                  <a:schemeClr val="tx1"/>
                </a:solidFill>
              </a:rPr>
              <a:t>Q</a:t>
            </a:r>
            <a:r>
              <a:rPr lang="en-US" altLang="ja-JP" sz="900" baseline="-25000">
                <a:solidFill>
                  <a:schemeClr val="tx1"/>
                </a:solidFill>
              </a:rPr>
              <a:t>1</a:t>
            </a:r>
            <a:r>
              <a:rPr lang="en-US" altLang="ja-JP" sz="900">
                <a:solidFill>
                  <a:schemeClr val="tx1"/>
                </a:solidFill>
              </a:rPr>
              <a:t> (int8)</a:t>
            </a:r>
            <a:r>
              <a:rPr lang="ja-JP" altLang="en-US" sz="900">
                <a:solidFill>
                  <a:schemeClr val="tx1"/>
                </a:solidFill>
              </a:rPr>
              <a:t> </a:t>
            </a:r>
          </a:p>
        </p:txBody>
      </p:sp>
      <p:sp>
        <p:nvSpPr>
          <p:cNvPr id="117" name="正方形/長方形 116">
            <a:extLst>
              <a:ext uri="{FF2B5EF4-FFF2-40B4-BE49-F238E27FC236}">
                <a16:creationId xmlns:a16="http://schemas.microsoft.com/office/drawing/2014/main" id="{C4A42803-2B63-0332-B0A9-4792290DA1F6}"/>
              </a:ext>
            </a:extLst>
          </p:cNvPr>
          <p:cNvSpPr/>
          <p:nvPr/>
        </p:nvSpPr>
        <p:spPr>
          <a:xfrm>
            <a:off x="4797899" y="3908191"/>
            <a:ext cx="1243936" cy="256199"/>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a:solidFill>
                  <a:schemeClr val="tx1"/>
                </a:solidFill>
              </a:rPr>
              <a:t>I</a:t>
            </a:r>
            <a:r>
              <a:rPr lang="en-US" altLang="ja-JP" sz="900" baseline="-25000">
                <a:solidFill>
                  <a:schemeClr val="tx1"/>
                </a:solidFill>
              </a:rPr>
              <a:t>1</a:t>
            </a:r>
            <a:r>
              <a:rPr lang="en-US" altLang="ja-JP" sz="900">
                <a:solidFill>
                  <a:schemeClr val="tx1"/>
                </a:solidFill>
              </a:rPr>
              <a:t> (int8)</a:t>
            </a:r>
            <a:endParaRPr lang="ja-JP" altLang="en-US" sz="900">
              <a:solidFill>
                <a:schemeClr val="tx1"/>
              </a:solidFill>
            </a:endParaRPr>
          </a:p>
        </p:txBody>
      </p:sp>
      <p:sp>
        <p:nvSpPr>
          <p:cNvPr id="118" name="正方形/長方形 117">
            <a:extLst>
              <a:ext uri="{FF2B5EF4-FFF2-40B4-BE49-F238E27FC236}">
                <a16:creationId xmlns:a16="http://schemas.microsoft.com/office/drawing/2014/main" id="{3563A93E-0EE8-A478-948E-FC75E70265ED}"/>
              </a:ext>
            </a:extLst>
          </p:cNvPr>
          <p:cNvSpPr/>
          <p:nvPr/>
        </p:nvSpPr>
        <p:spPr>
          <a:xfrm>
            <a:off x="6041835" y="3912998"/>
            <a:ext cx="1243936" cy="256571"/>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a:solidFill>
                  <a:schemeClr val="tx1"/>
                </a:solidFill>
              </a:rPr>
              <a:t>Q</a:t>
            </a:r>
            <a:r>
              <a:rPr lang="en-US" altLang="ja-JP" sz="900" baseline="-25000">
                <a:solidFill>
                  <a:schemeClr val="tx1"/>
                </a:solidFill>
              </a:rPr>
              <a:t>1</a:t>
            </a:r>
            <a:r>
              <a:rPr lang="en-US" altLang="ja-JP" sz="900">
                <a:solidFill>
                  <a:schemeClr val="tx1"/>
                </a:solidFill>
              </a:rPr>
              <a:t> (int8)</a:t>
            </a:r>
            <a:r>
              <a:rPr lang="ja-JP" altLang="en-US" sz="900">
                <a:solidFill>
                  <a:schemeClr val="tx1"/>
                </a:solidFill>
              </a:rPr>
              <a:t> </a:t>
            </a:r>
          </a:p>
        </p:txBody>
      </p:sp>
      <p:sp>
        <p:nvSpPr>
          <p:cNvPr id="119" name="Text Box 52">
            <a:extLst>
              <a:ext uri="{FF2B5EF4-FFF2-40B4-BE49-F238E27FC236}">
                <a16:creationId xmlns:a16="http://schemas.microsoft.com/office/drawing/2014/main" id="{750F78D8-1E3B-4BFC-030C-956F71DC3A47}"/>
              </a:ext>
            </a:extLst>
          </p:cNvPr>
          <p:cNvSpPr txBox="1">
            <a:spLocks noChangeArrowheads="1"/>
          </p:cNvSpPr>
          <p:nvPr/>
        </p:nvSpPr>
        <p:spPr bwMode="auto">
          <a:xfrm>
            <a:off x="699795" y="3847277"/>
            <a:ext cx="1263490" cy="369332"/>
          </a:xfrm>
          <a:prstGeom prst="rect">
            <a:avLst/>
          </a:prstGeom>
          <a:noFill/>
          <a:ln w="9525">
            <a:noFill/>
            <a:miter lim="800000"/>
            <a:headEnd/>
            <a:tailEnd/>
          </a:ln>
        </p:spPr>
        <p:txBody>
          <a:bodyPr wrap="square" lIns="0" tIns="0" rIns="0" bIns="0">
            <a:spAutoFit/>
          </a:bodyPr>
          <a:lstStyle/>
          <a:p>
            <a:pPr algn="ctr">
              <a:defRPr/>
            </a:pPr>
            <a:r>
              <a:rPr lang="en-US" altLang="ja-JP" sz="1200" dirty="0" err="1">
                <a:latin typeface="+mj-lt"/>
                <a:ea typeface="+mj-ea"/>
              </a:rPr>
              <a:t>CS8</a:t>
            </a:r>
            <a:endParaRPr lang="en-US" altLang="ja-JP" sz="1200" dirty="0">
              <a:latin typeface="+mj-lt"/>
              <a:ea typeface="+mj-ea"/>
            </a:endParaRPr>
          </a:p>
          <a:p>
            <a:pPr algn="ctr">
              <a:defRPr/>
            </a:pPr>
            <a:r>
              <a:rPr lang="en-US" altLang="ja-JP" sz="1200" dirty="0">
                <a:latin typeface="+mj-lt"/>
                <a:ea typeface="+mj-ea"/>
              </a:rPr>
              <a:t>(</a:t>
            </a:r>
            <a:r>
              <a:rPr lang="en-US" altLang="ja-JP" sz="1200" dirty="0" err="1">
                <a:latin typeface="+mj-lt"/>
                <a:ea typeface="+mj-ea"/>
              </a:rPr>
              <a:t>SoapySDR</a:t>
            </a:r>
            <a:r>
              <a:rPr lang="en-US" altLang="ja-JP" sz="1200" dirty="0">
                <a:latin typeface="+mj-lt"/>
                <a:ea typeface="+mj-ea"/>
              </a:rPr>
              <a:t> Device)</a:t>
            </a:r>
          </a:p>
        </p:txBody>
      </p:sp>
      <p:sp>
        <p:nvSpPr>
          <p:cNvPr id="120" name="正方形/長方形 119">
            <a:extLst>
              <a:ext uri="{FF2B5EF4-FFF2-40B4-BE49-F238E27FC236}">
                <a16:creationId xmlns:a16="http://schemas.microsoft.com/office/drawing/2014/main" id="{BE5FC759-A188-950D-883C-BBF7ADCA0C99}"/>
              </a:ext>
            </a:extLst>
          </p:cNvPr>
          <p:cNvSpPr/>
          <p:nvPr/>
        </p:nvSpPr>
        <p:spPr>
          <a:xfrm>
            <a:off x="2314891" y="3906749"/>
            <a:ext cx="1243936" cy="257642"/>
          </a:xfrm>
          <a:prstGeom prst="rect">
            <a:avLst/>
          </a:pr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b="1">
              <a:solidFill>
                <a:schemeClr val="tx1"/>
              </a:solidFill>
            </a:endParaRPr>
          </a:p>
        </p:txBody>
      </p:sp>
      <p:sp>
        <p:nvSpPr>
          <p:cNvPr id="121" name="正方形/長方形 120">
            <a:extLst>
              <a:ext uri="{FF2B5EF4-FFF2-40B4-BE49-F238E27FC236}">
                <a16:creationId xmlns:a16="http://schemas.microsoft.com/office/drawing/2014/main" id="{F8FB4A9C-E150-1700-58D4-EEDAC0F2C643}"/>
              </a:ext>
            </a:extLst>
          </p:cNvPr>
          <p:cNvSpPr/>
          <p:nvPr/>
        </p:nvSpPr>
        <p:spPr>
          <a:xfrm>
            <a:off x="4802763" y="3908191"/>
            <a:ext cx="1243936" cy="256199"/>
          </a:xfrm>
          <a:prstGeom prst="rect">
            <a:avLst/>
          </a:pr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a:solidFill>
                <a:schemeClr val="tx1"/>
              </a:solidFill>
            </a:endParaRPr>
          </a:p>
        </p:txBody>
      </p:sp>
      <p:sp>
        <p:nvSpPr>
          <p:cNvPr id="123" name="正方形/長方形 122">
            <a:extLst>
              <a:ext uri="{FF2B5EF4-FFF2-40B4-BE49-F238E27FC236}">
                <a16:creationId xmlns:a16="http://schemas.microsoft.com/office/drawing/2014/main" id="{8065CF1E-57D5-A0C2-C861-7E0BA7E034E0}"/>
              </a:ext>
            </a:extLst>
          </p:cNvPr>
          <p:cNvSpPr/>
          <p:nvPr/>
        </p:nvSpPr>
        <p:spPr>
          <a:xfrm>
            <a:off x="7290636" y="3906748"/>
            <a:ext cx="824564" cy="25764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b="1" dirty="0">
                <a:solidFill>
                  <a:schemeClr val="tx1"/>
                </a:solidFill>
              </a:rPr>
              <a:t>...</a:t>
            </a:r>
            <a:endParaRPr lang="ja-JP" altLang="en-US" sz="900" b="1" dirty="0">
              <a:solidFill>
                <a:schemeClr val="tx1"/>
              </a:solidFill>
            </a:endParaRPr>
          </a:p>
        </p:txBody>
      </p:sp>
      <p:sp>
        <p:nvSpPr>
          <p:cNvPr id="124" name="正方形/長方形 123">
            <a:extLst>
              <a:ext uri="{FF2B5EF4-FFF2-40B4-BE49-F238E27FC236}">
                <a16:creationId xmlns:a16="http://schemas.microsoft.com/office/drawing/2014/main" id="{52923A5C-A802-FA40-191E-1A7951DDC911}"/>
              </a:ext>
            </a:extLst>
          </p:cNvPr>
          <p:cNvSpPr/>
          <p:nvPr/>
        </p:nvSpPr>
        <p:spPr>
          <a:xfrm>
            <a:off x="2314891" y="3906748"/>
            <a:ext cx="2487872" cy="25764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b="1">
              <a:solidFill>
                <a:schemeClr val="tx1"/>
              </a:solidFill>
            </a:endParaRPr>
          </a:p>
        </p:txBody>
      </p:sp>
      <p:sp>
        <p:nvSpPr>
          <p:cNvPr id="125" name="正方形/長方形 124">
            <a:extLst>
              <a:ext uri="{FF2B5EF4-FFF2-40B4-BE49-F238E27FC236}">
                <a16:creationId xmlns:a16="http://schemas.microsoft.com/office/drawing/2014/main" id="{C9374934-8A7E-8A0F-5D45-58FA266A8C2F}"/>
              </a:ext>
            </a:extLst>
          </p:cNvPr>
          <p:cNvSpPr/>
          <p:nvPr/>
        </p:nvSpPr>
        <p:spPr>
          <a:xfrm>
            <a:off x="4802763" y="3907020"/>
            <a:ext cx="2487872" cy="25764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a:solidFill>
                <a:schemeClr val="tx1"/>
              </a:solidFill>
            </a:endParaRPr>
          </a:p>
        </p:txBody>
      </p:sp>
      <p:grpSp>
        <p:nvGrpSpPr>
          <p:cNvPr id="126" name="グループ化 125">
            <a:extLst>
              <a:ext uri="{FF2B5EF4-FFF2-40B4-BE49-F238E27FC236}">
                <a16:creationId xmlns:a16="http://schemas.microsoft.com/office/drawing/2014/main" id="{00E1ADCB-2B4B-D430-911C-9CC46CD679C7}"/>
              </a:ext>
            </a:extLst>
          </p:cNvPr>
          <p:cNvGrpSpPr/>
          <p:nvPr/>
        </p:nvGrpSpPr>
        <p:grpSpPr>
          <a:xfrm>
            <a:off x="8094374" y="3798224"/>
            <a:ext cx="45719" cy="420225"/>
            <a:chOff x="8505691" y="2297380"/>
            <a:chExt cx="74429" cy="309283"/>
          </a:xfrm>
        </p:grpSpPr>
        <p:sp>
          <p:nvSpPr>
            <p:cNvPr id="127" name="正方形/長方形 126">
              <a:extLst>
                <a:ext uri="{FF2B5EF4-FFF2-40B4-BE49-F238E27FC236}">
                  <a16:creationId xmlns:a16="http://schemas.microsoft.com/office/drawing/2014/main" id="{4E28B415-0C8B-1ACF-3976-81BA79BC59B3}"/>
                </a:ext>
              </a:extLst>
            </p:cNvPr>
            <p:cNvSpPr/>
            <p:nvPr/>
          </p:nvSpPr>
          <p:spPr>
            <a:xfrm>
              <a:off x="8509143" y="2302634"/>
              <a:ext cx="70977" cy="2895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8" name="フリーフォーム: 図形 127">
              <a:extLst>
                <a:ext uri="{FF2B5EF4-FFF2-40B4-BE49-F238E27FC236}">
                  <a16:creationId xmlns:a16="http://schemas.microsoft.com/office/drawing/2014/main" id="{DEEA7A1A-8D97-A23B-9BC2-756AC9757417}"/>
                </a:ext>
              </a:extLst>
            </p:cNvPr>
            <p:cNvSpPr/>
            <p:nvPr/>
          </p:nvSpPr>
          <p:spPr>
            <a:xfrm>
              <a:off x="8505691" y="2297380"/>
              <a:ext cx="67977" cy="309283"/>
            </a:xfrm>
            <a:custGeom>
              <a:avLst/>
              <a:gdLst>
                <a:gd name="connsiteX0" fmla="*/ 33709 w 63071"/>
                <a:gd name="connsiteY0" fmla="*/ 0 h 263611"/>
                <a:gd name="connsiteX1" fmla="*/ 757 w 63071"/>
                <a:gd name="connsiteY1" fmla="*/ 94735 h 263611"/>
                <a:gd name="connsiteX2" fmla="*/ 62541 w 63071"/>
                <a:gd name="connsiteY2" fmla="*/ 172995 h 263611"/>
                <a:gd name="connsiteX3" fmla="*/ 25471 w 63071"/>
                <a:gd name="connsiteY3" fmla="*/ 263611 h 263611"/>
              </a:gdLst>
              <a:ahLst/>
              <a:cxnLst>
                <a:cxn ang="0">
                  <a:pos x="connsiteX0" y="connsiteY0"/>
                </a:cxn>
                <a:cxn ang="0">
                  <a:pos x="connsiteX1" y="connsiteY1"/>
                </a:cxn>
                <a:cxn ang="0">
                  <a:pos x="connsiteX2" y="connsiteY2"/>
                </a:cxn>
                <a:cxn ang="0">
                  <a:pos x="connsiteX3" y="connsiteY3"/>
                </a:cxn>
              </a:cxnLst>
              <a:rect l="l" t="t" r="r" b="b"/>
              <a:pathLst>
                <a:path w="63071" h="263611">
                  <a:moveTo>
                    <a:pt x="33709" y="0"/>
                  </a:moveTo>
                  <a:cubicBezTo>
                    <a:pt x="14830" y="32951"/>
                    <a:pt x="-4048" y="65903"/>
                    <a:pt x="757" y="94735"/>
                  </a:cubicBezTo>
                  <a:cubicBezTo>
                    <a:pt x="5562" y="123567"/>
                    <a:pt x="58422" y="144849"/>
                    <a:pt x="62541" y="172995"/>
                  </a:cubicBezTo>
                  <a:cubicBezTo>
                    <a:pt x="66660" y="201141"/>
                    <a:pt x="46065" y="232376"/>
                    <a:pt x="25471" y="263611"/>
                  </a:cubicBez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9" name="グループ化 128">
            <a:extLst>
              <a:ext uri="{FF2B5EF4-FFF2-40B4-BE49-F238E27FC236}">
                <a16:creationId xmlns:a16="http://schemas.microsoft.com/office/drawing/2014/main" id="{C9CE6937-8B25-7CA8-64B5-505E1570FAD7}"/>
              </a:ext>
            </a:extLst>
          </p:cNvPr>
          <p:cNvGrpSpPr/>
          <p:nvPr/>
        </p:nvGrpSpPr>
        <p:grpSpPr>
          <a:xfrm>
            <a:off x="2320277" y="4276636"/>
            <a:ext cx="4975744" cy="137160"/>
            <a:chOff x="4634230" y="1624878"/>
            <a:chExt cx="871220" cy="137160"/>
          </a:xfrm>
        </p:grpSpPr>
        <p:cxnSp>
          <p:nvCxnSpPr>
            <p:cNvPr id="130" name="直線コネクタ 129">
              <a:extLst>
                <a:ext uri="{FF2B5EF4-FFF2-40B4-BE49-F238E27FC236}">
                  <a16:creationId xmlns:a16="http://schemas.microsoft.com/office/drawing/2014/main" id="{DEE675F1-07C7-2A06-9031-DE92CEF86318}"/>
                </a:ext>
              </a:extLst>
            </p:cNvPr>
            <p:cNvCxnSpPr/>
            <p:nvPr/>
          </p:nvCxnSpPr>
          <p:spPr>
            <a:xfrm>
              <a:off x="4634230" y="1624878"/>
              <a:ext cx="0" cy="137160"/>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131" name="直線コネクタ 130">
              <a:extLst>
                <a:ext uri="{FF2B5EF4-FFF2-40B4-BE49-F238E27FC236}">
                  <a16:creationId xmlns:a16="http://schemas.microsoft.com/office/drawing/2014/main" id="{E034C4A4-BB88-E69D-8DF8-3D58A6ADA6CC}"/>
                </a:ext>
              </a:extLst>
            </p:cNvPr>
            <p:cNvCxnSpPr/>
            <p:nvPr/>
          </p:nvCxnSpPr>
          <p:spPr>
            <a:xfrm>
              <a:off x="5505450" y="1624878"/>
              <a:ext cx="0" cy="137160"/>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132" name="直線矢印コネクタ 131">
              <a:extLst>
                <a:ext uri="{FF2B5EF4-FFF2-40B4-BE49-F238E27FC236}">
                  <a16:creationId xmlns:a16="http://schemas.microsoft.com/office/drawing/2014/main" id="{F2DE30FF-5779-A630-C1E7-BB24B12776A0}"/>
                </a:ext>
              </a:extLst>
            </p:cNvPr>
            <p:cNvCxnSpPr>
              <a:cxnSpLocks/>
            </p:cNvCxnSpPr>
            <p:nvPr/>
          </p:nvCxnSpPr>
          <p:spPr>
            <a:xfrm>
              <a:off x="4635500" y="1693458"/>
              <a:ext cx="869950" cy="0"/>
            </a:xfrm>
            <a:prstGeom prst="straightConnector1">
              <a:avLst/>
            </a:prstGeom>
            <a:ln w="952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grpSp>
      <p:sp>
        <p:nvSpPr>
          <p:cNvPr id="133" name="正方形/長方形 132">
            <a:extLst>
              <a:ext uri="{FF2B5EF4-FFF2-40B4-BE49-F238E27FC236}">
                <a16:creationId xmlns:a16="http://schemas.microsoft.com/office/drawing/2014/main" id="{259495E8-41EF-453A-6FD8-DC4E80B37D8C}"/>
              </a:ext>
            </a:extLst>
          </p:cNvPr>
          <p:cNvSpPr/>
          <p:nvPr/>
        </p:nvSpPr>
        <p:spPr>
          <a:xfrm>
            <a:off x="4398807" y="4221162"/>
            <a:ext cx="880682" cy="215444"/>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a:solidFill>
                  <a:schemeClr val="tx1"/>
                </a:solidFill>
              </a:rPr>
              <a:t>32 bits / sample</a:t>
            </a:r>
            <a:endParaRPr lang="ja-JP" altLang="en-US" sz="900">
              <a:solidFill>
                <a:schemeClr val="tx1"/>
              </a:solidFill>
            </a:endParaRPr>
          </a:p>
        </p:txBody>
      </p:sp>
      <p:sp>
        <p:nvSpPr>
          <p:cNvPr id="136" name="Text Box 52">
            <a:extLst>
              <a:ext uri="{FF2B5EF4-FFF2-40B4-BE49-F238E27FC236}">
                <a16:creationId xmlns:a16="http://schemas.microsoft.com/office/drawing/2014/main" id="{5708822F-D933-7E62-F998-6C52D361E689}"/>
              </a:ext>
            </a:extLst>
          </p:cNvPr>
          <p:cNvSpPr txBox="1">
            <a:spLocks noChangeArrowheads="1"/>
          </p:cNvSpPr>
          <p:nvPr/>
        </p:nvSpPr>
        <p:spPr bwMode="auto">
          <a:xfrm>
            <a:off x="712476" y="4361002"/>
            <a:ext cx="1263490" cy="369332"/>
          </a:xfrm>
          <a:prstGeom prst="rect">
            <a:avLst/>
          </a:prstGeom>
          <a:noFill/>
          <a:ln w="9525">
            <a:noFill/>
            <a:miter lim="800000"/>
            <a:headEnd/>
            <a:tailEnd/>
          </a:ln>
        </p:spPr>
        <p:txBody>
          <a:bodyPr wrap="square" lIns="0" tIns="0" rIns="0" bIns="0">
            <a:spAutoFit/>
          </a:bodyPr>
          <a:lstStyle/>
          <a:p>
            <a:pPr algn="ctr">
              <a:defRPr/>
            </a:pPr>
            <a:r>
              <a:rPr lang="en-US" altLang="ja-JP" sz="1200">
                <a:latin typeface="+mj-lt"/>
                <a:ea typeface="+mj-ea"/>
              </a:rPr>
              <a:t>CS16</a:t>
            </a:r>
          </a:p>
          <a:p>
            <a:pPr algn="ctr">
              <a:defRPr/>
            </a:pPr>
            <a:r>
              <a:rPr lang="en-US" altLang="ja-JP" sz="1200">
                <a:latin typeface="+mj-lt"/>
                <a:ea typeface="+mj-ea"/>
              </a:rPr>
              <a:t>(SoapySDR Device)</a:t>
            </a:r>
          </a:p>
        </p:txBody>
      </p:sp>
      <p:sp>
        <p:nvSpPr>
          <p:cNvPr id="137" name="正方形/長方形 136">
            <a:extLst>
              <a:ext uri="{FF2B5EF4-FFF2-40B4-BE49-F238E27FC236}">
                <a16:creationId xmlns:a16="http://schemas.microsoft.com/office/drawing/2014/main" id="{A422BCEB-32B5-8D40-752A-0302E056D92E}"/>
              </a:ext>
            </a:extLst>
          </p:cNvPr>
          <p:cNvSpPr/>
          <p:nvPr/>
        </p:nvSpPr>
        <p:spPr>
          <a:xfrm>
            <a:off x="7296021" y="4432930"/>
            <a:ext cx="824564" cy="257207"/>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b="1">
                <a:solidFill>
                  <a:schemeClr val="tx1"/>
                </a:solidFill>
              </a:rPr>
              <a:t>...</a:t>
            </a:r>
            <a:endParaRPr lang="ja-JP" altLang="en-US" sz="900" b="1">
              <a:solidFill>
                <a:schemeClr val="tx1"/>
              </a:solidFill>
            </a:endParaRPr>
          </a:p>
        </p:txBody>
      </p:sp>
      <p:sp>
        <p:nvSpPr>
          <p:cNvPr id="139" name="正方形/長方形 138">
            <a:extLst>
              <a:ext uri="{FF2B5EF4-FFF2-40B4-BE49-F238E27FC236}">
                <a16:creationId xmlns:a16="http://schemas.microsoft.com/office/drawing/2014/main" id="{4DCEB4D6-9604-82D0-0370-90B697CFEA76}"/>
              </a:ext>
            </a:extLst>
          </p:cNvPr>
          <p:cNvSpPr/>
          <p:nvPr/>
        </p:nvSpPr>
        <p:spPr>
          <a:xfrm>
            <a:off x="2320276" y="4433855"/>
            <a:ext cx="2487872" cy="25764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b="1">
              <a:solidFill>
                <a:schemeClr val="tx1"/>
              </a:solidFill>
            </a:endParaRPr>
          </a:p>
        </p:txBody>
      </p:sp>
      <p:sp>
        <p:nvSpPr>
          <p:cNvPr id="140" name="正方形/長方形 139">
            <a:extLst>
              <a:ext uri="{FF2B5EF4-FFF2-40B4-BE49-F238E27FC236}">
                <a16:creationId xmlns:a16="http://schemas.microsoft.com/office/drawing/2014/main" id="{C4A7240B-2D5C-5698-0BB6-135302AE0024}"/>
              </a:ext>
            </a:extLst>
          </p:cNvPr>
          <p:cNvSpPr/>
          <p:nvPr/>
        </p:nvSpPr>
        <p:spPr>
          <a:xfrm>
            <a:off x="4808148" y="4434127"/>
            <a:ext cx="2487872" cy="25764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a:solidFill>
                <a:schemeClr val="tx1"/>
              </a:solidFill>
            </a:endParaRPr>
          </a:p>
        </p:txBody>
      </p:sp>
      <p:grpSp>
        <p:nvGrpSpPr>
          <p:cNvPr id="141" name="グループ化 140">
            <a:extLst>
              <a:ext uri="{FF2B5EF4-FFF2-40B4-BE49-F238E27FC236}">
                <a16:creationId xmlns:a16="http://schemas.microsoft.com/office/drawing/2014/main" id="{54B77431-2D91-6B92-B5EE-84AE3F27619C}"/>
              </a:ext>
            </a:extLst>
          </p:cNvPr>
          <p:cNvGrpSpPr/>
          <p:nvPr/>
        </p:nvGrpSpPr>
        <p:grpSpPr>
          <a:xfrm>
            <a:off x="8099759" y="4325331"/>
            <a:ext cx="45719" cy="420225"/>
            <a:chOff x="8505691" y="2297380"/>
            <a:chExt cx="74429" cy="309283"/>
          </a:xfrm>
        </p:grpSpPr>
        <p:sp>
          <p:nvSpPr>
            <p:cNvPr id="142" name="正方形/長方形 141">
              <a:extLst>
                <a:ext uri="{FF2B5EF4-FFF2-40B4-BE49-F238E27FC236}">
                  <a16:creationId xmlns:a16="http://schemas.microsoft.com/office/drawing/2014/main" id="{3F1DEE57-7E54-D846-94DB-A923A3368C84}"/>
                </a:ext>
              </a:extLst>
            </p:cNvPr>
            <p:cNvSpPr/>
            <p:nvPr/>
          </p:nvSpPr>
          <p:spPr>
            <a:xfrm>
              <a:off x="8509143" y="2302634"/>
              <a:ext cx="70977" cy="2895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3" name="フリーフォーム: 図形 142">
              <a:extLst>
                <a:ext uri="{FF2B5EF4-FFF2-40B4-BE49-F238E27FC236}">
                  <a16:creationId xmlns:a16="http://schemas.microsoft.com/office/drawing/2014/main" id="{3FE05CB8-E8F1-74E8-436E-0412677A1385}"/>
                </a:ext>
              </a:extLst>
            </p:cNvPr>
            <p:cNvSpPr/>
            <p:nvPr/>
          </p:nvSpPr>
          <p:spPr>
            <a:xfrm>
              <a:off x="8505691" y="2297380"/>
              <a:ext cx="67977" cy="309283"/>
            </a:xfrm>
            <a:custGeom>
              <a:avLst/>
              <a:gdLst>
                <a:gd name="connsiteX0" fmla="*/ 33709 w 63071"/>
                <a:gd name="connsiteY0" fmla="*/ 0 h 263611"/>
                <a:gd name="connsiteX1" fmla="*/ 757 w 63071"/>
                <a:gd name="connsiteY1" fmla="*/ 94735 h 263611"/>
                <a:gd name="connsiteX2" fmla="*/ 62541 w 63071"/>
                <a:gd name="connsiteY2" fmla="*/ 172995 h 263611"/>
                <a:gd name="connsiteX3" fmla="*/ 25471 w 63071"/>
                <a:gd name="connsiteY3" fmla="*/ 263611 h 263611"/>
              </a:gdLst>
              <a:ahLst/>
              <a:cxnLst>
                <a:cxn ang="0">
                  <a:pos x="connsiteX0" y="connsiteY0"/>
                </a:cxn>
                <a:cxn ang="0">
                  <a:pos x="connsiteX1" y="connsiteY1"/>
                </a:cxn>
                <a:cxn ang="0">
                  <a:pos x="connsiteX2" y="connsiteY2"/>
                </a:cxn>
                <a:cxn ang="0">
                  <a:pos x="connsiteX3" y="connsiteY3"/>
                </a:cxn>
              </a:cxnLst>
              <a:rect l="l" t="t" r="r" b="b"/>
              <a:pathLst>
                <a:path w="63071" h="263611">
                  <a:moveTo>
                    <a:pt x="33709" y="0"/>
                  </a:moveTo>
                  <a:cubicBezTo>
                    <a:pt x="14830" y="32951"/>
                    <a:pt x="-4048" y="65903"/>
                    <a:pt x="757" y="94735"/>
                  </a:cubicBezTo>
                  <a:cubicBezTo>
                    <a:pt x="5562" y="123567"/>
                    <a:pt x="58422" y="144849"/>
                    <a:pt x="62541" y="172995"/>
                  </a:cubicBezTo>
                  <a:cubicBezTo>
                    <a:pt x="66660" y="201141"/>
                    <a:pt x="46065" y="232376"/>
                    <a:pt x="25471" y="263611"/>
                  </a:cubicBez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4" name="正方形/長方形 143">
            <a:extLst>
              <a:ext uri="{FF2B5EF4-FFF2-40B4-BE49-F238E27FC236}">
                <a16:creationId xmlns:a16="http://schemas.microsoft.com/office/drawing/2014/main" id="{A1643878-8C52-76CF-1E32-A64BEE399796}"/>
              </a:ext>
            </a:extLst>
          </p:cNvPr>
          <p:cNvSpPr/>
          <p:nvPr/>
        </p:nvSpPr>
        <p:spPr>
          <a:xfrm>
            <a:off x="6768244" y="829339"/>
            <a:ext cx="1516177" cy="21544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 Q-polarity inverted due to </a:t>
            </a:r>
            <a:r>
              <a:rPr lang="en-US" altLang="ja-JP" sz="900" dirty="0" err="1">
                <a:solidFill>
                  <a:schemeClr val="tx1"/>
                </a:solidFill>
              </a:rPr>
              <a:t>MAX2771</a:t>
            </a:r>
            <a:r>
              <a:rPr lang="en-US" altLang="ja-JP" sz="900" dirty="0">
                <a:solidFill>
                  <a:schemeClr val="tx1"/>
                </a:solidFill>
              </a:rPr>
              <a:t> convention</a:t>
            </a:r>
            <a:endParaRPr lang="ja-JP" altLang="en-US" sz="900" dirty="0">
              <a:solidFill>
                <a:schemeClr val="tx1"/>
              </a:solidFill>
            </a:endParaRPr>
          </a:p>
        </p:txBody>
      </p:sp>
      <p:sp>
        <p:nvSpPr>
          <p:cNvPr id="333" name="正方形/長方形 332">
            <a:extLst>
              <a:ext uri="{FF2B5EF4-FFF2-40B4-BE49-F238E27FC236}">
                <a16:creationId xmlns:a16="http://schemas.microsoft.com/office/drawing/2014/main" id="{315D9EC4-942D-B93E-540E-5E3A66915C1C}"/>
              </a:ext>
            </a:extLst>
          </p:cNvPr>
          <p:cNvSpPr/>
          <p:nvPr/>
        </p:nvSpPr>
        <p:spPr>
          <a:xfrm>
            <a:off x="3339665" y="3546286"/>
            <a:ext cx="271823" cy="21544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LSB</a:t>
            </a:r>
            <a:endParaRPr lang="ja-JP" altLang="en-US" sz="900" dirty="0">
              <a:solidFill>
                <a:schemeClr val="tx1"/>
              </a:solidFill>
            </a:endParaRPr>
          </a:p>
        </p:txBody>
      </p:sp>
    </p:spTree>
    <p:extLst>
      <p:ext uri="{BB962C8B-B14F-4D97-AF65-F5344CB8AC3E}">
        <p14:creationId xmlns:p14="http://schemas.microsoft.com/office/powerpoint/2010/main" val="11112646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296C8-9B74-6C3E-A990-8192BFC297D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5A509B3-376B-BAB9-6186-97AEE852DEF7}"/>
              </a:ext>
            </a:extLst>
          </p:cNvPr>
          <p:cNvSpPr>
            <a:spLocks noGrp="1"/>
          </p:cNvSpPr>
          <p:nvPr>
            <p:ph type="title"/>
          </p:nvPr>
        </p:nvSpPr>
        <p:spPr/>
        <p:txBody>
          <a:bodyPr/>
          <a:lstStyle/>
          <a:p>
            <a:r>
              <a:rPr kumimoji="1" lang="en-US" altLang="ja-JP" sz="2000" dirty="0">
                <a:solidFill>
                  <a:schemeClr val="tx1"/>
                </a:solidFill>
              </a:rPr>
              <a:t>Receiver</a:t>
            </a:r>
            <a:r>
              <a:rPr kumimoji="1" lang="ja-JP" altLang="en-US" sz="2000" dirty="0">
                <a:solidFill>
                  <a:schemeClr val="tx1"/>
                </a:solidFill>
              </a:rPr>
              <a:t> </a:t>
            </a:r>
            <a:r>
              <a:rPr kumimoji="1" lang="en-US" altLang="ja-JP" sz="2000" dirty="0">
                <a:solidFill>
                  <a:schemeClr val="tx1"/>
                </a:solidFill>
              </a:rPr>
              <a:t>Logs</a:t>
            </a:r>
            <a:endParaRPr kumimoji="1" lang="ja-JP" altLang="en-US" sz="2000" dirty="0">
              <a:solidFill>
                <a:schemeClr val="tx1"/>
              </a:solidFill>
            </a:endParaRPr>
          </a:p>
        </p:txBody>
      </p:sp>
      <p:sp>
        <p:nvSpPr>
          <p:cNvPr id="4" name="スライド番号プレースホルダー 3">
            <a:extLst>
              <a:ext uri="{FF2B5EF4-FFF2-40B4-BE49-F238E27FC236}">
                <a16:creationId xmlns:a16="http://schemas.microsoft.com/office/drawing/2014/main" id="{5132D347-0033-07BB-A03C-A96FF7253CED}"/>
              </a:ext>
            </a:extLst>
          </p:cNvPr>
          <p:cNvSpPr>
            <a:spLocks noGrp="1"/>
          </p:cNvSpPr>
          <p:nvPr>
            <p:ph type="sldNum" sz="quarter" idx="11"/>
          </p:nvPr>
        </p:nvSpPr>
        <p:spPr>
          <a:ln>
            <a:noFill/>
          </a:ln>
        </p:spPr>
        <p:txBody>
          <a:bodyPr/>
          <a:lstStyle/>
          <a:p>
            <a:pPr>
              <a:defRPr/>
            </a:pPr>
            <a:fld id="{76B10B91-6492-4C08-AE87-F344306858DA}" type="slidenum">
              <a:rPr lang="ja-JP" altLang="en-US" smtClean="0">
                <a:latin typeface="+mj-lt"/>
              </a:rPr>
              <a:pPr>
                <a:defRPr/>
              </a:pPr>
              <a:t>16</a:t>
            </a:fld>
            <a:endParaRPr lang="ja-JP" altLang="en-US" dirty="0">
              <a:latin typeface="+mj-lt"/>
            </a:endParaRPr>
          </a:p>
        </p:txBody>
      </p:sp>
      <p:sp>
        <p:nvSpPr>
          <p:cNvPr id="8" name="Rectangle 3">
            <a:extLst>
              <a:ext uri="{FF2B5EF4-FFF2-40B4-BE49-F238E27FC236}">
                <a16:creationId xmlns:a16="http://schemas.microsoft.com/office/drawing/2014/main" id="{32C30CE4-2618-F433-979D-FA58C95FAB73}"/>
              </a:ext>
            </a:extLst>
          </p:cNvPr>
          <p:cNvSpPr txBox="1">
            <a:spLocks noChangeArrowheads="1"/>
          </p:cNvSpPr>
          <p:nvPr/>
        </p:nvSpPr>
        <p:spPr bwMode="auto">
          <a:xfrm>
            <a:off x="539552" y="1030555"/>
            <a:ext cx="8147248" cy="2358529"/>
          </a:xfrm>
          <a:prstGeom prst="rect">
            <a:avLst/>
          </a:prstGeom>
          <a:noFill/>
          <a:ln w="9525">
            <a:solidFill>
              <a:schemeClr val="tx1"/>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kumimoji="1" sz="3200" kern="1200" baseline="0">
                <a:solidFill>
                  <a:schemeClr val="tx1"/>
                </a:solidFill>
                <a:latin typeface="Calibri" pitchFamily="34" charset="0"/>
                <a:ea typeface="メイリオ" pitchFamily="50" charset="-128"/>
                <a:cs typeface="+mn-cs"/>
              </a:defRPr>
            </a:lvl1pPr>
            <a:lvl2pPr marL="742950" indent="-285750" algn="l" rtl="0" eaLnBrk="0" fontAlgn="base" hangingPunct="0">
              <a:spcBef>
                <a:spcPct val="20000"/>
              </a:spcBef>
              <a:spcAft>
                <a:spcPct val="0"/>
              </a:spcAft>
              <a:buFont typeface="Arial" charset="0"/>
              <a:buChar char="–"/>
              <a:defRPr kumimoji="1" sz="2800" kern="1200" baseline="0">
                <a:solidFill>
                  <a:schemeClr val="tx1"/>
                </a:solidFill>
                <a:latin typeface="Calibri" pitchFamily="34" charset="0"/>
                <a:ea typeface="メイリオ" pitchFamily="50" charset="-128"/>
                <a:cs typeface="+mn-cs"/>
              </a:defRPr>
            </a:lvl2pPr>
            <a:lvl3pPr marL="1143000" indent="-228600" algn="l" rtl="0" eaLnBrk="0" fontAlgn="base" hangingPunct="0">
              <a:spcBef>
                <a:spcPct val="20000"/>
              </a:spcBef>
              <a:spcAft>
                <a:spcPct val="0"/>
              </a:spcAft>
              <a:buFont typeface="Arial" charset="0"/>
              <a:buChar char="•"/>
              <a:defRPr kumimoji="1" sz="2400" kern="1200" baseline="0">
                <a:solidFill>
                  <a:schemeClr val="tx1"/>
                </a:solidFill>
                <a:latin typeface="Calibri" pitchFamily="34" charset="0"/>
                <a:ea typeface="メイリオ" pitchFamily="50" charset="-128"/>
                <a:cs typeface="+mn-cs"/>
              </a:defRPr>
            </a:lvl3pPr>
            <a:lvl4pPr marL="1600200" indent="-228600" algn="l" rtl="0" eaLnBrk="0" fontAlgn="base" hangingPunct="0">
              <a:spcBef>
                <a:spcPct val="20000"/>
              </a:spcBef>
              <a:spcAft>
                <a:spcPct val="0"/>
              </a:spcAft>
              <a:buFont typeface="Arial" charset="0"/>
              <a:buChar char="–"/>
              <a:defRPr kumimoji="1" sz="2000" kern="1200" baseline="0">
                <a:solidFill>
                  <a:schemeClr val="tx1"/>
                </a:solidFill>
                <a:latin typeface="Calibri" pitchFamily="34" charset="0"/>
                <a:ea typeface="メイリオ" pitchFamily="50" charset="-128"/>
                <a:cs typeface="+mn-cs"/>
              </a:defRPr>
            </a:lvl4pPr>
            <a:lvl5pPr marL="2057400" indent="-228600" algn="l" rtl="0" eaLnBrk="0" fontAlgn="base" hangingPunct="0">
              <a:spcBef>
                <a:spcPct val="20000"/>
              </a:spcBef>
              <a:spcAft>
                <a:spcPct val="0"/>
              </a:spcAft>
              <a:buFont typeface="Arial" charset="0"/>
              <a:buChar char="»"/>
              <a:defRPr kumimoji="1" sz="2000" kern="1200" baseline="0">
                <a:solidFill>
                  <a:schemeClr val="tx1"/>
                </a:solidFill>
                <a:latin typeface="Calibri" pitchFamily="34" charset="0"/>
                <a:ea typeface="メイリオ"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0" indent="0">
              <a:buNone/>
            </a:pPr>
            <a:r>
              <a:rPr lang="en-US" altLang="ja-JP" sz="900" b="1" dirty="0">
                <a:latin typeface="MigMix 1M" panose="020B0509020204020204" pitchFamily="49" charset="-128"/>
                <a:ea typeface="MigMix 1M" panose="020B0509020204020204" pitchFamily="49" charset="-128"/>
              </a:rPr>
              <a:t>$</a:t>
            </a:r>
            <a:r>
              <a:rPr lang="en-US" altLang="ja-JP" sz="900" b="1" dirty="0" err="1">
                <a:latin typeface="MigMix 1M" panose="020B0509020204020204" pitchFamily="49" charset="-128"/>
                <a:ea typeface="MigMix 1M" panose="020B0509020204020204" pitchFamily="49" charset="-128"/>
              </a:rPr>
              <a:t>TIME</a:t>
            </a:r>
            <a:r>
              <a:rPr lang="en-US" altLang="ja-JP" sz="900" dirty="0" err="1">
                <a:latin typeface="MigMix 1M" panose="020B0509020204020204" pitchFamily="49" charset="-128"/>
                <a:ea typeface="MigMix 1M" panose="020B0509020204020204" pitchFamily="49" charset="-128"/>
              </a:rPr>
              <a:t>,time,year,mon,day,hour,min,sec,tsys</a:t>
            </a:r>
            <a:r>
              <a:rPr lang="ja-JP" altLang="en-US" sz="900" dirty="0">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(time</a:t>
            </a:r>
            <a:r>
              <a:rPr lang="ja-JP" altLang="en-US" sz="900" dirty="0">
                <a:solidFill>
                  <a:schemeClr val="accent1"/>
                </a:solidFill>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info)</a:t>
            </a:r>
          </a:p>
          <a:p>
            <a:pPr marL="0" indent="0">
              <a:buNone/>
            </a:pPr>
            <a:r>
              <a:rPr lang="en-US" altLang="ja-JP" sz="900" b="1" dirty="0">
                <a:latin typeface="MigMix 1M" panose="020B0509020204020204" pitchFamily="49" charset="-128"/>
                <a:ea typeface="MigMix 1M" panose="020B0509020204020204" pitchFamily="49" charset="-128"/>
              </a:rPr>
              <a:t>$OBS</a:t>
            </a:r>
            <a:r>
              <a:rPr lang="en-US" altLang="ja-JP" sz="900" dirty="0">
                <a:latin typeface="MigMix 1M" panose="020B0509020204020204" pitchFamily="49" charset="-128"/>
                <a:ea typeface="MigMix 1M" panose="020B0509020204020204" pitchFamily="49" charset="-128"/>
              </a:rPr>
              <a:t>,time,year,month,day,hour,min,sec,sat,code,cn0,pr,cp,dop,lli,fcn</a:t>
            </a:r>
            <a:r>
              <a:rPr lang="ja-JP" altLang="en-US" sz="900" dirty="0">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(OBS</a:t>
            </a:r>
            <a:r>
              <a:rPr lang="ja-JP" altLang="en-US" sz="900" dirty="0">
                <a:solidFill>
                  <a:schemeClr val="accent1"/>
                </a:solidFill>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data)</a:t>
            </a:r>
          </a:p>
          <a:p>
            <a:pPr marL="0" indent="0">
              <a:buNone/>
            </a:pPr>
            <a:r>
              <a:rPr lang="da-DK" altLang="ja-JP" sz="900" b="1" dirty="0">
                <a:latin typeface="MigMix 1M" panose="020B0509020204020204" pitchFamily="49" charset="-128"/>
                <a:ea typeface="MigMix 1M" panose="020B0509020204020204" pitchFamily="49" charset="-128"/>
              </a:rPr>
              <a:t>$NAV</a:t>
            </a:r>
            <a:r>
              <a:rPr lang="da-DK" altLang="ja-JP" sz="900" dirty="0">
                <a:latin typeface="MigMix 1M" panose="020B0509020204020204" pitchFamily="49" charset="-128"/>
                <a:ea typeface="MigMix 1M" panose="020B0509020204020204" pitchFamily="49" charset="-128"/>
              </a:rPr>
              <a:t>,time,sat,sig,nerr,size,data</a:t>
            </a:r>
            <a:r>
              <a:rPr lang="ja-JP" altLang="en-US" sz="900" dirty="0">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(raw</a:t>
            </a:r>
            <a:r>
              <a:rPr lang="ja-JP" altLang="en-US" sz="900" dirty="0">
                <a:solidFill>
                  <a:schemeClr val="accent1"/>
                </a:solidFill>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NAV</a:t>
            </a:r>
            <a:r>
              <a:rPr lang="ja-JP" altLang="en-US" sz="900" dirty="0">
                <a:solidFill>
                  <a:schemeClr val="accent1"/>
                </a:solidFill>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data)</a:t>
            </a:r>
            <a:endParaRPr lang="da-DK" altLang="ja-JP" sz="900" dirty="0">
              <a:solidFill>
                <a:schemeClr val="accent1"/>
              </a:solidFill>
              <a:latin typeface="MigMix 1M" panose="020B0509020204020204" pitchFamily="49" charset="-128"/>
              <a:ea typeface="MigMix 1M" panose="020B0509020204020204" pitchFamily="49" charset="-128"/>
            </a:endParaRPr>
          </a:p>
          <a:p>
            <a:pPr marL="0" indent="0">
              <a:buNone/>
            </a:pPr>
            <a:r>
              <a:rPr lang="en-US" altLang="ja-JP" sz="900" b="1" dirty="0">
                <a:latin typeface="MigMix 1M" panose="020B0509020204020204" pitchFamily="49" charset="-128"/>
                <a:ea typeface="MigMix 1M" panose="020B0509020204020204" pitchFamily="49" charset="-128"/>
              </a:rPr>
              <a:t>$POS</a:t>
            </a:r>
            <a:r>
              <a:rPr lang="en-US" altLang="ja-JP" sz="900" dirty="0">
                <a:latin typeface="MigMix 1M" panose="020B0509020204020204" pitchFamily="49" charset="-128"/>
                <a:ea typeface="MigMix 1M" panose="020B0509020204020204" pitchFamily="49" charset="-128"/>
              </a:rPr>
              <a:t>,time,year,month,day,hour,min,sec,lat,lon,hgt,Q,ns,stdn,stde,stdu,dtr</a:t>
            </a:r>
            <a:r>
              <a:rPr lang="ja-JP" altLang="en-US" sz="900" dirty="0">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(position</a:t>
            </a:r>
            <a:r>
              <a:rPr lang="ja-JP" altLang="en-US" sz="900" dirty="0">
                <a:solidFill>
                  <a:schemeClr val="accent1"/>
                </a:solidFill>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solution)</a:t>
            </a:r>
          </a:p>
          <a:p>
            <a:pPr marL="0" indent="0">
              <a:buNone/>
            </a:pPr>
            <a:r>
              <a:rPr lang="en-US" altLang="ja-JP" sz="900" b="1" dirty="0">
                <a:latin typeface="MigMix 1M" panose="020B0509020204020204" pitchFamily="49" charset="-128"/>
                <a:ea typeface="MigMix 1M" panose="020B0509020204020204" pitchFamily="49" charset="-128"/>
              </a:rPr>
              <a:t>$SAT</a:t>
            </a:r>
            <a:r>
              <a:rPr lang="en-US" altLang="ja-JP" sz="900" dirty="0">
                <a:latin typeface="MigMix 1M" panose="020B0509020204020204" pitchFamily="49" charset="-128"/>
                <a:ea typeface="MigMix 1M" panose="020B0509020204020204" pitchFamily="49" charset="-128"/>
              </a:rPr>
              <a:t>,time,year,month,day,hour,min,sec,sat,pvt,obs,cn0,az,el,res</a:t>
            </a:r>
            <a:r>
              <a:rPr lang="ja-JP" altLang="en-US" sz="900" dirty="0">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(satellite</a:t>
            </a:r>
            <a:r>
              <a:rPr lang="ja-JP" altLang="en-US" sz="900" dirty="0">
                <a:solidFill>
                  <a:schemeClr val="accent1"/>
                </a:solidFill>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info)</a:t>
            </a:r>
          </a:p>
          <a:p>
            <a:pPr marL="0" indent="0">
              <a:buNone/>
            </a:pPr>
            <a:r>
              <a:rPr lang="en-US" altLang="ja-JP" sz="900" b="1" dirty="0">
                <a:latin typeface="MigMix 1M" panose="020B0509020204020204" pitchFamily="49" charset="-128"/>
                <a:ea typeface="MigMix 1M" panose="020B0509020204020204" pitchFamily="49" charset="-128"/>
              </a:rPr>
              <a:t>$EPH</a:t>
            </a:r>
            <a:r>
              <a:rPr lang="en-US" altLang="ja-JP" sz="900" dirty="0">
                <a:latin typeface="MigMix 1M" panose="020B0509020204020204" pitchFamily="49" charset="-128"/>
                <a:ea typeface="MigMix 1M" panose="020B0509020204020204" pitchFamily="49" charset="-128"/>
              </a:rPr>
              <a:t>,time,sat,sig,IODE,IODC,SVA,SVH,Toe,Toc,Ttr,A,e,i0,OMEGA0,omega,M0,delta-n,OMEGAdot,Idot,Crc,Crs,Cuc,Cus,Cic,Cis,Toes,Fit,Af0,Af1,Af2,</a:t>
            </a:r>
          </a:p>
          <a:p>
            <a:pPr marL="0" indent="0">
              <a:buNone/>
            </a:pPr>
            <a:r>
              <a:rPr lang="ja-JP" altLang="en-US" sz="900" dirty="0">
                <a:latin typeface="MigMix 1M" panose="020B0509020204020204" pitchFamily="49" charset="-128"/>
                <a:ea typeface="MigMix 1M" panose="020B0509020204020204" pitchFamily="49" charset="-128"/>
              </a:rPr>
              <a:t>  </a:t>
            </a:r>
            <a:r>
              <a:rPr lang="en-US" altLang="ja-JP" sz="900" dirty="0" err="1">
                <a:latin typeface="MigMix 1M" panose="020B0509020204020204" pitchFamily="49" charset="-128"/>
                <a:ea typeface="MigMix 1M" panose="020B0509020204020204" pitchFamily="49" charset="-128"/>
              </a:rPr>
              <a:t>TGD,code,flag</a:t>
            </a:r>
            <a:r>
              <a:rPr lang="ja-JP" altLang="en-US" sz="900" dirty="0">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(GPS/Galileo/QZSS/</a:t>
            </a:r>
            <a:r>
              <a:rPr lang="en-US" altLang="ja-JP" sz="900" dirty="0" err="1">
                <a:solidFill>
                  <a:schemeClr val="accent1"/>
                </a:solidFill>
                <a:latin typeface="MigMix 1M" panose="020B0509020204020204" pitchFamily="49" charset="-128"/>
                <a:ea typeface="MigMix 1M" panose="020B0509020204020204" pitchFamily="49" charset="-128"/>
              </a:rPr>
              <a:t>BeiDou</a:t>
            </a:r>
            <a:r>
              <a:rPr lang="en-US" altLang="ja-JP" sz="900" dirty="0">
                <a:solidFill>
                  <a:schemeClr val="accent1"/>
                </a:solidFill>
                <a:latin typeface="MigMix 1M" panose="020B0509020204020204" pitchFamily="49" charset="-128"/>
                <a:ea typeface="MigMix 1M" panose="020B0509020204020204" pitchFamily="49" charset="-128"/>
              </a:rPr>
              <a:t>/</a:t>
            </a:r>
            <a:r>
              <a:rPr lang="en-US" altLang="ja-JP" sz="900" dirty="0" err="1">
                <a:solidFill>
                  <a:schemeClr val="accent1"/>
                </a:solidFill>
                <a:latin typeface="MigMix 1M" panose="020B0509020204020204" pitchFamily="49" charset="-128"/>
                <a:ea typeface="MigMix 1M" panose="020B0509020204020204" pitchFamily="49" charset="-128"/>
              </a:rPr>
              <a:t>NavIC</a:t>
            </a:r>
            <a:r>
              <a:rPr lang="ja-JP" altLang="en-US" sz="900" dirty="0">
                <a:solidFill>
                  <a:schemeClr val="accent1"/>
                </a:solidFill>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decoded</a:t>
            </a:r>
            <a:r>
              <a:rPr lang="ja-JP" altLang="en-US" sz="900" dirty="0">
                <a:solidFill>
                  <a:schemeClr val="accent1"/>
                </a:solidFill>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ephemeris)</a:t>
            </a:r>
          </a:p>
          <a:p>
            <a:pPr marL="0" indent="0">
              <a:buNone/>
            </a:pPr>
            <a:r>
              <a:rPr lang="en-US" altLang="ja-JP" sz="900" b="1" dirty="0">
                <a:latin typeface="MigMix 1M" panose="020B0509020204020204" pitchFamily="49" charset="-128"/>
                <a:ea typeface="MigMix 1M" panose="020B0509020204020204" pitchFamily="49" charset="-128"/>
              </a:rPr>
              <a:t>$EPH</a:t>
            </a:r>
            <a:r>
              <a:rPr lang="en-US" altLang="ja-JP" sz="900" dirty="0">
                <a:latin typeface="MigMix 1M" panose="020B0509020204020204" pitchFamily="49" charset="-128"/>
                <a:ea typeface="MigMix 1M" panose="020B0509020204020204" pitchFamily="49" charset="-128"/>
              </a:rPr>
              <a:t>,time,sat,sig,tb,fcn,SVH,SVA,age,Toe,Tof,pos-x,pos-y,pos-z,vel-x,vel-y,vel-z,acc-x,acc-y,acc-z,tau-n,gamma-n,delta-tau-n </a:t>
            </a:r>
            <a:r>
              <a:rPr lang="en-US" altLang="ja-JP" sz="900" dirty="0">
                <a:solidFill>
                  <a:schemeClr val="accent1"/>
                </a:solidFill>
                <a:latin typeface="MigMix 1M" panose="020B0509020204020204" pitchFamily="49" charset="-128"/>
                <a:ea typeface="MigMix 1M" panose="020B0509020204020204" pitchFamily="49" charset="-128"/>
              </a:rPr>
              <a:t>(GLONASS</a:t>
            </a:r>
          </a:p>
          <a:p>
            <a:pPr marL="0" indent="0">
              <a:buNone/>
            </a:pPr>
            <a:r>
              <a:rPr lang="ja-JP" altLang="en-US" sz="900" dirty="0">
                <a:solidFill>
                  <a:schemeClr val="accent1"/>
                </a:solidFill>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decoded</a:t>
            </a:r>
            <a:r>
              <a:rPr lang="ja-JP" altLang="en-US" sz="900" dirty="0">
                <a:solidFill>
                  <a:schemeClr val="accent1"/>
                </a:solidFill>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ephemeris)</a:t>
            </a:r>
          </a:p>
          <a:p>
            <a:pPr marL="0" indent="0">
              <a:buNone/>
            </a:pPr>
            <a:r>
              <a:rPr lang="en-US" altLang="ja-JP" sz="900" b="1" dirty="0">
                <a:latin typeface="MigMix 1M" panose="020B0509020204020204" pitchFamily="49" charset="-128"/>
                <a:ea typeface="MigMix 1M" panose="020B0509020204020204" pitchFamily="49" charset="-128"/>
              </a:rPr>
              <a:t>$</a:t>
            </a:r>
            <a:r>
              <a:rPr lang="en-US" altLang="ja-JP" sz="900" b="1" dirty="0" err="1">
                <a:latin typeface="MigMix 1M" panose="020B0509020204020204" pitchFamily="49" charset="-128"/>
                <a:ea typeface="MigMix 1M" panose="020B0509020204020204" pitchFamily="49" charset="-128"/>
              </a:rPr>
              <a:t>ALM</a:t>
            </a:r>
            <a:r>
              <a:rPr lang="en-US" altLang="ja-JP" sz="900" dirty="0" err="1">
                <a:latin typeface="MigMix 1M" panose="020B0509020204020204" pitchFamily="49" charset="-128"/>
                <a:ea typeface="MigMix 1M" panose="020B0509020204020204" pitchFamily="49" charset="-128"/>
              </a:rPr>
              <a:t>,time,sat,sig,svh,week,A,e,i0,OMG0,omg,M0,OMGd,toas,f0,f1</a:t>
            </a:r>
            <a:r>
              <a:rPr lang="en-US" altLang="ja-JP" sz="900" dirty="0">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a:t>
            </a:r>
            <a:r>
              <a:rPr lang="en-US" altLang="ja-JP" sz="900" dirty="0" err="1">
                <a:solidFill>
                  <a:schemeClr val="accent1"/>
                </a:solidFill>
                <a:latin typeface="MigMix 1M" panose="020B0509020204020204" pitchFamily="49" charset="-128"/>
                <a:ea typeface="MigMix 1M" panose="020B0509020204020204" pitchFamily="49" charset="-128"/>
              </a:rPr>
              <a:t>GPS,Galileo,QZSS,BeiDou</a:t>
            </a:r>
            <a:r>
              <a:rPr lang="en-US" altLang="ja-JP" sz="900" dirty="0">
                <a:solidFill>
                  <a:schemeClr val="accent1"/>
                </a:solidFill>
                <a:latin typeface="MigMix 1M" panose="020B0509020204020204" pitchFamily="49" charset="-128"/>
                <a:ea typeface="MigMix 1M" panose="020B0509020204020204" pitchFamily="49" charset="-128"/>
              </a:rPr>
              <a:t> decoded </a:t>
            </a:r>
            <a:r>
              <a:rPr lang="en-US" altLang="ja-JP" sz="900" dirty="0" err="1">
                <a:solidFill>
                  <a:schemeClr val="accent1"/>
                </a:solidFill>
                <a:latin typeface="MigMix 1M" panose="020B0509020204020204" pitchFamily="49" charset="-128"/>
                <a:ea typeface="MigMix 1M" panose="020B0509020204020204" pitchFamily="49" charset="-128"/>
              </a:rPr>
              <a:t>alamanac</a:t>
            </a:r>
            <a:r>
              <a:rPr lang="en-US" altLang="ja-JP" sz="900" dirty="0">
                <a:solidFill>
                  <a:schemeClr val="accent1"/>
                </a:solidFill>
                <a:latin typeface="MigMix 1M" panose="020B0509020204020204" pitchFamily="49" charset="-128"/>
                <a:ea typeface="MigMix 1M" panose="020B0509020204020204" pitchFamily="49" charset="-128"/>
              </a:rPr>
              <a:t>)</a:t>
            </a:r>
          </a:p>
          <a:p>
            <a:pPr marL="0" indent="0">
              <a:buNone/>
            </a:pPr>
            <a:r>
              <a:rPr lang="en-US" altLang="ja-JP" sz="900" b="1" dirty="0">
                <a:latin typeface="MigMix 1M" panose="020B0509020204020204" pitchFamily="49" charset="-128"/>
                <a:ea typeface="MigMix 1M" panose="020B0509020204020204" pitchFamily="49" charset="-128"/>
              </a:rPr>
              <a:t>$</a:t>
            </a:r>
            <a:r>
              <a:rPr lang="en-US" altLang="ja-JP" sz="900" b="1" dirty="0" err="1">
                <a:latin typeface="MigMix 1M" panose="020B0509020204020204" pitchFamily="49" charset="-128"/>
                <a:ea typeface="MigMix 1M" panose="020B0509020204020204" pitchFamily="49" charset="-128"/>
              </a:rPr>
              <a:t>ALM</a:t>
            </a:r>
            <a:r>
              <a:rPr lang="en-US" altLang="ja-JP" sz="900" dirty="0" err="1">
                <a:latin typeface="MigMix 1M" panose="020B0509020204020204" pitchFamily="49" charset="-128"/>
                <a:ea typeface="MigMix 1M" panose="020B0509020204020204" pitchFamily="49" charset="-128"/>
              </a:rPr>
              <a:t>,time,sat,sig,svh,taun,lambda,di,eps,omg,tlambda,dT,dTd,frq</a:t>
            </a:r>
            <a:r>
              <a:rPr lang="en-US" altLang="ja-JP" sz="900" dirty="0">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(GLONASS decoded </a:t>
            </a:r>
            <a:r>
              <a:rPr lang="en-US" altLang="ja-JP" sz="900" dirty="0" err="1">
                <a:solidFill>
                  <a:schemeClr val="accent1"/>
                </a:solidFill>
                <a:latin typeface="MigMix 1M" panose="020B0509020204020204" pitchFamily="49" charset="-128"/>
                <a:ea typeface="MigMix 1M" panose="020B0509020204020204" pitchFamily="49" charset="-128"/>
              </a:rPr>
              <a:t>alamanac</a:t>
            </a:r>
            <a:r>
              <a:rPr lang="en-US" altLang="ja-JP" sz="900" dirty="0">
                <a:solidFill>
                  <a:schemeClr val="accent1"/>
                </a:solidFill>
                <a:latin typeface="MigMix 1M" panose="020B0509020204020204" pitchFamily="49" charset="-128"/>
                <a:ea typeface="MigMix 1M" panose="020B0509020204020204" pitchFamily="49" charset="-128"/>
              </a:rPr>
              <a:t>)</a:t>
            </a:r>
          </a:p>
          <a:p>
            <a:pPr marL="0" indent="0">
              <a:buNone/>
            </a:pPr>
            <a:r>
              <a:rPr lang="en-US" altLang="ja-JP" sz="900" b="1" dirty="0">
                <a:latin typeface="MigMix 1M" panose="020B0509020204020204" pitchFamily="49" charset="-128"/>
                <a:ea typeface="MigMix 1M" panose="020B0509020204020204" pitchFamily="49" charset="-128"/>
              </a:rPr>
              <a:t>$CH</a:t>
            </a:r>
            <a:r>
              <a:rPr lang="en-US" altLang="ja-JP" sz="900" dirty="0">
                <a:latin typeface="MigMix 1M" panose="020B0509020204020204" pitchFamily="49" charset="-128"/>
                <a:ea typeface="MigMix 1M" panose="020B0509020204020204" pitchFamily="49" charset="-128"/>
              </a:rPr>
              <a:t>,time,ch,rfch,sat,sig,prn,lock,cn0,coff,dop,adr,ssync,bsync,fsync,rev,srev,err_phas,err_code,tow_v,tow,week,type,nnav,nerr,nlol,nfec</a:t>
            </a:r>
          </a:p>
          <a:p>
            <a:pPr marL="0" indent="0">
              <a:buNone/>
            </a:pPr>
            <a:r>
              <a:rPr lang="ja-JP" altLang="en-US" sz="900" dirty="0">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(receiver</a:t>
            </a:r>
            <a:r>
              <a:rPr lang="ja-JP" altLang="en-US" sz="900" dirty="0">
                <a:solidFill>
                  <a:schemeClr val="accent1"/>
                </a:solidFill>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channel</a:t>
            </a:r>
            <a:r>
              <a:rPr lang="ja-JP" altLang="en-US" sz="900" dirty="0">
                <a:solidFill>
                  <a:schemeClr val="accent1"/>
                </a:solidFill>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info)</a:t>
            </a:r>
          </a:p>
          <a:p>
            <a:pPr marL="0" indent="0">
              <a:buNone/>
            </a:pPr>
            <a:r>
              <a:rPr lang="en-US" altLang="ja-JP" sz="900" b="1" dirty="0">
                <a:latin typeface="MigMix 1M" panose="020B0509020204020204" pitchFamily="49" charset="-128"/>
                <a:ea typeface="MigMix 1M" panose="020B0509020204020204" pitchFamily="49" charset="-128"/>
              </a:rPr>
              <a:t>$</a:t>
            </a:r>
            <a:r>
              <a:rPr lang="en-US" altLang="ja-JP" sz="900" b="1" dirty="0" err="1">
                <a:latin typeface="MigMix 1M" panose="020B0509020204020204" pitchFamily="49" charset="-128"/>
                <a:ea typeface="MigMix 1M" panose="020B0509020204020204" pitchFamily="49" charset="-128"/>
              </a:rPr>
              <a:t>LOG</a:t>
            </a:r>
            <a:r>
              <a:rPr lang="en-US" altLang="ja-JP" sz="900" dirty="0" err="1">
                <a:latin typeface="MigMix 1M" panose="020B0509020204020204" pitchFamily="49" charset="-128"/>
                <a:ea typeface="MigMix 1M" panose="020B0509020204020204" pitchFamily="49" charset="-128"/>
              </a:rPr>
              <a:t>,time,message</a:t>
            </a:r>
            <a:r>
              <a:rPr lang="ja-JP" altLang="en-US" sz="900" dirty="0">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(error,</a:t>
            </a:r>
            <a:r>
              <a:rPr lang="ja-JP" altLang="en-US" sz="900" dirty="0">
                <a:solidFill>
                  <a:schemeClr val="accent1"/>
                </a:solidFill>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warning,</a:t>
            </a:r>
            <a:r>
              <a:rPr lang="ja-JP" altLang="en-US" sz="900" dirty="0">
                <a:solidFill>
                  <a:schemeClr val="accent1"/>
                </a:solidFill>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general</a:t>
            </a:r>
            <a:r>
              <a:rPr lang="ja-JP" altLang="en-US" sz="900" dirty="0">
                <a:solidFill>
                  <a:schemeClr val="accent1"/>
                </a:solidFill>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info</a:t>
            </a:r>
            <a:r>
              <a:rPr lang="ja-JP" altLang="en-US" sz="900" dirty="0">
                <a:solidFill>
                  <a:schemeClr val="accent1"/>
                </a:solidFill>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message)</a:t>
            </a:r>
          </a:p>
          <a:p>
            <a:pPr marL="0" indent="0">
              <a:buNone/>
            </a:pPr>
            <a:endParaRPr lang="en-US" altLang="ja-JP" sz="900" dirty="0">
              <a:latin typeface="MigMix 1M" panose="020B0509020204020204" pitchFamily="49" charset="-128"/>
              <a:ea typeface="MigMix 1M" panose="020B0509020204020204" pitchFamily="49" charset="-128"/>
            </a:endParaRPr>
          </a:p>
          <a:p>
            <a:pPr marL="0" indent="0">
              <a:buNone/>
            </a:pPr>
            <a:endParaRPr lang="en-US" altLang="ja-JP" sz="900" dirty="0">
              <a:latin typeface="MigMix 1M" panose="020B0509020204020204" pitchFamily="49" charset="-128"/>
              <a:ea typeface="MigMix 1M" panose="020B0509020204020204" pitchFamily="49" charset="-128"/>
            </a:endParaRPr>
          </a:p>
        </p:txBody>
      </p:sp>
      <p:sp>
        <p:nvSpPr>
          <p:cNvPr id="5" name="テキスト ボックス 4">
            <a:extLst>
              <a:ext uri="{FF2B5EF4-FFF2-40B4-BE49-F238E27FC236}">
                <a16:creationId xmlns:a16="http://schemas.microsoft.com/office/drawing/2014/main" id="{00A01E7C-2674-60BF-9A93-A31BDFA47BBD}"/>
              </a:ext>
            </a:extLst>
          </p:cNvPr>
          <p:cNvSpPr txBox="1"/>
          <p:nvPr/>
        </p:nvSpPr>
        <p:spPr>
          <a:xfrm>
            <a:off x="6264188" y="3465477"/>
            <a:ext cx="2482262" cy="3108543"/>
          </a:xfrm>
          <a:prstGeom prst="rect">
            <a:avLst/>
          </a:prstGeom>
          <a:noFill/>
          <a:ln>
            <a:noFill/>
          </a:ln>
        </p:spPr>
        <p:txBody>
          <a:bodyPr wrap="square">
            <a:spAutoFit/>
          </a:bodyPr>
          <a:lstStyle/>
          <a:p>
            <a:r>
              <a:rPr lang="en-US" altLang="ja-JP" sz="700" b="1" dirty="0">
                <a:latin typeface="MigMix 1M" panose="020B0509020204020204" pitchFamily="49" charset="-128"/>
                <a:ea typeface="MigMix 1M" panose="020B0509020204020204" pitchFamily="49" charset="-128"/>
              </a:rPr>
              <a:t>$CH</a:t>
            </a:r>
          </a:p>
          <a:p>
            <a:r>
              <a:rPr lang="ja-JP" altLang="en-US" sz="700" dirty="0">
                <a:latin typeface="MigMix 1M" panose="020B0509020204020204" pitchFamily="49" charset="-128"/>
                <a:ea typeface="MigMix 1M" panose="020B0509020204020204" pitchFamily="49" charset="-128"/>
              </a:rPr>
              <a:t>time  receiver time (s)</a:t>
            </a:r>
          </a:p>
          <a:p>
            <a:r>
              <a:rPr lang="ja-JP" altLang="en-US" sz="700" dirty="0">
                <a:latin typeface="MigMix 1M" panose="020B0509020204020204" pitchFamily="49" charset="-128"/>
                <a:ea typeface="MigMix 1M" panose="020B0509020204020204" pitchFamily="49" charset="-128"/>
              </a:rPr>
              <a:t>ch    receiver channel number</a:t>
            </a:r>
          </a:p>
          <a:p>
            <a:r>
              <a:rPr lang="ja-JP" altLang="en-US" sz="700" dirty="0">
                <a:latin typeface="MigMix 1M" panose="020B0509020204020204" pitchFamily="49" charset="-128"/>
                <a:ea typeface="MigMix 1M" panose="020B0509020204020204" pitchFamily="49" charset="-128"/>
              </a:rPr>
              <a:t>rfch  RF channel number</a:t>
            </a:r>
          </a:p>
          <a:p>
            <a:r>
              <a:rPr lang="ja-JP" altLang="en-US" sz="700" dirty="0">
                <a:latin typeface="MigMix 1M" panose="020B0509020204020204" pitchFamily="49" charset="-128"/>
                <a:ea typeface="MigMix 1M" panose="020B0509020204020204" pitchFamily="49" charset="-128"/>
              </a:rPr>
              <a:t>sat   satellite ID</a:t>
            </a:r>
          </a:p>
          <a:p>
            <a:r>
              <a:rPr lang="ja-JP" altLang="en-US" sz="700" dirty="0">
                <a:latin typeface="MigMix 1M" panose="020B0509020204020204" pitchFamily="49" charset="-128"/>
                <a:ea typeface="MigMix 1M" panose="020B0509020204020204" pitchFamily="49" charset="-128"/>
              </a:rPr>
              <a:t>sig   signal ID</a:t>
            </a:r>
          </a:p>
          <a:p>
            <a:r>
              <a:rPr lang="ja-JP" altLang="en-US" sz="700" dirty="0">
                <a:latin typeface="MigMix 1M" panose="020B0509020204020204" pitchFamily="49" charset="-128"/>
                <a:ea typeface="MigMix 1M" panose="020B0509020204020204" pitchFamily="49" charset="-128"/>
              </a:rPr>
              <a:t>prn   PRN number</a:t>
            </a:r>
          </a:p>
          <a:p>
            <a:r>
              <a:rPr lang="ja-JP" altLang="en-US" sz="700" dirty="0">
                <a:latin typeface="MigMix 1M" panose="020B0509020204020204" pitchFamily="49" charset="-128"/>
                <a:ea typeface="MigMix 1M" panose="020B0509020204020204" pitchFamily="49" charset="-128"/>
              </a:rPr>
              <a:t>lock  lock time (s)</a:t>
            </a:r>
          </a:p>
          <a:p>
            <a:r>
              <a:rPr lang="ja-JP" altLang="en-US" sz="700" dirty="0">
                <a:latin typeface="MigMix 1M" panose="020B0509020204020204" pitchFamily="49" charset="-128"/>
                <a:ea typeface="MigMix 1M" panose="020B0509020204020204" pitchFamily="49" charset="-128"/>
              </a:rPr>
              <a:t>cn0   C/N0 (dB-Hz)</a:t>
            </a:r>
          </a:p>
          <a:p>
            <a:r>
              <a:rPr lang="ja-JP" altLang="en-US" sz="700" dirty="0">
                <a:latin typeface="MigMix 1M" panose="020B0509020204020204" pitchFamily="49" charset="-128"/>
                <a:ea typeface="MigMix 1M" panose="020B0509020204020204" pitchFamily="49" charset="-128"/>
              </a:rPr>
              <a:t>coff  code offset (ms)</a:t>
            </a:r>
          </a:p>
          <a:p>
            <a:r>
              <a:rPr lang="ja-JP" altLang="en-US" sz="700" dirty="0">
                <a:latin typeface="MigMix 1M" panose="020B0509020204020204" pitchFamily="49" charset="-128"/>
                <a:ea typeface="MigMix 1M" panose="020B0509020204020204" pitchFamily="49" charset="-128"/>
              </a:rPr>
              <a:t>dop   Doppler frequency (Hz)</a:t>
            </a:r>
          </a:p>
          <a:p>
            <a:r>
              <a:rPr lang="ja-JP" altLang="en-US" sz="700" dirty="0">
                <a:latin typeface="MigMix 1M" panose="020B0509020204020204" pitchFamily="49" charset="-128"/>
                <a:ea typeface="MigMix 1M" panose="020B0509020204020204" pitchFamily="49" charset="-128"/>
              </a:rPr>
              <a:t>adr   accumlated Doppler range (cyc)</a:t>
            </a:r>
          </a:p>
          <a:p>
            <a:r>
              <a:rPr lang="ja-JP" altLang="en-US" sz="700" dirty="0">
                <a:latin typeface="MigMix 1M" panose="020B0509020204020204" pitchFamily="49" charset="-128"/>
                <a:ea typeface="MigMix 1M" panose="020B0509020204020204" pitchFamily="49" charset="-128"/>
              </a:rPr>
              <a:t>ssync secondary code sync flag(0:async,1:sync)</a:t>
            </a:r>
          </a:p>
          <a:p>
            <a:r>
              <a:rPr lang="ja-JP" altLang="en-US" sz="700" dirty="0">
                <a:latin typeface="MigMix 1M" panose="020B0509020204020204" pitchFamily="49" charset="-128"/>
                <a:ea typeface="MigMix 1M" panose="020B0509020204020204" pitchFamily="49" charset="-128"/>
              </a:rPr>
              <a:t>bsync symbol/bit sync flag (0:async,1:sync)</a:t>
            </a:r>
          </a:p>
          <a:p>
            <a:r>
              <a:rPr lang="ja-JP" altLang="en-US" sz="700" dirty="0">
                <a:latin typeface="MigMix 1M" panose="020B0509020204020204" pitchFamily="49" charset="-128"/>
                <a:ea typeface="MigMix 1M" panose="020B0509020204020204" pitchFamily="49" charset="-128"/>
              </a:rPr>
              <a:t>fsync frame sync flag (0:async,1:sync)</a:t>
            </a:r>
          </a:p>
          <a:p>
            <a:r>
              <a:rPr lang="ja-JP" altLang="en-US" sz="700" dirty="0">
                <a:latin typeface="MigMix 1M" panose="020B0509020204020204" pitchFamily="49" charset="-128"/>
                <a:ea typeface="MigMix 1M" panose="020B0509020204020204" pitchFamily="49" charset="-128"/>
              </a:rPr>
              <a:t>rev   primary code polarity (0:normal,1:reversed)</a:t>
            </a:r>
          </a:p>
          <a:p>
            <a:r>
              <a:rPr lang="ja-JP" altLang="en-US" sz="700" dirty="0">
                <a:latin typeface="MigMix 1M" panose="020B0509020204020204" pitchFamily="49" charset="-128"/>
                <a:ea typeface="MigMix 1M" panose="020B0509020204020204" pitchFamily="49" charset="-128"/>
              </a:rPr>
              <a:t>srev  secondary code polarity (0:normal,1:reversed)</a:t>
            </a:r>
          </a:p>
          <a:p>
            <a:r>
              <a:rPr lang="ja-JP" altLang="en-US" sz="700" dirty="0">
                <a:latin typeface="MigMix 1M" panose="020B0509020204020204" pitchFamily="49" charset="-128"/>
                <a:ea typeface="MigMix 1M" panose="020B0509020204020204" pitchFamily="49" charset="-128"/>
              </a:rPr>
              <a:t>err_phas  phase error (cyc)</a:t>
            </a:r>
          </a:p>
          <a:p>
            <a:r>
              <a:rPr lang="ja-JP" altLang="en-US" sz="700" dirty="0">
                <a:latin typeface="MigMix 1M" panose="020B0509020204020204" pitchFamily="49" charset="-128"/>
                <a:ea typeface="MigMix 1M" panose="020B0509020204020204" pitchFamily="49" charset="-128"/>
              </a:rPr>
              <a:t>err_code  code error (10^-6 s)</a:t>
            </a:r>
          </a:p>
          <a:p>
            <a:r>
              <a:rPr lang="ja-JP" altLang="en-US" sz="700" dirty="0">
                <a:latin typeface="MigMix 1M" panose="020B0509020204020204" pitchFamily="49" charset="-128"/>
                <a:ea typeface="MigMix 1M" panose="020B0509020204020204" pitchFamily="49" charset="-128"/>
              </a:rPr>
              <a:t>tow_v  tow valid flag (0:invalid,1:valid,</a:t>
            </a:r>
            <a:endParaRPr lang="en-US" altLang="ja-JP" sz="700" dirty="0">
              <a:latin typeface="MigMix 1M" panose="020B0509020204020204" pitchFamily="49" charset="-128"/>
              <a:ea typeface="MigMix 1M" panose="020B0509020204020204" pitchFamily="49" charset="-128"/>
            </a:endParaRPr>
          </a:p>
          <a:p>
            <a:r>
              <a:rPr lang="ja-JP" altLang="en-US" sz="700" dirty="0">
                <a:latin typeface="MigMix 1M" panose="020B0509020204020204" pitchFamily="49" charset="-128"/>
                <a:ea typeface="MigMix 1M" panose="020B0509020204020204" pitchFamily="49" charset="-128"/>
              </a:rPr>
              <a:t>      2:ambiguity unresolved)</a:t>
            </a:r>
          </a:p>
          <a:p>
            <a:r>
              <a:rPr lang="ja-JP" altLang="en-US" sz="700" dirty="0">
                <a:latin typeface="MigMix 1M" panose="020B0509020204020204" pitchFamily="49" charset="-128"/>
                <a:ea typeface="MigMix 1M" panose="020B0509020204020204" pitchFamily="49" charset="-128"/>
              </a:rPr>
              <a:t>tow   time of week (ms)</a:t>
            </a:r>
          </a:p>
          <a:p>
            <a:r>
              <a:rPr lang="ja-JP" altLang="en-US" sz="700" dirty="0">
                <a:latin typeface="MigMix 1M" panose="020B0509020204020204" pitchFamily="49" charset="-128"/>
                <a:ea typeface="MigMix 1M" panose="020B0509020204020204" pitchFamily="49" charset="-128"/>
              </a:rPr>
              <a:t>week  week number (week)</a:t>
            </a:r>
          </a:p>
          <a:p>
            <a:r>
              <a:rPr lang="ja-JP" altLang="en-US" sz="700" dirty="0">
                <a:latin typeface="MigMix 1M" panose="020B0509020204020204" pitchFamily="49" charset="-128"/>
                <a:ea typeface="MigMix 1M" panose="020B0509020204020204" pitchFamily="49" charset="-128"/>
              </a:rPr>
              <a:t>type  navigation subframe or message type</a:t>
            </a:r>
          </a:p>
          <a:p>
            <a:r>
              <a:rPr lang="ja-JP" altLang="en-US" sz="700" dirty="0">
                <a:latin typeface="MigMix 1M" panose="020B0509020204020204" pitchFamily="49" charset="-128"/>
                <a:ea typeface="MigMix 1M" panose="020B0509020204020204" pitchFamily="49" charset="-128"/>
              </a:rPr>
              <a:t>nnav  navigation subframe/message count</a:t>
            </a:r>
          </a:p>
          <a:p>
            <a:r>
              <a:rPr lang="ja-JP" altLang="en-US" sz="700" dirty="0">
                <a:latin typeface="MigMix 1M" panose="020B0509020204020204" pitchFamily="49" charset="-128"/>
                <a:ea typeface="MigMix 1M" panose="020B0509020204020204" pitchFamily="49" charset="-128"/>
              </a:rPr>
              <a:t>nerr  error subframe/message count</a:t>
            </a:r>
          </a:p>
          <a:p>
            <a:r>
              <a:rPr lang="ja-JP" altLang="en-US" sz="700" dirty="0">
                <a:latin typeface="MigMix 1M" panose="020B0509020204020204" pitchFamily="49" charset="-128"/>
                <a:ea typeface="MigMix 1M" panose="020B0509020204020204" pitchFamily="49" charset="-128"/>
              </a:rPr>
              <a:t>nlol  loss-of-lock count</a:t>
            </a:r>
          </a:p>
          <a:p>
            <a:r>
              <a:rPr lang="ja-JP" altLang="en-US" sz="700" dirty="0">
                <a:latin typeface="MigMix 1M" panose="020B0509020204020204" pitchFamily="49" charset="-128"/>
                <a:ea typeface="MigMix 1M" panose="020B0509020204020204" pitchFamily="49" charset="-128"/>
              </a:rPr>
              <a:t>nfec  number of error corrected (bits)</a:t>
            </a:r>
          </a:p>
        </p:txBody>
      </p:sp>
      <p:sp>
        <p:nvSpPr>
          <p:cNvPr id="12" name="テキスト ボックス 11">
            <a:extLst>
              <a:ext uri="{FF2B5EF4-FFF2-40B4-BE49-F238E27FC236}">
                <a16:creationId xmlns:a16="http://schemas.microsoft.com/office/drawing/2014/main" id="{F81486D3-BC81-BE53-D53B-EE8EA9934D42}"/>
              </a:ext>
            </a:extLst>
          </p:cNvPr>
          <p:cNvSpPr txBox="1"/>
          <p:nvPr/>
        </p:nvSpPr>
        <p:spPr>
          <a:xfrm>
            <a:off x="4068782" y="3465476"/>
            <a:ext cx="2303418" cy="3216265"/>
          </a:xfrm>
          <a:prstGeom prst="rect">
            <a:avLst/>
          </a:prstGeom>
          <a:noFill/>
          <a:ln>
            <a:noFill/>
          </a:ln>
        </p:spPr>
        <p:txBody>
          <a:bodyPr wrap="square">
            <a:spAutoFit/>
          </a:bodyPr>
          <a:lstStyle/>
          <a:p>
            <a:r>
              <a:rPr lang="en-US" altLang="ja-JP" sz="700" b="1" dirty="0">
                <a:latin typeface="MigMix 1M" panose="020B0509020204020204" pitchFamily="49" charset="-128"/>
                <a:ea typeface="MigMix 1M" panose="020B0509020204020204" pitchFamily="49" charset="-128"/>
              </a:rPr>
              <a:t>$SAT</a:t>
            </a:r>
          </a:p>
          <a:p>
            <a:r>
              <a:rPr lang="en-US" altLang="ja-JP" sz="700" dirty="0">
                <a:latin typeface="MigMix 1M" panose="020B0509020204020204" pitchFamily="49" charset="-128"/>
                <a:ea typeface="MigMix 1M" panose="020B0509020204020204" pitchFamily="49" charset="-128"/>
              </a:rPr>
              <a:t>time  receiver time (s)</a:t>
            </a:r>
          </a:p>
          <a:p>
            <a:r>
              <a:rPr lang="en-US" altLang="ja-JP" sz="700" dirty="0" err="1">
                <a:latin typeface="MigMix 1M" panose="020B0509020204020204" pitchFamily="49" charset="-128"/>
                <a:ea typeface="MigMix 1M" panose="020B0509020204020204" pitchFamily="49" charset="-128"/>
              </a:rPr>
              <a:t>year,month,day</a:t>
            </a:r>
            <a:r>
              <a:rPr lang="en-US" altLang="ja-JP" sz="700" dirty="0">
                <a:latin typeface="MigMix 1M" panose="020B0509020204020204" pitchFamily="49" charset="-128"/>
                <a:ea typeface="MigMix 1M" panose="020B0509020204020204" pitchFamily="49" charset="-128"/>
              </a:rPr>
              <a:t>  solution day (GPST)</a:t>
            </a:r>
          </a:p>
          <a:p>
            <a:r>
              <a:rPr lang="en-US" altLang="ja-JP" sz="700" dirty="0" err="1">
                <a:latin typeface="MigMix 1M" panose="020B0509020204020204" pitchFamily="49" charset="-128"/>
                <a:ea typeface="MigMix 1M" panose="020B0509020204020204" pitchFamily="49" charset="-128"/>
              </a:rPr>
              <a:t>hour,min,sec</a:t>
            </a:r>
            <a:r>
              <a:rPr lang="en-US" altLang="ja-JP" sz="700" dirty="0">
                <a:latin typeface="MigMix 1M" panose="020B0509020204020204" pitchFamily="49" charset="-128"/>
                <a:ea typeface="MigMix 1M" panose="020B0509020204020204" pitchFamily="49" charset="-128"/>
              </a:rPr>
              <a:t>  solution time (GPST)</a:t>
            </a:r>
          </a:p>
          <a:p>
            <a:r>
              <a:rPr lang="en-US" altLang="ja-JP" sz="700" dirty="0">
                <a:latin typeface="MigMix 1M" panose="020B0509020204020204" pitchFamily="49" charset="-128"/>
                <a:ea typeface="MigMix 1M" panose="020B0509020204020204" pitchFamily="49" charset="-128"/>
              </a:rPr>
              <a:t>sat   satellite ID</a:t>
            </a:r>
          </a:p>
          <a:p>
            <a:r>
              <a:rPr lang="en-US" altLang="ja-JP" sz="700" dirty="0" err="1">
                <a:latin typeface="MigMix 1M" panose="020B0509020204020204" pitchFamily="49" charset="-128"/>
                <a:ea typeface="MigMix 1M" panose="020B0509020204020204" pitchFamily="49" charset="-128"/>
              </a:rPr>
              <a:t>pvt</a:t>
            </a:r>
            <a:r>
              <a:rPr lang="en-US" altLang="ja-JP" sz="700" dirty="0">
                <a:latin typeface="MigMix 1M" panose="020B0509020204020204" pitchFamily="49" charset="-128"/>
                <a:ea typeface="MigMix 1M" panose="020B0509020204020204" pitchFamily="49" charset="-128"/>
              </a:rPr>
              <a:t>   PVT status (0:not used,1:used)</a:t>
            </a:r>
          </a:p>
          <a:p>
            <a:r>
              <a:rPr lang="en-US" altLang="ja-JP" sz="700" dirty="0" err="1">
                <a:latin typeface="MigMix 1M" panose="020B0509020204020204" pitchFamily="49" charset="-128"/>
                <a:ea typeface="MigMix 1M" panose="020B0509020204020204" pitchFamily="49" charset="-128"/>
              </a:rPr>
              <a:t>obs</a:t>
            </a:r>
            <a:r>
              <a:rPr lang="en-US" altLang="ja-JP" sz="700" dirty="0">
                <a:latin typeface="MigMix 1M" panose="020B0509020204020204" pitchFamily="49" charset="-128"/>
                <a:ea typeface="MigMix 1M" panose="020B0509020204020204" pitchFamily="49" charset="-128"/>
              </a:rPr>
              <a:t>   L1 </a:t>
            </a:r>
            <a:r>
              <a:rPr lang="en-US" altLang="ja-JP" sz="700" dirty="0" err="1">
                <a:latin typeface="MigMix 1M" panose="020B0509020204020204" pitchFamily="49" charset="-128"/>
                <a:ea typeface="MigMix 1M" panose="020B0509020204020204" pitchFamily="49" charset="-128"/>
              </a:rPr>
              <a:t>obs</a:t>
            </a:r>
            <a:r>
              <a:rPr lang="en-US" altLang="ja-JP" sz="700" dirty="0">
                <a:latin typeface="MigMix 1M" panose="020B0509020204020204" pitchFamily="49" charset="-128"/>
                <a:ea typeface="MigMix 1M" panose="020B0509020204020204" pitchFamily="49" charset="-128"/>
              </a:rPr>
              <a:t> data status</a:t>
            </a:r>
          </a:p>
          <a:p>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 (0:unavailable,1:available)</a:t>
            </a:r>
          </a:p>
          <a:p>
            <a:r>
              <a:rPr lang="en-US" altLang="ja-JP" sz="700" dirty="0">
                <a:latin typeface="MigMix 1M" panose="020B0509020204020204" pitchFamily="49" charset="-128"/>
                <a:ea typeface="MigMix 1M" panose="020B0509020204020204" pitchFamily="49" charset="-128"/>
              </a:rPr>
              <a:t>cn0   L1 signal C/N0 (dB-Hz)</a:t>
            </a:r>
          </a:p>
          <a:p>
            <a:r>
              <a:rPr lang="en-US" altLang="ja-JP" sz="700" dirty="0" err="1">
                <a:latin typeface="MigMix 1M" panose="020B0509020204020204" pitchFamily="49" charset="-128"/>
                <a:ea typeface="MigMix 1M" panose="020B0509020204020204" pitchFamily="49" charset="-128"/>
              </a:rPr>
              <a:t>az</a:t>
            </a:r>
            <a:r>
              <a:rPr lang="en-US" altLang="ja-JP" sz="700" dirty="0">
                <a:latin typeface="MigMix 1M" panose="020B0509020204020204" pitchFamily="49" charset="-128"/>
                <a:ea typeface="MigMix 1M" panose="020B0509020204020204" pitchFamily="49" charset="-128"/>
              </a:rPr>
              <a:t>    azimuth angle (deg)</a:t>
            </a:r>
          </a:p>
          <a:p>
            <a:r>
              <a:rPr lang="en-US" altLang="ja-JP" sz="700" dirty="0" err="1">
                <a:latin typeface="MigMix 1M" panose="020B0509020204020204" pitchFamily="49" charset="-128"/>
                <a:ea typeface="MigMix 1M" panose="020B0509020204020204" pitchFamily="49" charset="-128"/>
              </a:rPr>
              <a:t>el</a:t>
            </a:r>
            <a:r>
              <a:rPr lang="en-US" altLang="ja-JP" sz="700" dirty="0">
                <a:latin typeface="MigMix 1M" panose="020B0509020204020204" pitchFamily="49" charset="-128"/>
                <a:ea typeface="MigMix 1M" panose="020B0509020204020204" pitchFamily="49" charset="-128"/>
              </a:rPr>
              <a:t>    </a:t>
            </a:r>
            <a:r>
              <a:rPr lang="en-US" altLang="ja-JP" sz="700" dirty="0" err="1">
                <a:latin typeface="MigMix 1M" panose="020B0509020204020204" pitchFamily="49" charset="-128"/>
                <a:ea typeface="MigMix 1M" panose="020B0509020204020204" pitchFamily="49" charset="-128"/>
              </a:rPr>
              <a:t>elavation</a:t>
            </a:r>
            <a:r>
              <a:rPr lang="en-US" altLang="ja-JP" sz="700" dirty="0">
                <a:latin typeface="MigMix 1M" panose="020B0509020204020204" pitchFamily="49" charset="-128"/>
                <a:ea typeface="MigMix 1M" panose="020B0509020204020204" pitchFamily="49" charset="-128"/>
              </a:rPr>
              <a:t> angle (deg)</a:t>
            </a:r>
          </a:p>
          <a:p>
            <a:r>
              <a:rPr lang="en-US" altLang="ja-JP" sz="700" dirty="0">
                <a:latin typeface="MigMix 1M" panose="020B0509020204020204" pitchFamily="49" charset="-128"/>
                <a:ea typeface="MigMix 1M" panose="020B0509020204020204" pitchFamily="49" charset="-128"/>
              </a:rPr>
              <a:t>res   L1 </a:t>
            </a:r>
            <a:r>
              <a:rPr lang="en-US" altLang="ja-JP" sz="700" dirty="0" err="1">
                <a:latin typeface="MigMix 1M" panose="020B0509020204020204" pitchFamily="49" charset="-128"/>
                <a:ea typeface="MigMix 1M" panose="020B0509020204020204" pitchFamily="49" charset="-128"/>
              </a:rPr>
              <a:t>pseudorange</a:t>
            </a:r>
            <a:r>
              <a:rPr lang="en-US" altLang="ja-JP" sz="700" dirty="0">
                <a:latin typeface="MigMix 1M" panose="020B0509020204020204" pitchFamily="49" charset="-128"/>
                <a:ea typeface="MigMix 1M" panose="020B0509020204020204" pitchFamily="49" charset="-128"/>
              </a:rPr>
              <a:t> residual (m)</a:t>
            </a:r>
          </a:p>
          <a:p>
            <a:endParaRPr lang="en-US" altLang="ja-JP" sz="700" b="1" dirty="0">
              <a:latin typeface="MigMix 1M" panose="020B0509020204020204" pitchFamily="49" charset="-128"/>
              <a:ea typeface="MigMix 1M" panose="020B0509020204020204" pitchFamily="49" charset="-128"/>
            </a:endParaRPr>
          </a:p>
          <a:p>
            <a:r>
              <a:rPr lang="en-US" altLang="ja-JP" sz="700" b="1" dirty="0">
                <a:latin typeface="MigMix 1M" panose="020B0509020204020204" pitchFamily="49" charset="-128"/>
                <a:ea typeface="MigMix 1M" panose="020B0509020204020204" pitchFamily="49" charset="-128"/>
              </a:rPr>
              <a:t>$EPH</a:t>
            </a:r>
          </a:p>
          <a:p>
            <a:r>
              <a:rPr lang="en-US" altLang="ja-JP" sz="700" dirty="0">
                <a:latin typeface="MigMix 1M" panose="020B0509020204020204" pitchFamily="49" charset="-128"/>
                <a:ea typeface="MigMix 1M" panose="020B0509020204020204" pitchFamily="49" charset="-128"/>
              </a:rPr>
              <a:t>time  receiver time (s)</a:t>
            </a:r>
          </a:p>
          <a:p>
            <a:r>
              <a:rPr lang="en-US" altLang="ja-JP" sz="700" dirty="0">
                <a:latin typeface="MigMix 1M" panose="020B0509020204020204" pitchFamily="49" charset="-128"/>
                <a:ea typeface="MigMix 1M" panose="020B0509020204020204" pitchFamily="49" charset="-128"/>
              </a:rPr>
              <a:t>sat</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satellite</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ID</a:t>
            </a:r>
          </a:p>
          <a:p>
            <a:r>
              <a:rPr lang="en-US" altLang="ja-JP" sz="700" dirty="0">
                <a:latin typeface="MigMix 1M" panose="020B0509020204020204" pitchFamily="49" charset="-128"/>
                <a:ea typeface="MigMix 1M" panose="020B0509020204020204" pitchFamily="49" charset="-128"/>
              </a:rPr>
              <a:t>sig</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signal</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ID</a:t>
            </a:r>
          </a:p>
          <a:p>
            <a:r>
              <a:rPr lang="en-US" altLang="ja-JP" sz="700" dirty="0">
                <a:latin typeface="MigMix 1M" panose="020B0509020204020204" pitchFamily="49" charset="-128"/>
                <a:ea typeface="MigMix 1M" panose="020B0509020204020204" pitchFamily="49" charset="-128"/>
              </a:rPr>
              <a:t>...</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decoded</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ephemeris</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parameters</a:t>
            </a:r>
          </a:p>
          <a:p>
            <a:endParaRPr lang="en-US" altLang="ja-JP" sz="700" b="1" dirty="0">
              <a:latin typeface="MigMix 1M" panose="020B0509020204020204" pitchFamily="49" charset="-128"/>
              <a:ea typeface="MigMix 1M" panose="020B0509020204020204" pitchFamily="49" charset="-128"/>
            </a:endParaRPr>
          </a:p>
          <a:p>
            <a:r>
              <a:rPr lang="en-US" altLang="ja-JP" sz="700" b="1" dirty="0">
                <a:latin typeface="MigMix 1M" panose="020B0509020204020204" pitchFamily="49" charset="-128"/>
                <a:ea typeface="MigMix 1M" panose="020B0509020204020204" pitchFamily="49" charset="-128"/>
              </a:rPr>
              <a:t>$ALM</a:t>
            </a:r>
          </a:p>
          <a:p>
            <a:r>
              <a:rPr lang="en-US" altLang="ja-JP" sz="700" dirty="0">
                <a:latin typeface="MigMix 1M" panose="020B0509020204020204" pitchFamily="49" charset="-128"/>
                <a:ea typeface="MigMix 1M" panose="020B0509020204020204" pitchFamily="49" charset="-128"/>
              </a:rPr>
              <a:t>time  receiver time (s)</a:t>
            </a:r>
          </a:p>
          <a:p>
            <a:r>
              <a:rPr lang="en-US" altLang="ja-JP" sz="700" dirty="0">
                <a:latin typeface="MigMix 1M" panose="020B0509020204020204" pitchFamily="49" charset="-128"/>
                <a:ea typeface="MigMix 1M" panose="020B0509020204020204" pitchFamily="49" charset="-128"/>
              </a:rPr>
              <a:t>sat</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satellite</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ID</a:t>
            </a:r>
          </a:p>
          <a:p>
            <a:r>
              <a:rPr lang="en-US" altLang="ja-JP" sz="700" dirty="0">
                <a:latin typeface="MigMix 1M" panose="020B0509020204020204" pitchFamily="49" charset="-128"/>
                <a:ea typeface="MigMix 1M" panose="020B0509020204020204" pitchFamily="49" charset="-128"/>
              </a:rPr>
              <a:t>sig</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signal</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ID</a:t>
            </a:r>
          </a:p>
          <a:p>
            <a:r>
              <a:rPr lang="en-US" altLang="ja-JP" sz="700" dirty="0">
                <a:latin typeface="MigMix 1M" panose="020B0509020204020204" pitchFamily="49" charset="-128"/>
                <a:ea typeface="MigMix 1M" panose="020B0509020204020204" pitchFamily="49" charset="-128"/>
              </a:rPr>
              <a:t>...</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decoded</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almanac</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parameters</a:t>
            </a:r>
          </a:p>
          <a:p>
            <a:endParaRPr lang="en-US" altLang="ja-JP" sz="700" dirty="0">
              <a:latin typeface="MigMix 1M" panose="020B0509020204020204" pitchFamily="49" charset="-128"/>
              <a:ea typeface="MigMix 1M" panose="020B0509020204020204" pitchFamily="49" charset="-128"/>
            </a:endParaRPr>
          </a:p>
          <a:p>
            <a:r>
              <a:rPr lang="en-US" altLang="ja-JP" sz="700" b="1" dirty="0">
                <a:latin typeface="MigMix 1M" panose="020B0509020204020204" pitchFamily="49" charset="-128"/>
                <a:ea typeface="MigMix 1M" panose="020B0509020204020204" pitchFamily="49" charset="-128"/>
              </a:rPr>
              <a:t>$LOG</a:t>
            </a:r>
          </a:p>
          <a:p>
            <a:r>
              <a:rPr lang="en-US" altLang="ja-JP" sz="700" dirty="0">
                <a:latin typeface="MigMix 1M" panose="020B0509020204020204" pitchFamily="49" charset="-128"/>
                <a:ea typeface="MigMix 1M" panose="020B0509020204020204" pitchFamily="49" charset="-128"/>
              </a:rPr>
              <a:t>time</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receiver</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time</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(s)</a:t>
            </a:r>
          </a:p>
          <a:p>
            <a:r>
              <a:rPr lang="en-US" altLang="ja-JP" sz="700" dirty="0">
                <a:latin typeface="MigMix 1M" panose="020B0509020204020204" pitchFamily="49" charset="-128"/>
                <a:ea typeface="MigMix 1M" panose="020B0509020204020204" pitchFamily="49" charset="-128"/>
              </a:rPr>
              <a:t>message</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error,</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warning</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or</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general info</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message</a:t>
            </a:r>
          </a:p>
        </p:txBody>
      </p:sp>
      <p:sp>
        <p:nvSpPr>
          <p:cNvPr id="13" name="テキスト ボックス 12">
            <a:extLst>
              <a:ext uri="{FF2B5EF4-FFF2-40B4-BE49-F238E27FC236}">
                <a16:creationId xmlns:a16="http://schemas.microsoft.com/office/drawing/2014/main" id="{3C90372D-FCEB-9A6E-694C-F06C9627F7C2}"/>
              </a:ext>
            </a:extLst>
          </p:cNvPr>
          <p:cNvSpPr txBox="1"/>
          <p:nvPr/>
        </p:nvSpPr>
        <p:spPr>
          <a:xfrm>
            <a:off x="457200" y="3465478"/>
            <a:ext cx="1800200" cy="2785378"/>
          </a:xfrm>
          <a:prstGeom prst="rect">
            <a:avLst/>
          </a:prstGeom>
          <a:noFill/>
          <a:ln>
            <a:noFill/>
          </a:ln>
        </p:spPr>
        <p:txBody>
          <a:bodyPr wrap="square">
            <a:spAutoFit/>
          </a:bodyPr>
          <a:lstStyle/>
          <a:p>
            <a:r>
              <a:rPr lang="en-US" altLang="ja-JP" sz="700" b="1" dirty="0">
                <a:latin typeface="MigMix 1M" panose="020B0509020204020204" pitchFamily="49" charset="-128"/>
                <a:ea typeface="MigMix 1M" panose="020B0509020204020204" pitchFamily="49" charset="-128"/>
              </a:rPr>
              <a:t>$TIME</a:t>
            </a:r>
          </a:p>
          <a:p>
            <a:r>
              <a:rPr lang="en-US" altLang="ja-JP" sz="700" dirty="0">
                <a:latin typeface="MigMix 1M" panose="020B0509020204020204" pitchFamily="49" charset="-128"/>
                <a:ea typeface="MigMix 1M" panose="020B0509020204020204" pitchFamily="49" charset="-128"/>
              </a:rPr>
              <a:t>time  receiver time (s)</a:t>
            </a:r>
          </a:p>
          <a:p>
            <a:r>
              <a:rPr lang="en-US" altLang="ja-JP" sz="700" dirty="0">
                <a:latin typeface="MigMix 1M" panose="020B0509020204020204" pitchFamily="49" charset="-128"/>
                <a:ea typeface="MigMix 1M" panose="020B0509020204020204" pitchFamily="49" charset="-128"/>
              </a:rPr>
              <a:t>year  </a:t>
            </a:r>
            <a:r>
              <a:rPr lang="en-US" altLang="ja-JP" sz="700" dirty="0" err="1">
                <a:latin typeface="MigMix 1M" panose="020B0509020204020204" pitchFamily="49" charset="-128"/>
                <a:ea typeface="MigMix 1M" panose="020B0509020204020204" pitchFamily="49" charset="-128"/>
              </a:rPr>
              <a:t>year</a:t>
            </a:r>
            <a:r>
              <a:rPr lang="en-US" altLang="ja-JP" sz="700" dirty="0">
                <a:latin typeface="MigMix 1M" panose="020B0509020204020204" pitchFamily="49" charset="-128"/>
                <a:ea typeface="MigMix 1M" panose="020B0509020204020204" pitchFamily="49" charset="-128"/>
              </a:rPr>
              <a:t> (2000-2099)</a:t>
            </a:r>
          </a:p>
          <a:p>
            <a:r>
              <a:rPr lang="en-US" altLang="ja-JP" sz="700" dirty="0" err="1">
                <a:latin typeface="MigMix 1M" panose="020B0509020204020204" pitchFamily="49" charset="-128"/>
                <a:ea typeface="MigMix 1M" panose="020B0509020204020204" pitchFamily="49" charset="-128"/>
              </a:rPr>
              <a:t>mon</a:t>
            </a:r>
            <a:r>
              <a:rPr lang="en-US" altLang="ja-JP" sz="700" dirty="0">
                <a:latin typeface="MigMix 1M" panose="020B0509020204020204" pitchFamily="49" charset="-128"/>
                <a:ea typeface="MigMix 1M" panose="020B0509020204020204" pitchFamily="49" charset="-128"/>
              </a:rPr>
              <a:t>   month (1-12)</a:t>
            </a:r>
          </a:p>
          <a:p>
            <a:r>
              <a:rPr lang="en-US" altLang="ja-JP" sz="700" dirty="0">
                <a:latin typeface="MigMix 1M" panose="020B0509020204020204" pitchFamily="49" charset="-128"/>
                <a:ea typeface="MigMix 1M" panose="020B0509020204020204" pitchFamily="49" charset="-128"/>
              </a:rPr>
              <a:t>day   </a:t>
            </a:r>
            <a:r>
              <a:rPr lang="en-US" altLang="ja-JP" sz="700" dirty="0" err="1">
                <a:latin typeface="MigMix 1M" panose="020B0509020204020204" pitchFamily="49" charset="-128"/>
                <a:ea typeface="MigMix 1M" panose="020B0509020204020204" pitchFamily="49" charset="-128"/>
              </a:rPr>
              <a:t>day</a:t>
            </a:r>
            <a:r>
              <a:rPr lang="en-US" altLang="ja-JP" sz="700" dirty="0">
                <a:latin typeface="MigMix 1M" panose="020B0509020204020204" pitchFamily="49" charset="-128"/>
                <a:ea typeface="MigMix 1M" panose="020B0509020204020204" pitchFamily="49" charset="-128"/>
              </a:rPr>
              <a:t> (1-31)</a:t>
            </a:r>
          </a:p>
          <a:p>
            <a:r>
              <a:rPr lang="en-US" altLang="ja-JP" sz="700" dirty="0">
                <a:latin typeface="MigMix 1M" panose="020B0509020204020204" pitchFamily="49" charset="-128"/>
                <a:ea typeface="MigMix 1M" panose="020B0509020204020204" pitchFamily="49" charset="-128"/>
              </a:rPr>
              <a:t>hour  </a:t>
            </a:r>
            <a:r>
              <a:rPr lang="en-US" altLang="ja-JP" sz="700" dirty="0" err="1">
                <a:latin typeface="MigMix 1M" panose="020B0509020204020204" pitchFamily="49" charset="-128"/>
                <a:ea typeface="MigMix 1M" panose="020B0509020204020204" pitchFamily="49" charset="-128"/>
              </a:rPr>
              <a:t>hour</a:t>
            </a:r>
            <a:r>
              <a:rPr lang="en-US" altLang="ja-JP" sz="700" dirty="0">
                <a:latin typeface="MigMix 1M" panose="020B0509020204020204" pitchFamily="49" charset="-128"/>
                <a:ea typeface="MigMix 1M" panose="020B0509020204020204" pitchFamily="49" charset="-128"/>
              </a:rPr>
              <a:t> (0-23)</a:t>
            </a:r>
          </a:p>
          <a:p>
            <a:r>
              <a:rPr lang="en-US" altLang="ja-JP" sz="700" dirty="0">
                <a:latin typeface="MigMix 1M" panose="020B0509020204020204" pitchFamily="49" charset="-128"/>
                <a:ea typeface="MigMix 1M" panose="020B0509020204020204" pitchFamily="49" charset="-128"/>
              </a:rPr>
              <a:t>min   minute (0-59)</a:t>
            </a:r>
          </a:p>
          <a:p>
            <a:r>
              <a:rPr lang="en-US" altLang="ja-JP" sz="700" dirty="0">
                <a:latin typeface="MigMix 1M" panose="020B0509020204020204" pitchFamily="49" charset="-128"/>
                <a:ea typeface="MigMix 1M" panose="020B0509020204020204" pitchFamily="49" charset="-128"/>
              </a:rPr>
              <a:t>sec   second (0.000-59.999)</a:t>
            </a:r>
          </a:p>
          <a:p>
            <a:r>
              <a:rPr lang="en-US" altLang="ja-JP" sz="700" dirty="0" err="1">
                <a:latin typeface="MigMix 1M" panose="020B0509020204020204" pitchFamily="49" charset="-128"/>
                <a:ea typeface="MigMix 1M" panose="020B0509020204020204" pitchFamily="49" charset="-128"/>
              </a:rPr>
              <a:t>tsys</a:t>
            </a:r>
            <a:r>
              <a:rPr lang="en-US" altLang="ja-JP" sz="700" dirty="0">
                <a:latin typeface="MigMix 1M" panose="020B0509020204020204" pitchFamily="49" charset="-128"/>
                <a:ea typeface="MigMix 1M" panose="020B0509020204020204" pitchFamily="49" charset="-128"/>
              </a:rPr>
              <a:t>  time system (GPST</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or</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UTC)</a:t>
            </a:r>
          </a:p>
          <a:p>
            <a:endParaRPr lang="en-US" altLang="ja-JP" sz="700" b="1" dirty="0">
              <a:latin typeface="MigMix 1M" panose="020B0509020204020204" pitchFamily="49" charset="-128"/>
              <a:ea typeface="MigMix 1M" panose="020B0509020204020204" pitchFamily="49" charset="-128"/>
            </a:endParaRPr>
          </a:p>
          <a:p>
            <a:r>
              <a:rPr lang="en-US" altLang="ja-JP" sz="700" b="1" dirty="0">
                <a:latin typeface="MigMix 1M" panose="020B0509020204020204" pitchFamily="49" charset="-128"/>
                <a:ea typeface="MigMix 1M" panose="020B0509020204020204" pitchFamily="49" charset="-128"/>
              </a:rPr>
              <a:t>$OBS</a:t>
            </a:r>
          </a:p>
          <a:p>
            <a:r>
              <a:rPr lang="ja-JP" altLang="en-US" sz="700" dirty="0">
                <a:latin typeface="MigMix 1M" panose="020B0509020204020204" pitchFamily="49" charset="-128"/>
                <a:ea typeface="MigMix 1M" panose="020B0509020204020204" pitchFamily="49" charset="-128"/>
              </a:rPr>
              <a:t>time  receiver time (s)</a:t>
            </a:r>
          </a:p>
          <a:p>
            <a:r>
              <a:rPr lang="ja-JP" altLang="en-US" sz="700" dirty="0">
                <a:latin typeface="MigMix 1M" panose="020B0509020204020204" pitchFamily="49" charset="-128"/>
                <a:ea typeface="MigMix 1M" panose="020B0509020204020204" pitchFamily="49" charset="-128"/>
              </a:rPr>
              <a:t>year,month,day</a:t>
            </a:r>
            <a:endParaRPr lang="en-US" altLang="ja-JP" sz="700" dirty="0">
              <a:latin typeface="MigMix 1M" panose="020B0509020204020204" pitchFamily="49" charset="-128"/>
              <a:ea typeface="MigMix 1M" panose="020B0509020204020204" pitchFamily="49" charset="-128"/>
            </a:endParaRPr>
          </a:p>
          <a:p>
            <a:r>
              <a:rPr lang="ja-JP" altLang="en-US" sz="700" dirty="0">
                <a:latin typeface="MigMix 1M" panose="020B0509020204020204" pitchFamily="49" charset="-128"/>
                <a:ea typeface="MigMix 1M" panose="020B0509020204020204" pitchFamily="49" charset="-128"/>
              </a:rPr>
              <a:t>      obs data day (GPST)</a:t>
            </a:r>
          </a:p>
          <a:p>
            <a:r>
              <a:rPr lang="ja-JP" altLang="en-US" sz="700" dirty="0">
                <a:latin typeface="MigMix 1M" panose="020B0509020204020204" pitchFamily="49" charset="-128"/>
                <a:ea typeface="MigMix 1M" panose="020B0509020204020204" pitchFamily="49" charset="-128"/>
              </a:rPr>
              <a:t>hour,min,sec</a:t>
            </a:r>
            <a:endParaRPr lang="en-US" altLang="ja-JP" sz="700" dirty="0">
              <a:latin typeface="MigMix 1M" panose="020B0509020204020204" pitchFamily="49" charset="-128"/>
              <a:ea typeface="MigMix 1M" panose="020B0509020204020204" pitchFamily="49" charset="-128"/>
            </a:endParaRPr>
          </a:p>
          <a:p>
            <a:r>
              <a:rPr lang="ja-JP" altLang="en-US" sz="700" dirty="0">
                <a:latin typeface="MigMix 1M" panose="020B0509020204020204" pitchFamily="49" charset="-128"/>
                <a:ea typeface="MigMix 1M" panose="020B0509020204020204" pitchFamily="49" charset="-128"/>
              </a:rPr>
              <a:t>      obs data time (GPST)</a:t>
            </a:r>
          </a:p>
          <a:p>
            <a:r>
              <a:rPr lang="ja-JP" altLang="en-US" sz="700" dirty="0">
                <a:latin typeface="MigMix 1M" panose="020B0509020204020204" pitchFamily="49" charset="-128"/>
                <a:ea typeface="MigMix 1M" panose="020B0509020204020204" pitchFamily="49" charset="-128"/>
              </a:rPr>
              <a:t>sat   satellite ID</a:t>
            </a:r>
          </a:p>
          <a:p>
            <a:r>
              <a:rPr lang="ja-JP" altLang="en-US" sz="700" dirty="0">
                <a:latin typeface="MigMix 1M" panose="020B0509020204020204" pitchFamily="49" charset="-128"/>
                <a:ea typeface="MigMix 1M" panose="020B0509020204020204" pitchFamily="49" charset="-128"/>
              </a:rPr>
              <a:t>code  RINEX obs code</a:t>
            </a:r>
          </a:p>
          <a:p>
            <a:r>
              <a:rPr lang="ja-JP" altLang="en-US" sz="700" dirty="0">
                <a:latin typeface="MigMix 1M" panose="020B0509020204020204" pitchFamily="49" charset="-128"/>
                <a:ea typeface="MigMix 1M" panose="020B0509020204020204" pitchFamily="49" charset="-128"/>
              </a:rPr>
              <a:t>cn0   C/N0 (dB-Hz)</a:t>
            </a:r>
          </a:p>
          <a:p>
            <a:r>
              <a:rPr lang="ja-JP" altLang="en-US" sz="700" dirty="0">
                <a:latin typeface="MigMix 1M" panose="020B0509020204020204" pitchFamily="49" charset="-128"/>
                <a:ea typeface="MigMix 1M" panose="020B0509020204020204" pitchFamily="49" charset="-128"/>
              </a:rPr>
              <a:t>pr    pseudorange (m)</a:t>
            </a:r>
          </a:p>
          <a:p>
            <a:r>
              <a:rPr lang="ja-JP" altLang="en-US" sz="700" dirty="0">
                <a:latin typeface="MigMix 1M" panose="020B0509020204020204" pitchFamily="49" charset="-128"/>
                <a:ea typeface="MigMix 1M" panose="020B0509020204020204" pitchFamily="49" charset="-128"/>
              </a:rPr>
              <a:t>cp    carrier phase (cyc)</a:t>
            </a:r>
          </a:p>
          <a:p>
            <a:r>
              <a:rPr lang="ja-JP" altLang="en-US" sz="700" dirty="0">
                <a:latin typeface="MigMix 1M" panose="020B0509020204020204" pitchFamily="49" charset="-128"/>
                <a:ea typeface="MigMix 1M" panose="020B0509020204020204" pitchFamily="49" charset="-128"/>
              </a:rPr>
              <a:t>dop   Doppler frequency (Hz)</a:t>
            </a:r>
          </a:p>
          <a:p>
            <a:r>
              <a:rPr lang="ja-JP" altLang="en-US" sz="700" dirty="0">
                <a:latin typeface="MigMix 1M" panose="020B0509020204020204" pitchFamily="49" charset="-128"/>
                <a:ea typeface="MigMix 1M" panose="020B0509020204020204" pitchFamily="49" charset="-128"/>
              </a:rPr>
              <a:t>lli   loss</a:t>
            </a:r>
            <a:r>
              <a:rPr lang="en-US" altLang="ja-JP" sz="700" dirty="0">
                <a:latin typeface="MigMix 1M" panose="020B0509020204020204" pitchFamily="49" charset="-128"/>
                <a:ea typeface="MigMix 1M" panose="020B0509020204020204" pitchFamily="49" charset="-128"/>
              </a:rPr>
              <a:t>-</a:t>
            </a:r>
            <a:r>
              <a:rPr lang="ja-JP" altLang="en-US" sz="700" dirty="0">
                <a:latin typeface="MigMix 1M" panose="020B0509020204020204" pitchFamily="49" charset="-128"/>
                <a:ea typeface="MigMix 1M" panose="020B0509020204020204" pitchFamily="49" charset="-128"/>
              </a:rPr>
              <a:t>of</a:t>
            </a:r>
            <a:r>
              <a:rPr lang="en-US" altLang="ja-JP" sz="700" dirty="0">
                <a:latin typeface="MigMix 1M" panose="020B0509020204020204" pitchFamily="49" charset="-128"/>
                <a:ea typeface="MigMix 1M" panose="020B0509020204020204" pitchFamily="49" charset="-128"/>
              </a:rPr>
              <a:t>-</a:t>
            </a:r>
            <a:r>
              <a:rPr lang="ja-JP" altLang="en-US" sz="700" dirty="0">
                <a:latin typeface="MigMix 1M" panose="020B0509020204020204" pitchFamily="49" charset="-128"/>
                <a:ea typeface="MigMix 1M" panose="020B0509020204020204" pitchFamily="49" charset="-128"/>
              </a:rPr>
              <a:t>lock indicator</a:t>
            </a:r>
          </a:p>
          <a:p>
            <a:r>
              <a:rPr lang="ja-JP" altLang="en-US" sz="700" dirty="0">
                <a:latin typeface="MigMix 1M" panose="020B0509020204020204" pitchFamily="49" charset="-128"/>
                <a:ea typeface="MigMix 1M" panose="020B0509020204020204" pitchFamily="49" charset="-128"/>
              </a:rPr>
              <a:t>fcn   frequency channel number</a:t>
            </a:r>
            <a:endParaRPr lang="en-US" altLang="ja-JP" sz="700" dirty="0">
              <a:latin typeface="MigMix 1M" panose="020B0509020204020204" pitchFamily="49" charset="-128"/>
              <a:ea typeface="MigMix 1M" panose="020B0509020204020204" pitchFamily="49" charset="-128"/>
            </a:endParaRPr>
          </a:p>
          <a:p>
            <a:r>
              <a:rPr lang="ja-JP" altLang="en-US" sz="700" dirty="0">
                <a:latin typeface="MigMix 1M" panose="020B0509020204020204" pitchFamily="49" charset="-128"/>
                <a:ea typeface="MigMix 1M" panose="020B0509020204020204" pitchFamily="49" charset="-128"/>
              </a:rPr>
              <a:t>      for GLONASS FDMA signals</a:t>
            </a:r>
            <a:endParaRPr lang="en-US" altLang="ja-JP" sz="700" dirty="0">
              <a:latin typeface="MigMix 1M" panose="020B0509020204020204" pitchFamily="49" charset="-128"/>
              <a:ea typeface="MigMix 1M" panose="020B0509020204020204" pitchFamily="49" charset="-128"/>
            </a:endParaRPr>
          </a:p>
        </p:txBody>
      </p:sp>
      <p:sp>
        <p:nvSpPr>
          <p:cNvPr id="14" name="テキスト ボックス 13">
            <a:extLst>
              <a:ext uri="{FF2B5EF4-FFF2-40B4-BE49-F238E27FC236}">
                <a16:creationId xmlns:a16="http://schemas.microsoft.com/office/drawing/2014/main" id="{8491C873-FC60-A442-D129-D8CC4BEF47BD}"/>
              </a:ext>
            </a:extLst>
          </p:cNvPr>
          <p:cNvSpPr txBox="1"/>
          <p:nvPr/>
        </p:nvSpPr>
        <p:spPr>
          <a:xfrm>
            <a:off x="2172982" y="3465477"/>
            <a:ext cx="1980219" cy="3000821"/>
          </a:xfrm>
          <a:prstGeom prst="rect">
            <a:avLst/>
          </a:prstGeom>
          <a:noFill/>
          <a:ln>
            <a:noFill/>
          </a:ln>
        </p:spPr>
        <p:txBody>
          <a:bodyPr wrap="square">
            <a:spAutoFit/>
          </a:bodyPr>
          <a:lstStyle/>
          <a:p>
            <a:r>
              <a:rPr lang="en-US" altLang="ja-JP" sz="700" b="1" dirty="0">
                <a:latin typeface="MigMix 1M" panose="020B0509020204020204" pitchFamily="49" charset="-128"/>
                <a:ea typeface="MigMix 1M" panose="020B0509020204020204" pitchFamily="49" charset="-128"/>
              </a:rPr>
              <a:t>$NAV</a:t>
            </a:r>
          </a:p>
          <a:p>
            <a:r>
              <a:rPr lang="en-US" altLang="ja-JP" sz="700" dirty="0">
                <a:latin typeface="MigMix 1M" panose="020B0509020204020204" pitchFamily="49" charset="-128"/>
                <a:ea typeface="MigMix 1M" panose="020B0509020204020204" pitchFamily="49" charset="-128"/>
              </a:rPr>
              <a:t>time  receiver time (s)</a:t>
            </a:r>
          </a:p>
          <a:p>
            <a:r>
              <a:rPr lang="en-US" altLang="ja-JP" sz="700" dirty="0">
                <a:latin typeface="MigMix 1M" panose="020B0509020204020204" pitchFamily="49" charset="-128"/>
                <a:ea typeface="MigMix 1M" panose="020B0509020204020204" pitchFamily="49" charset="-128"/>
              </a:rPr>
              <a:t>sat</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satellite</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ID</a:t>
            </a:r>
          </a:p>
          <a:p>
            <a:r>
              <a:rPr lang="en-US" altLang="ja-JP" sz="700" dirty="0">
                <a:latin typeface="MigMix 1M" panose="020B0509020204020204" pitchFamily="49" charset="-128"/>
                <a:ea typeface="MigMix 1M" panose="020B0509020204020204" pitchFamily="49" charset="-128"/>
              </a:rPr>
              <a:t>sig</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signal</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ID</a:t>
            </a:r>
          </a:p>
          <a:p>
            <a:r>
              <a:rPr lang="en-US" altLang="ja-JP" sz="700" dirty="0" err="1">
                <a:latin typeface="MigMix 1M" panose="020B0509020204020204" pitchFamily="49" charset="-128"/>
                <a:ea typeface="MigMix 1M" panose="020B0509020204020204" pitchFamily="49" charset="-128"/>
              </a:rPr>
              <a:t>nerr</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number</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of</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corrected</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error</a:t>
            </a:r>
          </a:p>
          <a:p>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bits</a:t>
            </a:r>
          </a:p>
          <a:p>
            <a:r>
              <a:rPr lang="en-US" altLang="ja-JP" sz="700" dirty="0">
                <a:latin typeface="MigMix 1M" panose="020B0509020204020204" pitchFamily="49" charset="-128"/>
                <a:ea typeface="MigMix 1M" panose="020B0509020204020204" pitchFamily="49" charset="-128"/>
              </a:rPr>
              <a:t>size</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raw</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NAV</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data</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size</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(bits)</a:t>
            </a:r>
          </a:p>
          <a:p>
            <a:r>
              <a:rPr lang="en-US" altLang="ja-JP" sz="700" dirty="0">
                <a:latin typeface="MigMix 1M" panose="020B0509020204020204" pitchFamily="49" charset="-128"/>
                <a:ea typeface="MigMix 1M" panose="020B0509020204020204" pitchFamily="49" charset="-128"/>
              </a:rPr>
              <a:t>data</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raw</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NAV</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data</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HEX</a:t>
            </a:r>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dump</a:t>
            </a:r>
          </a:p>
          <a:p>
            <a:endParaRPr lang="en-US" altLang="ja-JP" sz="700" b="1" dirty="0">
              <a:latin typeface="MigMix 1M" panose="020B0509020204020204" pitchFamily="49" charset="-128"/>
              <a:ea typeface="MigMix 1M" panose="020B0509020204020204" pitchFamily="49" charset="-128"/>
            </a:endParaRPr>
          </a:p>
          <a:p>
            <a:r>
              <a:rPr lang="en-US" altLang="ja-JP" sz="700" b="1" dirty="0">
                <a:latin typeface="MigMix 1M" panose="020B0509020204020204" pitchFamily="49" charset="-128"/>
                <a:ea typeface="MigMix 1M" panose="020B0509020204020204" pitchFamily="49" charset="-128"/>
              </a:rPr>
              <a:t>$POS</a:t>
            </a:r>
          </a:p>
          <a:p>
            <a:r>
              <a:rPr lang="en-US" altLang="ja-JP" sz="700" dirty="0">
                <a:latin typeface="MigMix 1M" panose="020B0509020204020204" pitchFamily="49" charset="-128"/>
                <a:ea typeface="MigMix 1M" panose="020B0509020204020204" pitchFamily="49" charset="-128"/>
              </a:rPr>
              <a:t>time  receiver time (s)</a:t>
            </a:r>
          </a:p>
          <a:p>
            <a:r>
              <a:rPr lang="en-US" altLang="ja-JP" sz="700" dirty="0" err="1">
                <a:latin typeface="MigMix 1M" panose="020B0509020204020204" pitchFamily="49" charset="-128"/>
                <a:ea typeface="MigMix 1M" panose="020B0509020204020204" pitchFamily="49" charset="-128"/>
              </a:rPr>
              <a:t>year,month,day</a:t>
            </a:r>
            <a:r>
              <a:rPr lang="en-US" altLang="ja-JP" sz="700" dirty="0">
                <a:latin typeface="MigMix 1M" panose="020B0509020204020204" pitchFamily="49" charset="-128"/>
                <a:ea typeface="MigMix 1M" panose="020B0509020204020204" pitchFamily="49" charset="-128"/>
              </a:rPr>
              <a:t>  solution day (GPST)</a:t>
            </a:r>
          </a:p>
          <a:p>
            <a:r>
              <a:rPr lang="en-US" altLang="ja-JP" sz="700" dirty="0" err="1">
                <a:latin typeface="MigMix 1M" panose="020B0509020204020204" pitchFamily="49" charset="-128"/>
                <a:ea typeface="MigMix 1M" panose="020B0509020204020204" pitchFamily="49" charset="-128"/>
              </a:rPr>
              <a:t>hour,min,sec</a:t>
            </a:r>
            <a:r>
              <a:rPr lang="en-US" altLang="ja-JP" sz="700" dirty="0">
                <a:latin typeface="MigMix 1M" panose="020B0509020204020204" pitchFamily="49" charset="-128"/>
                <a:ea typeface="MigMix 1M" panose="020B0509020204020204" pitchFamily="49" charset="-128"/>
              </a:rPr>
              <a:t>  solution time (GPST)</a:t>
            </a:r>
          </a:p>
          <a:p>
            <a:r>
              <a:rPr lang="en-US" altLang="ja-JP" sz="700" dirty="0" err="1">
                <a:latin typeface="MigMix 1M" panose="020B0509020204020204" pitchFamily="49" charset="-128"/>
                <a:ea typeface="MigMix 1M" panose="020B0509020204020204" pitchFamily="49" charset="-128"/>
              </a:rPr>
              <a:t>lat</a:t>
            </a:r>
            <a:r>
              <a:rPr lang="en-US" altLang="ja-JP" sz="700" dirty="0">
                <a:latin typeface="MigMix 1M" panose="020B0509020204020204" pitchFamily="49" charset="-128"/>
                <a:ea typeface="MigMix 1M" panose="020B0509020204020204" pitchFamily="49" charset="-128"/>
              </a:rPr>
              <a:t>   solution latitude</a:t>
            </a:r>
          </a:p>
          <a:p>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 (deg,+:north,-:south)</a:t>
            </a:r>
          </a:p>
          <a:p>
            <a:r>
              <a:rPr lang="en-US" altLang="ja-JP" sz="700" dirty="0" err="1">
                <a:latin typeface="MigMix 1M" panose="020B0509020204020204" pitchFamily="49" charset="-128"/>
                <a:ea typeface="MigMix 1M" panose="020B0509020204020204" pitchFamily="49" charset="-128"/>
              </a:rPr>
              <a:t>lon</a:t>
            </a:r>
            <a:r>
              <a:rPr lang="en-US" altLang="ja-JP" sz="700" dirty="0">
                <a:latin typeface="MigMix 1M" panose="020B0509020204020204" pitchFamily="49" charset="-128"/>
                <a:ea typeface="MigMix 1M" panose="020B0509020204020204" pitchFamily="49" charset="-128"/>
              </a:rPr>
              <a:t>   solution longitude</a:t>
            </a:r>
          </a:p>
          <a:p>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 (deg,+:east,-:west)</a:t>
            </a:r>
          </a:p>
          <a:p>
            <a:r>
              <a:rPr lang="en-US" altLang="ja-JP" sz="700" dirty="0" err="1">
                <a:latin typeface="MigMix 1M" panose="020B0509020204020204" pitchFamily="49" charset="-128"/>
                <a:ea typeface="MigMix 1M" panose="020B0509020204020204" pitchFamily="49" charset="-128"/>
              </a:rPr>
              <a:t>hgt</a:t>
            </a:r>
            <a:r>
              <a:rPr lang="en-US" altLang="ja-JP" sz="700" dirty="0">
                <a:latin typeface="MigMix 1M" panose="020B0509020204020204" pitchFamily="49" charset="-128"/>
                <a:ea typeface="MigMix 1M" panose="020B0509020204020204" pitchFamily="49" charset="-128"/>
              </a:rPr>
              <a:t>   solution ellipsoidal height</a:t>
            </a:r>
          </a:p>
          <a:p>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 (m)</a:t>
            </a:r>
          </a:p>
          <a:p>
            <a:r>
              <a:rPr lang="en-US" altLang="ja-JP" sz="700" dirty="0">
                <a:latin typeface="MigMix 1M" panose="020B0509020204020204" pitchFamily="49" charset="-128"/>
                <a:ea typeface="MigMix 1M" panose="020B0509020204020204" pitchFamily="49" charset="-128"/>
              </a:rPr>
              <a:t>Q     quality flag (=5: single)</a:t>
            </a:r>
          </a:p>
          <a:p>
            <a:r>
              <a:rPr lang="en-US" altLang="ja-JP" sz="700" dirty="0">
                <a:latin typeface="MigMix 1M" panose="020B0509020204020204" pitchFamily="49" charset="-128"/>
                <a:ea typeface="MigMix 1M" panose="020B0509020204020204" pitchFamily="49" charset="-128"/>
              </a:rPr>
              <a:t>ns    number of valid satellites</a:t>
            </a:r>
          </a:p>
          <a:p>
            <a:r>
              <a:rPr lang="en-US" altLang="ja-JP" sz="700" dirty="0" err="1">
                <a:latin typeface="MigMix 1M" panose="020B0509020204020204" pitchFamily="49" charset="-128"/>
                <a:ea typeface="MigMix 1M" panose="020B0509020204020204" pitchFamily="49" charset="-128"/>
              </a:rPr>
              <a:t>stdn</a:t>
            </a:r>
            <a:r>
              <a:rPr lang="en-US" altLang="ja-JP" sz="700" dirty="0">
                <a:latin typeface="MigMix 1M" panose="020B0509020204020204" pitchFamily="49" charset="-128"/>
                <a:ea typeface="MigMix 1M" panose="020B0509020204020204" pitchFamily="49" charset="-128"/>
              </a:rPr>
              <a:t>  solution standard-dev north</a:t>
            </a:r>
          </a:p>
          <a:p>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 (m)</a:t>
            </a:r>
          </a:p>
          <a:p>
            <a:r>
              <a:rPr lang="en-US" altLang="ja-JP" sz="700" dirty="0" err="1">
                <a:latin typeface="MigMix 1M" panose="020B0509020204020204" pitchFamily="49" charset="-128"/>
                <a:ea typeface="MigMix 1M" panose="020B0509020204020204" pitchFamily="49" charset="-128"/>
              </a:rPr>
              <a:t>stde</a:t>
            </a:r>
            <a:r>
              <a:rPr lang="en-US" altLang="ja-JP" sz="700" dirty="0">
                <a:latin typeface="MigMix 1M" panose="020B0509020204020204" pitchFamily="49" charset="-128"/>
                <a:ea typeface="MigMix 1M" panose="020B0509020204020204" pitchFamily="49" charset="-128"/>
              </a:rPr>
              <a:t>  solution standard-dev east</a:t>
            </a:r>
          </a:p>
          <a:p>
            <a:r>
              <a:rPr lang="ja-JP" altLang="en-US" sz="700" dirty="0">
                <a:latin typeface="MigMix 1M" panose="020B0509020204020204" pitchFamily="49" charset="-128"/>
                <a:ea typeface="MigMix 1M" panose="020B0509020204020204" pitchFamily="49" charset="-128"/>
              </a:rPr>
              <a:t>     </a:t>
            </a:r>
            <a:r>
              <a:rPr lang="en-US" altLang="ja-JP" sz="700" dirty="0">
                <a:latin typeface="MigMix 1M" panose="020B0509020204020204" pitchFamily="49" charset="-128"/>
                <a:ea typeface="MigMix 1M" panose="020B0509020204020204" pitchFamily="49" charset="-128"/>
              </a:rPr>
              <a:t> (m)</a:t>
            </a:r>
          </a:p>
          <a:p>
            <a:r>
              <a:rPr lang="en-US" altLang="ja-JP" sz="700" dirty="0" err="1">
                <a:latin typeface="MigMix 1M" panose="020B0509020204020204" pitchFamily="49" charset="-128"/>
                <a:ea typeface="MigMix 1M" panose="020B0509020204020204" pitchFamily="49" charset="-128"/>
              </a:rPr>
              <a:t>stdu</a:t>
            </a:r>
            <a:r>
              <a:rPr lang="en-US" altLang="ja-JP" sz="700" dirty="0">
                <a:latin typeface="MigMix 1M" panose="020B0509020204020204" pitchFamily="49" charset="-128"/>
                <a:ea typeface="MigMix 1M" panose="020B0509020204020204" pitchFamily="49" charset="-128"/>
              </a:rPr>
              <a:t>  solution standard-dev up (m)</a:t>
            </a:r>
          </a:p>
          <a:p>
            <a:r>
              <a:rPr lang="en-US" altLang="ja-JP" sz="700" dirty="0" err="1">
                <a:latin typeface="MigMix 1M" panose="020B0509020204020204" pitchFamily="49" charset="-128"/>
                <a:ea typeface="MigMix 1M" panose="020B0509020204020204" pitchFamily="49" charset="-128"/>
              </a:rPr>
              <a:t>dtr</a:t>
            </a:r>
            <a:r>
              <a:rPr lang="en-US" altLang="ja-JP" sz="700" dirty="0">
                <a:latin typeface="MigMix 1M" panose="020B0509020204020204" pitchFamily="49" charset="-128"/>
                <a:ea typeface="MigMix 1M" panose="020B0509020204020204" pitchFamily="49" charset="-128"/>
              </a:rPr>
              <a:t>   receiver clock bias (s)</a:t>
            </a:r>
          </a:p>
        </p:txBody>
      </p:sp>
    </p:spTree>
    <p:extLst>
      <p:ext uri="{BB962C8B-B14F-4D97-AF65-F5344CB8AC3E}">
        <p14:creationId xmlns:p14="http://schemas.microsoft.com/office/powerpoint/2010/main" val="4020659909"/>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Technic</Template>
  <TotalTime>24954</TotalTime>
  <Words>4437</Words>
  <Application>Microsoft Office PowerPoint</Application>
  <PresentationFormat>画面に合わせる (4:3)</PresentationFormat>
  <Paragraphs>792</Paragraphs>
  <Slides>16</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16</vt:i4>
      </vt:variant>
    </vt:vector>
  </HeadingPairs>
  <TitlesOfParts>
    <vt:vector size="20" baseType="lpstr">
      <vt:lpstr>Calibri</vt:lpstr>
      <vt:lpstr>MigMix 1M</vt:lpstr>
      <vt:lpstr>Arial</vt:lpstr>
      <vt:lpstr>Office テーマ</vt:lpstr>
      <vt:lpstr>pocket_sdr.py help</vt:lpstr>
      <vt:lpstr>Receiver Page</vt:lpstr>
      <vt:lpstr>RF CH Page</vt:lpstr>
      <vt:lpstr>BB CH Page</vt:lpstr>
      <vt:lpstr>Correlator Page</vt:lpstr>
      <vt:lpstr>Satellites Page</vt:lpstr>
      <vt:lpstr>Solution Page</vt:lpstr>
      <vt:lpstr>Array Page</vt:lpstr>
      <vt:lpstr>Log Page</vt:lpstr>
      <vt:lpstr>Input Options Dialog</vt:lpstr>
      <vt:lpstr>Output Options Dialog</vt:lpstr>
      <vt:lpstr>Signal Options Dialog</vt:lpstr>
      <vt:lpstr>System Options Dialog</vt:lpstr>
      <vt:lpstr>Array Options Dialog</vt:lpstr>
      <vt:lpstr>IF Data File Formats</vt:lpstr>
      <vt:lpstr>Receiver Logs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GPS</dc:title>
  <dc:creator>ttaka</dc:creator>
  <cp:lastModifiedBy>Tomoji Takasu</cp:lastModifiedBy>
  <cp:revision>757</cp:revision>
  <cp:lastPrinted>2014-07-26T08:18:22Z</cp:lastPrinted>
  <dcterms:created xsi:type="dcterms:W3CDTF">2009-07-28T07:48:45Z</dcterms:created>
  <dcterms:modified xsi:type="dcterms:W3CDTF">2026-07-24T02:52:14Z</dcterms:modified>
</cp:coreProperties>
</file>